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Fn0veXdseEFecVSsAE9l6vfBf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9488">
              <a:alpha val="1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132320" y="2560320"/>
            <a:ext cx="2560320" cy="2560320"/>
          </a:xfrm>
          <a:prstGeom prst="ellipse">
            <a:avLst/>
          </a:prstGeom>
          <a:solidFill>
            <a:srgbClr val="F59E0B">
              <a:alpha val="1215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65760" y="32004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 3.1.1 Activity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822960"/>
            <a:ext cx="64008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Relational vs.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Non-Relational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Databases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3611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Choosing the right database for the job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4251960"/>
            <a:ext cx="2194560" cy="502920"/>
          </a:xfrm>
          <a:prstGeom prst="roundRect">
            <a:avLst>
              <a:gd fmla="val 18182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365760" y="42519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ATL: Thinking &amp; 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788920" y="4251960"/>
            <a:ext cx="1828800" cy="502920"/>
          </a:xfrm>
          <a:prstGeom prst="roundRect">
            <a:avLst>
              <a:gd fmla="val 18182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788920" y="42519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IB Computer Science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Learning Objective &amp; Success Criteria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0040" y="914400"/>
            <a:ext cx="8503920" cy="96012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02920" y="93268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Learning Objective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1298448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Distinguish between relational and non-relational databases and justify which is most appropriate for a given scenario.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0040" y="202996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2B5E"/>
                </a:solidFill>
                <a:latin typeface="Georgia"/>
                <a:ea typeface="Georgia"/>
                <a:cs typeface="Georgia"/>
                <a:sym typeface="Georgia"/>
              </a:rPr>
              <a:t>Success Criteria  – I can…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0040" y="2514600"/>
            <a:ext cx="2697480" cy="2103120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0040" y="2514600"/>
            <a:ext cx="269748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93192" y="2514600"/>
            <a:ext cx="255117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🥉  BRONZE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29768" y="306324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Define relational and non-relational databases and state TWO differences between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00400" y="2514600"/>
            <a:ext cx="2697480" cy="21031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200400" y="2514600"/>
            <a:ext cx="2697480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273552" y="2514600"/>
            <a:ext cx="255117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🥈  SILVER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310128" y="306324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Analyse a scenario and identify the key data characteristics that determine the database type.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080760" y="2514600"/>
            <a:ext cx="2697480" cy="2103120"/>
          </a:xfrm>
          <a:prstGeom prst="rect">
            <a:avLst/>
          </a:prstGeom>
          <a:solidFill>
            <a:srgbClr val="CCFBF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080760" y="2514600"/>
            <a:ext cx="2697480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153912" y="2514600"/>
            <a:ext cx="255117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🥇  GOLD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190488" y="306324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Evaluate which database type is most appropriate AND justify your choice with specific advantages and drawbacks.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ATL Skills for This Lesson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20040" y="960120"/>
            <a:ext cx="8503920" cy="676656"/>
          </a:xfrm>
          <a:prstGeom prst="rect">
            <a:avLst/>
          </a:prstGeom>
          <a:solidFill>
            <a:srgbClr val="CCFBF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320040" y="960120"/>
            <a:ext cx="128016" cy="67665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02920" y="978408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124712" y="101498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Thinking Skills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124712" y="130759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Analyse scenarios; evaluate trade-offs between database types; apply criteria to justify decisions.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0040" y="1755648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20040" y="1755648"/>
            <a:ext cx="128016" cy="67665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02920" y="1773936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124712" y="181051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Research Skills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124712" y="2103120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Investigate data characteristics; interpret technical requirements from scenario descriptions.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20040" y="2551176"/>
            <a:ext cx="8503920" cy="676656"/>
          </a:xfrm>
          <a:prstGeom prst="rect">
            <a:avLst/>
          </a:prstGeom>
          <a:solidFill>
            <a:srgbClr val="CCFBF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20040" y="2551176"/>
            <a:ext cx="128016" cy="67665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02920" y="2569464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124712" y="26060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Collaboration Skills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124712" y="28986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Work in groups to discuss and reach consensus; listen to and build on peers' reasoning.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20040" y="3346704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20040" y="3346704"/>
            <a:ext cx="128016" cy="67665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02920" y="3364992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124712" y="340156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Communication Skills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124712" y="3694176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Present and defend your decisions clearly; use precise technical vocabulary in justifications.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20040" y="4142232"/>
            <a:ext cx="8503920" cy="676656"/>
          </a:xfrm>
          <a:prstGeom prst="rect">
            <a:avLst/>
          </a:prstGeom>
          <a:solidFill>
            <a:srgbClr val="CCFBF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20040" y="4142232"/>
            <a:ext cx="128016" cy="67665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02920" y="416052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🗃️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124712" y="419709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Self-Management Skills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124712" y="4489704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Organise your investigation using the structured framework provided; manage time across scenarios.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Starter Activity  ⏱ 8 minutes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2B5E"/>
                </a:solidFill>
                <a:latin typeface="Georgia"/>
                <a:ea typeface="Georgia"/>
                <a:cs typeface="Georgia"/>
                <a:sym typeface="Georgia"/>
              </a:rPr>
              <a:t>Sort these terms – Relational or Non-Relational?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20040" y="1417320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20040" y="141732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496312" y="1417320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2496312" y="141732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672584" y="1417320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672584" y="141732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848856" y="1417320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848856" y="141732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20040" y="2020824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20040" y="2020824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496312" y="2020824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2496312" y="2020824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72584" y="2020824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672584" y="2020824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Fixed Schema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848856" y="2020824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848856" y="2020824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Flexible Schema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20040" y="2624328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20040" y="2624328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Foreign Keys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496312" y="2624328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2496312" y="2624328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Horizontal Scaling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672584" y="2624328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672584" y="2624328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ACID Transactions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848856" y="2624328"/>
            <a:ext cx="2011680" cy="475488"/>
          </a:xfrm>
          <a:prstGeom prst="roundRect">
            <a:avLst>
              <a:gd fmla="val 13462" name="adj"/>
            </a:avLst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848856" y="2624328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 Store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20040" y="3337560"/>
            <a:ext cx="2697480" cy="1417320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320040" y="3337560"/>
            <a:ext cx="26974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11480" y="333756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🥉 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11480" y="37490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 your notes / textbook.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Sort into 2 columns: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Relational | Non-Relational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27832" y="3337560"/>
            <a:ext cx="2697480" cy="1417320"/>
          </a:xfrm>
          <a:prstGeom prst="rect">
            <a:avLst/>
          </a:prstGeom>
          <a:solidFill>
            <a:srgbClr val="CCFBF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227832" y="3337560"/>
            <a:ext cx="269748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319272" y="333756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🥈 Standard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319272" y="37490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Sort terms AND add one more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example of your own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each category.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26480" y="3337560"/>
            <a:ext cx="2697480" cy="141732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126480" y="3337560"/>
            <a:ext cx="26974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6217920" y="333756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🥇 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217920" y="37490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Sort AND write one sentence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explaining WHY each term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belongs in that category.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Concepts: Quick Reference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74320" y="868680"/>
            <a:ext cx="4160520" cy="47548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347472" y="868680"/>
            <a:ext cx="4023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 Relational Database (SQL)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74320" y="1417320"/>
            <a:ext cx="4160520" cy="530352"/>
          </a:xfrm>
          <a:prstGeom prst="rect">
            <a:avLst/>
          </a:prstGeom>
          <a:solidFill>
            <a:srgbClr val="E8E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65760" y="146304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389888" y="146304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Fixed tables with rows &amp;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74320" y="1984248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65760" y="2029968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389888" y="202996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SQL (Structured Query Language)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274320" y="2551176"/>
            <a:ext cx="4160520" cy="530352"/>
          </a:xfrm>
          <a:prstGeom prst="rect">
            <a:avLst/>
          </a:prstGeom>
          <a:solidFill>
            <a:srgbClr val="E8E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65760" y="2596896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Relationships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389888" y="2596896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Enforced via foreign keys &amp; JOINs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74320" y="3118104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65760" y="3163824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389888" y="3163824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ACID transactions – strong integrity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74320" y="3685032"/>
            <a:ext cx="4160520" cy="530352"/>
          </a:xfrm>
          <a:prstGeom prst="rect">
            <a:avLst/>
          </a:prstGeom>
          <a:solidFill>
            <a:srgbClr val="E8E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65760" y="3730752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Best for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389888" y="3730752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Structured, predictable, transactional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274320" y="425196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365760" y="429768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389888" y="429768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MySQL, PostgreSQL, Oracle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709160" y="868680"/>
            <a:ext cx="4160520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782312" y="868680"/>
            <a:ext cx="4023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Non-Relational Database (NoSQL)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709160" y="1417320"/>
            <a:ext cx="4160520" cy="53035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4800600" y="146304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824728" y="146304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Flexible: documents, key-value, graphs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709160" y="1984248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800600" y="2029968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824728" y="202996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Varies (e.g. MongoDB Query Language)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709160" y="2551176"/>
            <a:ext cx="4160520" cy="53035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800600" y="2596896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Relationships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824728" y="2596896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Embedded data or references (loose)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709160" y="3118104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800600" y="3163824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824728" y="3163824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Often eventual consistency; high availability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709160" y="3685032"/>
            <a:ext cx="4160520" cy="53035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800600" y="3730752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Best for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824728" y="3730752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Unstructured, high-volume, rapidly changing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709160" y="425196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800600" y="429768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824728" y="429768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MongoDB, Redis, Cassandra, Firebase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Investigation Framework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20040" y="914400"/>
            <a:ext cx="59436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320040" y="914400"/>
            <a:ext cx="594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960120" y="914400"/>
            <a:ext cx="78638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960120" y="914400"/>
            <a:ext cx="9144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1143000" y="95097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Scenario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143000" y="126187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Briefly describe the MAIN PURPOSE of the database. Who uses it? What does it need to store?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20040" y="1920240"/>
            <a:ext cx="594360" cy="7498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320040" y="1920240"/>
            <a:ext cx="594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960120" y="1920240"/>
            <a:ext cx="78638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960120" y="1920240"/>
            <a:ext cx="91440" cy="7498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1143000" y="195681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Data Characteristics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143000" y="226771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Structured or unstructured? Complex relationships? Consistency critical? Scale requirements?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20040" y="2926080"/>
            <a:ext cx="59436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320040" y="2926080"/>
            <a:ext cx="594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60120" y="2926080"/>
            <a:ext cx="78638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960120" y="2926080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1143000" y="296265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Database Choice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143000" y="327355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Decide: Relational or Non-Relational? State your answer clearly before justifying.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20040" y="3931920"/>
            <a:ext cx="594360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320040" y="3931920"/>
            <a:ext cx="594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960120" y="3931920"/>
            <a:ext cx="78638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960120" y="3931920"/>
            <a:ext cx="91440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1143000" y="396849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143000" y="427939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WHY did you choose it? List advantages for this scenario AND acknowledge any limitations.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💡 Use this structure for EVERY scenario card in your group activity.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5 Scenarios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20040" y="896112"/>
            <a:ext cx="8503920" cy="676656"/>
          </a:xfrm>
          <a:prstGeom prst="rect">
            <a:avLst/>
          </a:prstGeom>
          <a:solidFill>
            <a:srgbClr val="CCFBF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320040" y="896112"/>
            <a:ext cx="594360" cy="676656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320040" y="896112"/>
            <a:ext cx="594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978408" y="941832"/>
            <a:ext cx="5029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554480" y="950976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Social Media 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554480" y="1243584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 considerations: Relationships, unstructured content, massive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20040" y="1700784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320040" y="1700784"/>
            <a:ext cx="594360" cy="676656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320040" y="1700784"/>
            <a:ext cx="594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978408" y="1746504"/>
            <a:ext cx="5029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1554480" y="1755648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E-Commerce Website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554480" y="2048256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 considerations: Transactions, consistency, complex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320040" y="2505456"/>
            <a:ext cx="8503920" cy="676656"/>
          </a:xfrm>
          <a:prstGeom prst="rect">
            <a:avLst/>
          </a:prstGeom>
          <a:solidFill>
            <a:srgbClr val="CCFBF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320040" y="2505456"/>
            <a:ext cx="594360" cy="676656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320040" y="2505456"/>
            <a:ext cx="594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978408" y="2551176"/>
            <a:ext cx="5029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554480" y="256032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Scientific Sensor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1554480" y="285292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 considerations: Time-series, huge volume, simple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20040" y="3310128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320040" y="3310128"/>
            <a:ext cx="594360" cy="676656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320040" y="3310128"/>
            <a:ext cx="594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978408" y="3355848"/>
            <a:ext cx="5029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554480" y="336499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Content Management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554480" y="36576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 considerations: Flexible schema, unstructured media, easy updates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320040" y="4114800"/>
            <a:ext cx="8503920" cy="676656"/>
          </a:xfrm>
          <a:prstGeom prst="rect">
            <a:avLst/>
          </a:prstGeom>
          <a:solidFill>
            <a:srgbClr val="CCFBF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320040" y="4114800"/>
            <a:ext cx="594360" cy="676656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320040" y="4114800"/>
            <a:ext cx="594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978408" y="4160520"/>
            <a:ext cx="5029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🏦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1554480" y="416966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Banking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1554480" y="4462272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 considerations: Data integrity, security, complex transactions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Differentiated Challenge Tasks  ⏱ 20 minutes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201168" y="868680"/>
            <a:ext cx="2834640" cy="4114800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201168" y="868680"/>
            <a:ext cx="28346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274320" y="868680"/>
            <a:ext cx="26883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🥉 BRONZE – Foundation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310896" y="1435608"/>
            <a:ext cx="2606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Complete scenarios 1 &amp; 2 using the 4-step framework.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 the Key Concepts reference slide for support.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State your database choice and give ONE reason for your decision.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Think about: What type of data is involved? Is it structured?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172968" y="868680"/>
            <a:ext cx="2834640" cy="41148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3172968" y="868680"/>
            <a:ext cx="2834640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3246120" y="868680"/>
            <a:ext cx="26883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🥈 SILVER – 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282696" y="1435608"/>
            <a:ext cx="2606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Complete ALL 5 scenarios using the full 4-step framework.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Identify at least TWO advantages for each choice you make.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Address ONE potential limitation for each scenario.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Think about: Could either type actually work? Which is BETTER and why?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144768" y="868680"/>
            <a:ext cx="2834640" cy="41148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144768" y="868680"/>
            <a:ext cx="2834640" cy="4754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6217920" y="868680"/>
            <a:ext cx="26883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🥇 GOLD – Extension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254496" y="1435608"/>
            <a:ext cx="2606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Complete all 5 scenarios with full justifications.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For each: compare BOTH options before justifying your final choice.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Design a hybrid scenario that COULD use both types – explain how.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Challenge: Could a NoSQL database handle banking (Scenario 5)? Argue both sides.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Plenary: Review &amp; Consolidate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411480" y="896112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🎟️  Exit Ticket – Answer these before you leave: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20040" y="1417320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320040" y="1417320"/>
            <a:ext cx="502920" cy="676656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320040" y="1417320"/>
            <a:ext cx="5029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914400" y="1527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Name ONE scenario from today where a relational database is the best choice and state WHY in one sentence.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20040" y="2221992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320040" y="2221992"/>
            <a:ext cx="502920" cy="67665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320040" y="2221992"/>
            <a:ext cx="5029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914400" y="233172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Name ONE scenario where non-relational is better. What characteristic of the data drives that decision?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320040" y="3026664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320040" y="3026664"/>
            <a:ext cx="502920" cy="6766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320040" y="3026664"/>
            <a:ext cx="5029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914400" y="3136392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is the MAIN trade-off between the two types? (Think: consistency vs. scalability)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20040" y="3886200"/>
            <a:ext cx="8503920" cy="1005840"/>
          </a:xfrm>
          <a:prstGeom prst="rect">
            <a:avLst/>
          </a:prstGeom>
          <a:solidFill>
            <a:srgbClr val="CCFBF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57200" y="393192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🤔  Rate your confidence (hold up fingers 1–4):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57200" y="42519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 = Still confused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 = Getting there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 = Mostly secure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 = I could explain it!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E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59E0B">
              <a:alpha val="1215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65760" y="411480"/>
            <a:ext cx="1463040" cy="457200"/>
          </a:xfrm>
          <a:prstGeom prst="roundRect">
            <a:avLst>
              <a:gd fmla="val 2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365760" y="4114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TOK Link 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"The structure of a database shapes the questions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 can ask of our data."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365760" y="2560320"/>
            <a:ext cx="841248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365760" y="26974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CCFBF1"/>
                </a:solidFill>
                <a:latin typeface="Georgia"/>
                <a:ea typeface="Georgia"/>
                <a:cs typeface="Georgia"/>
                <a:sym typeface="Georgia"/>
              </a:rPr>
              <a:t>TOK Discussion Questions: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365760" y="3145536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365760" y="314553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749808" y="3090672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Does the choice of database impose a particular way of thinking about data and knowledge? Can structure itself be a form of bias?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365760" y="3739896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365760" y="373989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749808" y="3685032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If a social network stores data in a way that makes certain relationships invisible, does that limit our knowledge of human connection?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65760" y="4334256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365760" y="43342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749808" y="4279392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To what extent does the tool (database design) shape the knowledge it can produce? Compare to other areas of knowledge.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Homework &amp; Extension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320040" y="914400"/>
            <a:ext cx="8503920" cy="1737360"/>
          </a:xfrm>
          <a:prstGeom prst="rect">
            <a:avLst/>
          </a:prstGeom>
          <a:solidFill>
            <a:srgbClr val="CCFBF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320040" y="914400"/>
            <a:ext cx="85039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457200" y="914400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📌 All Students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57200" y="1417320"/>
            <a:ext cx="83210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Complete the full 4-step analysis for any scenarios not finished in class.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Write a paragraph summarising: what is the single most important factor that determines database choice?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320040" y="2926080"/>
            <a:ext cx="8503920" cy="1737360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320040" y="2926080"/>
            <a:ext cx="850392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457200" y="2926080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Extension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57200" y="3429000"/>
            <a:ext cx="83210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Research a real company that switched between database types (e.g., Twitter/X, Airbnb, GitHub).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Explain WHY they switched and what trade-offs they encountered.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Present your findings in a one-page report or 5-slide mini-deck.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457200" y="461772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Next Lesson: We will compare our answers and explore SQL query examples on a relational schema.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2026-04-27T03:44:35Z</dcterms:created>
  <dc:creator>PptxGenJS</dc:creator>
</cp:coreProperties>
</file>