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+C8Vn5CJ4jrvAhC7Eoh4OXjZ5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BE720D-14FF-4AD1-8883-84271DEE4459}">
  <a:tblStyle styleId="{0FBE720D-14FF-4AD1-8883-84271DEE445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d989058148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" name="Google Shape;26;g3d989058148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d989058148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d98905814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g3d98905814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d98905814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5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D9488">
              <a:alpha val="14901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132320" y="2560320"/>
            <a:ext cx="2560320" cy="2560320"/>
          </a:xfrm>
          <a:prstGeom prst="ellipse">
            <a:avLst/>
          </a:prstGeom>
          <a:solidFill>
            <a:srgbClr val="F59E0B">
              <a:alpha val="12156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365760" y="32004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 3.1.1 Activity  –  Teacher Answer Key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65760" y="822960"/>
            <a:ext cx="64008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Scenario Answers: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Relational vs.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Non-Relational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65760" y="333756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Full 4-step model answers for all 5 scenarios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5760" y="4160520"/>
            <a:ext cx="2011680" cy="502920"/>
          </a:xfrm>
          <a:prstGeom prst="roundRect">
            <a:avLst>
              <a:gd fmla="val 18182" name="adj"/>
            </a:avLst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365760" y="416052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 Teacher Use 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d989058148_0_8"/>
          <p:cNvSpPr txBox="1"/>
          <p:nvPr/>
        </p:nvSpPr>
        <p:spPr>
          <a:xfrm>
            <a:off x="81125" y="0"/>
            <a:ext cx="3395700" cy="46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Relational Databases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Data is stored in </a:t>
            </a:r>
            <a:r>
              <a:rPr b="1" lang="en-US" sz="1100">
                <a:solidFill>
                  <a:schemeClr val="dk1"/>
                </a:solidFill>
              </a:rPr>
              <a:t>tables</a:t>
            </a:r>
            <a:r>
              <a:rPr lang="en-US" sz="1100">
                <a:solidFill>
                  <a:schemeClr val="dk1"/>
                </a:solidFill>
              </a:rPr>
              <a:t> (rows and columns), like a spreadsheet. Tables are linked to each other using </a:t>
            </a:r>
            <a:r>
              <a:rPr b="1" lang="en-US" sz="1100">
                <a:solidFill>
                  <a:schemeClr val="dk1"/>
                </a:solidFill>
              </a:rPr>
              <a:t>keys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Key features: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Fixed, structured schema — every record follows the same format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Uses </a:t>
            </a:r>
            <a:r>
              <a:rPr b="1" lang="en-US" sz="1100">
                <a:solidFill>
                  <a:schemeClr val="dk1"/>
                </a:solidFill>
              </a:rPr>
              <a:t>SQL</a:t>
            </a:r>
            <a:r>
              <a:rPr lang="en-US" sz="1100">
                <a:solidFill>
                  <a:schemeClr val="dk1"/>
                </a:solidFill>
              </a:rPr>
              <a:t> to query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ACID</a:t>
            </a:r>
            <a:r>
              <a:rPr lang="en-US" sz="1100">
                <a:solidFill>
                  <a:schemeClr val="dk1"/>
                </a:solidFill>
              </a:rPr>
              <a:t> compliant — Atomicity, Consistency, Isolation, Durability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Enforces relationships via </a:t>
            </a:r>
            <a:r>
              <a:rPr b="1" lang="en-US" sz="1100">
                <a:solidFill>
                  <a:schemeClr val="dk1"/>
                </a:solidFill>
              </a:rPr>
              <a:t>primary keys</a:t>
            </a:r>
            <a:r>
              <a:rPr lang="en-US" sz="1100">
                <a:solidFill>
                  <a:schemeClr val="dk1"/>
                </a:solidFill>
              </a:rPr>
              <a:t> and </a:t>
            </a:r>
            <a:r>
              <a:rPr b="1" lang="en-US" sz="1100">
                <a:solidFill>
                  <a:schemeClr val="dk1"/>
                </a:solidFill>
              </a:rPr>
              <a:t>foreign keys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Scales </a:t>
            </a:r>
            <a:r>
              <a:rPr b="1" lang="en-US" sz="1100">
                <a:solidFill>
                  <a:schemeClr val="dk1"/>
                </a:solidFill>
              </a:rPr>
              <a:t>vertically</a:t>
            </a:r>
            <a:r>
              <a:rPr lang="en-US" sz="1100">
                <a:solidFill>
                  <a:schemeClr val="dk1"/>
                </a:solidFill>
              </a:rPr>
              <a:t> (bigger server)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Examples:</a:t>
            </a:r>
            <a:r>
              <a:rPr lang="en-US" sz="1100">
                <a:solidFill>
                  <a:schemeClr val="dk1"/>
                </a:solidFill>
              </a:rPr>
              <a:t> MySQL, PostgreSQL, Oracle, Microsoft SQL Server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Best for:</a:t>
            </a:r>
            <a:r>
              <a:rPr lang="en-US" sz="1100">
                <a:solidFill>
                  <a:schemeClr val="dk1"/>
                </a:solidFill>
              </a:rPr>
              <a:t> Banking, e-commerce, payroll — anywhere data integrity is critical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0" name="Google Shape;30;g3d989058148_0_8"/>
          <p:cNvSpPr txBox="1"/>
          <p:nvPr/>
        </p:nvSpPr>
        <p:spPr>
          <a:xfrm>
            <a:off x="3894125" y="376500"/>
            <a:ext cx="4953600" cy="3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Non-Relational Databases (NoSQL)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Data is stored in flexible formats — </a:t>
            </a:r>
            <a:r>
              <a:rPr b="1" lang="en-US" sz="1100">
                <a:solidFill>
                  <a:schemeClr val="dk1"/>
                </a:solidFill>
              </a:rPr>
              <a:t>documents, key-value pairs, graphs, or columns</a:t>
            </a:r>
            <a:r>
              <a:rPr lang="en-US" sz="1100">
                <a:solidFill>
                  <a:schemeClr val="dk1"/>
                </a:solidFill>
              </a:rPr>
              <a:t> — not rigid tables.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Key features: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Flexible or schema-less — records don't all need the same fields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No standard query language (varies by system)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Often trades strict consistency for </a:t>
            </a:r>
            <a:r>
              <a:rPr b="1" lang="en-US" sz="1100">
                <a:solidFill>
                  <a:schemeClr val="dk1"/>
                </a:solidFill>
              </a:rPr>
              <a:t>speed and availability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Scales </a:t>
            </a:r>
            <a:r>
              <a:rPr b="1" lang="en-US" sz="1100">
                <a:solidFill>
                  <a:schemeClr val="dk1"/>
                </a:solidFill>
              </a:rPr>
              <a:t>horizontally</a:t>
            </a:r>
            <a:r>
              <a:rPr lang="en-US" sz="1100">
                <a:solidFill>
                  <a:schemeClr val="dk1"/>
                </a:solidFill>
              </a:rPr>
              <a:t> (more servers)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Handles unstructured and semi-structured data well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Examples:</a:t>
            </a:r>
            <a:r>
              <a:rPr lang="en-US" sz="1100">
                <a:solidFill>
                  <a:schemeClr val="dk1"/>
                </a:solidFill>
              </a:rPr>
              <a:t> MongoDB (documents), Redis (key-value), Cassandra (wide-column), Neo4j (graph)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Best for:</a:t>
            </a:r>
            <a:r>
              <a:rPr lang="en-US" sz="1100">
                <a:solidFill>
                  <a:schemeClr val="dk1"/>
                </a:solidFill>
              </a:rPr>
              <a:t> Social media, sensor data, content platforms — anywhere scale and flexibility matter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Google Shape;36;g3d989058148_0_0"/>
          <p:cNvGraphicFramePr/>
          <p:nvPr/>
        </p:nvGraphicFramePr>
        <p:xfrm>
          <a:off x="1726300" y="41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{0FBE720D-14FF-4AD1-8883-84271DEE4459}</a:tableStyleId>
              </a:tblPr>
              <a:tblGrid>
                <a:gridCol w="1200150"/>
                <a:gridCol w="11620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Relational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Non-Relational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SQL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MongoDB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Tables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Collections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JOIN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JSON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Fixed Schema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Flexible Schema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Foreign Keys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Document Store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ACID Transactions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Horizontal Scaling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7" name="Google Shape;37;g3d989058148_0_0"/>
          <p:cNvSpPr txBox="1"/>
          <p:nvPr/>
        </p:nvSpPr>
        <p:spPr>
          <a:xfrm>
            <a:off x="5350950" y="32102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/>
              <a:t>Starter Activity – Sort these terms: Relational or Non-Relational?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/>
              <a:t>Quick justifications to share verbally: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ACID Transactions</a:t>
            </a:r>
            <a:r>
              <a:rPr lang="en-US" sz="1100"/>
              <a:t> — relational DBs are built around this; NoSQL often sacrifices it for speed/scale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Horizontal Scaling</a:t>
            </a:r>
            <a:r>
              <a:rPr lang="en-US" sz="1100"/>
              <a:t> — NoSQL is designed to scale out across many servers; relational typically scales up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Foreign Keys</a:t>
            </a:r>
            <a:r>
              <a:rPr lang="en-US" sz="1100"/>
              <a:t> — a relational concept enforcing referential integrity between tables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Document Store</a:t>
            </a:r>
            <a:r>
              <a:rPr lang="en-US" sz="1100"/>
              <a:t> — a NoSQL storage model (e.g. MongoDB stores JSON-like documents)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20040" y="0"/>
            <a:ext cx="6858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Scenario 1: 📱 Social Media Platform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178040" y="109728"/>
            <a:ext cx="1783080" cy="493776"/>
          </a:xfrm>
          <a:prstGeom prst="roundRect">
            <a:avLst>
              <a:gd fmla="val 18519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178040" y="109728"/>
            <a:ext cx="1783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Non-Relational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92608" y="841248"/>
            <a:ext cx="416052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84048" y="841248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 Scenario Summary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92608" y="1188720"/>
            <a:ext cx="41605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02336" y="1225296"/>
            <a:ext cx="3977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Store user profiles, posts, comments, and connections for a large-scale social network used by millions of users worldwide.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92608" y="2139696"/>
            <a:ext cx="4160520" cy="347472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384048" y="2139696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 Data Characteristics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292608" y="2487168"/>
            <a:ext cx="416052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02336" y="2542032"/>
            <a:ext cx="397764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 type: Largely unstructured (posts, images, video metadata, comments of varying length and format)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Relationships: Complex social graph (followers, friends, likes) — but these can be embedded or referenced loosely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Consistency: Eventual consistency is acceptable — a post appearing 1 second late is not critical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Scalability: Massive horizontal scaling required — millions of concurrent users, huge write volume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663440" y="841248"/>
            <a:ext cx="416052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754880" y="841248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+ 4  Justification: Advantages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663440" y="1188720"/>
            <a:ext cx="4160520" cy="1481328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773168" y="1243584"/>
            <a:ext cx="3977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Flexible schema allows profiles and posts to evolve without migrations (e.g. adding Stories, Reels)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Horizontal scaling handles viral traffic spikes easily (e.g. MongoDB sharding, Cassandra nodes)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Document model naturally stores a post with its comments embedded — reduces query complexity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High write throughput supports real-time feeds and notifications at scale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663440" y="2761488"/>
            <a:ext cx="4160520" cy="34747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754880" y="2761488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 / Drawbacks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663440" y="3108960"/>
            <a:ext cx="4160520" cy="804672"/>
          </a:xfrm>
          <a:prstGeom prst="rect">
            <a:avLst/>
          </a:prstGeom>
          <a:solidFill>
            <a:srgbClr val="FFE4E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773168" y="3163824"/>
            <a:ext cx="3977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Eventual consistency means users may briefly see stale data (e.g. like counts slightly out of sync)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Complex analytics / reporting queries are harder without SQL JOIN support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292608" y="4407408"/>
            <a:ext cx="8577072" cy="384048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292608" y="4407408"/>
            <a:ext cx="73152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457200" y="4407408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💡 Teacher Note: Students often default to relational here due to 'relationships between users.' Push them to distinguish social graph relationships (loose, high-volume) from transactional relationships (strict integrity). Graph databases (e.g. Neo4j) are also a valid Gold-level answer.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320040" y="0"/>
            <a:ext cx="6858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Scenario 2: 🛒 E-Commerce Website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178040" y="109728"/>
            <a:ext cx="1783080" cy="493776"/>
          </a:xfrm>
          <a:prstGeom prst="roundRect">
            <a:avLst>
              <a:gd fmla="val 18519" name="adj"/>
            </a:avLst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178040" y="109728"/>
            <a:ext cx="1783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Relational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292608" y="841248"/>
            <a:ext cx="4160520" cy="347472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384048" y="841248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 Scenario Summary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92608" y="1188720"/>
            <a:ext cx="41605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402336" y="1225296"/>
            <a:ext cx="3977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Store customer records, product catalogues, orders, payment details and inventory for an online shopping platform.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92608" y="2139696"/>
            <a:ext cx="4160520" cy="347472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384048" y="2139696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 Data Characteristics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292608" y="2487168"/>
            <a:ext cx="416052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402336" y="2542032"/>
            <a:ext cx="397764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 type: Highly structured — customers, products, orders all have well-defined consistent fields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Relationships: Complex and critical — orders link customers to products, invoices, delivery records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Consistency: ACID compliance is essential — an order must atomically debit stock AND record payment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Scalability: Moderate — typically scales vertically; read replicas handle peak shopping traffic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663440" y="841248"/>
            <a:ext cx="416052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754880" y="841248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+ 4  Justification: Advantages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663440" y="1188720"/>
            <a:ext cx="4160520" cy="1481328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4773168" y="1243584"/>
            <a:ext cx="3977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ACID transactions guarantee no partial orders — stock is deducted only if payment succeeds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SQL JOINs make complex reporting simple (e.g. 'total revenue by product category this month')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Foreign key constraints prevent orphaned orders (order cannot reference a non-existent customer)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Mature ecosystem — PostgreSQL, MySQL widely supported with strong tooling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663440" y="2761488"/>
            <a:ext cx="4160520" cy="34747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4754880" y="2761488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 / Drawbacks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663440" y="3108960"/>
            <a:ext cx="4160520" cy="804672"/>
          </a:xfrm>
          <a:prstGeom prst="rect">
            <a:avLst/>
          </a:prstGeom>
          <a:solidFill>
            <a:srgbClr val="FFE4E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4773168" y="3163824"/>
            <a:ext cx="3977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Fixed schema makes adding new product types (e.g. digital downloads with different attributes) harder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Vertical scaling has limits — may struggle at Amazon/eBay scale without sharding strategies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292608" y="4407408"/>
            <a:ext cx="8577072" cy="384048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292608" y="4407408"/>
            <a:ext cx="73152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457200" y="4407408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💡 Teacher Note: This is the clearest relational case — use it to reinforce ACID. For Gold students: Amazon and eBay actually use hybrid approaches at scale (relational for orders, NoSQL for product catalogues). Excellent discussion point.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320040" y="0"/>
            <a:ext cx="6858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Scenario 3: 🔬 Scientific Sensor Data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7178040" y="109728"/>
            <a:ext cx="1783080" cy="493776"/>
          </a:xfrm>
          <a:prstGeom prst="roundRect">
            <a:avLst>
              <a:gd fmla="val 18519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7178040" y="109728"/>
            <a:ext cx="1783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Non-Relational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292608" y="841248"/>
            <a:ext cx="41605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384048" y="841248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 Scenario Summary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292608" y="1188720"/>
            <a:ext cx="41605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402336" y="1225296"/>
            <a:ext cx="3977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Collect and store continuous time-stamped measurements from thousands of sensors in a scientific research project (e.g. climate, seismic, IoT).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292608" y="2139696"/>
            <a:ext cx="4160520" cy="347472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384048" y="2139696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 Data Characteristics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292608" y="2487168"/>
            <a:ext cx="416052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402336" y="2542032"/>
            <a:ext cx="397764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 type: Time-series — structured but extremely high volume with simple repeated structure (timestamp + value)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Relationships: Minimal — each reading is largely independent; no complex relational joins needed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Consistency: Strong consistency less critical — losing one sensor reading in a billion is acceptable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Scalability: Extreme — potentially billions of records; must ingest data at very high write speeds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663440" y="841248"/>
            <a:ext cx="416052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4754880" y="841248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+ 4  Justification: Advantages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663440" y="1188720"/>
            <a:ext cx="4160520" cy="1481328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4773168" y="1243584"/>
            <a:ext cx="3977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NoSQL (especially time-series DBs like InfluxDB, or wide-column like Cassandra) optimised for fast sequential writes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Horizontal scaling easily handles growth from 10 sensors to 10,000 sensors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Flexible schema accommodates different sensor types adding new measurement fields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Simple queries (latest reading, range over time) are highly efficient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663440" y="2761488"/>
            <a:ext cx="4160520" cy="34747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4754880" y="2761488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 / Drawbacks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663440" y="3108960"/>
            <a:ext cx="4160520" cy="804672"/>
          </a:xfrm>
          <a:prstGeom prst="rect">
            <a:avLst/>
          </a:prstGeom>
          <a:solidFill>
            <a:srgbClr val="FFE4E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4773168" y="3163824"/>
            <a:ext cx="3977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Cross-sensor relational analysis (e.g. correlating two sensor types) is more complex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Less suitable if complex aggregation reports with many joins are required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292608" y="4407408"/>
            <a:ext cx="8577072" cy="384048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292608" y="4407408"/>
            <a:ext cx="73152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457200" y="4407408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💡 Teacher Note: Accept time-series databases (InfluxDB, TimescaleDB) as a specific Gold-level answer — these are technically NoSQL or hybrid. The key insight to elicit: massive write volume + simple query pattern = NoSQL. No complex relationships = no need for SQL.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320040" y="0"/>
            <a:ext cx="6858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Scenario 4: 📝 Content Management System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7178040" y="109728"/>
            <a:ext cx="1783080" cy="493776"/>
          </a:xfrm>
          <a:prstGeom prst="roundRect">
            <a:avLst>
              <a:gd fmla="val 18519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7178040" y="109728"/>
            <a:ext cx="1783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Non-Relational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292608" y="841248"/>
            <a:ext cx="4160520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384048" y="841248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 Scenario Summary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292608" y="1188720"/>
            <a:ext cx="41605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402336" y="1225296"/>
            <a:ext cx="3977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Store articles, blog posts, images, videos, and user comments for a website where content types and formats change frequently.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292608" y="2139696"/>
            <a:ext cx="4160520" cy="347472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384048" y="2139696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 Data Characteristics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292608" y="2487168"/>
            <a:ext cx="416052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402336" y="2542032"/>
            <a:ext cx="397764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 type: Heterogeneous and unstructured — articles vary in fields, images have metadata, comments differ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Relationships: Loose — articles have authors and comments, but deep relational integrity not critical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Consistency: Not mission-critical — a comment appearing seconds late causes no harm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Scalability: Medium-high — must handle traffic spikes when content goes viral; easy content updates needed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663440" y="841248"/>
            <a:ext cx="416052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4754880" y="841248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+ 4  Justification: Advantages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663440" y="1188720"/>
            <a:ext cx="4160520" cy="1481328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4773168" y="1243584"/>
            <a:ext cx="3977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Document model (e.g. MongoDB) stores an article with all its fields and embedded comments as one document — fast retrieval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Schema-less design allows adding new content types (podcast metadata, interactive elements) without migrations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Easy to update and evolve — no ALTER TABLE operations required when article format changes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Good horizontal scaling for read-heavy CMS workloads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663440" y="2761488"/>
            <a:ext cx="4160520" cy="34747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4754880" y="2761488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 / Drawbacks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663440" y="3108960"/>
            <a:ext cx="4160520" cy="804672"/>
          </a:xfrm>
          <a:prstGeom prst="rect">
            <a:avLst/>
          </a:prstGeom>
          <a:solidFill>
            <a:srgbClr val="FFE4E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4773168" y="3163824"/>
            <a:ext cx="3977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If complex cross-content queries are needed (e.g. 'all articles by author in category X this year'), SQL may be simpler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Without schema enforcement, data quality depends entirely on application-level 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292608" y="4407408"/>
            <a:ext cx="8577072" cy="384048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292608" y="4407408"/>
            <a:ext cx="73152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457200" y="4407408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💡 Teacher Note: Some CMSs (e.g. WordPress) do use relational DBs (MySQL) — accept this as a valid discussion point. The key differentiation is schema flexibility and the variety of content types. Encourage students to justify either choice if well-argued.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320040" y="0"/>
            <a:ext cx="6858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Scenario 5: 🏦 Banking System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7178040" y="109728"/>
            <a:ext cx="1783080" cy="493776"/>
          </a:xfrm>
          <a:prstGeom prst="roundRect">
            <a:avLst>
              <a:gd fmla="val 18519" name="adj"/>
            </a:avLst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7178040" y="109728"/>
            <a:ext cx="1783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Relational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92608" y="841248"/>
            <a:ext cx="4160520" cy="34747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384048" y="841248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 Scenario Summary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292608" y="1188720"/>
            <a:ext cx="41605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402336" y="1225296"/>
            <a:ext cx="3977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Store customer accounts, balances, transaction histories, loans, and all financial data for a retail or investment bank.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292608" y="2139696"/>
            <a:ext cx="4160520" cy="347472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384048" y="2139696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 Data Characteristics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292608" y="2487168"/>
            <a:ext cx="416052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402336" y="2542032"/>
            <a:ext cx="397764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 type: Highly structured — accounts, transactions, customers all have strictly defined schemas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Relationships: Critical and complex — accounts link to customers, transactions link to accounts, loans to customers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Consistency: Non-negotiable — money cannot disappear or duplicate; ACID compliance is mandatory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Scalability: Moderate — banks prioritise correctness over raw scale; regulated data residency requirements 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663440" y="841248"/>
            <a:ext cx="416052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4754880" y="841248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+ 4  Justification: Advantages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663440" y="1188720"/>
            <a:ext cx="4160520" cy="1481328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4773168" y="1243584"/>
            <a:ext cx="3977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ACID transactions are essential — transferring £500 must atomically debit one account AND credit another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 integrity constraints (foreign keys, NOT NULL) prevent corrupt financial records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SQL enables powerful auditing queries: 'all transactions over £10,000 in the last 90 days'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Mature security, compliance, and auditing tools built around relational systems (Oracle, PostgreSQL)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663440" y="2761488"/>
            <a:ext cx="4160520" cy="34747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4754880" y="2761488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 / Drawbacks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663440" y="3108960"/>
            <a:ext cx="4160520" cy="804672"/>
          </a:xfrm>
          <a:prstGeom prst="rect">
            <a:avLst/>
          </a:prstGeom>
          <a:solidFill>
            <a:srgbClr val="FFE4E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4773168" y="3163824"/>
            <a:ext cx="3977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Scaling to global transaction volumes requires careful sharding — complex to implement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Schema changes (e.g. adding a new account type) require careful migration planning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292608" y="4407408"/>
            <a:ext cx="8577072" cy="384048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292608" y="4407408"/>
            <a:ext cx="73152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457200" y="4407408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💡 Teacher Note: This is the strongest relational case — use it to cement ACID. For Gold: challenge students with 'Could a bank use NoSQL?' Some do use NoSQL for non-transactional data (e.g. fraud detection ML features, customer activity logs) while keeping core accounts in relational DBs. Hybrid architecture is a great Gold discussion.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320040" y="0"/>
            <a:ext cx="8412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Summary Answer Key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292608" y="868680"/>
            <a:ext cx="365760" cy="6035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347472" y="923544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713232" y="868680"/>
            <a:ext cx="1920240" cy="6035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768096" y="923544"/>
            <a:ext cx="1828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Scenario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2688336" y="868680"/>
            <a:ext cx="1645920" cy="6035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2743200" y="923544"/>
            <a:ext cx="15544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Choice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389120" y="868680"/>
            <a:ext cx="4800600" cy="6035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4443984" y="923544"/>
            <a:ext cx="47091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Deciding Factor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292608" y="1527048"/>
            <a:ext cx="365760" cy="603504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347472" y="158191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713232" y="1527048"/>
            <a:ext cx="1920240" cy="603504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768096" y="1581912"/>
            <a:ext cx="1828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📱 Social Media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2688336" y="1527048"/>
            <a:ext cx="1645920" cy="603504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2743200" y="1581912"/>
            <a:ext cx="15544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Non-Relational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389120" y="1527048"/>
            <a:ext cx="4800600" cy="603504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4443984" y="1581912"/>
            <a:ext cx="47091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Unstructured content + massive horizontal scale + eventual consistency acceptable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292608" y="2185416"/>
            <a:ext cx="36576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347472" y="2240280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713232" y="2185416"/>
            <a:ext cx="19202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768096" y="2240280"/>
            <a:ext cx="1828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🛒 E-Commerce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2688336" y="2185416"/>
            <a:ext cx="164592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2743200" y="2240280"/>
            <a:ext cx="15544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Relational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389120" y="2185416"/>
            <a:ext cx="480060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4443984" y="2240280"/>
            <a:ext cx="47091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ACID transactions + structured orders + complex JOIN reporting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292608" y="2843784"/>
            <a:ext cx="365760" cy="603504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347472" y="2898648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713232" y="2843784"/>
            <a:ext cx="1920240" cy="603504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768096" y="2898648"/>
            <a:ext cx="1828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🔬 Sensor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2688336" y="2843784"/>
            <a:ext cx="1645920" cy="603504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2743200" y="2898648"/>
            <a:ext cx="15544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Non-Relational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389120" y="2843784"/>
            <a:ext cx="4800600" cy="603504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4443984" y="2898648"/>
            <a:ext cx="47091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Extreme write volume + time-series pattern + minimal relationships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292608" y="3502152"/>
            <a:ext cx="36576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347472" y="3557016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713232" y="3502152"/>
            <a:ext cx="19202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768096" y="3557016"/>
            <a:ext cx="1828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📝 CMS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2688336" y="3502152"/>
            <a:ext cx="164592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2743200" y="3557016"/>
            <a:ext cx="15544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Non-Relational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4389120" y="3502152"/>
            <a:ext cx="480060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4443984" y="3557016"/>
            <a:ext cx="47091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Flexible/varied content schema + easy updates + read scaling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292608" y="4160520"/>
            <a:ext cx="365760" cy="603504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347472" y="4215384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713232" y="4160520"/>
            <a:ext cx="1920240" cy="603504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768096" y="4215384"/>
            <a:ext cx="1828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🏦 Banking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2688336" y="4160520"/>
            <a:ext cx="1645920" cy="603504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2743200" y="4215384"/>
            <a:ext cx="15544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Relational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4389120" y="4160520"/>
            <a:ext cx="4800600" cy="603504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4443984" y="4215384"/>
            <a:ext cx="47091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ACID mandatory + data integrity + complex financial queries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292608" y="4846320"/>
            <a:ext cx="85587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alibri"/>
              <a:buNone/>
            </a:pPr>
            <a:r>
              <a:rPr b="1" i="1" lang="en-US" sz="10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💡 Remind students: there is rarely ONE correct answer — the quality of justification is what matters for IB marks.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2026-04-27T03:54:54Z</dcterms:created>
  <dc:creator>PptxGenJS</dc:creator>
</cp:coreProperties>
</file>