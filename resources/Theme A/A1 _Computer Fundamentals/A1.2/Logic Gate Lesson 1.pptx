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  <p:sldMasterId id="214748366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y="5143500" cx="9144000"/>
  <p:notesSz cx="9144000" cy="6858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notesGuideLst>
    </p:ext>
    <p:ext uri="GoogleSlidesCustomDataVersion2">
      <go:slidesCustomData xmlns:go="http://customooxmlschemas.google.com/" r:id="rId26" roundtripDataSignature="AMtx7mgjGz/YfaebuRx41iq+SZ3mJ4Dsx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notes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customschemas.google.com/relationships/presentationmetadata" Target="metadata"/><Relationship Id="rId25" Type="http://schemas.openxmlformats.org/officeDocument/2006/relationships/slide" Target="slides/slide19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5179484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651391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5179484" y="651391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be02ba6c1a_0_106:notes"/>
          <p:cNvSpPr/>
          <p:nvPr>
            <p:ph idx="2" type="sldImg"/>
          </p:nvPr>
        </p:nvSpPr>
        <p:spPr>
          <a:xfrm>
            <a:off x="508400" y="514350"/>
            <a:ext cx="81279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be02ba6c1a_0_106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1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2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3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3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4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4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5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5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6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6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7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7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8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8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9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9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10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10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11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11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12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12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3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13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14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p14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15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15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16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p16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17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p17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18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" name="Google Shape;315;p18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0"/>
          <p:cNvSpPr txBox="1"/>
          <p:nvPr>
            <p:ph type="ctrTitle"/>
          </p:nvPr>
        </p:nvSpPr>
        <p:spPr>
          <a:xfrm>
            <a:off x="685800" y="1597821"/>
            <a:ext cx="7772400" cy="110251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0"/>
          <p:cNvSpPr txBox="1"/>
          <p:nvPr>
            <p:ph idx="1" type="subTitle"/>
          </p:nvPr>
        </p:nvSpPr>
        <p:spPr>
          <a:xfrm>
            <a:off x="1371600" y="2914650"/>
            <a:ext cx="6400800" cy="1314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20"/>
          <p:cNvSpPr txBox="1"/>
          <p:nvPr>
            <p:ph idx="10" type="dt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0"/>
          <p:cNvSpPr txBox="1"/>
          <p:nvPr>
            <p:ph idx="11" type="ftr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0"/>
          <p:cNvSpPr txBox="1"/>
          <p:nvPr>
            <p:ph idx="12" type="sldNum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1"/>
          <p:cNvSpPr txBox="1"/>
          <p:nvPr>
            <p:ph type="title"/>
          </p:nvPr>
        </p:nvSpPr>
        <p:spPr>
          <a:xfrm>
            <a:off x="457200" y="206375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1"/>
          <p:cNvSpPr txBox="1"/>
          <p:nvPr>
            <p:ph idx="1" type="body"/>
          </p:nvPr>
        </p:nvSpPr>
        <p:spPr>
          <a:xfrm>
            <a:off x="457200" y="1200150"/>
            <a:ext cx="8229600" cy="3394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21"/>
          <p:cNvSpPr txBox="1"/>
          <p:nvPr>
            <p:ph idx="10" type="dt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1"/>
          <p:cNvSpPr txBox="1"/>
          <p:nvPr>
            <p:ph idx="11" type="ftr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21"/>
          <p:cNvSpPr txBox="1"/>
          <p:nvPr>
            <p:ph idx="12" type="sldNum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Google Shape;28;p2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9" name="Google Shape;29;p22"/>
          <p:cNvSpPr txBox="1"/>
          <p:nvPr>
            <p:ph idx="10" type="dt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22"/>
          <p:cNvSpPr txBox="1"/>
          <p:nvPr>
            <p:ph idx="11" type="ftr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2"/>
          <p:cNvSpPr txBox="1"/>
          <p:nvPr>
            <p:ph idx="12" type="sldNum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2" name="Google Shape;32;p22"/>
          <p:cNvSpPr/>
          <p:nvPr/>
        </p:nvSpPr>
        <p:spPr>
          <a:xfrm>
            <a:off x="-4432" y="75684"/>
            <a:ext cx="9152864" cy="407834"/>
          </a:xfrm>
          <a:prstGeom prst="rect">
            <a:avLst/>
          </a:prstGeom>
          <a:solidFill>
            <a:srgbClr val="FF0000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C:\Users\d.taylor_wso\Documents\Documents\Branding\GEMS corner swoosh\GEMS_A4_BLUE_EDUCATION_CMYK.png" id="33" name="Google Shape;33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76256" y="2886389"/>
            <a:ext cx="2278376" cy="22783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3"/>
          <p:cNvSpPr txBox="1"/>
          <p:nvPr>
            <p:ph type="title"/>
          </p:nvPr>
        </p:nvSpPr>
        <p:spPr>
          <a:xfrm>
            <a:off x="722313" y="3305176"/>
            <a:ext cx="7772400" cy="10215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4000" cap="none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23"/>
          <p:cNvSpPr txBox="1"/>
          <p:nvPr>
            <p:ph idx="1" type="body"/>
          </p:nvPr>
        </p:nvSpPr>
        <p:spPr>
          <a:xfrm>
            <a:off x="722313" y="2180035"/>
            <a:ext cx="77724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7" name="Google Shape;37;p23"/>
          <p:cNvSpPr txBox="1"/>
          <p:nvPr>
            <p:ph idx="10" type="dt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3"/>
          <p:cNvSpPr txBox="1"/>
          <p:nvPr>
            <p:ph idx="11" type="ftr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3"/>
          <p:cNvSpPr txBox="1"/>
          <p:nvPr>
            <p:ph idx="12" type="sldNum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4"/>
          <p:cNvSpPr txBox="1"/>
          <p:nvPr>
            <p:ph type="title"/>
          </p:nvPr>
        </p:nvSpPr>
        <p:spPr>
          <a:xfrm>
            <a:off x="457200" y="206375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4"/>
          <p:cNvSpPr txBox="1"/>
          <p:nvPr>
            <p:ph idx="1" type="body"/>
          </p:nvPr>
        </p:nvSpPr>
        <p:spPr>
          <a:xfrm>
            <a:off x="457200" y="1200151"/>
            <a:ext cx="4038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3" name="Google Shape;43;p24"/>
          <p:cNvSpPr txBox="1"/>
          <p:nvPr>
            <p:ph idx="2" type="body"/>
          </p:nvPr>
        </p:nvSpPr>
        <p:spPr>
          <a:xfrm>
            <a:off x="4648200" y="1200151"/>
            <a:ext cx="4038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4" name="Google Shape;44;p24"/>
          <p:cNvSpPr txBox="1"/>
          <p:nvPr>
            <p:ph idx="10" type="dt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24"/>
          <p:cNvSpPr txBox="1"/>
          <p:nvPr>
            <p:ph idx="11" type="ftr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24"/>
          <p:cNvSpPr txBox="1"/>
          <p:nvPr>
            <p:ph idx="12" type="sldNum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25"/>
          <p:cNvSpPr txBox="1"/>
          <p:nvPr>
            <p:ph type="title"/>
          </p:nvPr>
        </p:nvSpPr>
        <p:spPr>
          <a:xfrm>
            <a:off x="457200" y="206375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25"/>
          <p:cNvSpPr txBox="1"/>
          <p:nvPr>
            <p:ph idx="1" type="body"/>
          </p:nvPr>
        </p:nvSpPr>
        <p:spPr>
          <a:xfrm>
            <a:off x="457200" y="1151335"/>
            <a:ext cx="4040188" cy="47982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0" name="Google Shape;50;p25"/>
          <p:cNvSpPr txBox="1"/>
          <p:nvPr>
            <p:ph idx="2" type="body"/>
          </p:nvPr>
        </p:nvSpPr>
        <p:spPr>
          <a:xfrm>
            <a:off x="457200" y="1631156"/>
            <a:ext cx="4040188" cy="29634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51" name="Google Shape;51;p25"/>
          <p:cNvSpPr txBox="1"/>
          <p:nvPr>
            <p:ph idx="3" type="body"/>
          </p:nvPr>
        </p:nvSpPr>
        <p:spPr>
          <a:xfrm>
            <a:off x="4645026" y="1151335"/>
            <a:ext cx="4041775" cy="47982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2" name="Google Shape;52;p25"/>
          <p:cNvSpPr txBox="1"/>
          <p:nvPr>
            <p:ph idx="4" type="body"/>
          </p:nvPr>
        </p:nvSpPr>
        <p:spPr>
          <a:xfrm>
            <a:off x="4645026" y="1631156"/>
            <a:ext cx="4041775" cy="29634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53" name="Google Shape;53;p25"/>
          <p:cNvSpPr txBox="1"/>
          <p:nvPr>
            <p:ph idx="10" type="dt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25"/>
          <p:cNvSpPr txBox="1"/>
          <p:nvPr>
            <p:ph idx="11" type="ftr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25"/>
          <p:cNvSpPr txBox="1"/>
          <p:nvPr>
            <p:ph idx="12" type="sldNum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26"/>
          <p:cNvSpPr txBox="1"/>
          <p:nvPr>
            <p:ph type="title"/>
          </p:nvPr>
        </p:nvSpPr>
        <p:spPr>
          <a:xfrm>
            <a:off x="457200" y="206375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26"/>
          <p:cNvSpPr txBox="1"/>
          <p:nvPr>
            <p:ph idx="10" type="dt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6"/>
          <p:cNvSpPr txBox="1"/>
          <p:nvPr>
            <p:ph idx="11" type="ftr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6"/>
          <p:cNvSpPr txBox="1"/>
          <p:nvPr>
            <p:ph idx="12" type="sldNum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7"/>
          <p:cNvSpPr txBox="1"/>
          <p:nvPr>
            <p:ph idx="10" type="dt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7"/>
          <p:cNvSpPr txBox="1"/>
          <p:nvPr>
            <p:ph idx="11" type="ftr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27"/>
          <p:cNvSpPr txBox="1"/>
          <p:nvPr>
            <p:ph idx="12" type="sldNum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8"/>
          <p:cNvSpPr txBox="1"/>
          <p:nvPr>
            <p:ph type="title"/>
          </p:nvPr>
        </p:nvSpPr>
        <p:spPr>
          <a:xfrm>
            <a:off x="457201" y="204787"/>
            <a:ext cx="3008313" cy="8715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8"/>
          <p:cNvSpPr txBox="1"/>
          <p:nvPr>
            <p:ph idx="1" type="body"/>
          </p:nvPr>
        </p:nvSpPr>
        <p:spPr>
          <a:xfrm>
            <a:off x="3575050" y="204788"/>
            <a:ext cx="5111750" cy="43898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8" name="Google Shape;68;p28"/>
          <p:cNvSpPr txBox="1"/>
          <p:nvPr>
            <p:ph idx="2" type="body"/>
          </p:nvPr>
        </p:nvSpPr>
        <p:spPr>
          <a:xfrm>
            <a:off x="457201" y="1076326"/>
            <a:ext cx="3008313" cy="35182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9" name="Google Shape;69;p28"/>
          <p:cNvSpPr txBox="1"/>
          <p:nvPr>
            <p:ph idx="10" type="dt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8"/>
          <p:cNvSpPr txBox="1"/>
          <p:nvPr>
            <p:ph idx="11" type="ftr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28"/>
          <p:cNvSpPr txBox="1"/>
          <p:nvPr>
            <p:ph idx="12" type="sldNum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9"/>
          <p:cNvSpPr txBox="1"/>
          <p:nvPr>
            <p:ph type="title"/>
          </p:nvPr>
        </p:nvSpPr>
        <p:spPr>
          <a:xfrm>
            <a:off x="1792288" y="3600450"/>
            <a:ext cx="5486400" cy="42505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29"/>
          <p:cNvSpPr/>
          <p:nvPr>
            <p:ph idx="2" type="pic"/>
          </p:nvPr>
        </p:nvSpPr>
        <p:spPr>
          <a:xfrm>
            <a:off x="1792288" y="459581"/>
            <a:ext cx="5486400" cy="3086100"/>
          </a:xfrm>
          <a:prstGeom prst="rect">
            <a:avLst/>
          </a:prstGeom>
          <a:noFill/>
          <a:ln>
            <a:noFill/>
          </a:ln>
        </p:spPr>
      </p:sp>
      <p:sp>
        <p:nvSpPr>
          <p:cNvPr id="75" name="Google Shape;75;p29"/>
          <p:cNvSpPr txBox="1"/>
          <p:nvPr>
            <p:ph idx="1" type="body"/>
          </p:nvPr>
        </p:nvSpPr>
        <p:spPr>
          <a:xfrm>
            <a:off x="1792288" y="4025503"/>
            <a:ext cx="5486400" cy="60364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76" name="Google Shape;76;p29"/>
          <p:cNvSpPr txBox="1"/>
          <p:nvPr>
            <p:ph idx="10" type="dt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29"/>
          <p:cNvSpPr txBox="1"/>
          <p:nvPr>
            <p:ph idx="11" type="ftr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9"/>
          <p:cNvSpPr txBox="1"/>
          <p:nvPr>
            <p:ph idx="12" type="sldNum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30"/>
          <p:cNvSpPr txBox="1"/>
          <p:nvPr>
            <p:ph type="title"/>
          </p:nvPr>
        </p:nvSpPr>
        <p:spPr>
          <a:xfrm>
            <a:off x="457200" y="206375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30"/>
          <p:cNvSpPr txBox="1"/>
          <p:nvPr>
            <p:ph idx="1" type="body"/>
          </p:nvPr>
        </p:nvSpPr>
        <p:spPr>
          <a:xfrm rot="5400000">
            <a:off x="2874963" y="-1217612"/>
            <a:ext cx="3394075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2" name="Google Shape;82;p30"/>
          <p:cNvSpPr txBox="1"/>
          <p:nvPr>
            <p:ph idx="10" type="dt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30"/>
          <p:cNvSpPr txBox="1"/>
          <p:nvPr>
            <p:ph idx="11" type="ftr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30"/>
          <p:cNvSpPr txBox="1"/>
          <p:nvPr>
            <p:ph idx="12" type="sldNum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31"/>
          <p:cNvSpPr txBox="1"/>
          <p:nvPr>
            <p:ph type="title"/>
          </p:nvPr>
        </p:nvSpPr>
        <p:spPr>
          <a:xfrm rot="5400000">
            <a:off x="5463778" y="1371601"/>
            <a:ext cx="4388644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31"/>
          <p:cNvSpPr txBox="1"/>
          <p:nvPr>
            <p:ph idx="1" type="body"/>
          </p:nvPr>
        </p:nvSpPr>
        <p:spPr>
          <a:xfrm rot="5400000">
            <a:off x="1272778" y="-609599"/>
            <a:ext cx="4388644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8" name="Google Shape;88;p31"/>
          <p:cNvSpPr txBox="1"/>
          <p:nvPr>
            <p:ph idx="10" type="dt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31"/>
          <p:cNvSpPr txBox="1"/>
          <p:nvPr>
            <p:ph idx="11" type="ftr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31"/>
          <p:cNvSpPr txBox="1"/>
          <p:nvPr>
            <p:ph idx="12" type="sldNum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be02ba6c1a_0_115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97" name="Google Shape;97;g3be02ba6c1a_0_115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98" name="Google Shape;98;g3be02ba6c1a_0_1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be02ba6c1a_0_119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01" name="Google Shape;101;g3be02ba6c1a_0_1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be02ba6c1a_0_1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4" name="Google Shape;104;g3be02ba6c1a_0_1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5" name="Google Shape;105;g3be02ba6c1a_0_1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be02ba6c1a_0_1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8" name="Google Shape;108;g3be02ba6c1a_0_126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9" name="Google Shape;109;g3be02ba6c1a_0_126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10" name="Google Shape;110;g3be02ba6c1a_0_1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be02ba6c1a_0_1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3" name="Google Shape;113;g3be02ba6c1a_0_13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be02ba6c1a_0_134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16" name="Google Shape;116;g3be02ba6c1a_0_134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17" name="Google Shape;117;g3be02ba6c1a_0_13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be02ba6c1a_0_13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20" name="Google Shape;120;g3be02ba6c1a_0_13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be02ba6c1a_0_14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g3be02ba6c1a_0_14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24" name="Google Shape;124;g3be02ba6c1a_0_14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25" name="Google Shape;125;g3be02ba6c1a_0_14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26" name="Google Shape;126;g3be02ba6c1a_0_14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be02ba6c1a_0_147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29" name="Google Shape;129;g3be02ba6c1a_0_14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be02ba6c1a_0_150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32" name="Google Shape;132;g3be02ba6c1a_0_150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33" name="Google Shape;133;g3be02ba6c1a_0_15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be02ba6c1a_0_15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2.xml"/><Relationship Id="rId12" Type="http://schemas.openxmlformats.org/officeDocument/2006/relationships/theme" Target="../theme/theme2.xml"/><Relationship Id="rId1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4.xml"/><Relationship Id="rId3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5" Type="http://schemas.openxmlformats.org/officeDocument/2006/relationships/slideLayout" Target="../slideLayouts/slideLayout17.xml"/><Relationship Id="rId6" Type="http://schemas.openxmlformats.org/officeDocument/2006/relationships/slideLayout" Target="../slideLayouts/slideLayout18.xml"/><Relationship Id="rId7" Type="http://schemas.openxmlformats.org/officeDocument/2006/relationships/slideLayout" Target="../slideLayouts/slideLayout19.xml"/><Relationship Id="rId8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9"/>
          <p:cNvSpPr txBox="1"/>
          <p:nvPr>
            <p:ph type="title"/>
          </p:nvPr>
        </p:nvSpPr>
        <p:spPr>
          <a:xfrm>
            <a:off x="457200" y="206375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" name="Google Shape;11;p19"/>
          <p:cNvSpPr txBox="1"/>
          <p:nvPr>
            <p:ph idx="1" type="body"/>
          </p:nvPr>
        </p:nvSpPr>
        <p:spPr>
          <a:xfrm>
            <a:off x="457200" y="1200150"/>
            <a:ext cx="8229600" cy="3394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9"/>
          <p:cNvSpPr txBox="1"/>
          <p:nvPr>
            <p:ph idx="10" type="dt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9"/>
          <p:cNvSpPr txBox="1"/>
          <p:nvPr>
            <p:ph idx="11" type="ftr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9"/>
          <p:cNvSpPr txBox="1"/>
          <p:nvPr>
            <p:ph idx="12" type="sldNum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be02ba6c1a_0_11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93" name="Google Shape;93;g3be02ba6c1a_0_11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94" name="Google Shape;94;g3be02ba6c1a_0_1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hyperlink" Target="https://www.youtube.com/watch?v=Sc3lh3D4rCw" TargetMode="Externa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9.png"/><Relationship Id="rId4" Type="http://schemas.openxmlformats.org/officeDocument/2006/relationships/image" Target="../media/image13.png"/><Relationship Id="rId5" Type="http://schemas.openxmlformats.org/officeDocument/2006/relationships/image" Target="../media/image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4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7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hyperlink" Target="https://www.proprofs.com/quiz-school/story.php?title=logic-gate-quiz" TargetMode="External"/><Relationship Id="rId4" Type="http://schemas.openxmlformats.org/officeDocument/2006/relationships/hyperlink" Target="https://www.proprofs.com/quiz-school/story.php?title=logic-gate-quiz" TargetMode="External"/><Relationship Id="rId5" Type="http://schemas.openxmlformats.org/officeDocument/2006/relationships/hyperlink" Target="https://www.proprofs.com/quiz-school/story.php?title=logic-gate-quiz" TargetMode="External"/><Relationship Id="rId6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be02ba6c1a_0_106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solidFill>
            <a:srgbClr val="B6D7A8"/>
          </a:solidFill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COMPUTER FUNDAMENTALS</a:t>
            </a:r>
            <a:endParaRPr/>
          </a:p>
        </p:txBody>
      </p:sp>
      <p:sp>
        <p:nvSpPr>
          <p:cNvPr id="141" name="Google Shape;141;g3be02ba6c1a_0_106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solidFill>
            <a:schemeClr val="accent4"/>
          </a:solidFill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.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b="1" lang="en-US" sz="7500"/>
              <a:t>A 1.2.3 Logic Gates </a:t>
            </a:r>
            <a:endParaRPr b="1" sz="75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t/>
            </a:r>
            <a:endParaRPr b="1" sz="75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"/>
          <p:cNvSpPr/>
          <p:nvPr/>
        </p:nvSpPr>
        <p:spPr>
          <a:xfrm>
            <a:off x="0" y="267494"/>
            <a:ext cx="9143998" cy="562681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Unit 2- Logic Gates and circuits </a:t>
            </a:r>
            <a:endParaRPr/>
          </a:p>
        </p:txBody>
      </p:sp>
      <p:pic>
        <p:nvPicPr>
          <p:cNvPr id="147" name="Google Shape;147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5536" y="1085038"/>
            <a:ext cx="3672408" cy="2657386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Google Shape;148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71999" y="1158473"/>
            <a:ext cx="3672407" cy="25105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1600">
        <p14:prism dir="l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"/>
          <p:cNvSpPr/>
          <p:nvPr/>
        </p:nvSpPr>
        <p:spPr>
          <a:xfrm>
            <a:off x="0" y="267494"/>
            <a:ext cx="9143998" cy="562681"/>
          </a:xfrm>
          <a:prstGeom prst="rect">
            <a:avLst/>
          </a:prstGeom>
          <a:solidFill>
            <a:srgbClr val="DB178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6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2"/>
          <p:cNvSpPr txBox="1"/>
          <p:nvPr/>
        </p:nvSpPr>
        <p:spPr>
          <a:xfrm>
            <a:off x="281105" y="3051613"/>
            <a:ext cx="3121500" cy="16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ATL</a:t>
            </a:r>
            <a:r>
              <a:rPr b="1" i="0" lang="en-US" sz="1400" u="sng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– </a:t>
            </a:r>
            <a:endParaRPr b="1" i="1" sz="1400" u="sng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Collaboration, Critical thinking, Curiosity, Creativity, Communication, Confidence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4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1" sz="1400" u="sng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1" sz="14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2"/>
          <p:cNvSpPr txBox="1"/>
          <p:nvPr/>
        </p:nvSpPr>
        <p:spPr>
          <a:xfrm>
            <a:off x="5820073" y="3465873"/>
            <a:ext cx="3121602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HOT Question – Higher Order Thinking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Applications in Real Life</a:t>
            </a:r>
            <a:endParaRPr/>
          </a:p>
        </p:txBody>
      </p:sp>
      <p:pic>
        <p:nvPicPr>
          <p:cNvPr descr="Image result for Flame Transparent" id="156" name="Google Shape;156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48064" y="3277603"/>
            <a:ext cx="672009" cy="672009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2"/>
          <p:cNvSpPr txBox="1"/>
          <p:nvPr/>
        </p:nvSpPr>
        <p:spPr>
          <a:xfrm>
            <a:off x="251520" y="987574"/>
            <a:ext cx="4536600" cy="14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Lesson objective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Arial"/>
              <a:buChar char="•"/>
            </a:pPr>
            <a:r>
              <a:rPr b="1" lang="en-US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To learn basic logic gates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Arial"/>
              <a:buChar char="•"/>
            </a:pPr>
            <a:r>
              <a:rPr b="1" lang="en-US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To identify gates using different symbols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Arial"/>
              <a:buChar char="•"/>
            </a:pPr>
            <a:r>
              <a:rPr b="1" lang="en-US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Create Truth Table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1" sz="1800" u="sng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 result for spectacles+transparency" id="158" name="Google Shape;158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453029" y="2909381"/>
            <a:ext cx="1118102" cy="638617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2"/>
          <p:cNvSpPr txBox="1"/>
          <p:nvPr/>
        </p:nvSpPr>
        <p:spPr>
          <a:xfrm>
            <a:off x="5359419" y="879942"/>
            <a:ext cx="3132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 u="sng">
                <a:solidFill>
                  <a:schemeClr val="dk1"/>
                </a:solidFill>
              </a:rPr>
              <a:t>success criteria </a:t>
            </a:r>
            <a:endParaRPr/>
          </a:p>
        </p:txBody>
      </p:sp>
      <p:sp>
        <p:nvSpPr>
          <p:cNvPr id="160" name="Google Shape;160;p2"/>
          <p:cNvSpPr/>
          <p:nvPr/>
        </p:nvSpPr>
        <p:spPr>
          <a:xfrm>
            <a:off x="5317332" y="1262063"/>
            <a:ext cx="3548012" cy="10618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All should be able to define different logic gates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Some would be able to create truth tables using 2 and three inputs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Few would be able to apply logic gates for equations </a:t>
            </a:r>
            <a:endParaRPr b="1" sz="1050" u="none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>
    <mc:Choice Requires="p14">
      <p:transition spd="slow" p14:dur="1600">
        <p14:prism dir="l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3"/>
          <p:cNvSpPr/>
          <p:nvPr/>
        </p:nvSpPr>
        <p:spPr>
          <a:xfrm>
            <a:off x="0" y="267494"/>
            <a:ext cx="9143998" cy="562681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Starter ( 2House Points)</a:t>
            </a:r>
            <a:endParaRPr/>
          </a:p>
        </p:txBody>
      </p:sp>
      <p:sp>
        <p:nvSpPr>
          <p:cNvPr id="166" name="Google Shape;166;p3"/>
          <p:cNvSpPr txBox="1"/>
          <p:nvPr>
            <p:ph idx="1" type="body"/>
          </p:nvPr>
        </p:nvSpPr>
        <p:spPr>
          <a:xfrm>
            <a:off x="457200" y="1200151"/>
            <a:ext cx="8229600" cy="21636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What do you understand by Logic?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What do you understand by Logic gate?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How can you relate binary to logic gates?</a:t>
            </a:r>
            <a:endParaRPr/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</p:txBody>
      </p:sp>
      <p:sp>
        <p:nvSpPr>
          <p:cNvPr id="167" name="Google Shape;167;p3"/>
          <p:cNvSpPr/>
          <p:nvPr/>
        </p:nvSpPr>
        <p:spPr>
          <a:xfrm>
            <a:off x="683568" y="3147814"/>
            <a:ext cx="558011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US" sz="18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https://www.youtube.com/watch?v=Sc3lh3D4rCw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>
    <mc:Choice Requires="p14">
      <p:transition spd="slow" p14:dur="1600">
        <p14:prism dir="l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4"/>
          <p:cNvSpPr/>
          <p:nvPr/>
        </p:nvSpPr>
        <p:spPr>
          <a:xfrm>
            <a:off x="2" y="4592110"/>
            <a:ext cx="9143998" cy="562681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4"/>
          <p:cNvSpPr/>
          <p:nvPr/>
        </p:nvSpPr>
        <p:spPr>
          <a:xfrm>
            <a:off x="0" y="267494"/>
            <a:ext cx="9143998" cy="562681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Logic Gates</a:t>
            </a:r>
            <a:endParaRPr/>
          </a:p>
        </p:txBody>
      </p:sp>
      <p:grpSp>
        <p:nvGrpSpPr>
          <p:cNvPr id="174" name="Google Shape;174;p4"/>
          <p:cNvGrpSpPr/>
          <p:nvPr/>
        </p:nvGrpSpPr>
        <p:grpSpPr>
          <a:xfrm>
            <a:off x="690587" y="1371068"/>
            <a:ext cx="7972053" cy="2654269"/>
            <a:chOff x="7019" y="419653"/>
            <a:chExt cx="7972053" cy="2654269"/>
          </a:xfrm>
        </p:grpSpPr>
        <p:sp>
          <p:nvSpPr>
            <p:cNvPr id="175" name="Google Shape;175;p4"/>
            <p:cNvSpPr/>
            <p:nvPr/>
          </p:nvSpPr>
          <p:spPr>
            <a:xfrm>
              <a:off x="6825223" y="2100231"/>
              <a:ext cx="576924" cy="274563"/>
            </a:xfrm>
            <a:custGeom>
              <a:rect b="b" l="l" r="r" t="t"/>
              <a:pathLst>
                <a:path extrusionOk="0" h="120000" w="120000">
                  <a:moveTo>
                    <a:pt x="0" y="0"/>
                  </a:moveTo>
                  <a:lnTo>
                    <a:pt x="0" y="81777"/>
                  </a:lnTo>
                  <a:lnTo>
                    <a:pt x="120000" y="81777"/>
                  </a:lnTo>
                  <a:lnTo>
                    <a:pt x="120000" y="120000"/>
                  </a:lnTo>
                </a:path>
              </a:pathLst>
            </a:custGeom>
            <a:noFill/>
            <a:ln cap="flat" cmpd="sng" w="25400">
              <a:solidFill>
                <a:srgbClr val="4674AA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176" name="Google Shape;176;p4"/>
            <p:cNvSpPr/>
            <p:nvPr/>
          </p:nvSpPr>
          <p:spPr>
            <a:xfrm>
              <a:off x="6248298" y="2100231"/>
              <a:ext cx="576924" cy="274563"/>
            </a:xfrm>
            <a:custGeom>
              <a:rect b="b" l="l" r="r" t="t"/>
              <a:pathLst>
                <a:path extrusionOk="0" h="120000" w="120000">
                  <a:moveTo>
                    <a:pt x="120000" y="0"/>
                  </a:moveTo>
                  <a:lnTo>
                    <a:pt x="120000" y="81777"/>
                  </a:lnTo>
                  <a:lnTo>
                    <a:pt x="0" y="81777"/>
                  </a:lnTo>
                  <a:lnTo>
                    <a:pt x="0" y="120000"/>
                  </a:lnTo>
                </a:path>
              </a:pathLst>
            </a:custGeom>
            <a:noFill/>
            <a:ln cap="flat" cmpd="sng" w="25400">
              <a:solidFill>
                <a:srgbClr val="4674AA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177" name="Google Shape;177;p4"/>
            <p:cNvSpPr/>
            <p:nvPr/>
          </p:nvSpPr>
          <p:spPr>
            <a:xfrm>
              <a:off x="4585907" y="1019130"/>
              <a:ext cx="2239315" cy="481623"/>
            </a:xfrm>
            <a:custGeom>
              <a:rect b="b" l="l" r="r" t="t"/>
              <a:pathLst>
                <a:path extrusionOk="0" h="120000" w="120000">
                  <a:moveTo>
                    <a:pt x="0" y="0"/>
                  </a:moveTo>
                  <a:lnTo>
                    <a:pt x="0" y="98209"/>
                  </a:lnTo>
                  <a:lnTo>
                    <a:pt x="120000" y="98209"/>
                  </a:lnTo>
                  <a:lnTo>
                    <a:pt x="120000" y="120000"/>
                  </a:lnTo>
                </a:path>
              </a:pathLst>
            </a:custGeom>
            <a:noFill/>
            <a:ln cap="flat" cmpd="sng" w="25400">
              <a:solidFill>
                <a:srgbClr val="3B6495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178" name="Google Shape;178;p4"/>
            <p:cNvSpPr/>
            <p:nvPr/>
          </p:nvSpPr>
          <p:spPr>
            <a:xfrm>
              <a:off x="4585778" y="2111243"/>
              <a:ext cx="508669" cy="263551"/>
            </a:xfrm>
            <a:custGeom>
              <a:rect b="b" l="l" r="r" t="t"/>
              <a:pathLst>
                <a:path extrusionOk="0" h="120000" w="120000">
                  <a:moveTo>
                    <a:pt x="0" y="0"/>
                  </a:moveTo>
                  <a:lnTo>
                    <a:pt x="0" y="80179"/>
                  </a:lnTo>
                  <a:lnTo>
                    <a:pt x="120000" y="80179"/>
                  </a:lnTo>
                  <a:lnTo>
                    <a:pt x="120000" y="120000"/>
                  </a:lnTo>
                </a:path>
              </a:pathLst>
            </a:custGeom>
            <a:noFill/>
            <a:ln cap="flat" cmpd="sng" w="25400">
              <a:solidFill>
                <a:srgbClr val="4674AA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179" name="Google Shape;179;p4"/>
            <p:cNvSpPr/>
            <p:nvPr/>
          </p:nvSpPr>
          <p:spPr>
            <a:xfrm>
              <a:off x="3940598" y="2111243"/>
              <a:ext cx="645180" cy="263551"/>
            </a:xfrm>
            <a:custGeom>
              <a:rect b="b" l="l" r="r" t="t"/>
              <a:pathLst>
                <a:path extrusionOk="0" h="120000" w="120000">
                  <a:moveTo>
                    <a:pt x="120000" y="0"/>
                  </a:moveTo>
                  <a:lnTo>
                    <a:pt x="120000" y="80179"/>
                  </a:lnTo>
                  <a:lnTo>
                    <a:pt x="0" y="80179"/>
                  </a:lnTo>
                  <a:lnTo>
                    <a:pt x="0" y="120000"/>
                  </a:lnTo>
                </a:path>
              </a:pathLst>
            </a:custGeom>
            <a:noFill/>
            <a:ln cap="flat" cmpd="sng" w="25400">
              <a:solidFill>
                <a:srgbClr val="4674AA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180" name="Google Shape;180;p4"/>
            <p:cNvSpPr/>
            <p:nvPr/>
          </p:nvSpPr>
          <p:spPr>
            <a:xfrm>
              <a:off x="4540058" y="1019130"/>
              <a:ext cx="91440" cy="492635"/>
            </a:xfrm>
            <a:custGeom>
              <a:rect b="b" l="l" r="r" t="t"/>
              <a:pathLst>
                <a:path extrusionOk="0" h="120000" w="120000">
                  <a:moveTo>
                    <a:pt x="60169" y="0"/>
                  </a:moveTo>
                  <a:lnTo>
                    <a:pt x="60169" y="98697"/>
                  </a:lnTo>
                  <a:lnTo>
                    <a:pt x="60000" y="98697"/>
                  </a:lnTo>
                  <a:lnTo>
                    <a:pt x="60000" y="120000"/>
                  </a:lnTo>
                </a:path>
              </a:pathLst>
            </a:custGeom>
            <a:noFill/>
            <a:ln cap="flat" cmpd="sng" w="25400">
              <a:solidFill>
                <a:srgbClr val="3B6495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181" name="Google Shape;181;p4"/>
            <p:cNvSpPr/>
            <p:nvPr/>
          </p:nvSpPr>
          <p:spPr>
            <a:xfrm>
              <a:off x="1632898" y="2100231"/>
              <a:ext cx="1153849" cy="274563"/>
            </a:xfrm>
            <a:custGeom>
              <a:rect b="b" l="l" r="r" t="t"/>
              <a:pathLst>
                <a:path extrusionOk="0" h="120000" w="120000">
                  <a:moveTo>
                    <a:pt x="0" y="0"/>
                  </a:moveTo>
                  <a:lnTo>
                    <a:pt x="0" y="81777"/>
                  </a:lnTo>
                  <a:lnTo>
                    <a:pt x="120000" y="81777"/>
                  </a:lnTo>
                  <a:lnTo>
                    <a:pt x="120000" y="120000"/>
                  </a:lnTo>
                </a:path>
              </a:pathLst>
            </a:custGeom>
            <a:noFill/>
            <a:ln cap="flat" cmpd="sng" w="25400">
              <a:solidFill>
                <a:srgbClr val="4674AA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182" name="Google Shape;182;p4"/>
            <p:cNvSpPr/>
            <p:nvPr/>
          </p:nvSpPr>
          <p:spPr>
            <a:xfrm>
              <a:off x="1587178" y="2100231"/>
              <a:ext cx="91440" cy="274563"/>
            </a:xfrm>
            <a:custGeom>
              <a:rect b="b" l="l" r="r" t="t"/>
              <a:pathLst>
                <a:path extrusionOk="0" h="120000" w="120000">
                  <a:moveTo>
                    <a:pt x="60000" y="0"/>
                  </a:moveTo>
                  <a:lnTo>
                    <a:pt x="60000" y="120000"/>
                  </a:lnTo>
                </a:path>
              </a:pathLst>
            </a:custGeom>
            <a:noFill/>
            <a:ln cap="flat" cmpd="sng" w="25400">
              <a:solidFill>
                <a:srgbClr val="4674AA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183" name="Google Shape;183;p4"/>
            <p:cNvSpPr/>
            <p:nvPr/>
          </p:nvSpPr>
          <p:spPr>
            <a:xfrm>
              <a:off x="479048" y="2100231"/>
              <a:ext cx="1153849" cy="274563"/>
            </a:xfrm>
            <a:custGeom>
              <a:rect b="b" l="l" r="r" t="t"/>
              <a:pathLst>
                <a:path extrusionOk="0" h="120000" w="120000">
                  <a:moveTo>
                    <a:pt x="120000" y="0"/>
                  </a:moveTo>
                  <a:lnTo>
                    <a:pt x="120000" y="81777"/>
                  </a:lnTo>
                  <a:lnTo>
                    <a:pt x="0" y="81777"/>
                  </a:lnTo>
                  <a:lnTo>
                    <a:pt x="0" y="120000"/>
                  </a:lnTo>
                </a:path>
              </a:pathLst>
            </a:custGeom>
            <a:noFill/>
            <a:ln cap="flat" cmpd="sng" w="25400">
              <a:solidFill>
                <a:srgbClr val="4674AA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184" name="Google Shape;184;p4"/>
            <p:cNvSpPr/>
            <p:nvPr/>
          </p:nvSpPr>
          <p:spPr>
            <a:xfrm>
              <a:off x="1632898" y="1019130"/>
              <a:ext cx="2953009" cy="481623"/>
            </a:xfrm>
            <a:custGeom>
              <a:rect b="b" l="l" r="r" t="t"/>
              <a:pathLst>
                <a:path extrusionOk="0" h="120000" w="120000">
                  <a:moveTo>
                    <a:pt x="120000" y="0"/>
                  </a:moveTo>
                  <a:lnTo>
                    <a:pt x="120000" y="98209"/>
                  </a:lnTo>
                  <a:lnTo>
                    <a:pt x="0" y="98209"/>
                  </a:lnTo>
                  <a:lnTo>
                    <a:pt x="0" y="120000"/>
                  </a:lnTo>
                </a:path>
              </a:pathLst>
            </a:custGeom>
            <a:noFill/>
            <a:ln cap="flat" cmpd="sng" w="25400">
              <a:solidFill>
                <a:srgbClr val="3B6495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185" name="Google Shape;185;p4"/>
            <p:cNvSpPr/>
            <p:nvPr/>
          </p:nvSpPr>
          <p:spPr>
            <a:xfrm>
              <a:off x="2816991" y="419653"/>
              <a:ext cx="3537832" cy="599477"/>
            </a:xfrm>
            <a:prstGeom prst="roundRect">
              <a:avLst>
                <a:gd fmla="val 10000" name="adj"/>
              </a:avLst>
            </a:prstGeom>
            <a:solidFill>
              <a:schemeClr val="accent1"/>
            </a:solidFill>
            <a:ln>
              <a:noFill/>
            </a:ln>
            <a:effectLst>
              <a:outerShdw blurRad="40000" rotWithShape="0" dir="5400000" dist="20000">
                <a:srgbClr val="000000">
                  <a:alpha val="37647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" name="Google Shape;186;p4"/>
            <p:cNvSpPr/>
            <p:nvPr/>
          </p:nvSpPr>
          <p:spPr>
            <a:xfrm>
              <a:off x="2921887" y="519303"/>
              <a:ext cx="3537832" cy="599477"/>
            </a:xfrm>
            <a:prstGeom prst="roundRect">
              <a:avLst>
                <a:gd fmla="val 10000" name="adj"/>
              </a:avLst>
            </a:prstGeom>
            <a:solidFill>
              <a:schemeClr val="lt1">
                <a:alpha val="89803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" name="Google Shape;187;p4"/>
            <p:cNvSpPr txBox="1"/>
            <p:nvPr/>
          </p:nvSpPr>
          <p:spPr>
            <a:xfrm>
              <a:off x="2939445" y="536861"/>
              <a:ext cx="3502716" cy="56436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06675" lIns="106675" spcFirstLastPara="1" rIns="106675" wrap="square" tIns="10667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F243E"/>
                </a:buClr>
                <a:buSzPts val="2800"/>
                <a:buFont typeface="Calibri"/>
                <a:buNone/>
              </a:pPr>
              <a:r>
                <a:rPr b="1" lang="en-US" sz="2800">
                  <a:solidFill>
                    <a:srgbClr val="0F243E"/>
                  </a:solidFill>
                  <a:latin typeface="Calibri"/>
                  <a:ea typeface="Calibri"/>
                  <a:cs typeface="Calibri"/>
                  <a:sym typeface="Calibri"/>
                </a:rPr>
                <a:t>Logic Gates</a:t>
              </a:r>
              <a:endParaRPr/>
            </a:p>
          </p:txBody>
        </p:sp>
        <p:sp>
          <p:nvSpPr>
            <p:cNvPr id="188" name="Google Shape;188;p4"/>
            <p:cNvSpPr/>
            <p:nvPr/>
          </p:nvSpPr>
          <p:spPr>
            <a:xfrm>
              <a:off x="1160868" y="1500753"/>
              <a:ext cx="944059" cy="599477"/>
            </a:xfrm>
            <a:prstGeom prst="roundRect">
              <a:avLst>
                <a:gd fmla="val 10000" name="adj"/>
              </a:avLst>
            </a:prstGeom>
            <a:solidFill>
              <a:schemeClr val="accent1"/>
            </a:solidFill>
            <a:ln>
              <a:noFill/>
            </a:ln>
            <a:effectLst>
              <a:outerShdw blurRad="40000" rotWithShape="0" dir="5400000" dist="20000">
                <a:srgbClr val="000000">
                  <a:alpha val="37647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" name="Google Shape;189;p4"/>
            <p:cNvSpPr/>
            <p:nvPr/>
          </p:nvSpPr>
          <p:spPr>
            <a:xfrm>
              <a:off x="1265764" y="1600404"/>
              <a:ext cx="944059" cy="599477"/>
            </a:xfrm>
            <a:prstGeom prst="roundRect">
              <a:avLst>
                <a:gd fmla="val 10000" name="adj"/>
              </a:avLst>
            </a:prstGeom>
            <a:solidFill>
              <a:schemeClr val="lt1">
                <a:alpha val="89803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" name="Google Shape;190;p4"/>
            <p:cNvSpPr txBox="1"/>
            <p:nvPr/>
          </p:nvSpPr>
          <p:spPr>
            <a:xfrm>
              <a:off x="1283322" y="1617962"/>
              <a:ext cx="908943" cy="56436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76200" lIns="76200" spcFirstLastPara="1" rIns="76200" wrap="square" tIns="762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F243E"/>
                </a:buClr>
                <a:buSzPts val="2000"/>
                <a:buFont typeface="Calibri"/>
                <a:buNone/>
              </a:pPr>
              <a:r>
                <a:rPr b="1" lang="en-US" sz="2000">
                  <a:solidFill>
                    <a:srgbClr val="0F243E"/>
                  </a:solidFill>
                  <a:latin typeface="Calibri"/>
                  <a:ea typeface="Calibri"/>
                  <a:cs typeface="Calibri"/>
                  <a:sym typeface="Calibri"/>
                </a:rPr>
                <a:t>Basic</a:t>
              </a:r>
              <a:endParaRPr/>
            </a:p>
          </p:txBody>
        </p:sp>
        <p:sp>
          <p:nvSpPr>
            <p:cNvPr id="191" name="Google Shape;191;p4"/>
            <p:cNvSpPr/>
            <p:nvPr/>
          </p:nvSpPr>
          <p:spPr>
            <a:xfrm>
              <a:off x="7019" y="2374795"/>
              <a:ext cx="944059" cy="599477"/>
            </a:xfrm>
            <a:prstGeom prst="roundRect">
              <a:avLst>
                <a:gd fmla="val 10000" name="adj"/>
              </a:avLst>
            </a:prstGeom>
            <a:solidFill>
              <a:schemeClr val="accent1"/>
            </a:solidFill>
            <a:ln>
              <a:noFill/>
            </a:ln>
            <a:effectLst>
              <a:outerShdw blurRad="40000" rotWithShape="0" dir="5400000" dist="20000">
                <a:srgbClr val="000000">
                  <a:alpha val="37647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" name="Google Shape;192;p4"/>
            <p:cNvSpPr/>
            <p:nvPr/>
          </p:nvSpPr>
          <p:spPr>
            <a:xfrm>
              <a:off x="111914" y="2474445"/>
              <a:ext cx="944059" cy="599477"/>
            </a:xfrm>
            <a:prstGeom prst="roundRect">
              <a:avLst>
                <a:gd fmla="val 10000" name="adj"/>
              </a:avLst>
            </a:prstGeom>
            <a:solidFill>
              <a:schemeClr val="lt1">
                <a:alpha val="89803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" name="Google Shape;193;p4"/>
            <p:cNvSpPr txBox="1"/>
            <p:nvPr/>
          </p:nvSpPr>
          <p:spPr>
            <a:xfrm>
              <a:off x="129472" y="2492003"/>
              <a:ext cx="908943" cy="56436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0950" lIns="60950" spcFirstLastPara="1" rIns="60950" wrap="square" tIns="6095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rPr lang="en-US"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NOT</a:t>
              </a:r>
              <a:endParaRPr/>
            </a:p>
          </p:txBody>
        </p:sp>
        <p:sp>
          <p:nvSpPr>
            <p:cNvPr id="194" name="Google Shape;194;p4"/>
            <p:cNvSpPr/>
            <p:nvPr/>
          </p:nvSpPr>
          <p:spPr>
            <a:xfrm>
              <a:off x="1160868" y="2374795"/>
              <a:ext cx="944059" cy="599477"/>
            </a:xfrm>
            <a:prstGeom prst="roundRect">
              <a:avLst>
                <a:gd fmla="val 10000" name="adj"/>
              </a:avLst>
            </a:prstGeom>
            <a:solidFill>
              <a:schemeClr val="accent1"/>
            </a:solidFill>
            <a:ln>
              <a:noFill/>
            </a:ln>
            <a:effectLst>
              <a:outerShdw blurRad="40000" rotWithShape="0" dir="5400000" dist="20000">
                <a:srgbClr val="000000">
                  <a:alpha val="37647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" name="Google Shape;195;p4"/>
            <p:cNvSpPr/>
            <p:nvPr/>
          </p:nvSpPr>
          <p:spPr>
            <a:xfrm>
              <a:off x="1265764" y="2474445"/>
              <a:ext cx="944059" cy="599477"/>
            </a:xfrm>
            <a:prstGeom prst="roundRect">
              <a:avLst>
                <a:gd fmla="val 10000" name="adj"/>
              </a:avLst>
            </a:prstGeom>
            <a:solidFill>
              <a:schemeClr val="lt1">
                <a:alpha val="89803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" name="Google Shape;196;p4"/>
            <p:cNvSpPr txBox="1"/>
            <p:nvPr/>
          </p:nvSpPr>
          <p:spPr>
            <a:xfrm>
              <a:off x="1283322" y="2492003"/>
              <a:ext cx="908943" cy="56436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0950" lIns="60950" spcFirstLastPara="1" rIns="60950" wrap="square" tIns="6095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rPr lang="en-US"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AND</a:t>
              </a:r>
              <a:endParaRPr/>
            </a:p>
          </p:txBody>
        </p:sp>
        <p:sp>
          <p:nvSpPr>
            <p:cNvPr id="197" name="Google Shape;197;p4"/>
            <p:cNvSpPr/>
            <p:nvPr/>
          </p:nvSpPr>
          <p:spPr>
            <a:xfrm>
              <a:off x="2314718" y="2374795"/>
              <a:ext cx="944059" cy="599477"/>
            </a:xfrm>
            <a:prstGeom prst="roundRect">
              <a:avLst>
                <a:gd fmla="val 10000" name="adj"/>
              </a:avLst>
            </a:prstGeom>
            <a:solidFill>
              <a:schemeClr val="accent1"/>
            </a:solidFill>
            <a:ln>
              <a:noFill/>
            </a:ln>
            <a:effectLst>
              <a:outerShdw blurRad="40000" rotWithShape="0" dir="5400000" dist="20000">
                <a:srgbClr val="000000">
                  <a:alpha val="37647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" name="Google Shape;198;p4"/>
            <p:cNvSpPr/>
            <p:nvPr/>
          </p:nvSpPr>
          <p:spPr>
            <a:xfrm>
              <a:off x="2419614" y="2474445"/>
              <a:ext cx="944059" cy="599477"/>
            </a:xfrm>
            <a:prstGeom prst="roundRect">
              <a:avLst>
                <a:gd fmla="val 10000" name="adj"/>
              </a:avLst>
            </a:prstGeom>
            <a:solidFill>
              <a:schemeClr val="lt1">
                <a:alpha val="89803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" name="Google Shape;199;p4"/>
            <p:cNvSpPr txBox="1"/>
            <p:nvPr/>
          </p:nvSpPr>
          <p:spPr>
            <a:xfrm>
              <a:off x="2437172" y="2492003"/>
              <a:ext cx="908943" cy="56436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0950" lIns="60950" spcFirstLastPara="1" rIns="60950" wrap="square" tIns="6095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rPr lang="en-US"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OR</a:t>
              </a:r>
              <a:endParaRPr/>
            </a:p>
          </p:txBody>
        </p:sp>
        <p:sp>
          <p:nvSpPr>
            <p:cNvPr id="200" name="Google Shape;200;p4"/>
            <p:cNvSpPr/>
            <p:nvPr/>
          </p:nvSpPr>
          <p:spPr>
            <a:xfrm>
              <a:off x="3717508" y="1511766"/>
              <a:ext cx="1736539" cy="599477"/>
            </a:xfrm>
            <a:prstGeom prst="roundRect">
              <a:avLst>
                <a:gd fmla="val 10000" name="adj"/>
              </a:avLst>
            </a:prstGeom>
            <a:solidFill>
              <a:schemeClr val="accent1"/>
            </a:solidFill>
            <a:ln>
              <a:noFill/>
            </a:ln>
            <a:effectLst>
              <a:outerShdw blurRad="40000" rotWithShape="0" dir="5400000" dist="20000">
                <a:srgbClr val="000000">
                  <a:alpha val="37647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" name="Google Shape;201;p4"/>
            <p:cNvSpPr/>
            <p:nvPr/>
          </p:nvSpPr>
          <p:spPr>
            <a:xfrm>
              <a:off x="3822404" y="1611416"/>
              <a:ext cx="1736539" cy="599477"/>
            </a:xfrm>
            <a:prstGeom prst="roundRect">
              <a:avLst>
                <a:gd fmla="val 10000" name="adj"/>
              </a:avLst>
            </a:prstGeom>
            <a:solidFill>
              <a:schemeClr val="lt1">
                <a:alpha val="89803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" name="Google Shape;202;p4"/>
            <p:cNvSpPr txBox="1"/>
            <p:nvPr/>
          </p:nvSpPr>
          <p:spPr>
            <a:xfrm>
              <a:off x="3839962" y="1628974"/>
              <a:ext cx="1701423" cy="56436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76200" lIns="76200" spcFirstLastPara="1" rIns="76200" wrap="square" tIns="762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F243E"/>
                </a:buClr>
                <a:buSzPts val="2000"/>
                <a:buFont typeface="Calibri"/>
                <a:buNone/>
              </a:pPr>
              <a:r>
                <a:rPr b="1" lang="en-US" sz="2000">
                  <a:solidFill>
                    <a:srgbClr val="0F243E"/>
                  </a:solidFill>
                  <a:latin typeface="Calibri"/>
                  <a:ea typeface="Calibri"/>
                  <a:cs typeface="Calibri"/>
                  <a:sym typeface="Calibri"/>
                </a:rPr>
                <a:t>Universal</a:t>
              </a:r>
              <a:endParaRPr/>
            </a:p>
          </p:txBody>
        </p:sp>
        <p:sp>
          <p:nvSpPr>
            <p:cNvPr id="203" name="Google Shape;203;p4"/>
            <p:cNvSpPr/>
            <p:nvPr/>
          </p:nvSpPr>
          <p:spPr>
            <a:xfrm>
              <a:off x="3468568" y="2374795"/>
              <a:ext cx="944059" cy="599477"/>
            </a:xfrm>
            <a:prstGeom prst="roundRect">
              <a:avLst>
                <a:gd fmla="val 10000" name="adj"/>
              </a:avLst>
            </a:prstGeom>
            <a:solidFill>
              <a:schemeClr val="accent1"/>
            </a:solidFill>
            <a:ln>
              <a:noFill/>
            </a:ln>
            <a:effectLst>
              <a:outerShdw blurRad="40000" rotWithShape="0" dir="5400000" dist="20000">
                <a:srgbClr val="000000">
                  <a:alpha val="37647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" name="Google Shape;204;p4"/>
            <p:cNvSpPr/>
            <p:nvPr/>
          </p:nvSpPr>
          <p:spPr>
            <a:xfrm>
              <a:off x="3573464" y="2474445"/>
              <a:ext cx="944059" cy="599477"/>
            </a:xfrm>
            <a:prstGeom prst="roundRect">
              <a:avLst>
                <a:gd fmla="val 10000" name="adj"/>
              </a:avLst>
            </a:prstGeom>
            <a:solidFill>
              <a:schemeClr val="lt1">
                <a:alpha val="89803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" name="Google Shape;205;p4"/>
            <p:cNvSpPr txBox="1"/>
            <p:nvPr/>
          </p:nvSpPr>
          <p:spPr>
            <a:xfrm>
              <a:off x="3591022" y="2492003"/>
              <a:ext cx="908943" cy="56436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0950" lIns="60950" spcFirstLastPara="1" rIns="60950" wrap="square" tIns="6095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rPr lang="en-US"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NAND</a:t>
              </a:r>
              <a:endParaRPr/>
            </a:p>
          </p:txBody>
        </p:sp>
        <p:sp>
          <p:nvSpPr>
            <p:cNvPr id="206" name="Google Shape;206;p4"/>
            <p:cNvSpPr/>
            <p:nvPr/>
          </p:nvSpPr>
          <p:spPr>
            <a:xfrm>
              <a:off x="4622418" y="2374795"/>
              <a:ext cx="944059" cy="599477"/>
            </a:xfrm>
            <a:prstGeom prst="roundRect">
              <a:avLst>
                <a:gd fmla="val 10000" name="adj"/>
              </a:avLst>
            </a:prstGeom>
            <a:solidFill>
              <a:schemeClr val="accent1"/>
            </a:solidFill>
            <a:ln>
              <a:noFill/>
            </a:ln>
            <a:effectLst>
              <a:outerShdw blurRad="40000" rotWithShape="0" dir="5400000" dist="20000">
                <a:srgbClr val="000000">
                  <a:alpha val="37647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" name="Google Shape;207;p4"/>
            <p:cNvSpPr/>
            <p:nvPr/>
          </p:nvSpPr>
          <p:spPr>
            <a:xfrm>
              <a:off x="4727314" y="2474445"/>
              <a:ext cx="944059" cy="599477"/>
            </a:xfrm>
            <a:prstGeom prst="roundRect">
              <a:avLst>
                <a:gd fmla="val 10000" name="adj"/>
              </a:avLst>
            </a:prstGeom>
            <a:solidFill>
              <a:schemeClr val="lt1">
                <a:alpha val="89803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" name="Google Shape;208;p4"/>
            <p:cNvSpPr txBox="1"/>
            <p:nvPr/>
          </p:nvSpPr>
          <p:spPr>
            <a:xfrm>
              <a:off x="4744872" y="2492003"/>
              <a:ext cx="908943" cy="56436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0950" lIns="60950" spcFirstLastPara="1" rIns="60950" wrap="square" tIns="6095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rPr lang="en-US"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NOR</a:t>
              </a:r>
              <a:endParaRPr/>
            </a:p>
          </p:txBody>
        </p:sp>
        <p:sp>
          <p:nvSpPr>
            <p:cNvPr id="209" name="Google Shape;209;p4"/>
            <p:cNvSpPr/>
            <p:nvPr/>
          </p:nvSpPr>
          <p:spPr>
            <a:xfrm>
              <a:off x="5969995" y="1500753"/>
              <a:ext cx="1710455" cy="599477"/>
            </a:xfrm>
            <a:prstGeom prst="roundRect">
              <a:avLst>
                <a:gd fmla="val 10000" name="adj"/>
              </a:avLst>
            </a:prstGeom>
            <a:solidFill>
              <a:schemeClr val="accent1"/>
            </a:solidFill>
            <a:ln>
              <a:noFill/>
            </a:ln>
            <a:effectLst>
              <a:outerShdw blurRad="40000" rotWithShape="0" dir="5400000" dist="20000">
                <a:srgbClr val="000000">
                  <a:alpha val="37647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" name="Google Shape;210;p4"/>
            <p:cNvSpPr/>
            <p:nvPr/>
          </p:nvSpPr>
          <p:spPr>
            <a:xfrm>
              <a:off x="6074890" y="1600404"/>
              <a:ext cx="1710455" cy="599477"/>
            </a:xfrm>
            <a:prstGeom prst="roundRect">
              <a:avLst>
                <a:gd fmla="val 10000" name="adj"/>
              </a:avLst>
            </a:prstGeom>
            <a:solidFill>
              <a:schemeClr val="lt1">
                <a:alpha val="89803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" name="Google Shape;211;p4"/>
            <p:cNvSpPr txBox="1"/>
            <p:nvPr/>
          </p:nvSpPr>
          <p:spPr>
            <a:xfrm>
              <a:off x="6092448" y="1617962"/>
              <a:ext cx="1675339" cy="56436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76200" lIns="76200" spcFirstLastPara="1" rIns="76200" wrap="square" tIns="762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Calibri"/>
                <a:buNone/>
              </a:pPr>
              <a:r>
                <a:rPr b="1" lang="en-US"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Exclusive</a:t>
              </a:r>
              <a:endParaRPr/>
            </a:p>
          </p:txBody>
        </p:sp>
        <p:sp>
          <p:nvSpPr>
            <p:cNvPr id="212" name="Google Shape;212;p4"/>
            <p:cNvSpPr/>
            <p:nvPr/>
          </p:nvSpPr>
          <p:spPr>
            <a:xfrm>
              <a:off x="5776268" y="2374795"/>
              <a:ext cx="944059" cy="599477"/>
            </a:xfrm>
            <a:prstGeom prst="roundRect">
              <a:avLst>
                <a:gd fmla="val 10000" name="adj"/>
              </a:avLst>
            </a:prstGeom>
            <a:solidFill>
              <a:schemeClr val="accent1"/>
            </a:solidFill>
            <a:ln>
              <a:noFill/>
            </a:ln>
            <a:effectLst>
              <a:outerShdw blurRad="40000" rotWithShape="0" dir="5400000" dist="20000">
                <a:srgbClr val="000000">
                  <a:alpha val="37647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" name="Google Shape;213;p4"/>
            <p:cNvSpPr/>
            <p:nvPr/>
          </p:nvSpPr>
          <p:spPr>
            <a:xfrm>
              <a:off x="5881164" y="2474445"/>
              <a:ext cx="944059" cy="599477"/>
            </a:xfrm>
            <a:prstGeom prst="roundRect">
              <a:avLst>
                <a:gd fmla="val 10000" name="adj"/>
              </a:avLst>
            </a:prstGeom>
            <a:solidFill>
              <a:schemeClr val="lt1">
                <a:alpha val="89803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" name="Google Shape;214;p4"/>
            <p:cNvSpPr txBox="1"/>
            <p:nvPr/>
          </p:nvSpPr>
          <p:spPr>
            <a:xfrm>
              <a:off x="5898722" y="2492003"/>
              <a:ext cx="908943" cy="56436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0950" lIns="60950" spcFirstLastPara="1" rIns="60950" wrap="square" tIns="6095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rPr lang="en-US"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EX-OR</a:t>
              </a:r>
              <a:endParaRPr/>
            </a:p>
          </p:txBody>
        </p:sp>
        <p:sp>
          <p:nvSpPr>
            <p:cNvPr id="215" name="Google Shape;215;p4"/>
            <p:cNvSpPr/>
            <p:nvPr/>
          </p:nvSpPr>
          <p:spPr>
            <a:xfrm>
              <a:off x="6930118" y="2374795"/>
              <a:ext cx="944059" cy="599477"/>
            </a:xfrm>
            <a:prstGeom prst="roundRect">
              <a:avLst>
                <a:gd fmla="val 10000" name="adj"/>
              </a:avLst>
            </a:prstGeom>
            <a:solidFill>
              <a:schemeClr val="accent1"/>
            </a:solidFill>
            <a:ln>
              <a:noFill/>
            </a:ln>
            <a:effectLst>
              <a:outerShdw blurRad="40000" rotWithShape="0" dir="5400000" dist="20000">
                <a:srgbClr val="000000">
                  <a:alpha val="37647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" name="Google Shape;216;p4"/>
            <p:cNvSpPr/>
            <p:nvPr/>
          </p:nvSpPr>
          <p:spPr>
            <a:xfrm>
              <a:off x="7035013" y="2474445"/>
              <a:ext cx="944059" cy="599477"/>
            </a:xfrm>
            <a:prstGeom prst="roundRect">
              <a:avLst>
                <a:gd fmla="val 10000" name="adj"/>
              </a:avLst>
            </a:prstGeom>
            <a:solidFill>
              <a:schemeClr val="lt1">
                <a:alpha val="89803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" name="Google Shape;217;p4"/>
            <p:cNvSpPr txBox="1"/>
            <p:nvPr/>
          </p:nvSpPr>
          <p:spPr>
            <a:xfrm>
              <a:off x="7052571" y="2492003"/>
              <a:ext cx="908943" cy="56436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0950" lIns="60950" spcFirstLastPara="1" rIns="60950" wrap="square" tIns="6095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rPr lang="en-US"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EX - NOR</a:t>
              </a:r>
              <a:endParaRPr/>
            </a:p>
          </p:txBody>
        </p:sp>
      </p:grpSp>
    </p:spTree>
  </p:cSld>
  <p:clrMapOvr>
    <a:masterClrMapping/>
  </p:clrMapOvr>
  <mc:AlternateContent>
    <mc:Choice Requires="p14">
      <p:transition spd="slow" p14:dur="1600">
        <p14:prism dir="l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5"/>
          <p:cNvSpPr/>
          <p:nvPr/>
        </p:nvSpPr>
        <p:spPr>
          <a:xfrm>
            <a:off x="0" y="267494"/>
            <a:ext cx="9143998" cy="562681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Basic Gates</a:t>
            </a:r>
            <a:endParaRPr/>
          </a:p>
        </p:txBody>
      </p:sp>
      <p:pic>
        <p:nvPicPr>
          <p:cNvPr id="223" name="Google Shape;223;p5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9700" y="1168399"/>
            <a:ext cx="7578300" cy="28448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1600">
        <p14:prism dir="l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6"/>
          <p:cNvSpPr/>
          <p:nvPr/>
        </p:nvSpPr>
        <p:spPr>
          <a:xfrm>
            <a:off x="4400" y="267494"/>
            <a:ext cx="9143998" cy="562681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Differentiated Activities</a:t>
            </a:r>
            <a:endParaRPr/>
          </a:p>
        </p:txBody>
      </p:sp>
      <p:sp>
        <p:nvSpPr>
          <p:cNvPr id="229" name="Google Shape;229;p6"/>
          <p:cNvSpPr txBox="1"/>
          <p:nvPr>
            <p:ph idx="1" type="body"/>
          </p:nvPr>
        </p:nvSpPr>
        <p:spPr>
          <a:xfrm>
            <a:off x="457200" y="1019218"/>
            <a:ext cx="8229600" cy="3394075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-3410" l="-1332" r="0" t="-1614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3200"/>
              <a:buChar char="•"/>
            </a:pPr>
            <a:r>
              <a:rPr lang="en-US"/>
              <a:t> 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1600">
        <p14:prism dir="l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7"/>
          <p:cNvSpPr/>
          <p:nvPr/>
        </p:nvSpPr>
        <p:spPr>
          <a:xfrm>
            <a:off x="0" y="267494"/>
            <a:ext cx="9143998" cy="562681"/>
          </a:xfrm>
          <a:prstGeom prst="rect">
            <a:avLst/>
          </a:prstGeom>
          <a:solidFill>
            <a:srgbClr val="FF85B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Part 4 - Plenary – Progress check</a:t>
            </a:r>
            <a:endParaRPr/>
          </a:p>
        </p:txBody>
      </p:sp>
      <p:sp>
        <p:nvSpPr>
          <p:cNvPr id="235" name="Google Shape;235;p7"/>
          <p:cNvSpPr txBox="1"/>
          <p:nvPr/>
        </p:nvSpPr>
        <p:spPr>
          <a:xfrm>
            <a:off x="1475656" y="1133976"/>
            <a:ext cx="6001915" cy="10156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632423"/>
              </a:buClr>
              <a:buSzPts val="2000"/>
              <a:buFont typeface="Arial"/>
              <a:buChar char="•"/>
            </a:pPr>
            <a:r>
              <a:rPr b="1" lang="en-US" sz="2000">
                <a:solidFill>
                  <a:srgbClr val="632423"/>
                </a:solidFill>
                <a:latin typeface="Calibri"/>
                <a:ea typeface="Calibri"/>
                <a:cs typeface="Calibri"/>
                <a:sym typeface="Calibri"/>
              </a:rPr>
              <a:t>Importance of Logic circuits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632423"/>
              </a:buClr>
              <a:buSzPts val="2000"/>
              <a:buFont typeface="Arial"/>
              <a:buChar char="•"/>
            </a:pPr>
            <a:r>
              <a:rPr b="1" lang="en-US" sz="2000">
                <a:solidFill>
                  <a:srgbClr val="632423"/>
                </a:solidFill>
                <a:latin typeface="Calibri"/>
                <a:ea typeface="Calibri"/>
                <a:cs typeface="Calibri"/>
                <a:sym typeface="Calibri"/>
              </a:rPr>
              <a:t>Creating truth table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632423"/>
              </a:buClr>
              <a:buSzPts val="2000"/>
              <a:buFont typeface="Arial"/>
              <a:buChar char="•"/>
            </a:pPr>
            <a:r>
              <a:rPr b="1" lang="en-US" sz="2000">
                <a:solidFill>
                  <a:srgbClr val="632423"/>
                </a:solidFill>
                <a:latin typeface="Calibri"/>
                <a:ea typeface="Calibri"/>
                <a:cs typeface="Calibri"/>
                <a:sym typeface="Calibri"/>
              </a:rPr>
              <a:t>Verifying facts using Truth table</a:t>
            </a:r>
            <a:r>
              <a:rPr lang="en-US" sz="2000">
                <a:solidFill>
                  <a:srgbClr val="632423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lang="en-US" sz="2000">
                <a:solidFill>
                  <a:srgbClr val="632423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1600">
        <p14:prism dir="l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8"/>
          <p:cNvSpPr/>
          <p:nvPr/>
        </p:nvSpPr>
        <p:spPr>
          <a:xfrm>
            <a:off x="0" y="267494"/>
            <a:ext cx="9143998" cy="562681"/>
          </a:xfrm>
          <a:prstGeom prst="rect">
            <a:avLst/>
          </a:prstGeom>
          <a:solidFill>
            <a:srgbClr val="DB178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8"/>
          <p:cNvSpPr txBox="1"/>
          <p:nvPr/>
        </p:nvSpPr>
        <p:spPr>
          <a:xfrm>
            <a:off x="281105" y="3051613"/>
            <a:ext cx="3121602" cy="16004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Competency Link – </a:t>
            </a:r>
            <a:endParaRPr b="1" i="1" sz="1400" u="sng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Collaboration, Critical thinking, Curiosity, Creativity, Communication, Confidence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4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1" sz="1400" u="sng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1" sz="14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8"/>
          <p:cNvSpPr txBox="1"/>
          <p:nvPr/>
        </p:nvSpPr>
        <p:spPr>
          <a:xfrm>
            <a:off x="5820073" y="3465873"/>
            <a:ext cx="3121602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HOT Question – Higher Order Thinking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Applications in Real Life</a:t>
            </a:r>
            <a:endParaRPr/>
          </a:p>
        </p:txBody>
      </p:sp>
      <p:pic>
        <p:nvPicPr>
          <p:cNvPr descr="Image result for Flame Transparent" id="243" name="Google Shape;243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48064" y="3277603"/>
            <a:ext cx="672009" cy="672009"/>
          </a:xfrm>
          <a:prstGeom prst="rect">
            <a:avLst/>
          </a:prstGeom>
          <a:noFill/>
          <a:ln>
            <a:noFill/>
          </a:ln>
        </p:spPr>
      </p:pic>
      <p:sp>
        <p:nvSpPr>
          <p:cNvPr id="244" name="Google Shape;244;p8"/>
          <p:cNvSpPr txBox="1"/>
          <p:nvPr/>
        </p:nvSpPr>
        <p:spPr>
          <a:xfrm>
            <a:off x="251520" y="987574"/>
            <a:ext cx="4536504" cy="17543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Lesson objectives (WALT) 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Arial"/>
              <a:buChar char="•"/>
            </a:pPr>
            <a:r>
              <a:rPr b="1" lang="en-US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To learn different universal logic gates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Arial"/>
              <a:buChar char="•"/>
            </a:pPr>
            <a:r>
              <a:rPr b="1" lang="en-US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To identify gates using different symbols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Arial"/>
              <a:buChar char="•"/>
            </a:pPr>
            <a:r>
              <a:rPr b="1" lang="en-US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Create Truth Table 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Arial"/>
              <a:buChar char="•"/>
            </a:pPr>
            <a:r>
              <a:rPr b="1" lang="en-US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To understand Demorgan’s Theorem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1" sz="1800" u="sng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 result for spectacles+transparency" id="245" name="Google Shape;245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453029" y="2909381"/>
            <a:ext cx="1118102" cy="638617"/>
          </a:xfrm>
          <a:prstGeom prst="rect">
            <a:avLst/>
          </a:prstGeom>
          <a:noFill/>
          <a:ln>
            <a:noFill/>
          </a:ln>
        </p:spPr>
      </p:pic>
      <p:sp>
        <p:nvSpPr>
          <p:cNvPr id="246" name="Google Shape;246;p8"/>
          <p:cNvSpPr txBox="1"/>
          <p:nvPr/>
        </p:nvSpPr>
        <p:spPr>
          <a:xfrm>
            <a:off x="5359419" y="879942"/>
            <a:ext cx="313253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 u="sng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Success Criteria</a:t>
            </a:r>
            <a:endParaRPr/>
          </a:p>
        </p:txBody>
      </p:sp>
      <p:sp>
        <p:nvSpPr>
          <p:cNvPr id="247" name="Google Shape;247;p8"/>
          <p:cNvSpPr/>
          <p:nvPr/>
        </p:nvSpPr>
        <p:spPr>
          <a:xfrm>
            <a:off x="5317332" y="1262063"/>
            <a:ext cx="3548012" cy="12234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All should be able to define different logic gates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Some would be able to create truth tables using 2 and three inputs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Few would be able to apply logic gates for equations and merge Basic gates and Universal gates </a:t>
            </a:r>
            <a:endParaRPr b="1" sz="105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>
    <mc:Choice Requires="p14">
      <p:transition spd="slow" p14:dur="1600">
        <p14:prism dir="l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9"/>
          <p:cNvSpPr/>
          <p:nvPr/>
        </p:nvSpPr>
        <p:spPr>
          <a:xfrm>
            <a:off x="0" y="267494"/>
            <a:ext cx="9143998" cy="562681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Universal Gates</a:t>
            </a:r>
            <a:endParaRPr/>
          </a:p>
        </p:txBody>
      </p:sp>
      <p:pic>
        <p:nvPicPr>
          <p:cNvPr id="253" name="Google Shape;253;p9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3568" y="1378926"/>
            <a:ext cx="7560839" cy="292101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1600">
        <p14:prism dir="l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10"/>
          <p:cNvSpPr/>
          <p:nvPr/>
        </p:nvSpPr>
        <p:spPr>
          <a:xfrm>
            <a:off x="0" y="267494"/>
            <a:ext cx="9143998" cy="562681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 Morgan’s Theorem </a:t>
            </a:r>
            <a:endParaRPr/>
          </a:p>
        </p:txBody>
      </p:sp>
      <p:sp>
        <p:nvSpPr>
          <p:cNvPr id="259" name="Google Shape;259;p10"/>
          <p:cNvSpPr/>
          <p:nvPr/>
        </p:nvSpPr>
        <p:spPr>
          <a:xfrm>
            <a:off x="-396552" y="987574"/>
            <a:ext cx="4040188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400"/>
              <a:buFont typeface="Arial"/>
              <a:buNone/>
            </a:pPr>
            <a:r>
              <a:rPr b="1" lang="en-US" sz="24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Theorem 1 </a:t>
            </a:r>
            <a:endParaRPr/>
          </a:p>
        </p:txBody>
      </p:sp>
      <p:sp>
        <p:nvSpPr>
          <p:cNvPr id="260" name="Google Shape;260;p10"/>
          <p:cNvSpPr/>
          <p:nvPr/>
        </p:nvSpPr>
        <p:spPr>
          <a:xfrm>
            <a:off x="514655" y="1597174"/>
            <a:ext cx="3312368" cy="2333481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-2019" r="0" t="-4438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261" name="Google Shape;261;p10"/>
          <p:cNvSpPr/>
          <p:nvPr/>
        </p:nvSpPr>
        <p:spPr>
          <a:xfrm>
            <a:off x="5436096" y="1033410"/>
            <a:ext cx="40417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400"/>
              <a:buFont typeface="Arial"/>
              <a:buNone/>
            </a:pPr>
            <a:r>
              <a:rPr b="1" lang="en-US" sz="24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Theorem 2</a:t>
            </a:r>
            <a:endParaRPr/>
          </a:p>
        </p:txBody>
      </p:sp>
      <p:sp>
        <p:nvSpPr>
          <p:cNvPr id="262" name="Google Shape;262;p10"/>
          <p:cNvSpPr/>
          <p:nvPr/>
        </p:nvSpPr>
        <p:spPr>
          <a:xfrm>
            <a:off x="5076056" y="1588478"/>
            <a:ext cx="3591183" cy="2333481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-1307" l="-2036" r="-2205" t="-1831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263" name="Google Shape;263;p10"/>
          <p:cNvSpPr txBox="1"/>
          <p:nvPr/>
        </p:nvSpPr>
        <p:spPr>
          <a:xfrm>
            <a:off x="2723282" y="3413859"/>
            <a:ext cx="2954777" cy="1200329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1600">
        <p14:prism dir="l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11"/>
          <p:cNvSpPr/>
          <p:nvPr/>
        </p:nvSpPr>
        <p:spPr>
          <a:xfrm>
            <a:off x="4400" y="267494"/>
            <a:ext cx="9143998" cy="562681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Differentiated Activities</a:t>
            </a:r>
            <a:endParaRPr/>
          </a:p>
        </p:txBody>
      </p:sp>
      <p:sp>
        <p:nvSpPr>
          <p:cNvPr id="269" name="Google Shape;269;p11"/>
          <p:cNvSpPr txBox="1"/>
          <p:nvPr>
            <p:ph idx="1" type="body"/>
          </p:nvPr>
        </p:nvSpPr>
        <p:spPr>
          <a:xfrm>
            <a:off x="457200" y="1019218"/>
            <a:ext cx="8229600" cy="3394075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-3410" l="-1332" r="0" t="-1614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3200"/>
              <a:buChar char="•"/>
            </a:pPr>
            <a:r>
              <a:rPr lang="en-US"/>
              <a:t> 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1600">
        <p14:prism dir="l"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12"/>
          <p:cNvSpPr/>
          <p:nvPr/>
        </p:nvSpPr>
        <p:spPr>
          <a:xfrm>
            <a:off x="0" y="267494"/>
            <a:ext cx="9143998" cy="562681"/>
          </a:xfrm>
          <a:prstGeom prst="rect">
            <a:avLst/>
          </a:prstGeom>
          <a:solidFill>
            <a:srgbClr val="FF85B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Part 4 - Plenary – Progress check</a:t>
            </a:r>
            <a:endParaRPr/>
          </a:p>
        </p:txBody>
      </p:sp>
      <p:sp>
        <p:nvSpPr>
          <p:cNvPr id="275" name="Google Shape;275;p12"/>
          <p:cNvSpPr txBox="1"/>
          <p:nvPr/>
        </p:nvSpPr>
        <p:spPr>
          <a:xfrm>
            <a:off x="1475656" y="1133976"/>
            <a:ext cx="6001915" cy="13234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632423"/>
              </a:buClr>
              <a:buSzPts val="2000"/>
              <a:buFont typeface="Arial"/>
              <a:buChar char="•"/>
            </a:pPr>
            <a:r>
              <a:rPr b="1" lang="en-US" sz="2000">
                <a:solidFill>
                  <a:srgbClr val="632423"/>
                </a:solidFill>
                <a:latin typeface="Calibri"/>
                <a:ea typeface="Calibri"/>
                <a:cs typeface="Calibri"/>
                <a:sym typeface="Calibri"/>
              </a:rPr>
              <a:t>Application of Universal Gates	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632423"/>
              </a:buClr>
              <a:buSzPts val="2000"/>
              <a:buFont typeface="Arial"/>
              <a:buChar char="•"/>
            </a:pPr>
            <a:r>
              <a:rPr b="1" lang="en-US" sz="2000">
                <a:solidFill>
                  <a:srgbClr val="632423"/>
                </a:solidFill>
                <a:latin typeface="Calibri"/>
                <a:ea typeface="Calibri"/>
                <a:cs typeface="Calibri"/>
                <a:sym typeface="Calibri"/>
              </a:rPr>
              <a:t>Using De morgans theorem to solve Different equations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632423"/>
              </a:buClr>
              <a:buSzPts val="2000"/>
              <a:buFont typeface="Arial"/>
              <a:buChar char="•"/>
            </a:pPr>
            <a:r>
              <a:rPr b="1" lang="en-US" sz="2000">
                <a:solidFill>
                  <a:srgbClr val="632423"/>
                </a:solidFill>
                <a:latin typeface="Calibri"/>
                <a:ea typeface="Calibri"/>
                <a:cs typeface="Calibri"/>
                <a:sym typeface="Calibri"/>
              </a:rPr>
              <a:t>Truth table use cases for verification   </a:t>
            </a:r>
            <a:r>
              <a:rPr lang="en-US" sz="2000">
                <a:solidFill>
                  <a:srgbClr val="632423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lang="en-US" sz="2000">
                <a:solidFill>
                  <a:srgbClr val="632423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</p:txBody>
      </p:sp>
      <p:pic>
        <p:nvPicPr>
          <p:cNvPr descr="Image result for Flame Transparent" id="276" name="Google Shape;276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3528" y="1059582"/>
            <a:ext cx="672009" cy="67200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1600">
        <p14:prism dir="l"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13"/>
          <p:cNvSpPr/>
          <p:nvPr/>
        </p:nvSpPr>
        <p:spPr>
          <a:xfrm>
            <a:off x="0" y="267494"/>
            <a:ext cx="9143998" cy="562681"/>
          </a:xfrm>
          <a:prstGeom prst="rect">
            <a:avLst/>
          </a:prstGeom>
          <a:solidFill>
            <a:srgbClr val="DB178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13"/>
          <p:cNvSpPr txBox="1"/>
          <p:nvPr/>
        </p:nvSpPr>
        <p:spPr>
          <a:xfrm>
            <a:off x="281105" y="3051613"/>
            <a:ext cx="3121602" cy="16004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Competency Link – </a:t>
            </a:r>
            <a:endParaRPr b="1" i="1" sz="1400" u="sng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Collaboration, Critical thinking, Curiosity, Creativity, Communication, Confidence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4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1" sz="1400" u="sng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1" sz="14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13"/>
          <p:cNvSpPr txBox="1"/>
          <p:nvPr/>
        </p:nvSpPr>
        <p:spPr>
          <a:xfrm>
            <a:off x="5820073" y="3465873"/>
            <a:ext cx="3121602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HOT Question – Higher Order Thinking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Applications in Real Life</a:t>
            </a:r>
            <a:endParaRPr/>
          </a:p>
        </p:txBody>
      </p:sp>
      <p:pic>
        <p:nvPicPr>
          <p:cNvPr descr="Image result for Flame Transparent" id="284" name="Google Shape;2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48064" y="3277603"/>
            <a:ext cx="672009" cy="672009"/>
          </a:xfrm>
          <a:prstGeom prst="rect">
            <a:avLst/>
          </a:prstGeom>
          <a:noFill/>
          <a:ln>
            <a:noFill/>
          </a:ln>
        </p:spPr>
      </p:pic>
      <p:sp>
        <p:nvSpPr>
          <p:cNvPr id="285" name="Google Shape;285;p13"/>
          <p:cNvSpPr txBox="1"/>
          <p:nvPr/>
        </p:nvSpPr>
        <p:spPr>
          <a:xfrm>
            <a:off x="251520" y="987574"/>
            <a:ext cx="4536504" cy="17543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Lesson objectives (WALT) 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Arial"/>
              <a:buChar char="•"/>
            </a:pPr>
            <a:r>
              <a:rPr b="1" lang="en-US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To learn different exclusive logic gates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Arial"/>
              <a:buChar char="•"/>
            </a:pPr>
            <a:r>
              <a:rPr b="1" lang="en-US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To identify gates using different symbols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Arial"/>
              <a:buChar char="•"/>
            </a:pPr>
            <a:r>
              <a:rPr b="1" lang="en-US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Create Truth Table 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Arial"/>
              <a:buChar char="•"/>
            </a:pPr>
            <a:r>
              <a:rPr b="1" lang="en-US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To Prove NAND and NOR as universal gate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1" sz="1800" u="sng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 result for spectacles+transparency" id="286" name="Google Shape;286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453029" y="2909381"/>
            <a:ext cx="1118102" cy="638617"/>
          </a:xfrm>
          <a:prstGeom prst="rect">
            <a:avLst/>
          </a:prstGeom>
          <a:noFill/>
          <a:ln>
            <a:noFill/>
          </a:ln>
        </p:spPr>
      </p:pic>
      <p:sp>
        <p:nvSpPr>
          <p:cNvPr id="287" name="Google Shape;287;p13"/>
          <p:cNvSpPr txBox="1"/>
          <p:nvPr/>
        </p:nvSpPr>
        <p:spPr>
          <a:xfrm>
            <a:off x="5359419" y="879942"/>
            <a:ext cx="313253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 u="sng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Success Criteria</a:t>
            </a:r>
            <a:endParaRPr/>
          </a:p>
        </p:txBody>
      </p:sp>
      <p:sp>
        <p:nvSpPr>
          <p:cNvPr id="288" name="Google Shape;288;p13"/>
          <p:cNvSpPr/>
          <p:nvPr/>
        </p:nvSpPr>
        <p:spPr>
          <a:xfrm>
            <a:off x="5317332" y="1262063"/>
            <a:ext cx="3548012" cy="12234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All should be able to define different logic gates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Some would be able to create truth tables using 2 and three inputs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Few would be able to solve Boolean equation using truth table facts </a:t>
            </a:r>
            <a:endParaRPr b="1" sz="105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>
    <mc:Choice Requires="p14">
      <p:transition spd="slow" p14:dur="1600">
        <p14:prism dir="l"/>
      </p:transition>
    </mc:Choice>
    <mc:Fallback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14"/>
          <p:cNvSpPr/>
          <p:nvPr/>
        </p:nvSpPr>
        <p:spPr>
          <a:xfrm>
            <a:off x="0" y="267494"/>
            <a:ext cx="9143998" cy="562681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Exclusive Gates</a:t>
            </a:r>
            <a:endParaRPr/>
          </a:p>
        </p:txBody>
      </p:sp>
      <p:pic>
        <p:nvPicPr>
          <p:cNvPr id="294" name="Google Shape;294;p14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15007" y="1014105"/>
            <a:ext cx="5113983" cy="3394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1600">
        <p14:prism dir="l"/>
      </p:transition>
    </mc:Choice>
    <mc:Fallback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15"/>
          <p:cNvSpPr/>
          <p:nvPr/>
        </p:nvSpPr>
        <p:spPr>
          <a:xfrm>
            <a:off x="4400" y="267494"/>
            <a:ext cx="9143998" cy="562681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Differentiated Activities</a:t>
            </a:r>
            <a:endParaRPr/>
          </a:p>
        </p:txBody>
      </p:sp>
      <p:sp>
        <p:nvSpPr>
          <p:cNvPr id="300" name="Google Shape;300;p15"/>
          <p:cNvSpPr txBox="1"/>
          <p:nvPr>
            <p:ph idx="1" type="body"/>
          </p:nvPr>
        </p:nvSpPr>
        <p:spPr>
          <a:xfrm>
            <a:off x="457200" y="1019218"/>
            <a:ext cx="8229600" cy="3394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2800"/>
              <a:t>Task 1: Create a Truth table for 3 input one output EX OR gate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Clr>
                <a:srgbClr val="FF0000"/>
              </a:buClr>
              <a:buSzPts val="2800"/>
              <a:buChar char="•"/>
            </a:pPr>
            <a:r>
              <a:rPr lang="en-US" sz="2800">
                <a:solidFill>
                  <a:srgbClr val="FF0000"/>
                </a:solidFill>
              </a:rPr>
              <a:t>Task 2: Create a Truth table for 4 input one output EX NOR gate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Clr>
                <a:srgbClr val="0066FF"/>
              </a:buClr>
              <a:buSzPts val="2800"/>
              <a:buChar char="•"/>
            </a:pPr>
            <a:r>
              <a:rPr lang="en-US" sz="2800">
                <a:solidFill>
                  <a:srgbClr val="0066FF"/>
                </a:solidFill>
              </a:rPr>
              <a:t>Task 3 : Design EX OR gate using basic gates only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1600">
        <p14:prism dir="l"/>
      </p:transition>
    </mc:Choice>
    <mc:Fallback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16"/>
          <p:cNvSpPr/>
          <p:nvPr/>
        </p:nvSpPr>
        <p:spPr>
          <a:xfrm>
            <a:off x="0" y="267494"/>
            <a:ext cx="9143998" cy="562681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Prove NAND as Universal Gate</a:t>
            </a:r>
            <a:endParaRPr/>
          </a:p>
        </p:txBody>
      </p:sp>
      <p:pic>
        <p:nvPicPr>
          <p:cNvPr id="306" name="Google Shape;306;p16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09878" y="995547"/>
            <a:ext cx="4124242" cy="3394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1600">
        <p14:prism dir="l"/>
      </p:transition>
    </mc:Choice>
    <mc:Fallback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17"/>
          <p:cNvSpPr/>
          <p:nvPr/>
        </p:nvSpPr>
        <p:spPr>
          <a:xfrm>
            <a:off x="0" y="267494"/>
            <a:ext cx="9143998" cy="562681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Challenge Task (THINK – PAIR – SHARE)</a:t>
            </a:r>
            <a:endParaRPr/>
          </a:p>
        </p:txBody>
      </p:sp>
      <p:sp>
        <p:nvSpPr>
          <p:cNvPr id="312" name="Google Shape;312;p17"/>
          <p:cNvSpPr txBox="1"/>
          <p:nvPr>
            <p:ph idx="1" type="body"/>
          </p:nvPr>
        </p:nvSpPr>
        <p:spPr>
          <a:xfrm>
            <a:off x="457200" y="1200150"/>
            <a:ext cx="8229600" cy="340736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Prove NOR gate as Universal Gate and even create Truth table for the same. 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1600">
        <p14:prism dir="l"/>
      </p:transition>
    </mc:Choice>
    <mc:Fallback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18"/>
          <p:cNvSpPr/>
          <p:nvPr/>
        </p:nvSpPr>
        <p:spPr>
          <a:xfrm>
            <a:off x="0" y="267494"/>
            <a:ext cx="9143998" cy="562681"/>
          </a:xfrm>
          <a:prstGeom prst="rect">
            <a:avLst/>
          </a:prstGeom>
          <a:solidFill>
            <a:srgbClr val="FF85B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Part 4 - Plenary – Progress check </a:t>
            </a:r>
            <a:endParaRPr/>
          </a:p>
        </p:txBody>
      </p:sp>
      <p:sp>
        <p:nvSpPr>
          <p:cNvPr id="318" name="Google Shape;318;p18"/>
          <p:cNvSpPr txBox="1"/>
          <p:nvPr/>
        </p:nvSpPr>
        <p:spPr>
          <a:xfrm>
            <a:off x="1475656" y="1133976"/>
            <a:ext cx="6001915" cy="20005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400" u="sng">
                <a:solidFill>
                  <a:srgbClr val="FF0000"/>
                </a:solidFill>
                <a:highlight>
                  <a:srgbClr val="FFFF00"/>
                </a:highlight>
                <a:latin typeface="Calibri"/>
                <a:ea typeface="Calibri"/>
                <a:cs typeface="Calibri"/>
                <a:sym typeface="Calibri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QUIZ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4400" u="sng">
              <a:solidFill>
                <a:srgbClr val="FF0000"/>
              </a:solidFill>
              <a:highlight>
                <a:srgbClr val="FFFF00"/>
              </a:highlight>
              <a:latin typeface="Calibri"/>
              <a:ea typeface="Calibri"/>
              <a:cs typeface="Calibri"/>
              <a:sym typeface="Calibri"/>
              <a:hlinkClick r:id="rId4">
                <a:extLst>
                  <a:ext uri="{A12FA001-AC4F-418D-AE19-62706E023703}">
                    <ahyp:hlinkClr val="tx"/>
                  </a:ext>
                </a:extLst>
              </a:hlinkClick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600"/>
              <a:buFont typeface="Arial"/>
              <a:buChar char="•"/>
            </a:pPr>
            <a:r>
              <a:rPr lang="en-US" sz="3600" u="sng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https://tinyurl.com/yxzf5ur6</a:t>
            </a:r>
            <a:endParaRPr/>
          </a:p>
        </p:txBody>
      </p:sp>
      <p:pic>
        <p:nvPicPr>
          <p:cNvPr descr="Image result for Flame Transparent" id="319" name="Google Shape;319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23528" y="1059582"/>
            <a:ext cx="672009" cy="67200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1600">
        <p14:prism dir="l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2013-09-12T12:17:01Z</dcterms:created>
  <dc:creator>PRE wso</dc:creator>
</cp:coreProperties>
</file>