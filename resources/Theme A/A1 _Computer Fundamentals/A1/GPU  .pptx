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Proxima Nova"/>
      <p:regular r:id="rId13"/>
      <p:bold r:id="rId14"/>
      <p:italic r:id="rId15"/>
      <p:boldItalic r:id="rId16"/>
    </p:embeddedFon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1" roundtripDataSignature="AMtx7mjU+LCDaNJCEo+EIzzGLo2vUO+o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6EA776-72CF-4C4B-B819-5E53C2345A28}">
  <a:tblStyle styleId="{6C6EA776-72CF-4C4B-B819-5E53C2345A2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font" Target="fonts/ProximaNova-regular.fntdata"/><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ProximaNova-italic.fntdata"/><Relationship Id="rId14" Type="http://schemas.openxmlformats.org/officeDocument/2006/relationships/font" Target="fonts/ProximaNova-bold.fntdata"/><Relationship Id="rId17" Type="http://schemas.openxmlformats.org/officeDocument/2006/relationships/font" Target="fonts/Roboto-regular.fntdata"/><Relationship Id="rId16" Type="http://schemas.openxmlformats.org/officeDocument/2006/relationships/font" Target="fonts/ProximaNova-boldItalic.fntdata"/><Relationship Id="rId5" Type="http://schemas.openxmlformats.org/officeDocument/2006/relationships/slideMaster" Target="slideMasters/slideMaster1.xml"/><Relationship Id="rId19" Type="http://schemas.openxmlformats.org/officeDocument/2006/relationships/font" Target="fonts/Roboto-italic.fntdata"/><Relationship Id="rId6" Type="http://schemas.openxmlformats.org/officeDocument/2006/relationships/notesMaster" Target="notesMasters/notesMaster1.xml"/><Relationship Id="rId18"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8fa397a0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3a8fa397a04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8fa397a04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8fa397a04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8fa397a04_1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8fa397a04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8fa397a04_1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8fa397a04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8fa397a04_1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8fa397a04_1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11.jp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1.jp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p:nvPr/>
        </p:nvSpPr>
        <p:spPr>
          <a:xfrm>
            <a:off x="290075" y="203425"/>
            <a:ext cx="8631000" cy="1108200"/>
          </a:xfrm>
          <a:prstGeom prst="roundRect">
            <a:avLst>
              <a:gd fmla="val 16667" name="adj"/>
            </a:avLst>
          </a:prstGeom>
          <a:solidFill>
            <a:schemeClr val="lt1"/>
          </a:solidFill>
          <a:ln cap="flat" cmpd="sng" w="214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sz="1800"/>
          </a:p>
          <a:p>
            <a:pPr indent="0" lvl="0" marL="0" marR="0" rtl="0" algn="ctr">
              <a:lnSpc>
                <a:spcPct val="100000"/>
              </a:lnSpc>
              <a:spcBef>
                <a:spcPts val="0"/>
              </a:spcBef>
              <a:spcAft>
                <a:spcPts val="0"/>
              </a:spcAft>
              <a:buClr>
                <a:srgbClr val="000000"/>
              </a:buClr>
              <a:buSzPts val="2100"/>
              <a:buFont typeface="Arial"/>
              <a:buNone/>
            </a:pPr>
            <a:r>
              <a:rPr b="1" lang="en" sz="1800"/>
              <a:t>Theme A - </a:t>
            </a:r>
            <a:r>
              <a:rPr b="1" lang="en" sz="1800"/>
              <a:t>Computer Fundamentals </a:t>
            </a:r>
            <a:endParaRPr b="1" i="0" sz="1800" u="none" cap="none" strike="noStrike">
              <a:solidFill>
                <a:srgbClr val="000000"/>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b="1" lang="en" sz="1800">
                <a:solidFill>
                  <a:srgbClr val="38761D"/>
                </a:solidFill>
              </a:rPr>
              <a:t>1.1.2 Describe the role of a GP</a:t>
            </a:r>
            <a:r>
              <a:rPr b="1" lang="en" sz="1800">
                <a:solidFill>
                  <a:srgbClr val="38761D"/>
                </a:solidFill>
              </a:rPr>
              <a:t>U</a:t>
            </a:r>
            <a:endParaRPr b="1" sz="1800">
              <a:solidFill>
                <a:srgbClr val="38761D"/>
              </a:solidFill>
            </a:endParaRPr>
          </a:p>
          <a:p>
            <a:pPr indent="0" lvl="0" marL="0" rtl="0" algn="ctr">
              <a:spcBef>
                <a:spcPts val="0"/>
              </a:spcBef>
              <a:spcAft>
                <a:spcPts val="0"/>
              </a:spcAft>
              <a:buClr>
                <a:schemeClr val="dk1"/>
              </a:buClr>
              <a:buSzPts val="1100"/>
              <a:buFont typeface="Arial"/>
              <a:buNone/>
            </a:pPr>
            <a:r>
              <a:rPr b="1" lang="en" sz="1800">
                <a:solidFill>
                  <a:srgbClr val="38761D"/>
                </a:solidFill>
              </a:rPr>
              <a:t>1.1.3 Differences between CPU and GPU (HL only)</a:t>
            </a:r>
            <a:endParaRPr b="1" sz="1800">
              <a:solidFill>
                <a:srgbClr val="38761D"/>
              </a:solidFill>
            </a:endParaRPr>
          </a:p>
          <a:p>
            <a:pPr indent="0" lvl="0" marL="0" marR="0" rtl="0" algn="ctr">
              <a:lnSpc>
                <a:spcPct val="100000"/>
              </a:lnSpc>
              <a:spcBef>
                <a:spcPts val="0"/>
              </a:spcBef>
              <a:spcAft>
                <a:spcPts val="0"/>
              </a:spcAft>
              <a:buClr>
                <a:srgbClr val="000000"/>
              </a:buClr>
              <a:buSzPts val="2400"/>
              <a:buFont typeface="Arial"/>
              <a:buNone/>
            </a:pPr>
            <a:r>
              <a:rPr b="1" lang="en" sz="2400">
                <a:solidFill>
                  <a:srgbClr val="38761D"/>
                </a:solidFill>
              </a:rPr>
              <a:t> </a:t>
            </a:r>
            <a:endParaRPr b="1" i="0" sz="2400" u="none" cap="none" strike="noStrike">
              <a:solidFill>
                <a:srgbClr val="38761D"/>
              </a:solidFill>
              <a:latin typeface="Arial"/>
              <a:ea typeface="Arial"/>
              <a:cs typeface="Arial"/>
              <a:sym typeface="Arial"/>
            </a:endParaRPr>
          </a:p>
        </p:txBody>
      </p:sp>
      <p:sp>
        <p:nvSpPr>
          <p:cNvPr id="55" name="Google Shape;55;p1"/>
          <p:cNvSpPr/>
          <p:nvPr/>
        </p:nvSpPr>
        <p:spPr>
          <a:xfrm>
            <a:off x="290075" y="2548938"/>
            <a:ext cx="4875000" cy="610500"/>
          </a:xfrm>
          <a:prstGeom prst="roundRect">
            <a:avLst>
              <a:gd fmla="val 16667" name="adj"/>
            </a:avLst>
          </a:prstGeom>
          <a:solidFill>
            <a:schemeClr val="lt1"/>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39370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Key concepts: </a:t>
            </a:r>
            <a:r>
              <a:rPr lang="en" sz="1800"/>
              <a:t>System</a:t>
            </a:r>
            <a:endParaRPr b="0" i="0" sz="1800" u="none" cap="none" strike="noStrike">
              <a:solidFill>
                <a:srgbClr val="000000"/>
              </a:solidFill>
              <a:latin typeface="Arial"/>
              <a:ea typeface="Arial"/>
              <a:cs typeface="Arial"/>
              <a:sym typeface="Arial"/>
            </a:endParaRPr>
          </a:p>
        </p:txBody>
      </p:sp>
      <p:sp>
        <p:nvSpPr>
          <p:cNvPr id="56" name="Google Shape;56;p1"/>
          <p:cNvSpPr/>
          <p:nvPr/>
        </p:nvSpPr>
        <p:spPr>
          <a:xfrm>
            <a:off x="290075" y="3380213"/>
            <a:ext cx="4875000" cy="640200"/>
          </a:xfrm>
          <a:prstGeom prst="roundRect">
            <a:avLst>
              <a:gd fmla="val 16667" name="adj"/>
            </a:avLst>
          </a:prstGeom>
          <a:no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Related concepts: </a:t>
            </a:r>
            <a:r>
              <a:rPr b="0" i="0" lang="en" sz="1800" u="none" cap="none" strike="noStrike">
                <a:solidFill>
                  <a:schemeClr val="dk1"/>
                </a:solidFill>
                <a:latin typeface="Proxima Nova"/>
                <a:ea typeface="Proxima Nova"/>
                <a:cs typeface="Proxima Nova"/>
                <a:sym typeface="Proxima Nova"/>
              </a:rPr>
              <a:t>Development, Functionality</a:t>
            </a:r>
            <a:endParaRPr b="0" i="0" sz="1100" u="none" cap="none" strike="noStrike">
              <a:solidFill>
                <a:srgbClr val="000000"/>
              </a:solidFill>
              <a:latin typeface="Arial"/>
              <a:ea typeface="Arial"/>
              <a:cs typeface="Arial"/>
              <a:sym typeface="Arial"/>
            </a:endParaRPr>
          </a:p>
        </p:txBody>
      </p:sp>
      <p:sp>
        <p:nvSpPr>
          <p:cNvPr id="57" name="Google Shape;57;p1"/>
          <p:cNvSpPr/>
          <p:nvPr/>
        </p:nvSpPr>
        <p:spPr>
          <a:xfrm>
            <a:off x="290081" y="4241175"/>
            <a:ext cx="8499000" cy="698400"/>
          </a:xfrm>
          <a:prstGeom prst="roundRect">
            <a:avLst>
              <a:gd fmla="val 16667" name="adj"/>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a:t>TOK Link </a:t>
            </a:r>
            <a:r>
              <a:rPr b="1" i="0" lang="en" u="none" cap="none" strike="noStrike">
                <a:solidFill>
                  <a:srgbClr val="000000"/>
                </a:solidFill>
                <a:latin typeface="Arial"/>
                <a:ea typeface="Arial"/>
                <a:cs typeface="Arial"/>
                <a:sym typeface="Arial"/>
              </a:rPr>
              <a:t>: </a:t>
            </a:r>
            <a:r>
              <a:rPr i="0" lang="en" u="none" cap="none" strike="noStrike">
                <a:solidFill>
                  <a:srgbClr val="000000"/>
                </a:solidFill>
              </a:rPr>
              <a:t>To what extent does the architectural specialization of the GPU (parallel processing) redefine the boundaries of what is knowable within the Natural Sciences (e.g., scientific simulation) and the Human Sciences (e.g., AI/Deep Learning)</a:t>
            </a:r>
            <a:endParaRPr b="0" i="0" u="none" cap="none" strike="noStrike">
              <a:solidFill>
                <a:srgbClr val="000000"/>
              </a:solidFill>
              <a:latin typeface="Arial"/>
              <a:ea typeface="Arial"/>
              <a:cs typeface="Arial"/>
              <a:sym typeface="Arial"/>
            </a:endParaRPr>
          </a:p>
        </p:txBody>
      </p:sp>
      <p:pic>
        <p:nvPicPr>
          <p:cNvPr id="58" name="Google Shape;58;p1"/>
          <p:cNvPicPr preferRelativeResize="0"/>
          <p:nvPr/>
        </p:nvPicPr>
        <p:blipFill rotWithShape="1">
          <a:blip r:embed="rId3">
            <a:alphaModFix/>
          </a:blip>
          <a:srcRect b="0" l="0" r="0" t="0"/>
          <a:stretch/>
        </p:blipFill>
        <p:spPr>
          <a:xfrm>
            <a:off x="355023" y="2663789"/>
            <a:ext cx="387250" cy="380787"/>
          </a:xfrm>
          <a:prstGeom prst="rect">
            <a:avLst/>
          </a:prstGeom>
          <a:noFill/>
          <a:ln>
            <a:noFill/>
          </a:ln>
        </p:spPr>
      </p:pic>
      <p:pic>
        <p:nvPicPr>
          <p:cNvPr id="59" name="Google Shape;59;p1"/>
          <p:cNvPicPr preferRelativeResize="0"/>
          <p:nvPr/>
        </p:nvPicPr>
        <p:blipFill rotWithShape="1">
          <a:blip r:embed="rId4">
            <a:alphaModFix/>
          </a:blip>
          <a:srcRect b="0" l="0" r="0" t="0"/>
          <a:stretch/>
        </p:blipFill>
        <p:spPr>
          <a:xfrm>
            <a:off x="228550" y="3388200"/>
            <a:ext cx="640200" cy="640200"/>
          </a:xfrm>
          <a:prstGeom prst="rect">
            <a:avLst/>
          </a:prstGeom>
          <a:noFill/>
          <a:ln>
            <a:noFill/>
          </a:ln>
        </p:spPr>
      </p:pic>
      <p:sp>
        <p:nvSpPr>
          <p:cNvPr id="60" name="Google Shape;60;p1"/>
          <p:cNvSpPr/>
          <p:nvPr/>
        </p:nvSpPr>
        <p:spPr>
          <a:xfrm>
            <a:off x="290075" y="1486075"/>
            <a:ext cx="8631000" cy="762000"/>
          </a:xfrm>
          <a:prstGeom prst="roundRect">
            <a:avLst>
              <a:gd fmla="val 16667" name="adj"/>
            </a:avLst>
          </a:prstGeom>
          <a:solidFill>
            <a:srgbClr val="6AA84F"/>
          </a:solidFill>
          <a:ln cap="flat" cmpd="sng" w="143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200" u="none" cap="none" strike="noStrike">
                <a:solidFill>
                  <a:srgbClr val="000000"/>
                </a:solidFill>
                <a:latin typeface="Arial"/>
                <a:ea typeface="Arial"/>
                <a:cs typeface="Arial"/>
                <a:sym typeface="Arial"/>
              </a:rPr>
              <a:t>Statement of Inquiry:</a:t>
            </a:r>
            <a:r>
              <a:rPr i="0" lang="en" sz="1200" u="none" cap="none" strike="noStrike">
                <a:solidFill>
                  <a:srgbClr val="000000"/>
                </a:solidFill>
              </a:rPr>
              <a:t>How does the highly parallel architecture of the GPU accelerate modern computing tasks like AI and scientific modeling compared to the CPU's serial processing approach?</a:t>
            </a:r>
            <a:r>
              <a:rPr i="0" lang="en" sz="1800" u="none" cap="none" strike="noStrike">
                <a:solidFill>
                  <a:srgbClr val="000000"/>
                </a:solidFill>
              </a:rPr>
              <a:t> </a:t>
            </a:r>
            <a:endParaRPr b="0" i="0" sz="1800" u="none" cap="none" strike="noStrike">
              <a:solidFill>
                <a:srgbClr val="000000"/>
              </a:solidFill>
              <a:latin typeface="Arial"/>
              <a:ea typeface="Arial"/>
              <a:cs typeface="Arial"/>
              <a:sym typeface="Arial"/>
            </a:endParaRPr>
          </a:p>
        </p:txBody>
      </p:sp>
      <p:pic>
        <p:nvPicPr>
          <p:cNvPr descr="Emirates International School, Meadows (Fees &amp; Reviews ..." id="61" name="Google Shape;61;p1"/>
          <p:cNvPicPr preferRelativeResize="0"/>
          <p:nvPr/>
        </p:nvPicPr>
        <p:blipFill rotWithShape="1">
          <a:blip r:embed="rId5">
            <a:alphaModFix/>
          </a:blip>
          <a:srcRect b="0" l="0" r="0" t="0"/>
          <a:stretch/>
        </p:blipFill>
        <p:spPr>
          <a:xfrm>
            <a:off x="322652" y="321797"/>
            <a:ext cx="863414" cy="863414"/>
          </a:xfrm>
          <a:prstGeom prst="rect">
            <a:avLst/>
          </a:prstGeom>
          <a:noFill/>
          <a:ln>
            <a:noFill/>
          </a:ln>
        </p:spPr>
      </p:pic>
      <p:sp>
        <p:nvSpPr>
          <p:cNvPr id="62" name="Google Shape;62;p1"/>
          <p:cNvSpPr/>
          <p:nvPr/>
        </p:nvSpPr>
        <p:spPr>
          <a:xfrm>
            <a:off x="5425005" y="2548932"/>
            <a:ext cx="3363900" cy="610500"/>
          </a:xfrm>
          <a:prstGeom prst="roundRect">
            <a:avLst>
              <a:gd fmla="val 16667" name="adj"/>
            </a:avLst>
          </a:prstGeom>
          <a:solidFill>
            <a:schemeClr val="lt1"/>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alibri"/>
                <a:ea typeface="Calibri"/>
                <a:cs typeface="Calibri"/>
                <a:sym typeface="Calibri"/>
              </a:rPr>
              <a:t>ATL Skill: </a:t>
            </a:r>
            <a:r>
              <a:rPr b="0" i="0" lang="en" sz="1800" u="none" cap="none" strike="noStrike">
                <a:solidFill>
                  <a:schemeClr val="dk1"/>
                </a:solidFill>
                <a:latin typeface="Calibri"/>
                <a:ea typeface="Calibri"/>
                <a:cs typeface="Calibri"/>
                <a:sym typeface="Calibri"/>
              </a:rPr>
              <a:t>Communication, Creative Thinking, Media literacy</a:t>
            </a:r>
            <a:endParaRPr b="0" i="0" sz="1800" u="none" cap="none" strike="noStrike">
              <a:solidFill>
                <a:schemeClr val="dk1"/>
              </a:solidFill>
              <a:latin typeface="Calibri"/>
              <a:ea typeface="Calibri"/>
              <a:cs typeface="Calibri"/>
              <a:sym typeface="Calibri"/>
            </a:endParaRPr>
          </a:p>
        </p:txBody>
      </p:sp>
      <p:sp>
        <p:nvSpPr>
          <p:cNvPr id="63" name="Google Shape;63;p1"/>
          <p:cNvSpPr/>
          <p:nvPr/>
        </p:nvSpPr>
        <p:spPr>
          <a:xfrm>
            <a:off x="5425004" y="3411232"/>
            <a:ext cx="3429000" cy="610500"/>
          </a:xfrm>
          <a:prstGeom prst="roundRect">
            <a:avLst>
              <a:gd fmla="val 16667" name="adj"/>
            </a:avLst>
          </a:prstGeom>
          <a:solidFill>
            <a:schemeClr val="lt1"/>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alibri"/>
                <a:ea typeface="Calibri"/>
                <a:cs typeface="Calibri"/>
                <a:sym typeface="Calibri"/>
              </a:rPr>
              <a:t>IB Learner Profile: </a:t>
            </a:r>
            <a:r>
              <a:rPr b="0" i="0" lang="en" sz="1800" u="none" cap="none" strike="noStrike">
                <a:solidFill>
                  <a:schemeClr val="dk1"/>
                </a:solidFill>
                <a:latin typeface="Calibri"/>
                <a:ea typeface="Calibri"/>
                <a:cs typeface="Calibri"/>
                <a:sym typeface="Calibri"/>
              </a:rPr>
              <a:t>Reflective, Caring, Balanced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3a8fa397a04_1_0"/>
          <p:cNvSpPr txBox="1"/>
          <p:nvPr/>
        </p:nvSpPr>
        <p:spPr>
          <a:xfrm>
            <a:off x="251275" y="1010200"/>
            <a:ext cx="8019900" cy="3022500"/>
          </a:xfrm>
          <a:prstGeom prst="rect">
            <a:avLst/>
          </a:prstGeom>
          <a:noFill/>
          <a:ln cap="flat" cmpd="sng" w="28575">
            <a:solidFill>
              <a:srgbClr val="00B05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n" sz="1600" u="none" cap="none" strike="noStrike">
                <a:solidFill>
                  <a:schemeClr val="dk1"/>
                </a:solidFill>
                <a:latin typeface="Arial"/>
                <a:ea typeface="Arial"/>
                <a:cs typeface="Arial"/>
                <a:sym typeface="Arial"/>
              </a:rPr>
              <a:t>Pick one starter question </a:t>
            </a:r>
            <a:r>
              <a:rPr b="0" i="0" lang="en" sz="1600" u="sng" cap="none" strike="noStrike">
                <a:solidFill>
                  <a:schemeClr val="dk1"/>
                </a:solidFill>
                <a:latin typeface="Arial"/>
                <a:ea typeface="Arial"/>
                <a:cs typeface="Arial"/>
                <a:sym typeface="Arial"/>
              </a:rPr>
              <a:t>according to your level</a:t>
            </a:r>
            <a:r>
              <a:rPr b="0" i="0" lang="en" sz="1600" u="none" cap="none" strike="noStrike">
                <a:solidFill>
                  <a:schemeClr val="dk1"/>
                </a:solidFill>
                <a:latin typeface="Arial"/>
                <a:ea typeface="Arial"/>
                <a:cs typeface="Arial"/>
                <a:sym typeface="Arial"/>
              </a:rPr>
              <a:t>, and </a:t>
            </a:r>
            <a:r>
              <a:rPr lang="en" sz="1600">
                <a:solidFill>
                  <a:schemeClr val="dk1"/>
                </a:solidFill>
              </a:rPr>
              <a:t>discuss in your table </a:t>
            </a:r>
            <a:r>
              <a:rPr b="0" i="0" lang="en" sz="1600" u="none" cap="none" strike="noStrike">
                <a:solidFill>
                  <a:srgbClr val="FF0000"/>
                </a:solidFill>
                <a:latin typeface="Arial"/>
                <a:ea typeface="Arial"/>
                <a:cs typeface="Arial"/>
                <a:sym typeface="Arial"/>
              </a:rPr>
              <a:t>.</a:t>
            </a:r>
            <a:endParaRPr b="0" i="0" sz="1600" u="none" cap="none" strike="noStrike">
              <a:solidFill>
                <a:srgbClr val="FF0000"/>
              </a:solidFill>
              <a:latin typeface="Arial"/>
              <a:ea typeface="Arial"/>
              <a:cs typeface="Arial"/>
              <a:sym typeface="Arial"/>
            </a:endParaRPr>
          </a:p>
        </p:txBody>
      </p:sp>
      <p:sp>
        <p:nvSpPr>
          <p:cNvPr id="69" name="Google Shape;69;g3a8fa397a04_1_0"/>
          <p:cNvSpPr txBox="1"/>
          <p:nvPr/>
        </p:nvSpPr>
        <p:spPr>
          <a:xfrm>
            <a:off x="37200" y="22900"/>
            <a:ext cx="9106800" cy="98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Arial"/>
              <a:ea typeface="Arial"/>
              <a:cs typeface="Arial"/>
              <a:sym typeface="Arial"/>
            </a:endParaRPr>
          </a:p>
        </p:txBody>
      </p:sp>
      <p:sp>
        <p:nvSpPr>
          <p:cNvPr id="70" name="Google Shape;70;g3a8fa397a04_1_0"/>
          <p:cNvSpPr/>
          <p:nvPr/>
        </p:nvSpPr>
        <p:spPr>
          <a:xfrm>
            <a:off x="71525" y="0"/>
            <a:ext cx="8034600" cy="814800"/>
          </a:xfrm>
          <a:prstGeom prst="rect">
            <a:avLst/>
          </a:prstGeom>
          <a:solidFill>
            <a:schemeClr val="lt1"/>
          </a:solidFill>
          <a:ln cap="flat" cmpd="sng" w="28575">
            <a:solidFill>
              <a:srgbClr val="00B05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3300"/>
              <a:buFont typeface="Arial"/>
              <a:buNone/>
            </a:pPr>
            <a:r>
              <a:rPr b="1" i="0" lang="en" sz="3300" u="none" cap="none" strike="noStrike">
                <a:solidFill>
                  <a:srgbClr val="00B050"/>
                </a:solidFill>
                <a:latin typeface="Arial"/>
                <a:ea typeface="Arial"/>
                <a:cs typeface="Arial"/>
                <a:sym typeface="Arial"/>
              </a:rPr>
              <a:t>Do Now Activity</a:t>
            </a:r>
            <a:endParaRPr b="1" i="0" sz="3300" u="none" cap="none" strike="noStrike">
              <a:solidFill>
                <a:srgbClr val="00B050"/>
              </a:solidFill>
              <a:latin typeface="Arial"/>
              <a:ea typeface="Arial"/>
              <a:cs typeface="Arial"/>
              <a:sym typeface="Arial"/>
            </a:endParaRPr>
          </a:p>
        </p:txBody>
      </p:sp>
      <p:sp>
        <p:nvSpPr>
          <p:cNvPr id="71" name="Google Shape;71;g3a8fa397a04_1_0"/>
          <p:cNvSpPr/>
          <p:nvPr/>
        </p:nvSpPr>
        <p:spPr>
          <a:xfrm>
            <a:off x="559700" y="1453188"/>
            <a:ext cx="7067700" cy="646500"/>
          </a:xfrm>
          <a:prstGeom prst="rect">
            <a:avLst/>
          </a:prstGeom>
          <a:solidFill>
            <a:srgbClr val="EA9999"/>
          </a:solidFill>
          <a:ln cap="flat" cmpd="sng" w="10725">
            <a:solidFill>
              <a:schemeClr val="dk2"/>
            </a:solidFill>
            <a:prstDash val="solid"/>
            <a:round/>
            <a:headEnd len="sm" w="sm" type="none"/>
            <a:tailEnd len="sm" w="sm" type="none"/>
          </a:ln>
        </p:spPr>
        <p:txBody>
          <a:bodyPr anchorCtr="0" anchor="ctr" bIns="102825" lIns="102825" spcFirstLastPara="1" rIns="102825" wrap="square" tIns="102825">
            <a:noAutofit/>
          </a:bodyPr>
          <a:lstStyle/>
          <a:p>
            <a:pPr indent="0" lvl="0" marL="0" marR="0" rtl="0" algn="l">
              <a:lnSpc>
                <a:spcPct val="100000"/>
              </a:lnSpc>
              <a:spcBef>
                <a:spcPts val="0"/>
              </a:spcBef>
              <a:spcAft>
                <a:spcPts val="0"/>
              </a:spcAft>
              <a:buClr>
                <a:srgbClr val="000000"/>
              </a:buClr>
              <a:buSzPts val="2249"/>
              <a:buFont typeface="Arial"/>
              <a:buNone/>
            </a:pPr>
            <a:r>
              <a:rPr b="1" i="0" lang="en" sz="1574" u="none" cap="none" strike="noStrike">
                <a:solidFill>
                  <a:schemeClr val="dk1"/>
                </a:solidFill>
                <a:latin typeface="Arial"/>
                <a:ea typeface="Arial"/>
                <a:cs typeface="Arial"/>
                <a:sym typeface="Arial"/>
              </a:rPr>
              <a:t>Level </a:t>
            </a:r>
            <a:r>
              <a:rPr b="1" lang="en" sz="1574">
                <a:solidFill>
                  <a:schemeClr val="dk1"/>
                </a:solidFill>
              </a:rPr>
              <a:t>1</a:t>
            </a:r>
            <a:r>
              <a:rPr b="1" i="0" lang="en" sz="1574" u="none" cap="none" strike="noStrike">
                <a:solidFill>
                  <a:schemeClr val="dk1"/>
                </a:solidFill>
                <a:latin typeface="Arial"/>
                <a:ea typeface="Arial"/>
                <a:cs typeface="Arial"/>
                <a:sym typeface="Arial"/>
              </a:rPr>
              <a:t>: UAE - </a:t>
            </a:r>
            <a:r>
              <a:rPr i="0" lang="en" sz="1574" u="none" cap="none" strike="noStrike">
                <a:solidFill>
                  <a:schemeClr val="dk1"/>
                </a:solidFill>
              </a:rPr>
              <a:t>Explain the steps for working of mach</a:t>
            </a:r>
            <a:r>
              <a:rPr lang="en" sz="1574">
                <a:solidFill>
                  <a:schemeClr val="dk1"/>
                </a:solidFill>
              </a:rPr>
              <a:t>ine </a:t>
            </a:r>
            <a:r>
              <a:rPr lang="en" sz="1574">
                <a:solidFill>
                  <a:schemeClr val="dk1"/>
                </a:solidFill>
              </a:rPr>
              <a:t>execute</a:t>
            </a:r>
            <a:r>
              <a:rPr lang="en" sz="1574">
                <a:solidFill>
                  <a:schemeClr val="dk1"/>
                </a:solidFill>
              </a:rPr>
              <a:t> </a:t>
            </a:r>
            <a:r>
              <a:rPr lang="en" sz="1574">
                <a:solidFill>
                  <a:schemeClr val="dk1"/>
                </a:solidFill>
              </a:rPr>
              <a:t>cycle when you type UAE on your keyboard</a:t>
            </a:r>
            <a:r>
              <a:rPr lang="en" sz="1574">
                <a:solidFill>
                  <a:schemeClr val="dk1"/>
                </a:solidFill>
              </a:rPr>
              <a:t>?</a:t>
            </a:r>
            <a:endParaRPr i="0" sz="2249" u="none" cap="none" strike="noStrike">
              <a:solidFill>
                <a:schemeClr val="dk1"/>
              </a:solidFill>
            </a:endParaRPr>
          </a:p>
        </p:txBody>
      </p:sp>
      <p:sp>
        <p:nvSpPr>
          <p:cNvPr id="72" name="Google Shape;72;g3a8fa397a04_1_0"/>
          <p:cNvSpPr/>
          <p:nvPr/>
        </p:nvSpPr>
        <p:spPr>
          <a:xfrm>
            <a:off x="565212" y="2301243"/>
            <a:ext cx="7067700" cy="646500"/>
          </a:xfrm>
          <a:prstGeom prst="rect">
            <a:avLst/>
          </a:prstGeom>
          <a:solidFill>
            <a:srgbClr val="FFF2CC"/>
          </a:solidFill>
          <a:ln cap="flat" cmpd="sng" w="10725">
            <a:solidFill>
              <a:schemeClr val="dk2"/>
            </a:solidFill>
            <a:prstDash val="solid"/>
            <a:round/>
            <a:headEnd len="sm" w="sm" type="none"/>
            <a:tailEnd len="sm" w="sm" type="none"/>
          </a:ln>
        </p:spPr>
        <p:txBody>
          <a:bodyPr anchorCtr="0" anchor="ctr" bIns="102825" lIns="102825" spcFirstLastPara="1" rIns="102825" wrap="square" tIns="102825">
            <a:noAutofit/>
          </a:bodyPr>
          <a:lstStyle/>
          <a:p>
            <a:pPr indent="0" lvl="0" marL="0" marR="0" rtl="0" algn="l">
              <a:lnSpc>
                <a:spcPct val="100000"/>
              </a:lnSpc>
              <a:spcBef>
                <a:spcPts val="0"/>
              </a:spcBef>
              <a:spcAft>
                <a:spcPts val="0"/>
              </a:spcAft>
              <a:buClr>
                <a:srgbClr val="000000"/>
              </a:buClr>
              <a:buSzPts val="2249"/>
              <a:buFont typeface="Arial"/>
              <a:buNone/>
            </a:pPr>
            <a:r>
              <a:rPr b="1" i="0" lang="en" sz="1574" u="none" cap="none" strike="noStrike">
                <a:solidFill>
                  <a:srgbClr val="000000"/>
                </a:solidFill>
                <a:latin typeface="Arial"/>
                <a:ea typeface="Arial"/>
                <a:cs typeface="Arial"/>
                <a:sym typeface="Arial"/>
              </a:rPr>
              <a:t>Level </a:t>
            </a:r>
            <a:r>
              <a:rPr b="1" lang="en" sz="1574"/>
              <a:t>2</a:t>
            </a:r>
            <a:r>
              <a:rPr b="1" i="0" lang="en" sz="1574" u="none" cap="none" strike="noStrike">
                <a:solidFill>
                  <a:srgbClr val="000000"/>
                </a:solidFill>
                <a:latin typeface="Arial"/>
                <a:ea typeface="Arial"/>
                <a:cs typeface="Arial"/>
                <a:sym typeface="Arial"/>
              </a:rPr>
              <a:t>:</a:t>
            </a:r>
            <a:r>
              <a:rPr b="1" lang="en" sz="1574"/>
              <a:t> Bio/Sport science - </a:t>
            </a:r>
            <a:r>
              <a:rPr lang="en" sz="1574"/>
              <a:t>Mention the functions for ALU ,CU and how they are connected to human sciences ?  </a:t>
            </a:r>
            <a:endParaRPr sz="1574"/>
          </a:p>
        </p:txBody>
      </p:sp>
      <p:sp>
        <p:nvSpPr>
          <p:cNvPr id="73" name="Google Shape;73;g3a8fa397a04_1_0"/>
          <p:cNvSpPr/>
          <p:nvPr/>
        </p:nvSpPr>
        <p:spPr>
          <a:xfrm>
            <a:off x="565211" y="3195198"/>
            <a:ext cx="7067700" cy="646500"/>
          </a:xfrm>
          <a:prstGeom prst="rect">
            <a:avLst/>
          </a:prstGeom>
          <a:solidFill>
            <a:srgbClr val="D9EAD3"/>
          </a:solidFill>
          <a:ln cap="flat" cmpd="sng" w="10725">
            <a:solidFill>
              <a:schemeClr val="dk2"/>
            </a:solidFill>
            <a:prstDash val="solid"/>
            <a:round/>
            <a:headEnd len="sm" w="sm" type="none"/>
            <a:tailEnd len="sm" w="sm" type="none"/>
          </a:ln>
        </p:spPr>
        <p:txBody>
          <a:bodyPr anchorCtr="0" anchor="ctr" bIns="102825" lIns="102825" spcFirstLastPara="1" rIns="102825" wrap="square" tIns="102825">
            <a:noAutofit/>
          </a:bodyPr>
          <a:lstStyle/>
          <a:p>
            <a:pPr indent="0" lvl="0" marL="0" marR="0" rtl="0" algn="l">
              <a:lnSpc>
                <a:spcPct val="100000"/>
              </a:lnSpc>
              <a:spcBef>
                <a:spcPts val="0"/>
              </a:spcBef>
              <a:spcAft>
                <a:spcPts val="0"/>
              </a:spcAft>
              <a:buClr>
                <a:srgbClr val="000000"/>
              </a:buClr>
              <a:buSzPts val="2249"/>
              <a:buFont typeface="Arial"/>
              <a:buNone/>
            </a:pPr>
            <a:r>
              <a:rPr b="1" i="0" lang="en" sz="1574" u="none" cap="none" strike="noStrike">
                <a:solidFill>
                  <a:srgbClr val="000000"/>
                </a:solidFill>
                <a:latin typeface="Arial"/>
                <a:ea typeface="Arial"/>
                <a:cs typeface="Arial"/>
                <a:sym typeface="Arial"/>
              </a:rPr>
              <a:t>Level </a:t>
            </a:r>
            <a:r>
              <a:rPr b="1" lang="en" sz="1574"/>
              <a:t>3</a:t>
            </a:r>
            <a:r>
              <a:rPr b="1" i="0" lang="en" sz="1574" u="none" cap="none" strike="noStrike">
                <a:solidFill>
                  <a:srgbClr val="000000"/>
                </a:solidFill>
                <a:latin typeface="Arial"/>
                <a:ea typeface="Arial"/>
                <a:cs typeface="Arial"/>
                <a:sym typeface="Arial"/>
              </a:rPr>
              <a:t>:Real life - </a:t>
            </a:r>
            <a:r>
              <a:rPr lang="en" sz="1574"/>
              <a:t> Explain the working of buses and registers with the help of real life examples ?</a:t>
            </a:r>
            <a:endParaRPr sz="1574"/>
          </a:p>
        </p:txBody>
      </p:sp>
      <p:sp>
        <p:nvSpPr>
          <p:cNvPr id="74" name="Google Shape;74;g3a8fa397a04_1_0"/>
          <p:cNvSpPr txBox="1"/>
          <p:nvPr/>
        </p:nvSpPr>
        <p:spPr>
          <a:xfrm>
            <a:off x="8386400" y="4594125"/>
            <a:ext cx="914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5" name="Google Shape;75;g3a8fa397a04_1_0"/>
          <p:cNvPicPr preferRelativeResize="0"/>
          <p:nvPr/>
        </p:nvPicPr>
        <p:blipFill>
          <a:blip r:embed="rId3">
            <a:alphaModFix/>
          </a:blip>
          <a:stretch>
            <a:fillRect/>
          </a:stretch>
        </p:blipFill>
        <p:spPr>
          <a:xfrm>
            <a:off x="8386400" y="14713"/>
            <a:ext cx="731725" cy="1003682"/>
          </a:xfrm>
          <a:prstGeom prst="rect">
            <a:avLst/>
          </a:prstGeom>
          <a:noFill/>
          <a:ln cap="flat" cmpd="sng" w="19050">
            <a:solidFill>
              <a:schemeClr val="accent1"/>
            </a:solidFill>
            <a:prstDash val="solid"/>
            <a:round/>
            <a:headEnd len="sm" w="sm" type="none"/>
            <a:tailEnd len="sm" w="sm" type="none"/>
          </a:ln>
        </p:spPr>
      </p:pic>
      <p:pic>
        <p:nvPicPr>
          <p:cNvPr id="76" name="Google Shape;76;g3a8fa397a04_1_0"/>
          <p:cNvPicPr preferRelativeResize="0"/>
          <p:nvPr/>
        </p:nvPicPr>
        <p:blipFill>
          <a:blip r:embed="rId4">
            <a:alphaModFix/>
          </a:blip>
          <a:stretch>
            <a:fillRect/>
          </a:stretch>
        </p:blipFill>
        <p:spPr>
          <a:xfrm>
            <a:off x="8362802" y="2603592"/>
            <a:ext cx="778900" cy="1276347"/>
          </a:xfrm>
          <a:prstGeom prst="rect">
            <a:avLst/>
          </a:prstGeom>
          <a:noFill/>
          <a:ln cap="flat" cmpd="sng" w="19050">
            <a:solidFill>
              <a:schemeClr val="accent1"/>
            </a:solidFill>
            <a:prstDash val="solid"/>
            <a:round/>
            <a:headEnd len="sm" w="sm" type="none"/>
            <a:tailEnd len="sm" w="sm" type="none"/>
          </a:ln>
        </p:spPr>
      </p:pic>
      <p:pic>
        <p:nvPicPr>
          <p:cNvPr id="77" name="Google Shape;77;g3a8fa397a04_1_0"/>
          <p:cNvPicPr preferRelativeResize="0"/>
          <p:nvPr/>
        </p:nvPicPr>
        <p:blipFill rotWithShape="1">
          <a:blip r:embed="rId5">
            <a:alphaModFix/>
          </a:blip>
          <a:srcRect b="6152" l="6581" r="4482" t="11038"/>
          <a:stretch/>
        </p:blipFill>
        <p:spPr>
          <a:xfrm>
            <a:off x="6725375" y="24013"/>
            <a:ext cx="731725" cy="766775"/>
          </a:xfrm>
          <a:prstGeom prst="rect">
            <a:avLst/>
          </a:prstGeom>
          <a:noFill/>
          <a:ln>
            <a:noFill/>
          </a:ln>
        </p:spPr>
      </p:pic>
      <p:pic>
        <p:nvPicPr>
          <p:cNvPr id="78" name="Google Shape;78;g3a8fa397a04_1_0"/>
          <p:cNvPicPr preferRelativeResize="0"/>
          <p:nvPr/>
        </p:nvPicPr>
        <p:blipFill>
          <a:blip r:embed="rId6">
            <a:alphaModFix/>
          </a:blip>
          <a:stretch>
            <a:fillRect/>
          </a:stretch>
        </p:blipFill>
        <p:spPr>
          <a:xfrm>
            <a:off x="8362812" y="3911787"/>
            <a:ext cx="778892" cy="1258225"/>
          </a:xfrm>
          <a:prstGeom prst="rect">
            <a:avLst/>
          </a:prstGeom>
          <a:noFill/>
          <a:ln>
            <a:noFill/>
          </a:ln>
        </p:spPr>
      </p:pic>
      <p:pic>
        <p:nvPicPr>
          <p:cNvPr id="79" name="Google Shape;79;g3a8fa397a04_1_0"/>
          <p:cNvPicPr preferRelativeResize="0"/>
          <p:nvPr/>
        </p:nvPicPr>
        <p:blipFill>
          <a:blip r:embed="rId7">
            <a:alphaModFix/>
          </a:blip>
          <a:stretch>
            <a:fillRect/>
          </a:stretch>
        </p:blipFill>
        <p:spPr>
          <a:xfrm>
            <a:off x="8316650" y="1061188"/>
            <a:ext cx="871200" cy="1499625"/>
          </a:xfrm>
          <a:prstGeom prst="rect">
            <a:avLst/>
          </a:prstGeom>
          <a:noFill/>
          <a:ln>
            <a:noFill/>
          </a:ln>
        </p:spPr>
      </p:pic>
      <p:pic>
        <p:nvPicPr>
          <p:cNvPr id="80" name="Google Shape;80;g3a8fa397a04_1_0"/>
          <p:cNvPicPr preferRelativeResize="0"/>
          <p:nvPr/>
        </p:nvPicPr>
        <p:blipFill rotWithShape="1">
          <a:blip r:embed="rId8">
            <a:alphaModFix/>
          </a:blip>
          <a:srcRect b="0" l="0" r="0" t="0"/>
          <a:stretch/>
        </p:blipFill>
        <p:spPr>
          <a:xfrm>
            <a:off x="348932" y="132502"/>
            <a:ext cx="702463" cy="549792"/>
          </a:xfrm>
          <a:prstGeom prst="rect">
            <a:avLst/>
          </a:prstGeom>
          <a:noFill/>
          <a:ln>
            <a:noFill/>
          </a:ln>
        </p:spPr>
      </p:pic>
      <p:sp>
        <p:nvSpPr>
          <p:cNvPr id="81" name="Google Shape;81;g3a8fa397a04_1_0"/>
          <p:cNvSpPr txBox="1"/>
          <p:nvPr/>
        </p:nvSpPr>
        <p:spPr>
          <a:xfrm>
            <a:off x="251275" y="4047250"/>
            <a:ext cx="3843300" cy="1096200"/>
          </a:xfrm>
          <a:prstGeom prst="rect">
            <a:avLst/>
          </a:prstGeom>
          <a:solidFill>
            <a:srgbClr val="EFEFEF"/>
          </a:solidFill>
          <a:ln cap="flat" cmpd="sng" w="28575">
            <a:solidFill>
              <a:srgbClr val="00B050"/>
            </a:solidFill>
            <a:prstDash val="solid"/>
            <a:round/>
            <a:headEnd len="sm" w="sm" type="none"/>
            <a:tailEnd len="sm" w="sm" type="none"/>
          </a:ln>
        </p:spPr>
        <p:txBody>
          <a:bodyPr anchorCtr="0" anchor="t" bIns="0" lIns="91425" spcFirstLastPara="1" rIns="91425"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Learning Intentions: </a:t>
            </a:r>
            <a:endParaRPr b="1">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sz="1300">
                <a:solidFill>
                  <a:schemeClr val="dk1"/>
                </a:solidFill>
              </a:rPr>
              <a:t>We are learning the architecture of GPU and its functioning and role of GPU in everyday life.</a:t>
            </a:r>
            <a:endParaRPr sz="1600">
              <a:solidFill>
                <a:schemeClr val="dk1"/>
              </a:solidFill>
            </a:endParaRPr>
          </a:p>
        </p:txBody>
      </p:sp>
      <p:sp>
        <p:nvSpPr>
          <p:cNvPr id="82" name="Google Shape;82;g3a8fa397a04_1_0"/>
          <p:cNvSpPr txBox="1"/>
          <p:nvPr/>
        </p:nvSpPr>
        <p:spPr>
          <a:xfrm>
            <a:off x="4248100" y="4047250"/>
            <a:ext cx="3754500" cy="1096200"/>
          </a:xfrm>
          <a:prstGeom prst="rect">
            <a:avLst/>
          </a:prstGeom>
          <a:solidFill>
            <a:srgbClr val="EFEFEF"/>
          </a:solidFill>
          <a:ln cap="flat" cmpd="sng" w="28575">
            <a:solidFill>
              <a:srgbClr val="00B050"/>
            </a:solidFill>
            <a:prstDash val="solid"/>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Success Criteria:</a:t>
            </a:r>
            <a:endParaRPr b="1" i="0" sz="1400" u="none" cap="none" strike="noStrike">
              <a:solidFill>
                <a:schemeClr val="dk1"/>
              </a:solidFill>
              <a:latin typeface="Arial"/>
              <a:ea typeface="Arial"/>
              <a:cs typeface="Arial"/>
              <a:sym typeface="Arial"/>
            </a:endParaRPr>
          </a:p>
          <a:p>
            <a:pPr indent="-311150" lvl="0" marL="457200" rtl="0" algn="l">
              <a:spcBef>
                <a:spcPts val="0"/>
              </a:spcBef>
              <a:spcAft>
                <a:spcPts val="0"/>
              </a:spcAft>
              <a:buClr>
                <a:schemeClr val="dk1"/>
              </a:buClr>
              <a:buSzPts val="1300"/>
              <a:buChar char="●"/>
            </a:pPr>
            <a:r>
              <a:rPr lang="en" sz="1300">
                <a:solidFill>
                  <a:schemeClr val="dk1"/>
                </a:solidFill>
              </a:rPr>
              <a:t>I can explain the architecture of GPU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 can explain the functioning and role of GPU in everyday life.</a:t>
            </a:r>
            <a:endParaRPr b="1">
              <a:solidFill>
                <a:schemeClr val="dk1"/>
              </a:solidFill>
            </a:endParaRPr>
          </a:p>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 </a:t>
            </a:r>
            <a:endParaRPr b="1">
              <a:solidFill>
                <a:schemeClr val="dk1"/>
              </a:solidFill>
            </a:endParaRPr>
          </a:p>
          <a:p>
            <a:pPr indent="0" lvl="0" marL="0" rtl="0" algn="l">
              <a:spcBef>
                <a:spcPts val="0"/>
              </a:spcBef>
              <a:spcAft>
                <a:spcPts val="0"/>
              </a:spcAft>
              <a:buClr>
                <a:schemeClr val="dk1"/>
              </a:buClr>
              <a:buSzPts val="1100"/>
              <a:buFont typeface="Arial"/>
              <a:buNone/>
            </a:pPr>
            <a:br>
              <a:rPr i="1" lang="en" sz="1100">
                <a:solidFill>
                  <a:schemeClr val="dk1"/>
                </a:solidFill>
              </a:rPr>
            </a:br>
            <a:endParaRPr i="1" sz="1100">
              <a:solidFill>
                <a:schemeClr val="dk1"/>
              </a:solidFill>
            </a:endParaRPr>
          </a:p>
          <a:p>
            <a:pPr indent="0" lvl="0" marL="0" rtl="0" algn="l">
              <a:spcBef>
                <a:spcPts val="0"/>
              </a:spcBef>
              <a:spcAft>
                <a:spcPts val="0"/>
              </a:spcAft>
              <a:buClr>
                <a:schemeClr val="dk1"/>
              </a:buClr>
              <a:buSzPts val="1100"/>
              <a:buFont typeface="Arial"/>
              <a:buNone/>
            </a:pPr>
            <a:r>
              <a:t/>
            </a:r>
            <a:endParaRPr i="1" sz="1100">
              <a:solidFill>
                <a:schemeClr val="dk1"/>
              </a:solidFill>
            </a:endParaRPr>
          </a:p>
          <a:p>
            <a:pPr indent="0" lvl="0" marL="0" marR="0" rtl="0" algn="l">
              <a:lnSpc>
                <a:spcPct val="100000"/>
              </a:lnSpc>
              <a:spcBef>
                <a:spcPts val="0"/>
              </a:spcBef>
              <a:spcAft>
                <a:spcPts val="0"/>
              </a:spcAft>
              <a:buClr>
                <a:srgbClr val="000000"/>
              </a:buClr>
              <a:buSzPts val="1000"/>
              <a:buFont typeface="Arial"/>
              <a:buNone/>
            </a:pPr>
            <a:r>
              <a:t/>
            </a:r>
            <a:endParaRPr sz="11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a8fa397a04_1_63"/>
          <p:cNvSpPr txBox="1"/>
          <p:nvPr/>
        </p:nvSpPr>
        <p:spPr>
          <a:xfrm>
            <a:off x="5082456" y="2429135"/>
            <a:ext cx="1126200" cy="529200"/>
          </a:xfrm>
          <a:prstGeom prst="rect">
            <a:avLst/>
          </a:prstGeom>
          <a:noFill/>
          <a:ln>
            <a:noFill/>
          </a:ln>
        </p:spPr>
        <p:txBody>
          <a:bodyPr anchorCtr="0" anchor="ctr" bIns="68825" lIns="68825" spcFirstLastPara="1" rIns="68825" wrap="square" tIns="68825">
            <a:noAutofit/>
          </a:bodyPr>
          <a:lstStyle/>
          <a:p>
            <a:pPr indent="0" lvl="0" marL="0" rtl="0" algn="ctr">
              <a:spcBef>
                <a:spcPts val="0"/>
              </a:spcBef>
              <a:spcAft>
                <a:spcPts val="0"/>
              </a:spcAft>
              <a:buNone/>
            </a:pPr>
            <a:r>
              <a:rPr lang="en" sz="752">
                <a:solidFill>
                  <a:srgbClr val="FFFFFF"/>
                </a:solidFill>
                <a:latin typeface="Roboto"/>
                <a:ea typeface="Roboto"/>
                <a:cs typeface="Roboto"/>
                <a:sym typeface="Roboto"/>
              </a:rPr>
              <a:t>Vestibulum congue </a:t>
            </a:r>
            <a:endParaRPr sz="752">
              <a:solidFill>
                <a:srgbClr val="FFFFFF"/>
              </a:solidFill>
              <a:latin typeface="Roboto"/>
              <a:ea typeface="Roboto"/>
              <a:cs typeface="Roboto"/>
              <a:sym typeface="Roboto"/>
            </a:endParaRPr>
          </a:p>
        </p:txBody>
      </p:sp>
      <p:sp>
        <p:nvSpPr>
          <p:cNvPr id="88" name="Google Shape;88;g3a8fa397a04_1_63"/>
          <p:cNvSpPr/>
          <p:nvPr/>
        </p:nvSpPr>
        <p:spPr>
          <a:xfrm rot="-2700000">
            <a:off x="3796826" y="1419968"/>
            <a:ext cx="996596" cy="994051"/>
          </a:xfrm>
          <a:prstGeom prst="ellipse">
            <a:avLst/>
          </a:prstGeom>
          <a:solidFill>
            <a:srgbClr val="D786E4"/>
          </a:solidFill>
          <a:ln>
            <a:noFill/>
          </a:ln>
        </p:spPr>
        <p:txBody>
          <a:bodyPr anchorCtr="0" anchor="ctr" bIns="34400" lIns="68825" spcFirstLastPara="1" rIns="68825" wrap="square" tIns="34400">
            <a:noAutofit/>
          </a:bodyPr>
          <a:lstStyle/>
          <a:p>
            <a:pPr indent="0" lvl="0" marL="0" rtl="0" algn="l">
              <a:spcBef>
                <a:spcPts val="0"/>
              </a:spcBef>
              <a:spcAft>
                <a:spcPts val="0"/>
              </a:spcAft>
              <a:buNone/>
            </a:pPr>
            <a:r>
              <a:t/>
            </a:r>
            <a:endParaRPr/>
          </a:p>
        </p:txBody>
      </p:sp>
      <p:grpSp>
        <p:nvGrpSpPr>
          <p:cNvPr id="89" name="Google Shape;89;g3a8fa397a04_1_63"/>
          <p:cNvGrpSpPr/>
          <p:nvPr/>
        </p:nvGrpSpPr>
        <p:grpSpPr>
          <a:xfrm>
            <a:off x="2299032" y="1075367"/>
            <a:ext cx="2064310" cy="2008242"/>
            <a:chOff x="1917433" y="1453653"/>
            <a:chExt cx="2742176" cy="2667697"/>
          </a:xfrm>
        </p:grpSpPr>
        <p:sp>
          <p:nvSpPr>
            <p:cNvPr id="90" name="Google Shape;90;g3a8fa397a04_1_63"/>
            <p:cNvSpPr/>
            <p:nvPr/>
          </p:nvSpPr>
          <p:spPr>
            <a:xfrm rot="-2700000">
              <a:off x="2440767" y="1711670"/>
              <a:ext cx="1621029" cy="2151664"/>
            </a:xfrm>
            <a:custGeom>
              <a:rect b="b" l="l" r="r" t="t"/>
              <a:pathLst>
                <a:path extrusionOk="0" h="332" w="250">
                  <a:moveTo>
                    <a:pt x="32" y="286"/>
                  </a:moveTo>
                  <a:cubicBezTo>
                    <a:pt x="32" y="157"/>
                    <a:pt x="127" y="49"/>
                    <a:pt x="250" y="29"/>
                  </a:cubicBezTo>
                  <a:cubicBezTo>
                    <a:pt x="245" y="19"/>
                    <a:pt x="239" y="9"/>
                    <a:pt x="232" y="0"/>
                  </a:cubicBezTo>
                  <a:cubicBezTo>
                    <a:pt x="100" y="28"/>
                    <a:pt x="0" y="145"/>
                    <a:pt x="0" y="286"/>
                  </a:cubicBezTo>
                  <a:cubicBezTo>
                    <a:pt x="0" y="302"/>
                    <a:pt x="1" y="317"/>
                    <a:pt x="3" y="332"/>
                  </a:cubicBezTo>
                  <a:cubicBezTo>
                    <a:pt x="13" y="325"/>
                    <a:pt x="23" y="319"/>
                    <a:pt x="33" y="314"/>
                  </a:cubicBezTo>
                  <a:cubicBezTo>
                    <a:pt x="33" y="305"/>
                    <a:pt x="32" y="296"/>
                    <a:pt x="32" y="286"/>
                  </a:cubicBezTo>
                  <a:close/>
                </a:path>
              </a:pathLst>
            </a:custGeom>
            <a:solidFill>
              <a:srgbClr val="D786E4"/>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91" name="Google Shape;91;g3a8fa397a04_1_63"/>
            <p:cNvSpPr/>
            <p:nvPr/>
          </p:nvSpPr>
          <p:spPr>
            <a:xfrm rot="-2700000">
              <a:off x="2689034" y="1771298"/>
              <a:ext cx="1575643" cy="1769691"/>
            </a:xfrm>
            <a:custGeom>
              <a:rect b="b" l="l" r="r" t="t"/>
              <a:pathLst>
                <a:path extrusionOk="0" h="285" w="254">
                  <a:moveTo>
                    <a:pt x="200" y="153"/>
                  </a:moveTo>
                  <a:cubicBezTo>
                    <a:pt x="217" y="143"/>
                    <a:pt x="236" y="137"/>
                    <a:pt x="254" y="136"/>
                  </a:cubicBezTo>
                  <a:cubicBezTo>
                    <a:pt x="253" y="87"/>
                    <a:pt x="240" y="41"/>
                    <a:pt x="218" y="0"/>
                  </a:cubicBezTo>
                  <a:cubicBezTo>
                    <a:pt x="95" y="20"/>
                    <a:pt x="0" y="128"/>
                    <a:pt x="0" y="257"/>
                  </a:cubicBezTo>
                  <a:cubicBezTo>
                    <a:pt x="0" y="267"/>
                    <a:pt x="1" y="276"/>
                    <a:pt x="1" y="285"/>
                  </a:cubicBezTo>
                  <a:cubicBezTo>
                    <a:pt x="43" y="263"/>
                    <a:pt x="90" y="251"/>
                    <a:pt x="140" y="250"/>
                  </a:cubicBezTo>
                  <a:cubicBezTo>
                    <a:pt x="142" y="211"/>
                    <a:pt x="164" y="174"/>
                    <a:pt x="200" y="153"/>
                  </a:cubicBezTo>
                  <a:close/>
                </a:path>
              </a:pathLst>
            </a:custGeom>
            <a:solidFill>
              <a:srgbClr val="701C7F"/>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92" name="Google Shape;92;g3a8fa397a04_1_63"/>
            <p:cNvSpPr txBox="1"/>
            <p:nvPr/>
          </p:nvSpPr>
          <p:spPr>
            <a:xfrm rot="-5400000">
              <a:off x="2686908" y="2290153"/>
              <a:ext cx="1496100" cy="563100"/>
            </a:xfrm>
            <a:prstGeom prst="rect">
              <a:avLst/>
            </a:prstGeom>
            <a:noFill/>
            <a:ln>
              <a:noFill/>
            </a:ln>
          </p:spPr>
          <p:txBody>
            <a:bodyPr anchorCtr="0" anchor="ctr" bIns="68825" lIns="68825" spcFirstLastPara="1" rIns="68825" wrap="square" tIns="68825">
              <a:noAutofit/>
            </a:bodyPr>
            <a:lstStyle/>
            <a:p>
              <a:pPr indent="0" lvl="0" marL="0" rtl="0" algn="ctr">
                <a:spcBef>
                  <a:spcPts val="0"/>
                </a:spcBef>
                <a:spcAft>
                  <a:spcPts val="0"/>
                </a:spcAft>
                <a:buNone/>
              </a:pPr>
              <a:r>
                <a:rPr lang="en" sz="752">
                  <a:solidFill>
                    <a:srgbClr val="FFFFFF"/>
                  </a:solidFill>
                  <a:latin typeface="Roboto"/>
                  <a:ea typeface="Roboto"/>
                  <a:cs typeface="Roboto"/>
                  <a:sym typeface="Roboto"/>
                </a:rPr>
                <a:t>Vestibulum congue </a:t>
              </a:r>
              <a:endParaRPr sz="752">
                <a:solidFill>
                  <a:srgbClr val="FFFFFF"/>
                </a:solidFill>
                <a:latin typeface="Roboto"/>
                <a:ea typeface="Roboto"/>
                <a:cs typeface="Roboto"/>
                <a:sym typeface="Roboto"/>
              </a:endParaRPr>
            </a:p>
          </p:txBody>
        </p:sp>
      </p:grpSp>
      <p:grpSp>
        <p:nvGrpSpPr>
          <p:cNvPr id="93" name="Google Shape;93;g3a8fa397a04_1_63"/>
          <p:cNvGrpSpPr/>
          <p:nvPr/>
        </p:nvGrpSpPr>
        <p:grpSpPr>
          <a:xfrm>
            <a:off x="3453811" y="1847886"/>
            <a:ext cx="2009316" cy="2066966"/>
            <a:chOff x="3451411" y="2479847"/>
            <a:chExt cx="2669123" cy="2745704"/>
          </a:xfrm>
        </p:grpSpPr>
        <p:sp>
          <p:nvSpPr>
            <p:cNvPr id="94" name="Google Shape;94;g3a8fa397a04_1_63"/>
            <p:cNvSpPr/>
            <p:nvPr/>
          </p:nvSpPr>
          <p:spPr>
            <a:xfrm rot="-2700000">
              <a:off x="3709147" y="3080460"/>
              <a:ext cx="2153650" cy="1621060"/>
            </a:xfrm>
            <a:custGeom>
              <a:rect b="b" l="l" r="r" t="t"/>
              <a:pathLst>
                <a:path extrusionOk="0" h="250" w="333">
                  <a:moveTo>
                    <a:pt x="287" y="218"/>
                  </a:moveTo>
                  <a:cubicBezTo>
                    <a:pt x="157" y="218"/>
                    <a:pt x="50" y="124"/>
                    <a:pt x="30" y="0"/>
                  </a:cubicBezTo>
                  <a:cubicBezTo>
                    <a:pt x="19" y="5"/>
                    <a:pt x="10" y="11"/>
                    <a:pt x="0" y="18"/>
                  </a:cubicBezTo>
                  <a:cubicBezTo>
                    <a:pt x="28" y="151"/>
                    <a:pt x="146" y="250"/>
                    <a:pt x="287" y="250"/>
                  </a:cubicBezTo>
                  <a:cubicBezTo>
                    <a:pt x="302" y="250"/>
                    <a:pt x="318" y="249"/>
                    <a:pt x="333" y="247"/>
                  </a:cubicBezTo>
                  <a:cubicBezTo>
                    <a:pt x="326" y="237"/>
                    <a:pt x="320" y="227"/>
                    <a:pt x="315" y="217"/>
                  </a:cubicBezTo>
                  <a:cubicBezTo>
                    <a:pt x="306" y="218"/>
                    <a:pt x="296" y="218"/>
                    <a:pt x="287" y="218"/>
                  </a:cubicBezTo>
                  <a:close/>
                </a:path>
              </a:pathLst>
            </a:custGeom>
            <a:solidFill>
              <a:srgbClr val="D786E4"/>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95" name="Google Shape;95;g3a8fa397a04_1_63"/>
            <p:cNvSpPr/>
            <p:nvPr/>
          </p:nvSpPr>
          <p:spPr>
            <a:xfrm rot="-2700000">
              <a:off x="3773733" y="2873178"/>
              <a:ext cx="1764275" cy="1573502"/>
            </a:xfrm>
            <a:custGeom>
              <a:rect b="b" l="l" r="r" t="t"/>
              <a:pathLst>
                <a:path extrusionOk="0" h="254" w="285">
                  <a:moveTo>
                    <a:pt x="152" y="54"/>
                  </a:moveTo>
                  <a:cubicBezTo>
                    <a:pt x="142" y="37"/>
                    <a:pt x="137" y="19"/>
                    <a:pt x="136" y="0"/>
                  </a:cubicBezTo>
                  <a:cubicBezTo>
                    <a:pt x="86" y="1"/>
                    <a:pt x="40" y="14"/>
                    <a:pt x="0" y="36"/>
                  </a:cubicBezTo>
                  <a:cubicBezTo>
                    <a:pt x="20" y="160"/>
                    <a:pt x="127" y="254"/>
                    <a:pt x="257" y="254"/>
                  </a:cubicBezTo>
                  <a:cubicBezTo>
                    <a:pt x="266" y="254"/>
                    <a:pt x="276" y="254"/>
                    <a:pt x="285" y="253"/>
                  </a:cubicBezTo>
                  <a:cubicBezTo>
                    <a:pt x="263" y="211"/>
                    <a:pt x="251" y="164"/>
                    <a:pt x="250" y="115"/>
                  </a:cubicBezTo>
                  <a:cubicBezTo>
                    <a:pt x="210" y="112"/>
                    <a:pt x="173" y="91"/>
                    <a:pt x="152" y="54"/>
                  </a:cubicBezTo>
                  <a:close/>
                </a:path>
              </a:pathLst>
            </a:custGeom>
            <a:solidFill>
              <a:srgbClr val="771E86"/>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96" name="Google Shape;96;g3a8fa397a04_1_63"/>
            <p:cNvSpPr txBox="1"/>
            <p:nvPr/>
          </p:nvSpPr>
          <p:spPr>
            <a:xfrm>
              <a:off x="3823936" y="3427182"/>
              <a:ext cx="1496100" cy="563100"/>
            </a:xfrm>
            <a:prstGeom prst="rect">
              <a:avLst/>
            </a:prstGeom>
            <a:noFill/>
            <a:ln>
              <a:noFill/>
            </a:ln>
          </p:spPr>
          <p:txBody>
            <a:bodyPr anchorCtr="0" anchor="ctr" bIns="68825" lIns="68825" spcFirstLastPara="1" rIns="68825" wrap="square" tIns="68825">
              <a:noAutofit/>
            </a:bodyPr>
            <a:lstStyle/>
            <a:p>
              <a:pPr indent="0" lvl="0" marL="0" rtl="0" algn="ctr">
                <a:spcBef>
                  <a:spcPts val="0"/>
                </a:spcBef>
                <a:spcAft>
                  <a:spcPts val="0"/>
                </a:spcAft>
                <a:buNone/>
              </a:pPr>
              <a:r>
                <a:rPr lang="en" sz="752">
                  <a:solidFill>
                    <a:srgbClr val="FFFFFF"/>
                  </a:solidFill>
                  <a:latin typeface="Roboto"/>
                  <a:ea typeface="Roboto"/>
                  <a:cs typeface="Roboto"/>
                  <a:sym typeface="Roboto"/>
                </a:rPr>
                <a:t>Vestibulum congue </a:t>
              </a:r>
              <a:endParaRPr sz="752">
                <a:solidFill>
                  <a:srgbClr val="FFFFFF"/>
                </a:solidFill>
                <a:latin typeface="Roboto"/>
                <a:ea typeface="Roboto"/>
                <a:cs typeface="Roboto"/>
                <a:sym typeface="Roboto"/>
              </a:endParaRPr>
            </a:p>
          </p:txBody>
        </p:sp>
      </p:grpSp>
      <p:grpSp>
        <p:nvGrpSpPr>
          <p:cNvPr id="97" name="Google Shape;97;g3a8fa397a04_1_63"/>
          <p:cNvGrpSpPr/>
          <p:nvPr/>
        </p:nvGrpSpPr>
        <p:grpSpPr>
          <a:xfrm>
            <a:off x="4229434" y="750459"/>
            <a:ext cx="2066291" cy="2006184"/>
            <a:chOff x="4481729" y="1022053"/>
            <a:chExt cx="2744808" cy="2664963"/>
          </a:xfrm>
        </p:grpSpPr>
        <p:sp>
          <p:nvSpPr>
            <p:cNvPr id="98" name="Google Shape;98;g3a8fa397a04_1_63"/>
            <p:cNvSpPr/>
            <p:nvPr/>
          </p:nvSpPr>
          <p:spPr>
            <a:xfrm rot="-2700000">
              <a:off x="5085474" y="1278703"/>
              <a:ext cx="1617163" cy="2151664"/>
            </a:xfrm>
            <a:custGeom>
              <a:rect b="b" l="l" r="r" t="t"/>
              <a:pathLst>
                <a:path extrusionOk="0" h="332" w="250">
                  <a:moveTo>
                    <a:pt x="218" y="45"/>
                  </a:moveTo>
                  <a:cubicBezTo>
                    <a:pt x="218" y="175"/>
                    <a:pt x="123" y="282"/>
                    <a:pt x="0" y="303"/>
                  </a:cubicBezTo>
                  <a:cubicBezTo>
                    <a:pt x="5" y="313"/>
                    <a:pt x="11" y="323"/>
                    <a:pt x="18" y="332"/>
                  </a:cubicBezTo>
                  <a:cubicBezTo>
                    <a:pt x="150" y="304"/>
                    <a:pt x="250" y="186"/>
                    <a:pt x="250" y="45"/>
                  </a:cubicBezTo>
                  <a:cubicBezTo>
                    <a:pt x="250" y="30"/>
                    <a:pt x="248" y="15"/>
                    <a:pt x="246" y="0"/>
                  </a:cubicBezTo>
                  <a:cubicBezTo>
                    <a:pt x="237" y="6"/>
                    <a:pt x="226" y="12"/>
                    <a:pt x="216" y="18"/>
                  </a:cubicBezTo>
                  <a:cubicBezTo>
                    <a:pt x="217" y="27"/>
                    <a:pt x="218" y="36"/>
                    <a:pt x="218" y="45"/>
                  </a:cubicBezTo>
                  <a:close/>
                </a:path>
              </a:pathLst>
            </a:custGeom>
            <a:solidFill>
              <a:srgbClr val="D786E4"/>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99" name="Google Shape;99;g3a8fa397a04_1_63"/>
            <p:cNvSpPr/>
            <p:nvPr/>
          </p:nvSpPr>
          <p:spPr>
            <a:xfrm rot="-2700000">
              <a:off x="4874704" y="1604373"/>
              <a:ext cx="1579339" cy="1765685"/>
            </a:xfrm>
            <a:custGeom>
              <a:rect b="b" l="l" r="r" t="t"/>
              <a:pathLst>
                <a:path extrusionOk="0" h="285" w="254">
                  <a:moveTo>
                    <a:pt x="53" y="133"/>
                  </a:moveTo>
                  <a:cubicBezTo>
                    <a:pt x="37" y="142"/>
                    <a:pt x="18" y="148"/>
                    <a:pt x="0" y="149"/>
                  </a:cubicBezTo>
                  <a:cubicBezTo>
                    <a:pt x="1" y="198"/>
                    <a:pt x="14" y="244"/>
                    <a:pt x="36" y="285"/>
                  </a:cubicBezTo>
                  <a:cubicBezTo>
                    <a:pt x="159" y="264"/>
                    <a:pt x="254" y="157"/>
                    <a:pt x="254" y="27"/>
                  </a:cubicBezTo>
                  <a:cubicBezTo>
                    <a:pt x="254" y="18"/>
                    <a:pt x="253" y="9"/>
                    <a:pt x="252" y="0"/>
                  </a:cubicBezTo>
                  <a:cubicBezTo>
                    <a:pt x="211" y="21"/>
                    <a:pt x="164" y="34"/>
                    <a:pt x="114" y="34"/>
                  </a:cubicBezTo>
                  <a:cubicBezTo>
                    <a:pt x="112" y="74"/>
                    <a:pt x="90" y="111"/>
                    <a:pt x="53" y="133"/>
                  </a:cubicBezTo>
                  <a:close/>
                </a:path>
              </a:pathLst>
            </a:custGeom>
            <a:solidFill>
              <a:srgbClr val="802090"/>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00" name="Google Shape;100;g3a8fa397a04_1_63"/>
            <p:cNvSpPr txBox="1"/>
            <p:nvPr/>
          </p:nvSpPr>
          <p:spPr>
            <a:xfrm rot="5400000">
              <a:off x="4960966" y="2290154"/>
              <a:ext cx="1496100" cy="563100"/>
            </a:xfrm>
            <a:prstGeom prst="rect">
              <a:avLst/>
            </a:prstGeom>
            <a:noFill/>
            <a:ln>
              <a:noFill/>
            </a:ln>
          </p:spPr>
          <p:txBody>
            <a:bodyPr anchorCtr="0" anchor="ctr" bIns="68825" lIns="68825" spcFirstLastPara="1" rIns="68825" wrap="square" tIns="68825">
              <a:noAutofit/>
            </a:bodyPr>
            <a:lstStyle/>
            <a:p>
              <a:pPr indent="0" lvl="0" marL="0" rtl="0" algn="ctr">
                <a:spcBef>
                  <a:spcPts val="0"/>
                </a:spcBef>
                <a:spcAft>
                  <a:spcPts val="0"/>
                </a:spcAft>
                <a:buNone/>
              </a:pPr>
              <a:r>
                <a:rPr lang="en" sz="752">
                  <a:solidFill>
                    <a:srgbClr val="FFFFFF"/>
                  </a:solidFill>
                  <a:latin typeface="Roboto"/>
                  <a:ea typeface="Roboto"/>
                  <a:cs typeface="Roboto"/>
                  <a:sym typeface="Roboto"/>
                </a:rPr>
                <a:t>Vestibulum congue </a:t>
              </a:r>
              <a:endParaRPr sz="752">
                <a:solidFill>
                  <a:srgbClr val="FFFFFF"/>
                </a:solidFill>
                <a:latin typeface="Roboto"/>
                <a:ea typeface="Roboto"/>
                <a:cs typeface="Roboto"/>
                <a:sym typeface="Roboto"/>
              </a:endParaRPr>
            </a:p>
          </p:txBody>
        </p:sp>
      </p:grpSp>
      <p:grpSp>
        <p:nvGrpSpPr>
          <p:cNvPr id="101" name="Google Shape;101;g3a8fa397a04_1_63"/>
          <p:cNvGrpSpPr/>
          <p:nvPr/>
        </p:nvGrpSpPr>
        <p:grpSpPr>
          <a:xfrm>
            <a:off x="3133691" y="-76672"/>
            <a:ext cx="1998703" cy="2062734"/>
            <a:chOff x="3026172" y="-76686"/>
            <a:chExt cx="2655026" cy="2740082"/>
          </a:xfrm>
        </p:grpSpPr>
        <p:sp>
          <p:nvSpPr>
            <p:cNvPr id="102" name="Google Shape;102;g3a8fa397a04_1_63"/>
            <p:cNvSpPr/>
            <p:nvPr/>
          </p:nvSpPr>
          <p:spPr>
            <a:xfrm rot="-2700000">
              <a:off x="3282650" y="444474"/>
              <a:ext cx="2142068" cy="1612705"/>
            </a:xfrm>
            <a:custGeom>
              <a:rect b="b" l="l" r="r" t="t"/>
              <a:pathLst>
                <a:path extrusionOk="0" h="249" w="331">
                  <a:moveTo>
                    <a:pt x="45" y="32"/>
                  </a:moveTo>
                  <a:cubicBezTo>
                    <a:pt x="174" y="32"/>
                    <a:pt x="281" y="126"/>
                    <a:pt x="302" y="249"/>
                  </a:cubicBezTo>
                  <a:cubicBezTo>
                    <a:pt x="312" y="244"/>
                    <a:pt x="322" y="238"/>
                    <a:pt x="331" y="231"/>
                  </a:cubicBezTo>
                  <a:cubicBezTo>
                    <a:pt x="303" y="99"/>
                    <a:pt x="186" y="0"/>
                    <a:pt x="45" y="0"/>
                  </a:cubicBezTo>
                  <a:cubicBezTo>
                    <a:pt x="29" y="0"/>
                    <a:pt x="14" y="1"/>
                    <a:pt x="0" y="3"/>
                  </a:cubicBezTo>
                  <a:cubicBezTo>
                    <a:pt x="6" y="13"/>
                    <a:pt x="12" y="23"/>
                    <a:pt x="17" y="33"/>
                  </a:cubicBezTo>
                  <a:cubicBezTo>
                    <a:pt x="26" y="32"/>
                    <a:pt x="36" y="32"/>
                    <a:pt x="45" y="32"/>
                  </a:cubicBezTo>
                  <a:close/>
                </a:path>
              </a:pathLst>
            </a:custGeom>
            <a:solidFill>
              <a:srgbClr val="D786E4"/>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03" name="Google Shape;103;g3a8fa397a04_1_63"/>
            <p:cNvSpPr/>
            <p:nvPr/>
          </p:nvSpPr>
          <p:spPr>
            <a:xfrm rot="-2700000">
              <a:off x="3599956" y="695260"/>
              <a:ext cx="1767975" cy="1573496"/>
            </a:xfrm>
            <a:custGeom>
              <a:rect b="b" l="l" r="r" t="t"/>
              <a:pathLst>
                <a:path extrusionOk="0" h="253" w="285">
                  <a:moveTo>
                    <a:pt x="28" y="0"/>
                  </a:moveTo>
                  <a:cubicBezTo>
                    <a:pt x="19" y="0"/>
                    <a:pt x="9" y="0"/>
                    <a:pt x="0" y="1"/>
                  </a:cubicBezTo>
                  <a:cubicBezTo>
                    <a:pt x="22" y="43"/>
                    <a:pt x="34" y="90"/>
                    <a:pt x="35" y="140"/>
                  </a:cubicBezTo>
                  <a:cubicBezTo>
                    <a:pt x="74" y="142"/>
                    <a:pt x="112" y="163"/>
                    <a:pt x="133" y="200"/>
                  </a:cubicBezTo>
                  <a:cubicBezTo>
                    <a:pt x="143" y="217"/>
                    <a:pt x="148" y="235"/>
                    <a:pt x="149" y="253"/>
                  </a:cubicBezTo>
                  <a:cubicBezTo>
                    <a:pt x="198" y="252"/>
                    <a:pt x="244" y="239"/>
                    <a:pt x="285" y="217"/>
                  </a:cubicBezTo>
                  <a:cubicBezTo>
                    <a:pt x="264" y="94"/>
                    <a:pt x="157" y="0"/>
                    <a:pt x="28" y="0"/>
                  </a:cubicBezTo>
                  <a:close/>
                </a:path>
              </a:pathLst>
            </a:custGeom>
            <a:solidFill>
              <a:srgbClr val="561561"/>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04" name="Google Shape;104;g3a8fa397a04_1_63"/>
            <p:cNvSpPr txBox="1"/>
            <p:nvPr/>
          </p:nvSpPr>
          <p:spPr>
            <a:xfrm>
              <a:off x="3823913" y="1153125"/>
              <a:ext cx="1496100" cy="563100"/>
            </a:xfrm>
            <a:prstGeom prst="rect">
              <a:avLst/>
            </a:prstGeom>
            <a:noFill/>
            <a:ln>
              <a:noFill/>
            </a:ln>
          </p:spPr>
          <p:txBody>
            <a:bodyPr anchorCtr="0" anchor="ctr" bIns="68825" lIns="68825" spcFirstLastPara="1" rIns="68825" wrap="square" tIns="68825">
              <a:noAutofit/>
            </a:bodyPr>
            <a:lstStyle/>
            <a:p>
              <a:pPr indent="0" lvl="0" marL="0" rtl="0" algn="ctr">
                <a:spcBef>
                  <a:spcPts val="0"/>
                </a:spcBef>
                <a:spcAft>
                  <a:spcPts val="0"/>
                </a:spcAft>
                <a:buNone/>
              </a:pPr>
              <a:r>
                <a:rPr lang="en" sz="752">
                  <a:solidFill>
                    <a:srgbClr val="FFFFFF"/>
                  </a:solidFill>
                  <a:latin typeface="Roboto"/>
                  <a:ea typeface="Roboto"/>
                  <a:cs typeface="Roboto"/>
                  <a:sym typeface="Roboto"/>
                </a:rPr>
                <a:t>Vestibulum congue </a:t>
              </a:r>
              <a:endParaRPr sz="752">
                <a:solidFill>
                  <a:srgbClr val="FFFFFF"/>
                </a:solidFill>
                <a:latin typeface="Roboto"/>
                <a:ea typeface="Roboto"/>
                <a:cs typeface="Roboto"/>
                <a:sym typeface="Roboto"/>
              </a:endParaRPr>
            </a:p>
          </p:txBody>
        </p:sp>
      </p:grpSp>
      <p:sp>
        <p:nvSpPr>
          <p:cNvPr id="105" name="Google Shape;105;g3a8fa397a04_1_63"/>
          <p:cNvSpPr/>
          <p:nvPr/>
        </p:nvSpPr>
        <p:spPr>
          <a:xfrm rot="-2700000">
            <a:off x="3796826" y="1419968"/>
            <a:ext cx="996596" cy="994051"/>
          </a:xfrm>
          <a:prstGeom prst="ellipse">
            <a:avLst/>
          </a:prstGeom>
          <a:solidFill>
            <a:srgbClr val="EDA29B"/>
          </a:solidFill>
          <a:ln>
            <a:noFill/>
          </a:ln>
        </p:spPr>
        <p:txBody>
          <a:bodyPr anchorCtr="0" anchor="ctr" bIns="34400" lIns="68825" spcFirstLastPara="1" rIns="68825" wrap="square" tIns="34400">
            <a:noAutofit/>
          </a:bodyPr>
          <a:lstStyle/>
          <a:p>
            <a:pPr indent="0" lvl="0" marL="0" rtl="0" algn="l">
              <a:spcBef>
                <a:spcPts val="0"/>
              </a:spcBef>
              <a:spcAft>
                <a:spcPts val="0"/>
              </a:spcAft>
              <a:buNone/>
            </a:pPr>
            <a:r>
              <a:t/>
            </a:r>
            <a:endParaRPr/>
          </a:p>
        </p:txBody>
      </p:sp>
      <p:grpSp>
        <p:nvGrpSpPr>
          <p:cNvPr id="106" name="Google Shape;106;g3a8fa397a04_1_63"/>
          <p:cNvGrpSpPr/>
          <p:nvPr/>
        </p:nvGrpSpPr>
        <p:grpSpPr>
          <a:xfrm>
            <a:off x="2299032" y="1075367"/>
            <a:ext cx="2064310" cy="2008242"/>
            <a:chOff x="1917433" y="1453653"/>
            <a:chExt cx="2742176" cy="2667697"/>
          </a:xfrm>
        </p:grpSpPr>
        <p:sp>
          <p:nvSpPr>
            <p:cNvPr id="107" name="Google Shape;107;g3a8fa397a04_1_63"/>
            <p:cNvSpPr/>
            <p:nvPr/>
          </p:nvSpPr>
          <p:spPr>
            <a:xfrm rot="-2700000">
              <a:off x="2440767" y="1711670"/>
              <a:ext cx="1621029" cy="2151664"/>
            </a:xfrm>
            <a:custGeom>
              <a:rect b="b" l="l" r="r" t="t"/>
              <a:pathLst>
                <a:path extrusionOk="0" h="332" w="250">
                  <a:moveTo>
                    <a:pt x="32" y="286"/>
                  </a:moveTo>
                  <a:cubicBezTo>
                    <a:pt x="32" y="157"/>
                    <a:pt x="127" y="49"/>
                    <a:pt x="250" y="29"/>
                  </a:cubicBezTo>
                  <a:cubicBezTo>
                    <a:pt x="245" y="19"/>
                    <a:pt x="239" y="9"/>
                    <a:pt x="232" y="0"/>
                  </a:cubicBezTo>
                  <a:cubicBezTo>
                    <a:pt x="100" y="28"/>
                    <a:pt x="0" y="145"/>
                    <a:pt x="0" y="286"/>
                  </a:cubicBezTo>
                  <a:cubicBezTo>
                    <a:pt x="0" y="302"/>
                    <a:pt x="1" y="317"/>
                    <a:pt x="3" y="332"/>
                  </a:cubicBezTo>
                  <a:cubicBezTo>
                    <a:pt x="13" y="325"/>
                    <a:pt x="23" y="319"/>
                    <a:pt x="33" y="314"/>
                  </a:cubicBezTo>
                  <a:cubicBezTo>
                    <a:pt x="33" y="305"/>
                    <a:pt x="32" y="296"/>
                    <a:pt x="32" y="286"/>
                  </a:cubicBezTo>
                  <a:close/>
                </a:path>
              </a:pathLst>
            </a:custGeom>
            <a:solidFill>
              <a:srgbClr val="FF9900"/>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08" name="Google Shape;108;g3a8fa397a04_1_63"/>
            <p:cNvSpPr/>
            <p:nvPr/>
          </p:nvSpPr>
          <p:spPr>
            <a:xfrm rot="-2700000">
              <a:off x="2689034" y="1771298"/>
              <a:ext cx="1575643" cy="1769691"/>
            </a:xfrm>
            <a:custGeom>
              <a:rect b="b" l="l" r="r" t="t"/>
              <a:pathLst>
                <a:path extrusionOk="0" h="285" w="254">
                  <a:moveTo>
                    <a:pt x="200" y="153"/>
                  </a:moveTo>
                  <a:cubicBezTo>
                    <a:pt x="217" y="143"/>
                    <a:pt x="236" y="137"/>
                    <a:pt x="254" y="136"/>
                  </a:cubicBezTo>
                  <a:cubicBezTo>
                    <a:pt x="253" y="87"/>
                    <a:pt x="240" y="41"/>
                    <a:pt x="218" y="0"/>
                  </a:cubicBezTo>
                  <a:cubicBezTo>
                    <a:pt x="95" y="20"/>
                    <a:pt x="0" y="128"/>
                    <a:pt x="0" y="257"/>
                  </a:cubicBezTo>
                  <a:cubicBezTo>
                    <a:pt x="0" y="267"/>
                    <a:pt x="1" y="276"/>
                    <a:pt x="1" y="285"/>
                  </a:cubicBezTo>
                  <a:cubicBezTo>
                    <a:pt x="43" y="263"/>
                    <a:pt x="90" y="251"/>
                    <a:pt x="140" y="250"/>
                  </a:cubicBezTo>
                  <a:cubicBezTo>
                    <a:pt x="142" y="211"/>
                    <a:pt x="164" y="174"/>
                    <a:pt x="200" y="153"/>
                  </a:cubicBezTo>
                  <a:close/>
                </a:path>
              </a:pathLst>
            </a:custGeom>
            <a:solidFill>
              <a:srgbClr val="FF9900"/>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sz="1053"/>
            </a:p>
          </p:txBody>
        </p:sp>
        <p:sp>
          <p:nvSpPr>
            <p:cNvPr id="109" name="Google Shape;109;g3a8fa397a04_1_63"/>
            <p:cNvSpPr txBox="1"/>
            <p:nvPr/>
          </p:nvSpPr>
          <p:spPr>
            <a:xfrm rot="-5400000">
              <a:off x="2686908" y="2290153"/>
              <a:ext cx="1496100" cy="563100"/>
            </a:xfrm>
            <a:prstGeom prst="rect">
              <a:avLst/>
            </a:prstGeom>
            <a:solidFill>
              <a:srgbClr val="FFC000"/>
            </a:solidFill>
            <a:ln>
              <a:noFill/>
            </a:ln>
          </p:spPr>
          <p:txBody>
            <a:bodyPr anchorCtr="0" anchor="ctr" bIns="68825" lIns="68825" spcFirstLastPara="1" rIns="68825" wrap="square" tIns="68825">
              <a:noAutofit/>
            </a:bodyPr>
            <a:lstStyle/>
            <a:p>
              <a:pPr indent="0" lvl="0" marL="0" rtl="0" algn="l">
                <a:spcBef>
                  <a:spcPts val="0"/>
                </a:spcBef>
                <a:spcAft>
                  <a:spcPts val="0"/>
                </a:spcAft>
                <a:buNone/>
              </a:pPr>
              <a:r>
                <a:rPr lang="en" sz="752">
                  <a:solidFill>
                    <a:schemeClr val="dk1"/>
                  </a:solidFill>
                  <a:latin typeface="Roboto"/>
                  <a:ea typeface="Roboto"/>
                  <a:cs typeface="Roboto"/>
                  <a:sym typeface="Roboto"/>
                </a:rPr>
                <a:t> </a:t>
              </a:r>
              <a:r>
                <a:rPr b="1" lang="en" sz="1300">
                  <a:solidFill>
                    <a:schemeClr val="dk1"/>
                  </a:solidFill>
                  <a:latin typeface="Roboto"/>
                  <a:ea typeface="Roboto"/>
                  <a:cs typeface="Roboto"/>
                  <a:sym typeface="Roboto"/>
                </a:rPr>
                <a:t>Explain  </a:t>
              </a:r>
              <a:endParaRPr b="1" sz="1300">
                <a:solidFill>
                  <a:srgbClr val="FFFFFF"/>
                </a:solidFill>
                <a:latin typeface="Roboto"/>
                <a:ea typeface="Roboto"/>
                <a:cs typeface="Roboto"/>
                <a:sym typeface="Roboto"/>
              </a:endParaRPr>
            </a:p>
          </p:txBody>
        </p:sp>
      </p:grpSp>
      <p:grpSp>
        <p:nvGrpSpPr>
          <p:cNvPr id="110" name="Google Shape;110;g3a8fa397a04_1_63"/>
          <p:cNvGrpSpPr/>
          <p:nvPr/>
        </p:nvGrpSpPr>
        <p:grpSpPr>
          <a:xfrm>
            <a:off x="3453811" y="1847886"/>
            <a:ext cx="2009316" cy="2066966"/>
            <a:chOff x="3451411" y="2479847"/>
            <a:chExt cx="2669123" cy="2745704"/>
          </a:xfrm>
        </p:grpSpPr>
        <p:sp>
          <p:nvSpPr>
            <p:cNvPr id="111" name="Google Shape;111;g3a8fa397a04_1_63"/>
            <p:cNvSpPr/>
            <p:nvPr/>
          </p:nvSpPr>
          <p:spPr>
            <a:xfrm rot="-2700000">
              <a:off x="3709147" y="3080460"/>
              <a:ext cx="2153650" cy="1621060"/>
            </a:xfrm>
            <a:custGeom>
              <a:rect b="b" l="l" r="r" t="t"/>
              <a:pathLst>
                <a:path extrusionOk="0" h="250" w="333">
                  <a:moveTo>
                    <a:pt x="287" y="218"/>
                  </a:moveTo>
                  <a:cubicBezTo>
                    <a:pt x="157" y="218"/>
                    <a:pt x="50" y="124"/>
                    <a:pt x="30" y="0"/>
                  </a:cubicBezTo>
                  <a:cubicBezTo>
                    <a:pt x="19" y="5"/>
                    <a:pt x="10" y="11"/>
                    <a:pt x="0" y="18"/>
                  </a:cubicBezTo>
                  <a:cubicBezTo>
                    <a:pt x="28" y="151"/>
                    <a:pt x="146" y="250"/>
                    <a:pt x="287" y="250"/>
                  </a:cubicBezTo>
                  <a:cubicBezTo>
                    <a:pt x="302" y="250"/>
                    <a:pt x="318" y="249"/>
                    <a:pt x="333" y="247"/>
                  </a:cubicBezTo>
                  <a:cubicBezTo>
                    <a:pt x="326" y="237"/>
                    <a:pt x="320" y="227"/>
                    <a:pt x="315" y="217"/>
                  </a:cubicBezTo>
                  <a:cubicBezTo>
                    <a:pt x="306" y="218"/>
                    <a:pt x="296" y="218"/>
                    <a:pt x="287" y="218"/>
                  </a:cubicBezTo>
                  <a:close/>
                </a:path>
              </a:pathLst>
            </a:custGeom>
            <a:solidFill>
              <a:srgbClr val="4185F2"/>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12" name="Google Shape;112;g3a8fa397a04_1_63"/>
            <p:cNvSpPr/>
            <p:nvPr/>
          </p:nvSpPr>
          <p:spPr>
            <a:xfrm rot="-2700000">
              <a:off x="3773733" y="2873178"/>
              <a:ext cx="1764275" cy="1573502"/>
            </a:xfrm>
            <a:custGeom>
              <a:rect b="b" l="l" r="r" t="t"/>
              <a:pathLst>
                <a:path extrusionOk="0" h="254" w="285">
                  <a:moveTo>
                    <a:pt x="152" y="54"/>
                  </a:moveTo>
                  <a:cubicBezTo>
                    <a:pt x="142" y="37"/>
                    <a:pt x="137" y="19"/>
                    <a:pt x="136" y="0"/>
                  </a:cubicBezTo>
                  <a:cubicBezTo>
                    <a:pt x="86" y="1"/>
                    <a:pt x="40" y="14"/>
                    <a:pt x="0" y="36"/>
                  </a:cubicBezTo>
                  <a:cubicBezTo>
                    <a:pt x="20" y="160"/>
                    <a:pt x="127" y="254"/>
                    <a:pt x="257" y="254"/>
                  </a:cubicBezTo>
                  <a:cubicBezTo>
                    <a:pt x="266" y="254"/>
                    <a:pt x="276" y="254"/>
                    <a:pt x="285" y="253"/>
                  </a:cubicBezTo>
                  <a:cubicBezTo>
                    <a:pt x="263" y="211"/>
                    <a:pt x="251" y="164"/>
                    <a:pt x="250" y="115"/>
                  </a:cubicBezTo>
                  <a:cubicBezTo>
                    <a:pt x="210" y="112"/>
                    <a:pt x="173" y="91"/>
                    <a:pt x="152" y="54"/>
                  </a:cubicBezTo>
                  <a:close/>
                </a:path>
              </a:pathLst>
            </a:custGeom>
            <a:solidFill>
              <a:srgbClr val="4185F2"/>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13" name="Google Shape;113;g3a8fa397a04_1_63"/>
            <p:cNvSpPr txBox="1"/>
            <p:nvPr/>
          </p:nvSpPr>
          <p:spPr>
            <a:xfrm>
              <a:off x="3823936" y="3427182"/>
              <a:ext cx="1496100" cy="563100"/>
            </a:xfrm>
            <a:prstGeom prst="rect">
              <a:avLst/>
            </a:prstGeom>
            <a:solidFill>
              <a:srgbClr val="4185F2"/>
            </a:solidFill>
            <a:ln>
              <a:noFill/>
            </a:ln>
          </p:spPr>
          <p:txBody>
            <a:bodyPr anchorCtr="0" anchor="ctr" bIns="68825" lIns="68825" spcFirstLastPara="1" rIns="68825" wrap="square" tIns="688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Link with the problem</a:t>
              </a:r>
              <a:r>
                <a:rPr lang="en" sz="752">
                  <a:solidFill>
                    <a:srgbClr val="FFFFFF"/>
                  </a:solidFill>
                  <a:latin typeface="Roboto"/>
                  <a:ea typeface="Roboto"/>
                  <a:cs typeface="Roboto"/>
                  <a:sym typeface="Roboto"/>
                </a:rPr>
                <a:t>  </a:t>
              </a:r>
              <a:endParaRPr sz="752">
                <a:solidFill>
                  <a:srgbClr val="FFFFFF"/>
                </a:solidFill>
                <a:latin typeface="Roboto"/>
                <a:ea typeface="Roboto"/>
                <a:cs typeface="Roboto"/>
                <a:sym typeface="Roboto"/>
              </a:endParaRPr>
            </a:p>
          </p:txBody>
        </p:sp>
      </p:grpSp>
      <p:grpSp>
        <p:nvGrpSpPr>
          <p:cNvPr id="114" name="Google Shape;114;g3a8fa397a04_1_63"/>
          <p:cNvGrpSpPr/>
          <p:nvPr/>
        </p:nvGrpSpPr>
        <p:grpSpPr>
          <a:xfrm>
            <a:off x="4229434" y="750459"/>
            <a:ext cx="2066291" cy="2006184"/>
            <a:chOff x="4481729" y="1022053"/>
            <a:chExt cx="2744808" cy="2664963"/>
          </a:xfrm>
        </p:grpSpPr>
        <p:sp>
          <p:nvSpPr>
            <p:cNvPr id="115" name="Google Shape;115;g3a8fa397a04_1_63"/>
            <p:cNvSpPr/>
            <p:nvPr/>
          </p:nvSpPr>
          <p:spPr>
            <a:xfrm rot="-2700000">
              <a:off x="5085474" y="1278703"/>
              <a:ext cx="1617163" cy="2151664"/>
            </a:xfrm>
            <a:custGeom>
              <a:rect b="b" l="l" r="r" t="t"/>
              <a:pathLst>
                <a:path extrusionOk="0" h="332" w="250">
                  <a:moveTo>
                    <a:pt x="218" y="45"/>
                  </a:moveTo>
                  <a:cubicBezTo>
                    <a:pt x="218" y="175"/>
                    <a:pt x="123" y="282"/>
                    <a:pt x="0" y="303"/>
                  </a:cubicBezTo>
                  <a:cubicBezTo>
                    <a:pt x="5" y="313"/>
                    <a:pt x="11" y="323"/>
                    <a:pt x="18" y="332"/>
                  </a:cubicBezTo>
                  <a:cubicBezTo>
                    <a:pt x="150" y="304"/>
                    <a:pt x="250" y="186"/>
                    <a:pt x="250" y="45"/>
                  </a:cubicBezTo>
                  <a:cubicBezTo>
                    <a:pt x="250" y="30"/>
                    <a:pt x="248" y="15"/>
                    <a:pt x="246" y="0"/>
                  </a:cubicBezTo>
                  <a:cubicBezTo>
                    <a:pt x="237" y="6"/>
                    <a:pt x="226" y="12"/>
                    <a:pt x="216" y="18"/>
                  </a:cubicBezTo>
                  <a:cubicBezTo>
                    <a:pt x="217" y="27"/>
                    <a:pt x="218" y="36"/>
                    <a:pt x="218" y="45"/>
                  </a:cubicBezTo>
                  <a:close/>
                </a:path>
              </a:pathLst>
            </a:custGeom>
            <a:solidFill>
              <a:srgbClr val="93C47D"/>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16" name="Google Shape;116;g3a8fa397a04_1_63"/>
            <p:cNvSpPr/>
            <p:nvPr/>
          </p:nvSpPr>
          <p:spPr>
            <a:xfrm rot="-2700000">
              <a:off x="4874704" y="1604373"/>
              <a:ext cx="1579339" cy="1765685"/>
            </a:xfrm>
            <a:custGeom>
              <a:rect b="b" l="l" r="r" t="t"/>
              <a:pathLst>
                <a:path extrusionOk="0" h="285" w="254">
                  <a:moveTo>
                    <a:pt x="53" y="133"/>
                  </a:moveTo>
                  <a:cubicBezTo>
                    <a:pt x="37" y="142"/>
                    <a:pt x="18" y="148"/>
                    <a:pt x="0" y="149"/>
                  </a:cubicBezTo>
                  <a:cubicBezTo>
                    <a:pt x="1" y="198"/>
                    <a:pt x="14" y="244"/>
                    <a:pt x="36" y="285"/>
                  </a:cubicBezTo>
                  <a:cubicBezTo>
                    <a:pt x="159" y="264"/>
                    <a:pt x="254" y="157"/>
                    <a:pt x="254" y="27"/>
                  </a:cubicBezTo>
                  <a:cubicBezTo>
                    <a:pt x="254" y="18"/>
                    <a:pt x="253" y="9"/>
                    <a:pt x="252" y="0"/>
                  </a:cubicBezTo>
                  <a:cubicBezTo>
                    <a:pt x="211" y="21"/>
                    <a:pt x="164" y="34"/>
                    <a:pt x="114" y="34"/>
                  </a:cubicBezTo>
                  <a:cubicBezTo>
                    <a:pt x="112" y="74"/>
                    <a:pt x="90" y="111"/>
                    <a:pt x="53" y="133"/>
                  </a:cubicBezTo>
                  <a:close/>
                </a:path>
              </a:pathLst>
            </a:custGeom>
            <a:solidFill>
              <a:srgbClr val="93C47D"/>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sz="1053"/>
            </a:p>
          </p:txBody>
        </p:sp>
        <p:sp>
          <p:nvSpPr>
            <p:cNvPr id="117" name="Google Shape;117;g3a8fa397a04_1_63"/>
            <p:cNvSpPr txBox="1"/>
            <p:nvPr/>
          </p:nvSpPr>
          <p:spPr>
            <a:xfrm rot="5400000">
              <a:off x="4960966" y="2290154"/>
              <a:ext cx="1496100" cy="563100"/>
            </a:xfrm>
            <a:prstGeom prst="rect">
              <a:avLst/>
            </a:prstGeom>
            <a:solidFill>
              <a:srgbClr val="93C47D"/>
            </a:solidFill>
            <a:ln>
              <a:noFill/>
            </a:ln>
          </p:spPr>
          <p:txBody>
            <a:bodyPr anchorCtr="0" anchor="ctr" bIns="68825" lIns="68825" spcFirstLastPara="1" rIns="68825" wrap="square" tIns="688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Share Evidence </a:t>
              </a:r>
              <a:endParaRPr sz="752">
                <a:solidFill>
                  <a:srgbClr val="FFFFFF"/>
                </a:solidFill>
                <a:latin typeface="Roboto"/>
                <a:ea typeface="Roboto"/>
                <a:cs typeface="Roboto"/>
                <a:sym typeface="Roboto"/>
              </a:endParaRPr>
            </a:p>
          </p:txBody>
        </p:sp>
      </p:grpSp>
      <p:grpSp>
        <p:nvGrpSpPr>
          <p:cNvPr id="118" name="Google Shape;118;g3a8fa397a04_1_63"/>
          <p:cNvGrpSpPr/>
          <p:nvPr/>
        </p:nvGrpSpPr>
        <p:grpSpPr>
          <a:xfrm>
            <a:off x="3133691" y="-76672"/>
            <a:ext cx="1998703" cy="2062734"/>
            <a:chOff x="3026172" y="-76686"/>
            <a:chExt cx="2655026" cy="2740082"/>
          </a:xfrm>
        </p:grpSpPr>
        <p:sp>
          <p:nvSpPr>
            <p:cNvPr id="119" name="Google Shape;119;g3a8fa397a04_1_63"/>
            <p:cNvSpPr/>
            <p:nvPr/>
          </p:nvSpPr>
          <p:spPr>
            <a:xfrm rot="-2700000">
              <a:off x="3282650" y="444474"/>
              <a:ext cx="2142068" cy="1612705"/>
            </a:xfrm>
            <a:custGeom>
              <a:rect b="b" l="l" r="r" t="t"/>
              <a:pathLst>
                <a:path extrusionOk="0" h="249" w="331">
                  <a:moveTo>
                    <a:pt x="45" y="32"/>
                  </a:moveTo>
                  <a:cubicBezTo>
                    <a:pt x="174" y="32"/>
                    <a:pt x="281" y="126"/>
                    <a:pt x="302" y="249"/>
                  </a:cubicBezTo>
                  <a:cubicBezTo>
                    <a:pt x="312" y="244"/>
                    <a:pt x="322" y="238"/>
                    <a:pt x="331" y="231"/>
                  </a:cubicBezTo>
                  <a:cubicBezTo>
                    <a:pt x="303" y="99"/>
                    <a:pt x="186" y="0"/>
                    <a:pt x="45" y="0"/>
                  </a:cubicBezTo>
                  <a:cubicBezTo>
                    <a:pt x="29" y="0"/>
                    <a:pt x="14" y="1"/>
                    <a:pt x="0" y="3"/>
                  </a:cubicBezTo>
                  <a:cubicBezTo>
                    <a:pt x="6" y="13"/>
                    <a:pt x="12" y="23"/>
                    <a:pt x="17" y="33"/>
                  </a:cubicBezTo>
                  <a:cubicBezTo>
                    <a:pt x="26" y="32"/>
                    <a:pt x="36" y="32"/>
                    <a:pt x="45" y="32"/>
                  </a:cubicBezTo>
                  <a:close/>
                </a:path>
              </a:pathLst>
            </a:custGeom>
            <a:solidFill>
              <a:srgbClr val="FF0000"/>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20" name="Google Shape;120;g3a8fa397a04_1_63"/>
            <p:cNvSpPr/>
            <p:nvPr/>
          </p:nvSpPr>
          <p:spPr>
            <a:xfrm rot="-2700000">
              <a:off x="3599956" y="695260"/>
              <a:ext cx="1767975" cy="1573496"/>
            </a:xfrm>
            <a:custGeom>
              <a:rect b="b" l="l" r="r" t="t"/>
              <a:pathLst>
                <a:path extrusionOk="0" h="253" w="285">
                  <a:moveTo>
                    <a:pt x="28" y="0"/>
                  </a:moveTo>
                  <a:cubicBezTo>
                    <a:pt x="19" y="0"/>
                    <a:pt x="9" y="0"/>
                    <a:pt x="0" y="1"/>
                  </a:cubicBezTo>
                  <a:cubicBezTo>
                    <a:pt x="22" y="43"/>
                    <a:pt x="34" y="90"/>
                    <a:pt x="35" y="140"/>
                  </a:cubicBezTo>
                  <a:cubicBezTo>
                    <a:pt x="74" y="142"/>
                    <a:pt x="112" y="163"/>
                    <a:pt x="133" y="200"/>
                  </a:cubicBezTo>
                  <a:cubicBezTo>
                    <a:pt x="143" y="217"/>
                    <a:pt x="148" y="235"/>
                    <a:pt x="149" y="253"/>
                  </a:cubicBezTo>
                  <a:cubicBezTo>
                    <a:pt x="198" y="252"/>
                    <a:pt x="244" y="239"/>
                    <a:pt x="285" y="217"/>
                  </a:cubicBezTo>
                  <a:cubicBezTo>
                    <a:pt x="264" y="94"/>
                    <a:pt x="157" y="0"/>
                    <a:pt x="28" y="0"/>
                  </a:cubicBezTo>
                  <a:close/>
                </a:path>
              </a:pathLst>
            </a:custGeom>
            <a:solidFill>
              <a:srgbClr val="FF0000"/>
            </a:solidFill>
            <a:ln cap="flat" cmpd="sng" w="9525">
              <a:solidFill>
                <a:srgbClr val="FFFFFF"/>
              </a:solidFill>
              <a:prstDash val="solid"/>
              <a:miter lim="8000"/>
              <a:headEnd len="sm" w="sm" type="none"/>
              <a:tailEnd len="sm" w="sm" type="none"/>
            </a:ln>
          </p:spPr>
          <p:txBody>
            <a:bodyPr anchorCtr="0" anchor="t" bIns="34400" lIns="68825" spcFirstLastPara="1" rIns="68825" wrap="square" tIns="34400">
              <a:noAutofit/>
            </a:bodyPr>
            <a:lstStyle/>
            <a:p>
              <a:pPr indent="0" lvl="0" marL="0" rtl="0" algn="l">
                <a:spcBef>
                  <a:spcPts val="0"/>
                </a:spcBef>
                <a:spcAft>
                  <a:spcPts val="0"/>
                </a:spcAft>
                <a:buNone/>
              </a:pPr>
              <a:r>
                <a:t/>
              </a:r>
              <a:endParaRPr/>
            </a:p>
          </p:txBody>
        </p:sp>
        <p:sp>
          <p:nvSpPr>
            <p:cNvPr id="121" name="Google Shape;121;g3a8fa397a04_1_63"/>
            <p:cNvSpPr txBox="1"/>
            <p:nvPr/>
          </p:nvSpPr>
          <p:spPr>
            <a:xfrm>
              <a:off x="3823913" y="1153125"/>
              <a:ext cx="1496100" cy="563100"/>
            </a:xfrm>
            <a:prstGeom prst="rect">
              <a:avLst/>
            </a:prstGeom>
            <a:solidFill>
              <a:srgbClr val="FF0000"/>
            </a:solidFill>
            <a:ln>
              <a:noFill/>
            </a:ln>
          </p:spPr>
          <p:txBody>
            <a:bodyPr anchorCtr="0" anchor="ctr" bIns="68825" lIns="68825" spcFirstLastPara="1" rIns="68825" wrap="square" tIns="688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Problem Statement </a:t>
              </a:r>
              <a:endParaRPr sz="752">
                <a:solidFill>
                  <a:srgbClr val="FFFFFF"/>
                </a:solidFill>
                <a:latin typeface="Roboto"/>
                <a:ea typeface="Roboto"/>
                <a:cs typeface="Roboto"/>
                <a:sym typeface="Roboto"/>
              </a:endParaRPr>
            </a:p>
          </p:txBody>
        </p:sp>
      </p:grpSp>
      <p:cxnSp>
        <p:nvCxnSpPr>
          <p:cNvPr id="122" name="Google Shape;122;g3a8fa397a04_1_63"/>
          <p:cNvCxnSpPr/>
          <p:nvPr/>
        </p:nvCxnSpPr>
        <p:spPr>
          <a:xfrm flipH="1" rot="10800000">
            <a:off x="4524850" y="696425"/>
            <a:ext cx="2790900" cy="21300"/>
          </a:xfrm>
          <a:prstGeom prst="straightConnector1">
            <a:avLst/>
          </a:prstGeom>
          <a:noFill/>
          <a:ln cap="flat" cmpd="sng" w="9525">
            <a:solidFill>
              <a:schemeClr val="dk2"/>
            </a:solidFill>
            <a:prstDash val="solid"/>
            <a:round/>
            <a:headEnd len="med" w="med" type="triangle"/>
            <a:tailEnd len="med" w="med" type="triangle"/>
          </a:ln>
        </p:spPr>
      </p:cxnSp>
      <p:sp>
        <p:nvSpPr>
          <p:cNvPr id="123" name="Google Shape;123;g3a8fa397a04_1_63"/>
          <p:cNvSpPr txBox="1"/>
          <p:nvPr/>
        </p:nvSpPr>
        <p:spPr>
          <a:xfrm>
            <a:off x="6363218" y="248787"/>
            <a:ext cx="1025100" cy="529200"/>
          </a:xfrm>
          <a:prstGeom prst="rect">
            <a:avLst/>
          </a:prstGeom>
          <a:solidFill>
            <a:srgbClr val="EE381A"/>
          </a:solidFill>
          <a:ln>
            <a:noFill/>
          </a:ln>
        </p:spPr>
        <p:txBody>
          <a:bodyPr anchorCtr="0" anchor="t" bIns="68825" lIns="68825" spcFirstLastPara="1" rIns="68825" wrap="square" tIns="68825">
            <a:noAutofit/>
          </a:bodyPr>
          <a:lstStyle/>
          <a:p>
            <a:pPr indent="0" lvl="0" marL="0" rtl="0" algn="l">
              <a:spcBef>
                <a:spcPts val="0"/>
              </a:spcBef>
              <a:spcAft>
                <a:spcPts val="0"/>
              </a:spcAft>
              <a:buNone/>
            </a:pPr>
            <a:r>
              <a:rPr b="1" lang="en" sz="1200">
                <a:solidFill>
                  <a:schemeClr val="dk1"/>
                </a:solidFill>
              </a:rPr>
              <a:t>Define - Task 1</a:t>
            </a:r>
            <a:r>
              <a:rPr b="1" lang="en" sz="1355">
                <a:solidFill>
                  <a:schemeClr val="dk2"/>
                </a:solidFill>
              </a:rPr>
              <a:t>  </a:t>
            </a:r>
            <a:r>
              <a:rPr lang="en" sz="1355">
                <a:solidFill>
                  <a:schemeClr val="dk2"/>
                </a:solidFill>
              </a:rPr>
              <a:t> </a:t>
            </a:r>
            <a:endParaRPr sz="1355">
              <a:solidFill>
                <a:schemeClr val="dk2"/>
              </a:solidFill>
            </a:endParaRPr>
          </a:p>
        </p:txBody>
      </p:sp>
      <p:cxnSp>
        <p:nvCxnSpPr>
          <p:cNvPr id="124" name="Google Shape;124;g3a8fa397a04_1_63"/>
          <p:cNvCxnSpPr/>
          <p:nvPr/>
        </p:nvCxnSpPr>
        <p:spPr>
          <a:xfrm flipH="1" rot="10800000">
            <a:off x="5082459" y="1286118"/>
            <a:ext cx="1275600" cy="2100"/>
          </a:xfrm>
          <a:prstGeom prst="straightConnector1">
            <a:avLst/>
          </a:prstGeom>
          <a:noFill/>
          <a:ln cap="flat" cmpd="sng" w="7175">
            <a:solidFill>
              <a:schemeClr val="dk2"/>
            </a:solidFill>
            <a:prstDash val="solid"/>
            <a:round/>
            <a:headEnd len="med" w="med" type="triangle"/>
            <a:tailEnd len="med" w="med" type="triangle"/>
          </a:ln>
        </p:spPr>
      </p:cxnSp>
      <p:sp>
        <p:nvSpPr>
          <p:cNvPr id="125" name="Google Shape;125;g3a8fa397a04_1_63"/>
          <p:cNvSpPr txBox="1"/>
          <p:nvPr/>
        </p:nvSpPr>
        <p:spPr>
          <a:xfrm>
            <a:off x="6363225" y="1022625"/>
            <a:ext cx="1275600" cy="582900"/>
          </a:xfrm>
          <a:prstGeom prst="rect">
            <a:avLst/>
          </a:prstGeom>
          <a:solidFill>
            <a:srgbClr val="B6D7A8"/>
          </a:solidFill>
          <a:ln>
            <a:noFill/>
          </a:ln>
        </p:spPr>
        <p:txBody>
          <a:bodyPr anchorCtr="0" anchor="t" bIns="68825" lIns="68825" spcFirstLastPara="1" rIns="68825" wrap="square" tIns="68825">
            <a:noAutofit/>
          </a:bodyPr>
          <a:lstStyle/>
          <a:p>
            <a:pPr indent="0" lvl="0" marL="0" rtl="0" algn="l">
              <a:spcBef>
                <a:spcPts val="0"/>
              </a:spcBef>
              <a:spcAft>
                <a:spcPts val="0"/>
              </a:spcAft>
              <a:buNone/>
            </a:pPr>
            <a:r>
              <a:rPr b="1" lang="en" sz="1200">
                <a:solidFill>
                  <a:schemeClr val="dk1"/>
                </a:solidFill>
              </a:rPr>
              <a:t>Create/ Apply - Task 2 </a:t>
            </a:r>
            <a:r>
              <a:rPr lang="en" sz="1355">
                <a:solidFill>
                  <a:schemeClr val="dk1"/>
                </a:solidFill>
              </a:rPr>
              <a:t> </a:t>
            </a:r>
            <a:endParaRPr sz="1355">
              <a:solidFill>
                <a:schemeClr val="dk1"/>
              </a:solidFill>
            </a:endParaRPr>
          </a:p>
        </p:txBody>
      </p:sp>
      <p:cxnSp>
        <p:nvCxnSpPr>
          <p:cNvPr id="126" name="Google Shape;126;g3a8fa397a04_1_63"/>
          <p:cNvCxnSpPr/>
          <p:nvPr/>
        </p:nvCxnSpPr>
        <p:spPr>
          <a:xfrm flipH="1" rot="10800000">
            <a:off x="5132655" y="2880451"/>
            <a:ext cx="1275600" cy="2100"/>
          </a:xfrm>
          <a:prstGeom prst="straightConnector1">
            <a:avLst/>
          </a:prstGeom>
          <a:noFill/>
          <a:ln cap="flat" cmpd="sng" w="7175">
            <a:solidFill>
              <a:schemeClr val="dk2"/>
            </a:solidFill>
            <a:prstDash val="solid"/>
            <a:round/>
            <a:headEnd len="med" w="med" type="triangle"/>
            <a:tailEnd len="med" w="med" type="triangle"/>
          </a:ln>
        </p:spPr>
      </p:cxnSp>
      <p:sp>
        <p:nvSpPr>
          <p:cNvPr id="127" name="Google Shape;127;g3a8fa397a04_1_63"/>
          <p:cNvSpPr txBox="1"/>
          <p:nvPr/>
        </p:nvSpPr>
        <p:spPr>
          <a:xfrm>
            <a:off x="6408276" y="2655324"/>
            <a:ext cx="1025100" cy="529200"/>
          </a:xfrm>
          <a:prstGeom prst="rect">
            <a:avLst/>
          </a:prstGeom>
          <a:solidFill>
            <a:srgbClr val="4185F2"/>
          </a:solidFill>
          <a:ln>
            <a:noFill/>
          </a:ln>
        </p:spPr>
        <p:txBody>
          <a:bodyPr anchorCtr="0" anchor="t" bIns="68825" lIns="68825" spcFirstLastPara="1" rIns="68825" wrap="square" tIns="68825">
            <a:noAutofit/>
          </a:bodyPr>
          <a:lstStyle/>
          <a:p>
            <a:pPr indent="0" lvl="0" marL="0" rtl="0" algn="l">
              <a:spcBef>
                <a:spcPts val="0"/>
              </a:spcBef>
              <a:spcAft>
                <a:spcPts val="0"/>
              </a:spcAft>
              <a:buNone/>
            </a:pPr>
            <a:r>
              <a:rPr b="1" lang="en" sz="1200">
                <a:solidFill>
                  <a:schemeClr val="dk1"/>
                </a:solidFill>
              </a:rPr>
              <a:t>Reflect - Plenary</a:t>
            </a:r>
            <a:r>
              <a:rPr lang="en" sz="1200">
                <a:solidFill>
                  <a:schemeClr val="dk1"/>
                </a:solidFill>
              </a:rPr>
              <a:t> </a:t>
            </a:r>
            <a:endParaRPr sz="1200">
              <a:solidFill>
                <a:schemeClr val="dk1"/>
              </a:solidFill>
            </a:endParaRPr>
          </a:p>
        </p:txBody>
      </p:sp>
      <p:cxnSp>
        <p:nvCxnSpPr>
          <p:cNvPr id="128" name="Google Shape;128;g3a8fa397a04_1_63"/>
          <p:cNvCxnSpPr/>
          <p:nvPr/>
        </p:nvCxnSpPr>
        <p:spPr>
          <a:xfrm flipH="1" rot="10800000">
            <a:off x="1807957" y="1433337"/>
            <a:ext cx="1275600" cy="2100"/>
          </a:xfrm>
          <a:prstGeom prst="straightConnector1">
            <a:avLst/>
          </a:prstGeom>
          <a:noFill/>
          <a:ln cap="flat" cmpd="sng" w="7175">
            <a:solidFill>
              <a:schemeClr val="dk2"/>
            </a:solidFill>
            <a:prstDash val="solid"/>
            <a:round/>
            <a:headEnd len="med" w="med" type="triangle"/>
            <a:tailEnd len="med" w="med" type="triangle"/>
          </a:ln>
        </p:spPr>
      </p:cxnSp>
      <p:sp>
        <p:nvSpPr>
          <p:cNvPr id="129" name="Google Shape;129;g3a8fa397a04_1_63"/>
          <p:cNvSpPr txBox="1"/>
          <p:nvPr/>
        </p:nvSpPr>
        <p:spPr>
          <a:xfrm>
            <a:off x="915101" y="1255432"/>
            <a:ext cx="1025100" cy="529200"/>
          </a:xfrm>
          <a:prstGeom prst="rect">
            <a:avLst/>
          </a:prstGeom>
          <a:solidFill>
            <a:srgbClr val="FF9900"/>
          </a:solidFill>
          <a:ln>
            <a:noFill/>
          </a:ln>
        </p:spPr>
        <p:txBody>
          <a:bodyPr anchorCtr="0" anchor="t" bIns="68825" lIns="68825" spcFirstLastPara="1" rIns="68825" wrap="square" tIns="68825">
            <a:noAutofit/>
          </a:bodyPr>
          <a:lstStyle/>
          <a:p>
            <a:pPr indent="0" lvl="0" marL="0" rtl="0" algn="l">
              <a:spcBef>
                <a:spcPts val="0"/>
              </a:spcBef>
              <a:spcAft>
                <a:spcPts val="0"/>
              </a:spcAft>
              <a:buNone/>
            </a:pPr>
            <a:r>
              <a:rPr b="1" lang="en" sz="1200">
                <a:solidFill>
                  <a:schemeClr val="dk1"/>
                </a:solidFill>
              </a:rPr>
              <a:t>Explore - Task 1 &amp; 2</a:t>
            </a:r>
            <a:r>
              <a:rPr lang="en" sz="1355">
                <a:solidFill>
                  <a:schemeClr val="dk2"/>
                </a:solidFill>
              </a:rPr>
              <a:t> </a:t>
            </a:r>
            <a:endParaRPr sz="1355">
              <a:solidFill>
                <a:schemeClr val="dk2"/>
              </a:solidFill>
            </a:endParaRPr>
          </a:p>
        </p:txBody>
      </p:sp>
      <p:sp>
        <p:nvSpPr>
          <p:cNvPr id="130" name="Google Shape;130;g3a8fa397a04_1_63"/>
          <p:cNvSpPr txBox="1"/>
          <p:nvPr/>
        </p:nvSpPr>
        <p:spPr>
          <a:xfrm>
            <a:off x="5455175" y="204450"/>
            <a:ext cx="4812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31" name="Google Shape;131;g3a8fa397a04_1_63"/>
          <p:cNvSpPr txBox="1"/>
          <p:nvPr/>
        </p:nvSpPr>
        <p:spPr>
          <a:xfrm>
            <a:off x="-53475" y="-3750"/>
            <a:ext cx="3231600" cy="593100"/>
          </a:xfrm>
          <a:prstGeom prst="rect">
            <a:avLst/>
          </a:prstGeom>
          <a:solidFill>
            <a:srgbClr val="00B05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Computational </a:t>
            </a:r>
            <a:r>
              <a:rPr b="1" lang="en">
                <a:solidFill>
                  <a:schemeClr val="dk1"/>
                </a:solidFill>
              </a:rPr>
              <a:t> thinking  Cycle</a:t>
            </a:r>
            <a:r>
              <a:rPr lang="en">
                <a:solidFill>
                  <a:schemeClr val="dk1"/>
                </a:solidFill>
              </a:rPr>
              <a:t>  </a:t>
            </a:r>
            <a:r>
              <a:rPr lang="en" sz="1800">
                <a:solidFill>
                  <a:schemeClr val="dk2"/>
                </a:solidFill>
              </a:rPr>
              <a:t> </a:t>
            </a:r>
            <a:endParaRPr sz="1800">
              <a:solidFill>
                <a:schemeClr val="dk2"/>
              </a:solidFill>
            </a:endParaRPr>
          </a:p>
        </p:txBody>
      </p:sp>
      <p:sp>
        <p:nvSpPr>
          <p:cNvPr id="132" name="Google Shape;132;g3a8fa397a04_1_63"/>
          <p:cNvSpPr txBox="1"/>
          <p:nvPr/>
        </p:nvSpPr>
        <p:spPr>
          <a:xfrm>
            <a:off x="3745675" y="1605425"/>
            <a:ext cx="1003200" cy="418800"/>
          </a:xfrm>
          <a:prstGeom prst="rect">
            <a:avLst/>
          </a:prstGeom>
          <a:noFill/>
          <a:ln>
            <a:noFill/>
          </a:ln>
        </p:spPr>
        <p:txBody>
          <a:bodyPr anchorCtr="0" anchor="t" bIns="68825" lIns="68825" spcFirstLastPara="1" rIns="68825" wrap="square" tIns="68825">
            <a:noAutofit/>
          </a:bodyPr>
          <a:lstStyle/>
          <a:p>
            <a:pPr indent="0" lvl="0" marL="0" rtl="0" algn="ctr">
              <a:spcBef>
                <a:spcPts val="0"/>
              </a:spcBef>
              <a:spcAft>
                <a:spcPts val="0"/>
              </a:spcAft>
              <a:buNone/>
            </a:pPr>
            <a:r>
              <a:rPr b="1" lang="en" sz="1200">
                <a:solidFill>
                  <a:schemeClr val="dk1"/>
                </a:solidFill>
              </a:rPr>
              <a:t> CS THINKING </a:t>
            </a:r>
            <a:endParaRPr b="1" sz="1200">
              <a:solidFill>
                <a:schemeClr val="dk1"/>
              </a:solidFill>
            </a:endParaRPr>
          </a:p>
        </p:txBody>
      </p:sp>
      <p:sp>
        <p:nvSpPr>
          <p:cNvPr id="133" name="Google Shape;133;g3a8fa397a04_1_63"/>
          <p:cNvSpPr txBox="1"/>
          <p:nvPr/>
        </p:nvSpPr>
        <p:spPr>
          <a:xfrm>
            <a:off x="251275" y="4047250"/>
            <a:ext cx="3843300" cy="1096200"/>
          </a:xfrm>
          <a:prstGeom prst="rect">
            <a:avLst/>
          </a:prstGeom>
          <a:solidFill>
            <a:srgbClr val="EFEFEF"/>
          </a:solidFill>
          <a:ln cap="flat" cmpd="sng" w="28575">
            <a:solidFill>
              <a:srgbClr val="00B050"/>
            </a:solidFill>
            <a:prstDash val="solid"/>
            <a:round/>
            <a:headEnd len="sm" w="sm" type="none"/>
            <a:tailEnd len="sm" w="sm" type="none"/>
          </a:ln>
        </p:spPr>
        <p:txBody>
          <a:bodyPr anchorCtr="0" anchor="t" bIns="0" lIns="91425" spcFirstLastPara="1" rIns="91425"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Learning Intentions: </a:t>
            </a:r>
            <a:endParaRPr b="1">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sz="1300">
                <a:solidFill>
                  <a:schemeClr val="dk1"/>
                </a:solidFill>
              </a:rPr>
              <a:t>We are learning the architecture of GPU and its functioning and role of GPU in everyday life.</a:t>
            </a:r>
            <a:endParaRPr sz="1600">
              <a:solidFill>
                <a:schemeClr val="dk1"/>
              </a:solidFill>
            </a:endParaRPr>
          </a:p>
        </p:txBody>
      </p:sp>
      <p:sp>
        <p:nvSpPr>
          <p:cNvPr id="134" name="Google Shape;134;g3a8fa397a04_1_63"/>
          <p:cNvSpPr txBox="1"/>
          <p:nvPr/>
        </p:nvSpPr>
        <p:spPr>
          <a:xfrm>
            <a:off x="4248100" y="4047250"/>
            <a:ext cx="3754500" cy="1096200"/>
          </a:xfrm>
          <a:prstGeom prst="rect">
            <a:avLst/>
          </a:prstGeom>
          <a:solidFill>
            <a:srgbClr val="EFEFEF"/>
          </a:solidFill>
          <a:ln cap="flat" cmpd="sng" w="28575">
            <a:solidFill>
              <a:srgbClr val="00B050"/>
            </a:solidFill>
            <a:prstDash val="solid"/>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Success Criteria:</a:t>
            </a:r>
            <a:endParaRPr b="1" i="0" sz="1400" u="none" cap="none" strike="noStrike">
              <a:solidFill>
                <a:schemeClr val="dk1"/>
              </a:solidFill>
              <a:latin typeface="Arial"/>
              <a:ea typeface="Arial"/>
              <a:cs typeface="Arial"/>
              <a:sym typeface="Arial"/>
            </a:endParaRPr>
          </a:p>
          <a:p>
            <a:pPr indent="-311150" lvl="0" marL="457200" rtl="0" algn="l">
              <a:spcBef>
                <a:spcPts val="0"/>
              </a:spcBef>
              <a:spcAft>
                <a:spcPts val="0"/>
              </a:spcAft>
              <a:buClr>
                <a:schemeClr val="dk1"/>
              </a:buClr>
              <a:buSzPts val="1300"/>
              <a:buChar char="●"/>
            </a:pPr>
            <a:r>
              <a:rPr lang="en" sz="1300">
                <a:solidFill>
                  <a:schemeClr val="dk1"/>
                </a:solidFill>
              </a:rPr>
              <a:t>I can explain the </a:t>
            </a:r>
            <a:r>
              <a:rPr lang="en" sz="1300">
                <a:solidFill>
                  <a:schemeClr val="dk1"/>
                </a:solidFill>
              </a:rPr>
              <a:t>architecture of GPU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 can explain the functioning and role of GPU in everyday life.</a:t>
            </a:r>
            <a:endParaRPr b="1">
              <a:solidFill>
                <a:schemeClr val="dk1"/>
              </a:solidFill>
            </a:endParaRPr>
          </a:p>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 </a:t>
            </a:r>
            <a:endParaRPr b="1">
              <a:solidFill>
                <a:schemeClr val="dk1"/>
              </a:solidFill>
            </a:endParaRPr>
          </a:p>
          <a:p>
            <a:pPr indent="0" lvl="0" marL="0" rtl="0" algn="l">
              <a:spcBef>
                <a:spcPts val="0"/>
              </a:spcBef>
              <a:spcAft>
                <a:spcPts val="0"/>
              </a:spcAft>
              <a:buClr>
                <a:schemeClr val="dk1"/>
              </a:buClr>
              <a:buSzPts val="1100"/>
              <a:buFont typeface="Arial"/>
              <a:buNone/>
            </a:pPr>
            <a:br>
              <a:rPr i="1" lang="en" sz="1100">
                <a:solidFill>
                  <a:schemeClr val="dk1"/>
                </a:solidFill>
              </a:rPr>
            </a:br>
            <a:endParaRPr i="1" sz="1100">
              <a:solidFill>
                <a:schemeClr val="dk1"/>
              </a:solidFill>
            </a:endParaRPr>
          </a:p>
          <a:p>
            <a:pPr indent="0" lvl="0" marL="0" rtl="0" algn="l">
              <a:spcBef>
                <a:spcPts val="0"/>
              </a:spcBef>
              <a:spcAft>
                <a:spcPts val="0"/>
              </a:spcAft>
              <a:buClr>
                <a:schemeClr val="dk1"/>
              </a:buClr>
              <a:buSzPts val="1100"/>
              <a:buFont typeface="Arial"/>
              <a:buNone/>
            </a:pPr>
            <a:r>
              <a:t/>
            </a:r>
            <a:endParaRPr i="1" sz="1100">
              <a:solidFill>
                <a:schemeClr val="dk1"/>
              </a:solidFill>
            </a:endParaRPr>
          </a:p>
          <a:p>
            <a:pPr indent="0" lvl="0" marL="0" marR="0" rtl="0" algn="l">
              <a:lnSpc>
                <a:spcPct val="100000"/>
              </a:lnSpc>
              <a:spcBef>
                <a:spcPts val="0"/>
              </a:spcBef>
              <a:spcAft>
                <a:spcPts val="0"/>
              </a:spcAft>
              <a:buClr>
                <a:srgbClr val="000000"/>
              </a:buClr>
              <a:buSzPts val="1000"/>
              <a:buFont typeface="Arial"/>
              <a:buNone/>
            </a:pPr>
            <a:r>
              <a:t/>
            </a:r>
            <a:endParaRPr sz="1100">
              <a:solidFill>
                <a:schemeClr val="dk2"/>
              </a:solidFill>
            </a:endParaRPr>
          </a:p>
        </p:txBody>
      </p:sp>
      <p:pic>
        <p:nvPicPr>
          <p:cNvPr id="135" name="Google Shape;135;g3a8fa397a04_1_63"/>
          <p:cNvPicPr preferRelativeResize="0"/>
          <p:nvPr/>
        </p:nvPicPr>
        <p:blipFill>
          <a:blip r:embed="rId3">
            <a:alphaModFix/>
          </a:blip>
          <a:stretch>
            <a:fillRect/>
          </a:stretch>
        </p:blipFill>
        <p:spPr>
          <a:xfrm>
            <a:off x="8386400" y="14713"/>
            <a:ext cx="731725" cy="1003682"/>
          </a:xfrm>
          <a:prstGeom prst="rect">
            <a:avLst/>
          </a:prstGeom>
          <a:noFill/>
          <a:ln cap="flat" cmpd="sng" w="19050">
            <a:solidFill>
              <a:schemeClr val="accent1"/>
            </a:solidFill>
            <a:prstDash val="solid"/>
            <a:round/>
            <a:headEnd len="sm" w="sm" type="none"/>
            <a:tailEnd len="sm" w="sm" type="none"/>
          </a:ln>
        </p:spPr>
      </p:pic>
      <p:pic>
        <p:nvPicPr>
          <p:cNvPr id="136" name="Google Shape;136;g3a8fa397a04_1_63"/>
          <p:cNvPicPr preferRelativeResize="0"/>
          <p:nvPr/>
        </p:nvPicPr>
        <p:blipFill>
          <a:blip r:embed="rId4">
            <a:alphaModFix/>
          </a:blip>
          <a:stretch>
            <a:fillRect/>
          </a:stretch>
        </p:blipFill>
        <p:spPr>
          <a:xfrm>
            <a:off x="8386400" y="1088175"/>
            <a:ext cx="773100" cy="1330751"/>
          </a:xfrm>
          <a:prstGeom prst="rect">
            <a:avLst/>
          </a:prstGeom>
          <a:noFill/>
          <a:ln>
            <a:noFill/>
          </a:ln>
        </p:spPr>
      </p:pic>
      <p:pic>
        <p:nvPicPr>
          <p:cNvPr id="137" name="Google Shape;137;g3a8fa397a04_1_63"/>
          <p:cNvPicPr preferRelativeResize="0"/>
          <p:nvPr/>
        </p:nvPicPr>
        <p:blipFill>
          <a:blip r:embed="rId5">
            <a:alphaModFix/>
          </a:blip>
          <a:stretch>
            <a:fillRect/>
          </a:stretch>
        </p:blipFill>
        <p:spPr>
          <a:xfrm>
            <a:off x="8378527" y="2488692"/>
            <a:ext cx="778900" cy="1276347"/>
          </a:xfrm>
          <a:prstGeom prst="rect">
            <a:avLst/>
          </a:prstGeom>
          <a:noFill/>
          <a:ln cap="flat" cmpd="sng" w="19050">
            <a:solidFill>
              <a:schemeClr val="accent1"/>
            </a:solidFill>
            <a:prstDash val="solid"/>
            <a:round/>
            <a:headEnd len="sm" w="sm" type="none"/>
            <a:tailEnd len="sm" w="sm" type="none"/>
          </a:ln>
        </p:spPr>
      </p:pic>
      <p:pic>
        <p:nvPicPr>
          <p:cNvPr id="138" name="Google Shape;138;g3a8fa397a04_1_63"/>
          <p:cNvPicPr preferRelativeResize="0"/>
          <p:nvPr/>
        </p:nvPicPr>
        <p:blipFill>
          <a:blip r:embed="rId6">
            <a:alphaModFix/>
          </a:blip>
          <a:stretch>
            <a:fillRect/>
          </a:stretch>
        </p:blipFill>
        <p:spPr>
          <a:xfrm>
            <a:off x="8362825" y="3765062"/>
            <a:ext cx="778892" cy="1258225"/>
          </a:xfrm>
          <a:prstGeom prst="rect">
            <a:avLst/>
          </a:prstGeom>
          <a:noFill/>
          <a:ln>
            <a:noFill/>
          </a:ln>
        </p:spPr>
      </p:pic>
      <p:pic>
        <p:nvPicPr>
          <p:cNvPr id="139" name="Google Shape;139;g3a8fa397a04_1_63"/>
          <p:cNvPicPr preferRelativeResize="0"/>
          <p:nvPr/>
        </p:nvPicPr>
        <p:blipFill rotWithShape="1">
          <a:blip r:embed="rId7">
            <a:alphaModFix/>
          </a:blip>
          <a:srcRect b="80427" l="0" r="3278" t="0"/>
          <a:stretch/>
        </p:blipFill>
        <p:spPr>
          <a:xfrm>
            <a:off x="3512436" y="187951"/>
            <a:ext cx="469934" cy="322546"/>
          </a:xfrm>
          <a:prstGeom prst="rect">
            <a:avLst/>
          </a:prstGeom>
          <a:noFill/>
          <a:ln>
            <a:noFill/>
          </a:ln>
        </p:spPr>
      </p:pic>
      <p:sp>
        <p:nvSpPr>
          <p:cNvPr id="140" name="Google Shape;140;g3a8fa397a04_1_63"/>
          <p:cNvSpPr txBox="1"/>
          <p:nvPr/>
        </p:nvSpPr>
        <p:spPr>
          <a:xfrm>
            <a:off x="3910443" y="221389"/>
            <a:ext cx="100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POINT</a:t>
            </a:r>
            <a:endParaRPr b="1" i="0" sz="1400" u="none" cap="none" strike="noStrike">
              <a:solidFill>
                <a:srgbClr val="000000"/>
              </a:solidFill>
              <a:latin typeface="Arial"/>
              <a:ea typeface="Arial"/>
              <a:cs typeface="Arial"/>
              <a:sym typeface="Arial"/>
            </a:endParaRPr>
          </a:p>
        </p:txBody>
      </p:sp>
      <p:pic>
        <p:nvPicPr>
          <p:cNvPr id="141" name="Google Shape;141;g3a8fa397a04_1_63"/>
          <p:cNvPicPr preferRelativeResize="0"/>
          <p:nvPr/>
        </p:nvPicPr>
        <p:blipFill rotWithShape="1">
          <a:blip r:embed="rId7">
            <a:alphaModFix/>
          </a:blip>
          <a:srcRect b="53204" l="0" r="3278" t="22537"/>
          <a:stretch/>
        </p:blipFill>
        <p:spPr>
          <a:xfrm>
            <a:off x="5812897" y="1717106"/>
            <a:ext cx="469935" cy="399787"/>
          </a:xfrm>
          <a:prstGeom prst="rect">
            <a:avLst/>
          </a:prstGeom>
          <a:noFill/>
          <a:ln>
            <a:noFill/>
          </a:ln>
        </p:spPr>
      </p:pic>
      <p:sp>
        <p:nvSpPr>
          <p:cNvPr id="142" name="Google Shape;142;g3a8fa397a04_1_63"/>
          <p:cNvSpPr txBox="1"/>
          <p:nvPr/>
        </p:nvSpPr>
        <p:spPr>
          <a:xfrm>
            <a:off x="6213133" y="1768202"/>
            <a:ext cx="1359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EVIDENCE</a:t>
            </a:r>
            <a:endParaRPr b="1" i="0" sz="1400" u="none" cap="none" strike="noStrike">
              <a:solidFill>
                <a:srgbClr val="000000"/>
              </a:solidFill>
              <a:latin typeface="Arial"/>
              <a:ea typeface="Arial"/>
              <a:cs typeface="Arial"/>
              <a:sym typeface="Arial"/>
            </a:endParaRPr>
          </a:p>
        </p:txBody>
      </p:sp>
      <p:pic>
        <p:nvPicPr>
          <p:cNvPr id="143" name="Google Shape;143;g3a8fa397a04_1_63"/>
          <p:cNvPicPr preferRelativeResize="0"/>
          <p:nvPr/>
        </p:nvPicPr>
        <p:blipFill rotWithShape="1">
          <a:blip r:embed="rId7">
            <a:alphaModFix/>
          </a:blip>
          <a:srcRect b="27636" l="3279" r="-9" t="48105"/>
          <a:stretch/>
        </p:blipFill>
        <p:spPr>
          <a:xfrm>
            <a:off x="1036408" y="2116904"/>
            <a:ext cx="469935" cy="399787"/>
          </a:xfrm>
          <a:prstGeom prst="rect">
            <a:avLst/>
          </a:prstGeom>
          <a:noFill/>
          <a:ln>
            <a:noFill/>
          </a:ln>
        </p:spPr>
      </p:pic>
      <p:sp>
        <p:nvSpPr>
          <p:cNvPr id="144" name="Google Shape;144;g3a8fa397a04_1_63"/>
          <p:cNvSpPr txBox="1"/>
          <p:nvPr/>
        </p:nvSpPr>
        <p:spPr>
          <a:xfrm>
            <a:off x="1448283" y="2176202"/>
            <a:ext cx="1464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EXPLANATION</a:t>
            </a:r>
            <a:endParaRPr b="1" i="0" sz="1400" u="none" cap="none" strike="noStrike">
              <a:solidFill>
                <a:srgbClr val="000000"/>
              </a:solidFill>
              <a:latin typeface="Arial"/>
              <a:ea typeface="Arial"/>
              <a:cs typeface="Arial"/>
              <a:sym typeface="Arial"/>
            </a:endParaRPr>
          </a:p>
        </p:txBody>
      </p:sp>
      <p:pic>
        <p:nvPicPr>
          <p:cNvPr id="145" name="Google Shape;145;g3a8fa397a04_1_63"/>
          <p:cNvPicPr preferRelativeResize="0"/>
          <p:nvPr/>
        </p:nvPicPr>
        <p:blipFill rotWithShape="1">
          <a:blip r:embed="rId7">
            <a:alphaModFix/>
          </a:blip>
          <a:srcRect b="0" l="0" r="3278" t="75356"/>
          <a:stretch/>
        </p:blipFill>
        <p:spPr>
          <a:xfrm>
            <a:off x="3745672" y="3401401"/>
            <a:ext cx="469934" cy="406127"/>
          </a:xfrm>
          <a:prstGeom prst="rect">
            <a:avLst/>
          </a:prstGeom>
          <a:noFill/>
          <a:ln>
            <a:noFill/>
          </a:ln>
        </p:spPr>
      </p:pic>
      <p:sp>
        <p:nvSpPr>
          <p:cNvPr id="146" name="Google Shape;146;g3a8fa397a04_1_63"/>
          <p:cNvSpPr txBox="1"/>
          <p:nvPr/>
        </p:nvSpPr>
        <p:spPr>
          <a:xfrm>
            <a:off x="4168039" y="3467397"/>
            <a:ext cx="100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LINK</a:t>
            </a:r>
            <a:endParaRPr b="1" i="0" sz="1400" u="none" cap="none" strike="noStrike">
              <a:solidFill>
                <a:srgbClr val="000000"/>
              </a:solidFill>
              <a:latin typeface="Arial"/>
              <a:ea typeface="Arial"/>
              <a:cs typeface="Arial"/>
              <a:sym typeface="Arial"/>
            </a:endParaRPr>
          </a:p>
        </p:txBody>
      </p:sp>
      <p:sp>
        <p:nvSpPr>
          <p:cNvPr id="147" name="Google Shape;147;g3a8fa397a04_1_63"/>
          <p:cNvSpPr/>
          <p:nvPr/>
        </p:nvSpPr>
        <p:spPr>
          <a:xfrm>
            <a:off x="204525" y="2655325"/>
            <a:ext cx="2929200" cy="1220700"/>
          </a:xfrm>
          <a:prstGeom prst="roundRect">
            <a:avLst>
              <a:gd fmla="val 16667" name="adj"/>
            </a:avLst>
          </a:prstGeom>
          <a:noFill/>
          <a:ln cap="flat" cmpd="sng" w="5425">
            <a:solidFill>
              <a:srgbClr val="00B050"/>
            </a:solidFill>
            <a:prstDash val="solid"/>
            <a:round/>
            <a:headEnd len="sm" w="sm" type="none"/>
            <a:tailEnd len="sm" w="sm" type="none"/>
          </a:ln>
        </p:spPr>
        <p:txBody>
          <a:bodyPr anchorCtr="0" anchor="ctr" bIns="69275" lIns="69275" spcFirstLastPara="1" rIns="69275" wrap="square" tIns="69275">
            <a:noAutofit/>
          </a:bodyPr>
          <a:lstStyle/>
          <a:p>
            <a:pPr indent="0" lvl="0" marL="0" marR="0" rtl="0" algn="l">
              <a:spcBef>
                <a:spcPts val="0"/>
              </a:spcBef>
              <a:spcAft>
                <a:spcPts val="0"/>
              </a:spcAft>
              <a:buNone/>
            </a:pPr>
            <a:r>
              <a:rPr b="1" lang="en" sz="1200">
                <a:solidFill>
                  <a:schemeClr val="dk1"/>
                </a:solidFill>
              </a:rPr>
              <a:t>IDU /TOK Link : </a:t>
            </a:r>
            <a:r>
              <a:rPr lang="en">
                <a:solidFill>
                  <a:schemeClr val="dk1"/>
                </a:solidFill>
              </a:rPr>
              <a:t>Natural Sciences (e.g., scientific simulation) and the Human Sciences (e.g., AI/Deep Learning) relation with Architecture of GPU/CPU</a:t>
            </a:r>
            <a:endParaRPr>
              <a:solidFill>
                <a:schemeClr val="dk1"/>
              </a:solidFill>
            </a:endParaRPr>
          </a:p>
          <a:p>
            <a:pPr indent="0" lvl="0" marL="0" marR="0" rtl="0" algn="l">
              <a:spcBef>
                <a:spcPts val="0"/>
              </a:spcBef>
              <a:spcAft>
                <a:spcPts val="0"/>
              </a:spcAft>
              <a:buNone/>
            </a:pPr>
            <a:r>
              <a:t/>
            </a:r>
            <a:endParaRPr b="1" sz="1200">
              <a:solidFill>
                <a:schemeClr val="dk1"/>
              </a:solidFill>
            </a:endParaRPr>
          </a:p>
        </p:txBody>
      </p:sp>
      <p:grpSp>
        <p:nvGrpSpPr>
          <p:cNvPr id="148" name="Google Shape;148;g3a8fa397a04_1_63"/>
          <p:cNvGrpSpPr/>
          <p:nvPr/>
        </p:nvGrpSpPr>
        <p:grpSpPr>
          <a:xfrm>
            <a:off x="145825" y="2253625"/>
            <a:ext cx="702600" cy="401700"/>
            <a:chOff x="5774050" y="132500"/>
            <a:chExt cx="702600" cy="401700"/>
          </a:xfrm>
        </p:grpSpPr>
        <p:sp>
          <p:nvSpPr>
            <p:cNvPr id="149" name="Google Shape;149;g3a8fa397a04_1_63"/>
            <p:cNvSpPr/>
            <p:nvPr/>
          </p:nvSpPr>
          <p:spPr>
            <a:xfrm>
              <a:off x="5774050" y="132500"/>
              <a:ext cx="702600" cy="401700"/>
            </a:xfrm>
            <a:prstGeom prst="cloudCallout">
              <a:avLst>
                <a:gd fmla="val -20833" name="adj1"/>
                <a:gd fmla="val 62500" name="adj2"/>
              </a:avLst>
            </a:prstGeom>
            <a:solidFill>
              <a:srgbClr val="EE381A"/>
            </a:solidFill>
            <a:ln cap="flat" cmpd="sng" w="107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g3a8fa397a04_1_63"/>
            <p:cNvSpPr txBox="1"/>
            <p:nvPr/>
          </p:nvSpPr>
          <p:spPr>
            <a:xfrm>
              <a:off x="5885950" y="153800"/>
              <a:ext cx="4788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FFFFFF"/>
                  </a:solidFill>
                </a:rPr>
                <a:t>H.O.T</a:t>
              </a:r>
              <a:endParaRPr b="1" sz="400">
                <a:solidFill>
                  <a:srgbClr val="FFFFFF"/>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a8fa397a04_1_173"/>
          <p:cNvSpPr/>
          <p:nvPr/>
        </p:nvSpPr>
        <p:spPr>
          <a:xfrm>
            <a:off x="16225" y="8125"/>
            <a:ext cx="9144000" cy="673500"/>
          </a:xfrm>
          <a:prstGeom prst="rect">
            <a:avLst/>
          </a:prstGeom>
          <a:solidFill>
            <a:schemeClr val="lt1"/>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rgbClr val="00B050"/>
                </a:solidFill>
              </a:rPr>
              <a:t>Task 1: Inquiring and Exploring - {THINK -PAIR -SHARE}</a:t>
            </a:r>
            <a:r>
              <a:rPr b="1" lang="en" sz="2200">
                <a:solidFill>
                  <a:srgbClr val="3C78D8"/>
                </a:solidFill>
              </a:rPr>
              <a:t> </a:t>
            </a:r>
            <a:endParaRPr b="1" sz="2200">
              <a:solidFill>
                <a:srgbClr val="3C78D8"/>
              </a:solidFill>
            </a:endParaRPr>
          </a:p>
        </p:txBody>
      </p:sp>
      <p:grpSp>
        <p:nvGrpSpPr>
          <p:cNvPr id="156" name="Google Shape;156;g3a8fa397a04_1_173"/>
          <p:cNvGrpSpPr/>
          <p:nvPr/>
        </p:nvGrpSpPr>
        <p:grpSpPr>
          <a:xfrm>
            <a:off x="6822625" y="681625"/>
            <a:ext cx="2337300" cy="4461932"/>
            <a:chOff x="6822925" y="681625"/>
            <a:chExt cx="2337300" cy="4461932"/>
          </a:xfrm>
        </p:grpSpPr>
        <p:sp>
          <p:nvSpPr>
            <p:cNvPr id="157" name="Google Shape;157;g3a8fa397a04_1_173"/>
            <p:cNvSpPr/>
            <p:nvPr/>
          </p:nvSpPr>
          <p:spPr>
            <a:xfrm>
              <a:off x="6822925" y="1256499"/>
              <a:ext cx="2337300" cy="1295700"/>
            </a:xfrm>
            <a:prstGeom prst="rect">
              <a:avLst/>
            </a:prstGeom>
            <a:solidFill>
              <a:srgbClr val="EA9999"/>
            </a:solidFill>
            <a:ln cap="flat" cmpd="sng" w="2857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434343"/>
                </a:solidFill>
              </a:endParaRPr>
            </a:p>
          </p:txBody>
        </p:sp>
        <p:sp>
          <p:nvSpPr>
            <p:cNvPr id="158" name="Google Shape;158;g3a8fa397a04_1_173"/>
            <p:cNvSpPr/>
            <p:nvPr/>
          </p:nvSpPr>
          <p:spPr>
            <a:xfrm>
              <a:off x="6822925" y="3847857"/>
              <a:ext cx="2337300" cy="1295700"/>
            </a:xfrm>
            <a:prstGeom prst="rect">
              <a:avLst/>
            </a:prstGeom>
            <a:solidFill>
              <a:srgbClr val="B6D7A8"/>
            </a:solidFill>
            <a:ln cap="flat" cmpd="sng" w="2857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434343"/>
                </a:solidFill>
              </a:endParaRPr>
            </a:p>
            <a:p>
              <a:pPr indent="0" lvl="0" marL="0" rtl="0" algn="l">
                <a:spcBef>
                  <a:spcPts val="0"/>
                </a:spcBef>
                <a:spcAft>
                  <a:spcPts val="0"/>
                </a:spcAft>
                <a:buNone/>
              </a:pPr>
              <a:r>
                <a:t/>
              </a:r>
              <a:endParaRPr>
                <a:solidFill>
                  <a:srgbClr val="434343"/>
                </a:solidFill>
              </a:endParaRPr>
            </a:p>
          </p:txBody>
        </p:sp>
        <p:sp>
          <p:nvSpPr>
            <p:cNvPr id="159" name="Google Shape;159;g3a8fa397a04_1_173"/>
            <p:cNvSpPr/>
            <p:nvPr/>
          </p:nvSpPr>
          <p:spPr>
            <a:xfrm>
              <a:off x="6822925" y="2552178"/>
              <a:ext cx="2337300" cy="1295700"/>
            </a:xfrm>
            <a:prstGeom prst="rect">
              <a:avLst/>
            </a:prstGeom>
            <a:solidFill>
              <a:srgbClr val="FFE599"/>
            </a:solidFill>
            <a:ln cap="flat" cmpd="sng" w="2857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434343"/>
                </a:solidFill>
              </a:endParaRPr>
            </a:p>
          </p:txBody>
        </p:sp>
        <p:sp>
          <p:nvSpPr>
            <p:cNvPr id="160" name="Google Shape;160;g3a8fa397a04_1_173"/>
            <p:cNvSpPr/>
            <p:nvPr/>
          </p:nvSpPr>
          <p:spPr>
            <a:xfrm>
              <a:off x="6822925" y="681625"/>
              <a:ext cx="2337300" cy="555900"/>
            </a:xfrm>
            <a:prstGeom prst="rect">
              <a:avLst/>
            </a:prstGeom>
            <a:solidFill>
              <a:schemeClr val="lt1"/>
            </a:solidFill>
            <a:ln cap="flat" cmpd="sng" w="2857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3C78D8"/>
                  </a:solidFill>
                </a:rPr>
                <a:t>Progress check (3 mins)</a:t>
              </a:r>
              <a:endParaRPr/>
            </a:p>
          </p:txBody>
        </p:sp>
      </p:grpSp>
      <p:sp>
        <p:nvSpPr>
          <p:cNvPr id="161" name="Google Shape;161;g3a8fa397a04_1_173"/>
          <p:cNvSpPr txBox="1"/>
          <p:nvPr/>
        </p:nvSpPr>
        <p:spPr>
          <a:xfrm>
            <a:off x="25" y="681625"/>
            <a:ext cx="6822600" cy="7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br>
              <a:rPr lang="en" sz="1500">
                <a:solidFill>
                  <a:schemeClr val="dk2"/>
                </a:solidFill>
              </a:rPr>
            </a:br>
            <a:endParaRPr sz="1500">
              <a:solidFill>
                <a:schemeClr val="dk2"/>
              </a:solidFill>
            </a:endParaRPr>
          </a:p>
        </p:txBody>
      </p:sp>
      <p:pic>
        <p:nvPicPr>
          <p:cNvPr id="162" name="Google Shape;162;g3a8fa397a04_1_173"/>
          <p:cNvPicPr preferRelativeResize="0"/>
          <p:nvPr/>
        </p:nvPicPr>
        <p:blipFill rotWithShape="1">
          <a:blip r:embed="rId3">
            <a:alphaModFix/>
          </a:blip>
          <a:srcRect b="0" l="5013" r="7336" t="3530"/>
          <a:stretch/>
        </p:blipFill>
        <p:spPr>
          <a:xfrm>
            <a:off x="8357950" y="8125"/>
            <a:ext cx="629265" cy="673500"/>
          </a:xfrm>
          <a:prstGeom prst="rect">
            <a:avLst/>
          </a:prstGeom>
          <a:noFill/>
          <a:ln>
            <a:noFill/>
          </a:ln>
        </p:spPr>
      </p:pic>
      <p:sp>
        <p:nvSpPr>
          <p:cNvPr id="163" name="Google Shape;163;g3a8fa397a04_1_173"/>
          <p:cNvSpPr txBox="1"/>
          <p:nvPr/>
        </p:nvSpPr>
        <p:spPr>
          <a:xfrm>
            <a:off x="113125" y="747025"/>
            <a:ext cx="6596400" cy="858900"/>
          </a:xfrm>
          <a:prstGeom prst="rect">
            <a:avLst/>
          </a:prstGeom>
          <a:solidFill>
            <a:srgbClr val="EFEFE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F0000"/>
                </a:solidFill>
              </a:rPr>
              <a:t>Learning Menu</a:t>
            </a:r>
            <a:endParaRPr b="1" sz="1800">
              <a:solidFill>
                <a:srgbClr val="FF0000"/>
              </a:solidFill>
            </a:endParaRPr>
          </a:p>
          <a:p>
            <a:pPr indent="0" lvl="0" marL="0" rtl="0" algn="l">
              <a:spcBef>
                <a:spcPts val="0"/>
              </a:spcBef>
              <a:spcAft>
                <a:spcPts val="0"/>
              </a:spcAft>
              <a:buNone/>
            </a:pPr>
            <a:r>
              <a:rPr b="1" lang="en">
                <a:solidFill>
                  <a:schemeClr val="dk1"/>
                </a:solidFill>
              </a:rPr>
              <a:t>Choose one of the following computational concept : (Students to work in pair)</a:t>
            </a:r>
            <a:endParaRPr b="1">
              <a:solidFill>
                <a:schemeClr val="dk1"/>
              </a:solidFill>
            </a:endParaRPr>
          </a:p>
          <a:p>
            <a:pPr indent="0" lvl="0" marL="0" rtl="0" algn="ctr">
              <a:spcBef>
                <a:spcPts val="0"/>
              </a:spcBef>
              <a:spcAft>
                <a:spcPts val="0"/>
              </a:spcAft>
              <a:buNone/>
            </a:pPr>
            <a:r>
              <a:t/>
            </a:r>
            <a:endParaRPr b="1" sz="1800">
              <a:solidFill>
                <a:schemeClr val="dk1"/>
              </a:solidFill>
            </a:endParaRPr>
          </a:p>
        </p:txBody>
      </p:sp>
      <p:pic>
        <p:nvPicPr>
          <p:cNvPr id="164" name="Google Shape;164;g3a8fa397a04_1_173"/>
          <p:cNvPicPr preferRelativeResize="0"/>
          <p:nvPr/>
        </p:nvPicPr>
        <p:blipFill>
          <a:blip r:embed="rId4">
            <a:alphaModFix/>
          </a:blip>
          <a:stretch>
            <a:fillRect/>
          </a:stretch>
        </p:blipFill>
        <p:spPr>
          <a:xfrm>
            <a:off x="6108375" y="3051300"/>
            <a:ext cx="661063" cy="1193964"/>
          </a:xfrm>
          <a:prstGeom prst="rect">
            <a:avLst/>
          </a:prstGeom>
          <a:noFill/>
          <a:ln cap="flat" cmpd="sng" w="19050">
            <a:solidFill>
              <a:schemeClr val="accent1"/>
            </a:solidFill>
            <a:prstDash val="solid"/>
            <a:round/>
            <a:headEnd len="sm" w="sm" type="none"/>
            <a:tailEnd len="sm" w="sm" type="none"/>
          </a:ln>
        </p:spPr>
      </p:pic>
      <p:grpSp>
        <p:nvGrpSpPr>
          <p:cNvPr id="165" name="Google Shape;165;g3a8fa397a04_1_173"/>
          <p:cNvGrpSpPr/>
          <p:nvPr/>
        </p:nvGrpSpPr>
        <p:grpSpPr>
          <a:xfrm>
            <a:off x="6822925" y="681625"/>
            <a:ext cx="2337300" cy="4461932"/>
            <a:chOff x="6822925" y="681625"/>
            <a:chExt cx="2337300" cy="4461932"/>
          </a:xfrm>
        </p:grpSpPr>
        <p:sp>
          <p:nvSpPr>
            <p:cNvPr id="166" name="Google Shape;166;g3a8fa397a04_1_173"/>
            <p:cNvSpPr/>
            <p:nvPr/>
          </p:nvSpPr>
          <p:spPr>
            <a:xfrm>
              <a:off x="6822925" y="1256499"/>
              <a:ext cx="2337300" cy="1295700"/>
            </a:xfrm>
            <a:prstGeom prst="rect">
              <a:avLst/>
            </a:prstGeom>
            <a:solidFill>
              <a:srgbClr val="EA9999"/>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34343"/>
                  </a:solidFill>
                </a:rPr>
                <a:t>3-4</a:t>
              </a:r>
              <a:r>
                <a:rPr lang="en">
                  <a:solidFill>
                    <a:srgbClr val="434343"/>
                  </a:solidFill>
                </a:rPr>
                <a:t> </a:t>
              </a:r>
              <a:endParaRPr>
                <a:solidFill>
                  <a:srgbClr val="434343"/>
                </a:solidFill>
              </a:endParaRPr>
            </a:p>
            <a:p>
              <a:pPr indent="0" lvl="0" marL="0" rtl="0" algn="l">
                <a:spcBef>
                  <a:spcPts val="0"/>
                </a:spcBef>
                <a:spcAft>
                  <a:spcPts val="0"/>
                </a:spcAft>
                <a:buNone/>
              </a:pPr>
              <a:r>
                <a:t/>
              </a:r>
              <a:endParaRPr sz="1200">
                <a:solidFill>
                  <a:srgbClr val="434343"/>
                </a:solidFill>
              </a:endParaRPr>
            </a:p>
          </p:txBody>
        </p:sp>
        <p:sp>
          <p:nvSpPr>
            <p:cNvPr id="167" name="Google Shape;167;g3a8fa397a04_1_173"/>
            <p:cNvSpPr/>
            <p:nvPr/>
          </p:nvSpPr>
          <p:spPr>
            <a:xfrm>
              <a:off x="6822925" y="3847857"/>
              <a:ext cx="2337300" cy="1295700"/>
            </a:xfrm>
            <a:prstGeom prst="rect">
              <a:avLst/>
            </a:prstGeom>
            <a:solidFill>
              <a:srgbClr val="B6D7A8"/>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34343"/>
                  </a:solidFill>
                </a:rPr>
                <a:t>7-8</a:t>
              </a:r>
              <a:endParaRPr b="1">
                <a:solidFill>
                  <a:srgbClr val="434343"/>
                </a:solidFill>
              </a:endParaRPr>
            </a:p>
            <a:p>
              <a:pPr indent="0" lvl="0" marL="0" rtl="0" algn="l">
                <a:spcBef>
                  <a:spcPts val="0"/>
                </a:spcBef>
                <a:spcAft>
                  <a:spcPts val="0"/>
                </a:spcAft>
                <a:buNone/>
              </a:pPr>
              <a:r>
                <a:t/>
              </a:r>
              <a:endParaRPr sz="1200">
                <a:solidFill>
                  <a:srgbClr val="434343"/>
                </a:solidFill>
              </a:endParaRPr>
            </a:p>
            <a:p>
              <a:pPr indent="0" lvl="0" marL="0" rtl="0" algn="l">
                <a:spcBef>
                  <a:spcPts val="0"/>
                </a:spcBef>
                <a:spcAft>
                  <a:spcPts val="0"/>
                </a:spcAft>
                <a:buNone/>
              </a:pPr>
              <a:r>
                <a:t/>
              </a:r>
              <a:endParaRPr>
                <a:solidFill>
                  <a:srgbClr val="434343"/>
                </a:solidFill>
              </a:endParaRPr>
            </a:p>
          </p:txBody>
        </p:sp>
        <p:sp>
          <p:nvSpPr>
            <p:cNvPr id="168" name="Google Shape;168;g3a8fa397a04_1_173"/>
            <p:cNvSpPr/>
            <p:nvPr/>
          </p:nvSpPr>
          <p:spPr>
            <a:xfrm>
              <a:off x="6822925" y="2552178"/>
              <a:ext cx="2337300" cy="1295700"/>
            </a:xfrm>
            <a:prstGeom prst="rect">
              <a:avLst/>
            </a:prstGeom>
            <a:solidFill>
              <a:srgbClr val="FFE599"/>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34343"/>
                  </a:solidFill>
                </a:rPr>
                <a:t>5-6</a:t>
              </a:r>
              <a:endParaRPr b="1">
                <a:solidFill>
                  <a:srgbClr val="434343"/>
                </a:solidFill>
              </a:endParaRPr>
            </a:p>
            <a:p>
              <a:pPr indent="0" lvl="0" marL="0" rtl="0" algn="l">
                <a:spcBef>
                  <a:spcPts val="0"/>
                </a:spcBef>
                <a:spcAft>
                  <a:spcPts val="0"/>
                </a:spcAft>
                <a:buNone/>
              </a:pPr>
              <a:r>
                <a:t/>
              </a:r>
              <a:endParaRPr sz="1200">
                <a:solidFill>
                  <a:srgbClr val="434343"/>
                </a:solidFill>
              </a:endParaRPr>
            </a:p>
          </p:txBody>
        </p:sp>
        <p:sp>
          <p:nvSpPr>
            <p:cNvPr id="169" name="Google Shape;169;g3a8fa397a04_1_173"/>
            <p:cNvSpPr/>
            <p:nvPr/>
          </p:nvSpPr>
          <p:spPr>
            <a:xfrm>
              <a:off x="6822925" y="681625"/>
              <a:ext cx="2337300" cy="555900"/>
            </a:xfrm>
            <a:prstGeom prst="rect">
              <a:avLst/>
            </a:prstGeom>
            <a:solidFill>
              <a:schemeClr val="lt1"/>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B050"/>
                  </a:solidFill>
                </a:rPr>
                <a:t>Progress check with rubrics </a:t>
              </a:r>
              <a:r>
                <a:rPr b="1" lang="en" sz="1800">
                  <a:solidFill>
                    <a:srgbClr val="3C78D8"/>
                  </a:solidFill>
                </a:rPr>
                <a:t> </a:t>
              </a:r>
              <a:endParaRPr/>
            </a:p>
          </p:txBody>
        </p:sp>
      </p:grpSp>
      <p:grpSp>
        <p:nvGrpSpPr>
          <p:cNvPr id="170" name="Google Shape;170;g3a8fa397a04_1_173"/>
          <p:cNvGrpSpPr/>
          <p:nvPr/>
        </p:nvGrpSpPr>
        <p:grpSpPr>
          <a:xfrm>
            <a:off x="612325" y="1617250"/>
            <a:ext cx="5316672" cy="1561798"/>
            <a:chOff x="0" y="0"/>
            <a:chExt cx="5292327" cy="1276500"/>
          </a:xfrm>
        </p:grpSpPr>
        <p:sp>
          <p:nvSpPr>
            <p:cNvPr id="171" name="Google Shape;171;g3a8fa397a04_1_173"/>
            <p:cNvSpPr/>
            <p:nvPr/>
          </p:nvSpPr>
          <p:spPr>
            <a:xfrm>
              <a:off x="0" y="0"/>
              <a:ext cx="1720200" cy="1276500"/>
            </a:xfrm>
            <a:prstGeom prst="roundRect">
              <a:avLst>
                <a:gd fmla="val 5000" name="adj"/>
              </a:avLst>
            </a:prstGeom>
            <a:solidFill>
              <a:srgbClr val="EE381A"/>
            </a:solidFill>
            <a:ln cap="flat" cmpd="sng" w="22850">
              <a:solidFill>
                <a:srgbClr val="FFFFFF"/>
              </a:solidFill>
              <a:prstDash val="solid"/>
              <a:round/>
              <a:headEnd len="sm" w="sm" type="none"/>
              <a:tailEnd len="sm" w="sm" type="none"/>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72" name="Google Shape;172;g3a8fa397a04_1_173"/>
            <p:cNvSpPr txBox="1"/>
            <p:nvPr/>
          </p:nvSpPr>
          <p:spPr>
            <a:xfrm rot="-5400000">
              <a:off x="-351299" y="351433"/>
              <a:ext cx="1046700" cy="344100"/>
            </a:xfrm>
            <a:prstGeom prst="rect">
              <a:avLst/>
            </a:prstGeom>
            <a:noFill/>
            <a:ln>
              <a:noFill/>
            </a:ln>
          </p:spPr>
          <p:txBody>
            <a:bodyPr anchorCtr="0" anchor="t" bIns="0" lIns="0" spcFirstLastPara="1" rIns="55975" wrap="square" tIns="43175">
              <a:noAutofit/>
            </a:bodyPr>
            <a:lstStyle/>
            <a:p>
              <a:pPr indent="0" lvl="0" marL="0" marR="0" rtl="0" algn="r">
                <a:lnSpc>
                  <a:spcPct val="90000"/>
                </a:lnSpc>
                <a:spcBef>
                  <a:spcPts val="0"/>
                </a:spcBef>
                <a:spcAft>
                  <a:spcPts val="0"/>
                </a:spcAft>
                <a:buClr>
                  <a:srgbClr val="000000"/>
                </a:buClr>
                <a:buSzPts val="1259"/>
                <a:buFont typeface="Arial"/>
                <a:buNone/>
              </a:pPr>
              <a:r>
                <a:rPr b="1" lang="en" sz="1259">
                  <a:solidFill>
                    <a:srgbClr val="FFFFFF"/>
                  </a:solidFill>
                </a:rPr>
                <a:t>Table </a:t>
              </a:r>
              <a:r>
                <a:rPr b="1" i="0" lang="en" sz="1259" u="none" cap="none" strike="noStrike">
                  <a:solidFill>
                    <a:srgbClr val="FFFFFF"/>
                  </a:solidFill>
                  <a:latin typeface="Arial"/>
                  <a:ea typeface="Arial"/>
                  <a:cs typeface="Arial"/>
                  <a:sym typeface="Arial"/>
                </a:rPr>
                <a:t> 1</a:t>
              </a:r>
              <a:endParaRPr b="1" i="0" sz="1259" u="none" cap="none" strike="noStrike">
                <a:solidFill>
                  <a:srgbClr val="FFFFFF"/>
                </a:solidFill>
                <a:latin typeface="Arial"/>
                <a:ea typeface="Arial"/>
                <a:cs typeface="Arial"/>
                <a:sym typeface="Arial"/>
              </a:endParaRPr>
            </a:p>
          </p:txBody>
        </p:sp>
        <p:sp>
          <p:nvSpPr>
            <p:cNvPr id="173" name="Google Shape;173;g3a8fa397a04_1_173"/>
            <p:cNvSpPr/>
            <p:nvPr/>
          </p:nvSpPr>
          <p:spPr>
            <a:xfrm>
              <a:off x="344016" y="0"/>
              <a:ext cx="1281600" cy="1276500"/>
            </a:xfrm>
            <a:prstGeom prst="rect">
              <a:avLst/>
            </a:prstGeom>
            <a:noFill/>
            <a:ln>
              <a:noFill/>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74" name="Google Shape;174;g3a8fa397a04_1_173"/>
            <p:cNvSpPr txBox="1"/>
            <p:nvPr/>
          </p:nvSpPr>
          <p:spPr>
            <a:xfrm>
              <a:off x="344016" y="0"/>
              <a:ext cx="1281600" cy="1276500"/>
            </a:xfrm>
            <a:prstGeom prst="rect">
              <a:avLst/>
            </a:prstGeom>
            <a:noFill/>
            <a:ln>
              <a:noFill/>
            </a:ln>
          </p:spPr>
          <p:txBody>
            <a:bodyPr anchorCtr="0" anchor="t" bIns="0" lIns="0" spcFirstLastPara="1" rIns="0" wrap="square" tIns="33900">
              <a:noAutofit/>
            </a:bodyPr>
            <a:lstStyle/>
            <a:p>
              <a:pPr indent="0" lvl="0" marL="0" marR="0" rtl="0" algn="l">
                <a:lnSpc>
                  <a:spcPct val="90000"/>
                </a:lnSpc>
                <a:spcBef>
                  <a:spcPts val="0"/>
                </a:spcBef>
                <a:spcAft>
                  <a:spcPts val="0"/>
                </a:spcAft>
                <a:buClr>
                  <a:srgbClr val="000000"/>
                </a:buClr>
                <a:buSzPts val="989"/>
                <a:buFont typeface="Arial"/>
                <a:buNone/>
              </a:pPr>
              <a:r>
                <a:t/>
              </a:r>
              <a:endParaRPr b="0" i="0" sz="989" u="none" cap="none" strike="noStrike">
                <a:solidFill>
                  <a:srgbClr val="000000"/>
                </a:solidFill>
                <a:latin typeface="Arial"/>
                <a:ea typeface="Arial"/>
                <a:cs typeface="Arial"/>
                <a:sym typeface="Arial"/>
              </a:endParaRPr>
            </a:p>
          </p:txBody>
        </p:sp>
        <p:sp>
          <p:nvSpPr>
            <p:cNvPr id="175" name="Google Shape;175;g3a8fa397a04_1_173"/>
            <p:cNvSpPr/>
            <p:nvPr/>
          </p:nvSpPr>
          <p:spPr>
            <a:xfrm>
              <a:off x="1780687" y="0"/>
              <a:ext cx="1720200" cy="1276500"/>
            </a:xfrm>
            <a:prstGeom prst="roundRect">
              <a:avLst>
                <a:gd fmla="val 5000" name="adj"/>
              </a:avLst>
            </a:prstGeom>
            <a:solidFill>
              <a:srgbClr val="FFC000"/>
            </a:solidFill>
            <a:ln cap="flat" cmpd="sng" w="22850">
              <a:solidFill>
                <a:srgbClr val="FFFFFF"/>
              </a:solidFill>
              <a:prstDash val="solid"/>
              <a:round/>
              <a:headEnd len="sm" w="sm" type="none"/>
              <a:tailEnd len="sm" w="sm" type="none"/>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76" name="Google Shape;176;g3a8fa397a04_1_173"/>
            <p:cNvSpPr txBox="1"/>
            <p:nvPr/>
          </p:nvSpPr>
          <p:spPr>
            <a:xfrm rot="-5400000">
              <a:off x="1429387" y="351433"/>
              <a:ext cx="1046700" cy="344100"/>
            </a:xfrm>
            <a:prstGeom prst="rect">
              <a:avLst/>
            </a:prstGeom>
            <a:noFill/>
            <a:ln>
              <a:noFill/>
            </a:ln>
          </p:spPr>
          <p:txBody>
            <a:bodyPr anchorCtr="0" anchor="t" bIns="0" lIns="0" spcFirstLastPara="1" rIns="55975" wrap="square" tIns="43175">
              <a:noAutofit/>
            </a:bodyPr>
            <a:lstStyle/>
            <a:p>
              <a:pPr indent="0" lvl="0" marL="0" marR="0" rtl="0" algn="r">
                <a:lnSpc>
                  <a:spcPct val="90000"/>
                </a:lnSpc>
                <a:spcBef>
                  <a:spcPts val="0"/>
                </a:spcBef>
                <a:spcAft>
                  <a:spcPts val="0"/>
                </a:spcAft>
                <a:buClr>
                  <a:srgbClr val="000000"/>
                </a:buClr>
                <a:buSzPts val="1259"/>
                <a:buFont typeface="Arial"/>
                <a:buNone/>
              </a:pPr>
              <a:r>
                <a:rPr b="1" lang="en" sz="1259">
                  <a:solidFill>
                    <a:srgbClr val="FFFFFF"/>
                  </a:solidFill>
                </a:rPr>
                <a:t>Table </a:t>
              </a:r>
              <a:r>
                <a:rPr b="1" i="0" lang="en" sz="1259" u="none" cap="none" strike="noStrike">
                  <a:solidFill>
                    <a:srgbClr val="FFFFFF"/>
                  </a:solidFill>
                  <a:latin typeface="Arial"/>
                  <a:ea typeface="Arial"/>
                  <a:cs typeface="Arial"/>
                  <a:sym typeface="Arial"/>
                </a:rPr>
                <a:t>2</a:t>
              </a:r>
              <a:endParaRPr b="1" i="0" sz="1259" u="none" cap="none" strike="noStrike">
                <a:solidFill>
                  <a:srgbClr val="FFFFFF"/>
                </a:solidFill>
                <a:latin typeface="Arial"/>
                <a:ea typeface="Arial"/>
                <a:cs typeface="Arial"/>
                <a:sym typeface="Arial"/>
              </a:endParaRPr>
            </a:p>
          </p:txBody>
        </p:sp>
        <p:sp>
          <p:nvSpPr>
            <p:cNvPr id="177" name="Google Shape;177;g3a8fa397a04_1_173"/>
            <p:cNvSpPr/>
            <p:nvPr/>
          </p:nvSpPr>
          <p:spPr>
            <a:xfrm rot="5400000">
              <a:off x="1695482" y="965387"/>
              <a:ext cx="187610" cy="258012"/>
            </a:xfrm>
            <a:prstGeom prst="flowChartExtract">
              <a:avLst/>
            </a:prstGeom>
            <a:solidFill>
              <a:srgbClr val="0070C0"/>
            </a:solidFill>
            <a:ln cap="flat" cmpd="sng" w="22850">
              <a:solidFill>
                <a:srgbClr val="4185F2"/>
              </a:solidFill>
              <a:prstDash val="solid"/>
              <a:round/>
              <a:headEnd len="sm" w="sm" type="none"/>
              <a:tailEnd len="sm" w="sm" type="none"/>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78" name="Google Shape;178;g3a8fa397a04_1_173"/>
            <p:cNvSpPr/>
            <p:nvPr/>
          </p:nvSpPr>
          <p:spPr>
            <a:xfrm>
              <a:off x="2124704" y="0"/>
              <a:ext cx="1281600" cy="1276500"/>
            </a:xfrm>
            <a:prstGeom prst="rect">
              <a:avLst/>
            </a:prstGeom>
            <a:noFill/>
            <a:ln>
              <a:noFill/>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79" name="Google Shape;179;g3a8fa397a04_1_173"/>
            <p:cNvSpPr txBox="1"/>
            <p:nvPr/>
          </p:nvSpPr>
          <p:spPr>
            <a:xfrm>
              <a:off x="2051488" y="79608"/>
              <a:ext cx="1281600" cy="1046700"/>
            </a:xfrm>
            <a:prstGeom prst="rect">
              <a:avLst/>
            </a:prstGeom>
            <a:noFill/>
            <a:ln>
              <a:noFill/>
            </a:ln>
          </p:spPr>
          <p:txBody>
            <a:bodyPr anchorCtr="0" anchor="t" bIns="0" lIns="0" spcFirstLastPara="1" rIns="0" wrap="square" tIns="33900">
              <a:noAutofit/>
            </a:bodyPr>
            <a:lstStyle/>
            <a:p>
              <a:pPr indent="0" lvl="0" marL="0" marR="0" rtl="0" algn="l">
                <a:lnSpc>
                  <a:spcPct val="90000"/>
                </a:lnSpc>
                <a:spcBef>
                  <a:spcPts val="0"/>
                </a:spcBef>
                <a:spcAft>
                  <a:spcPts val="0"/>
                </a:spcAft>
                <a:buClr>
                  <a:srgbClr val="000000"/>
                </a:buClr>
                <a:buSzPts val="944"/>
                <a:buFont typeface="Arial"/>
                <a:buNone/>
              </a:pPr>
              <a:r>
                <a:rPr b="1" lang="en"/>
                <a:t>Explore and explain the functioning of GPU with an real life example ? </a:t>
              </a:r>
              <a:endParaRPr b="1" i="0" sz="1844" u="none" cap="none" strike="noStrike">
                <a:solidFill>
                  <a:srgbClr val="000000"/>
                </a:solidFill>
              </a:endParaRPr>
            </a:p>
          </p:txBody>
        </p:sp>
        <p:sp>
          <p:nvSpPr>
            <p:cNvPr id="180" name="Google Shape;180;g3a8fa397a04_1_173"/>
            <p:cNvSpPr/>
            <p:nvPr/>
          </p:nvSpPr>
          <p:spPr>
            <a:xfrm>
              <a:off x="3560974" y="0"/>
              <a:ext cx="1720200" cy="1276500"/>
            </a:xfrm>
            <a:prstGeom prst="roundRect">
              <a:avLst>
                <a:gd fmla="val 5000" name="adj"/>
              </a:avLst>
            </a:prstGeom>
            <a:solidFill>
              <a:srgbClr val="00B050"/>
            </a:solidFill>
            <a:ln cap="flat" cmpd="sng" w="22850">
              <a:solidFill>
                <a:srgbClr val="FFFFFF"/>
              </a:solidFill>
              <a:prstDash val="solid"/>
              <a:round/>
              <a:headEnd len="sm" w="sm" type="none"/>
              <a:tailEnd len="sm" w="sm" type="none"/>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81" name="Google Shape;181;g3a8fa397a04_1_173"/>
            <p:cNvSpPr txBox="1"/>
            <p:nvPr/>
          </p:nvSpPr>
          <p:spPr>
            <a:xfrm rot="-5400000">
              <a:off x="3209675" y="351433"/>
              <a:ext cx="1046700" cy="344100"/>
            </a:xfrm>
            <a:prstGeom prst="rect">
              <a:avLst/>
            </a:prstGeom>
            <a:noFill/>
            <a:ln>
              <a:noFill/>
            </a:ln>
          </p:spPr>
          <p:txBody>
            <a:bodyPr anchorCtr="0" anchor="t" bIns="0" lIns="0" spcFirstLastPara="1" rIns="55975" wrap="square" tIns="43175">
              <a:noAutofit/>
            </a:bodyPr>
            <a:lstStyle/>
            <a:p>
              <a:pPr indent="0" lvl="0" marL="0" marR="0" rtl="0" algn="r">
                <a:lnSpc>
                  <a:spcPct val="90000"/>
                </a:lnSpc>
                <a:spcBef>
                  <a:spcPts val="0"/>
                </a:spcBef>
                <a:spcAft>
                  <a:spcPts val="0"/>
                </a:spcAft>
                <a:buClr>
                  <a:srgbClr val="000000"/>
                </a:buClr>
                <a:buSzPts val="1259"/>
                <a:buFont typeface="Arial"/>
                <a:buNone/>
              </a:pPr>
              <a:r>
                <a:rPr b="1" lang="en" sz="1259">
                  <a:solidFill>
                    <a:srgbClr val="FFFFFF"/>
                  </a:solidFill>
                </a:rPr>
                <a:t>Table </a:t>
              </a:r>
              <a:r>
                <a:rPr b="1" i="0" lang="en" sz="1259" u="none" cap="none" strike="noStrike">
                  <a:solidFill>
                    <a:srgbClr val="FFFFFF"/>
                  </a:solidFill>
                  <a:latin typeface="Arial"/>
                  <a:ea typeface="Arial"/>
                  <a:cs typeface="Arial"/>
                  <a:sym typeface="Arial"/>
                </a:rPr>
                <a:t> 3</a:t>
              </a:r>
              <a:endParaRPr b="1" i="0" sz="1259" u="none" cap="none" strike="noStrike">
                <a:solidFill>
                  <a:srgbClr val="FFFFFF"/>
                </a:solidFill>
                <a:latin typeface="Arial"/>
                <a:ea typeface="Arial"/>
                <a:cs typeface="Arial"/>
                <a:sym typeface="Arial"/>
              </a:endParaRPr>
            </a:p>
          </p:txBody>
        </p:sp>
        <p:sp>
          <p:nvSpPr>
            <p:cNvPr id="182" name="Google Shape;182;g3a8fa397a04_1_173"/>
            <p:cNvSpPr/>
            <p:nvPr/>
          </p:nvSpPr>
          <p:spPr>
            <a:xfrm rot="5400000">
              <a:off x="3475769" y="965387"/>
              <a:ext cx="187610" cy="258012"/>
            </a:xfrm>
            <a:prstGeom prst="flowChartExtract">
              <a:avLst/>
            </a:prstGeom>
            <a:solidFill>
              <a:srgbClr val="0070C0"/>
            </a:solidFill>
            <a:ln cap="flat" cmpd="sng" w="22850">
              <a:solidFill>
                <a:srgbClr val="4185F2"/>
              </a:solidFill>
              <a:prstDash val="solid"/>
              <a:round/>
              <a:headEnd len="sm" w="sm" type="none"/>
              <a:tailEnd len="sm" w="sm" type="none"/>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83" name="Google Shape;183;g3a8fa397a04_1_173"/>
            <p:cNvSpPr/>
            <p:nvPr/>
          </p:nvSpPr>
          <p:spPr>
            <a:xfrm>
              <a:off x="3904991" y="0"/>
              <a:ext cx="1281600" cy="1276500"/>
            </a:xfrm>
            <a:prstGeom prst="rect">
              <a:avLst/>
            </a:prstGeom>
            <a:noFill/>
            <a:ln>
              <a:noFill/>
            </a:ln>
          </p:spPr>
          <p:txBody>
            <a:bodyPr anchorCtr="0" anchor="ctr" bIns="82250" lIns="82250" spcFirstLastPara="1" rIns="82250" wrap="square" tIns="82250">
              <a:noAutofit/>
            </a:bodyPr>
            <a:lstStyle/>
            <a:p>
              <a:pPr indent="0" lvl="0" marL="0" rtl="0" algn="l">
                <a:spcBef>
                  <a:spcPts val="0"/>
                </a:spcBef>
                <a:spcAft>
                  <a:spcPts val="0"/>
                </a:spcAft>
                <a:buNone/>
              </a:pPr>
              <a:r>
                <a:t/>
              </a:r>
              <a:endParaRPr/>
            </a:p>
          </p:txBody>
        </p:sp>
        <p:sp>
          <p:nvSpPr>
            <p:cNvPr id="184" name="Google Shape;184;g3a8fa397a04_1_173"/>
            <p:cNvSpPr txBox="1"/>
            <p:nvPr/>
          </p:nvSpPr>
          <p:spPr>
            <a:xfrm>
              <a:off x="3863727" y="8214"/>
              <a:ext cx="1428600" cy="1118700"/>
            </a:xfrm>
            <a:prstGeom prst="rect">
              <a:avLst/>
            </a:prstGeom>
            <a:noFill/>
            <a:ln>
              <a:noFill/>
            </a:ln>
          </p:spPr>
          <p:txBody>
            <a:bodyPr anchorCtr="0" anchor="t" bIns="0" lIns="0" spcFirstLastPara="1" rIns="0" wrap="square" tIns="33900">
              <a:noAutofit/>
            </a:bodyPr>
            <a:lstStyle/>
            <a:p>
              <a:pPr indent="0" lvl="0" marL="0" marR="0" rtl="0" algn="l">
                <a:lnSpc>
                  <a:spcPct val="90000"/>
                </a:lnSpc>
                <a:spcBef>
                  <a:spcPts val="0"/>
                </a:spcBef>
                <a:spcAft>
                  <a:spcPts val="0"/>
                </a:spcAft>
                <a:buClr>
                  <a:srgbClr val="000000"/>
                </a:buClr>
                <a:buSzPts val="944"/>
                <a:buFont typeface="Arial"/>
                <a:buNone/>
              </a:pPr>
              <a:r>
                <a:rPr b="1" lang="en" sz="1244"/>
                <a:t>Create a presentation to explain</a:t>
              </a:r>
              <a:endParaRPr b="1" sz="1244"/>
            </a:p>
            <a:p>
              <a:pPr indent="0" lvl="0" marL="0" rtl="0" algn="l">
                <a:lnSpc>
                  <a:spcPct val="90000"/>
                </a:lnSpc>
                <a:spcBef>
                  <a:spcPts val="0"/>
                </a:spcBef>
                <a:spcAft>
                  <a:spcPts val="0"/>
                </a:spcAft>
                <a:buClr>
                  <a:schemeClr val="dk1"/>
                </a:buClr>
                <a:buSzPts val="1100"/>
                <a:buFont typeface="Arial"/>
                <a:buNone/>
              </a:pPr>
              <a:r>
                <a:rPr b="1" lang="en" sz="1244"/>
                <a:t>General-Purpose Computing (GPGPU)</a:t>
              </a:r>
              <a:endParaRPr b="1" sz="1244"/>
            </a:p>
            <a:p>
              <a:pPr indent="0" lvl="0" marL="0" marR="0" rtl="0" algn="l">
                <a:lnSpc>
                  <a:spcPct val="90000"/>
                </a:lnSpc>
                <a:spcBef>
                  <a:spcPts val="0"/>
                </a:spcBef>
                <a:spcAft>
                  <a:spcPts val="0"/>
                </a:spcAft>
                <a:buClr>
                  <a:srgbClr val="000000"/>
                </a:buClr>
                <a:buSzPts val="944"/>
                <a:buFont typeface="Arial"/>
                <a:buNone/>
              </a:pPr>
              <a:r>
                <a:t/>
              </a:r>
              <a:endParaRPr b="1" sz="1444"/>
            </a:p>
          </p:txBody>
        </p:sp>
      </p:grpSp>
      <p:pic>
        <p:nvPicPr>
          <p:cNvPr id="185" name="Google Shape;185;g3a8fa397a04_1_173"/>
          <p:cNvPicPr preferRelativeResize="0"/>
          <p:nvPr/>
        </p:nvPicPr>
        <p:blipFill>
          <a:blip r:embed="rId5">
            <a:alphaModFix/>
          </a:blip>
          <a:stretch>
            <a:fillRect/>
          </a:stretch>
        </p:blipFill>
        <p:spPr>
          <a:xfrm>
            <a:off x="6094900" y="1584419"/>
            <a:ext cx="688013" cy="1184281"/>
          </a:xfrm>
          <a:prstGeom prst="rect">
            <a:avLst/>
          </a:prstGeom>
          <a:noFill/>
          <a:ln>
            <a:noFill/>
          </a:ln>
        </p:spPr>
      </p:pic>
      <p:sp>
        <p:nvSpPr>
          <p:cNvPr id="186" name="Google Shape;186;g3a8fa397a04_1_173"/>
          <p:cNvSpPr txBox="1"/>
          <p:nvPr/>
        </p:nvSpPr>
        <p:spPr>
          <a:xfrm>
            <a:off x="0" y="3224425"/>
            <a:ext cx="1530600" cy="521400"/>
          </a:xfrm>
          <a:prstGeom prst="rect">
            <a:avLst/>
          </a:prstGeom>
          <a:solidFill>
            <a:srgbClr val="00B05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DO NOW</a:t>
            </a:r>
            <a:r>
              <a:rPr lang="en" sz="1800">
                <a:solidFill>
                  <a:schemeClr val="dk2"/>
                </a:solidFill>
              </a:rPr>
              <a:t>   </a:t>
            </a:r>
            <a:endParaRPr sz="1800">
              <a:solidFill>
                <a:schemeClr val="dk2"/>
              </a:solidFill>
            </a:endParaRPr>
          </a:p>
        </p:txBody>
      </p:sp>
      <p:sp>
        <p:nvSpPr>
          <p:cNvPr id="187" name="Google Shape;187;g3a8fa397a04_1_173"/>
          <p:cNvSpPr txBox="1"/>
          <p:nvPr/>
        </p:nvSpPr>
        <p:spPr>
          <a:xfrm>
            <a:off x="397225" y="3897925"/>
            <a:ext cx="1818000" cy="1080000"/>
          </a:xfrm>
          <a:prstGeom prst="rect">
            <a:avLst/>
          </a:prstGeom>
          <a:solidFill>
            <a:srgbClr val="D9EAD3"/>
          </a:solidFill>
          <a:ln cap="flat" cmpd="sng" w="9525">
            <a:solidFill>
              <a:srgbClr val="00B0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Explain</a:t>
            </a:r>
            <a:r>
              <a:rPr lang="en" sz="1800">
                <a:solidFill>
                  <a:schemeClr val="dk1"/>
                </a:solidFill>
              </a:rPr>
              <a:t> and Discuss the task in Pair</a:t>
            </a:r>
            <a:endParaRPr sz="1800">
              <a:solidFill>
                <a:schemeClr val="dk1"/>
              </a:solidFill>
            </a:endParaRPr>
          </a:p>
        </p:txBody>
      </p:sp>
      <p:sp>
        <p:nvSpPr>
          <p:cNvPr id="188" name="Google Shape;188;g3a8fa397a04_1_173"/>
          <p:cNvSpPr txBox="1"/>
          <p:nvPr/>
        </p:nvSpPr>
        <p:spPr>
          <a:xfrm>
            <a:off x="2422200" y="3941700"/>
            <a:ext cx="1530600" cy="1080000"/>
          </a:xfrm>
          <a:prstGeom prst="rect">
            <a:avLst/>
          </a:prstGeom>
          <a:solidFill>
            <a:srgbClr val="D9EAD3"/>
          </a:solidFill>
          <a:ln cap="flat" cmpd="sng" w="9525">
            <a:solidFill>
              <a:srgbClr val="00B0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Initiate completing the task </a:t>
            </a:r>
            <a:endParaRPr sz="1800">
              <a:solidFill>
                <a:schemeClr val="dk2"/>
              </a:solidFill>
            </a:endParaRPr>
          </a:p>
        </p:txBody>
      </p:sp>
      <p:sp>
        <p:nvSpPr>
          <p:cNvPr id="189" name="Google Shape;189;g3a8fa397a04_1_173"/>
          <p:cNvSpPr txBox="1"/>
          <p:nvPr/>
        </p:nvSpPr>
        <p:spPr>
          <a:xfrm>
            <a:off x="4232075" y="3941700"/>
            <a:ext cx="1530600" cy="1080000"/>
          </a:xfrm>
          <a:prstGeom prst="rect">
            <a:avLst/>
          </a:prstGeom>
          <a:solidFill>
            <a:srgbClr val="D9EAD3"/>
          </a:solidFill>
          <a:ln cap="flat" cmpd="sng" w="9525">
            <a:solidFill>
              <a:srgbClr val="00B0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Discuss in table</a:t>
            </a:r>
            <a:endParaRPr sz="1800">
              <a:solidFill>
                <a:schemeClr val="dk1"/>
              </a:solidFill>
            </a:endParaRPr>
          </a:p>
        </p:txBody>
      </p:sp>
      <p:pic>
        <p:nvPicPr>
          <p:cNvPr id="190" name="Google Shape;190;g3a8fa397a04_1_173"/>
          <p:cNvPicPr preferRelativeResize="0"/>
          <p:nvPr/>
        </p:nvPicPr>
        <p:blipFill rotWithShape="1">
          <a:blip r:embed="rId6">
            <a:alphaModFix/>
          </a:blip>
          <a:srcRect b="20039" l="18726" r="19223" t="12283"/>
          <a:stretch/>
        </p:blipFill>
        <p:spPr>
          <a:xfrm>
            <a:off x="1720354" y="3993652"/>
            <a:ext cx="336148" cy="387255"/>
          </a:xfrm>
          <a:prstGeom prst="rect">
            <a:avLst/>
          </a:prstGeom>
          <a:noFill/>
          <a:ln>
            <a:noFill/>
          </a:ln>
        </p:spPr>
      </p:pic>
      <p:pic>
        <p:nvPicPr>
          <p:cNvPr id="191" name="Google Shape;191;g3a8fa397a04_1_173"/>
          <p:cNvPicPr preferRelativeResize="0"/>
          <p:nvPr/>
        </p:nvPicPr>
        <p:blipFill rotWithShape="1">
          <a:blip r:embed="rId6">
            <a:alphaModFix/>
          </a:blip>
          <a:srcRect b="20039" l="18726" r="19223" t="12283"/>
          <a:stretch/>
        </p:blipFill>
        <p:spPr>
          <a:xfrm>
            <a:off x="3550229" y="3993652"/>
            <a:ext cx="336148" cy="387255"/>
          </a:xfrm>
          <a:prstGeom prst="rect">
            <a:avLst/>
          </a:prstGeom>
          <a:noFill/>
          <a:ln>
            <a:noFill/>
          </a:ln>
        </p:spPr>
      </p:pic>
      <p:pic>
        <p:nvPicPr>
          <p:cNvPr id="192" name="Google Shape;192;g3a8fa397a04_1_173"/>
          <p:cNvPicPr preferRelativeResize="0"/>
          <p:nvPr/>
        </p:nvPicPr>
        <p:blipFill rotWithShape="1">
          <a:blip r:embed="rId6">
            <a:alphaModFix/>
          </a:blip>
          <a:srcRect b="20039" l="18726" r="19223" t="12283"/>
          <a:stretch/>
        </p:blipFill>
        <p:spPr>
          <a:xfrm>
            <a:off x="5380091" y="4195727"/>
            <a:ext cx="336148" cy="387255"/>
          </a:xfrm>
          <a:prstGeom prst="rect">
            <a:avLst/>
          </a:prstGeom>
          <a:noFill/>
          <a:ln>
            <a:noFill/>
          </a:ln>
        </p:spPr>
      </p:pic>
      <p:pic>
        <p:nvPicPr>
          <p:cNvPr id="193" name="Google Shape;193;g3a8fa397a04_1_173"/>
          <p:cNvPicPr preferRelativeResize="0"/>
          <p:nvPr/>
        </p:nvPicPr>
        <p:blipFill rotWithShape="1">
          <a:blip r:embed="rId7">
            <a:alphaModFix/>
          </a:blip>
          <a:srcRect b="80427" l="0" r="3278" t="0"/>
          <a:stretch/>
        </p:blipFill>
        <p:spPr>
          <a:xfrm>
            <a:off x="69161" y="1738476"/>
            <a:ext cx="469934" cy="322546"/>
          </a:xfrm>
          <a:prstGeom prst="rect">
            <a:avLst/>
          </a:prstGeom>
          <a:noFill/>
          <a:ln>
            <a:noFill/>
          </a:ln>
        </p:spPr>
      </p:pic>
      <p:sp>
        <p:nvSpPr>
          <p:cNvPr id="194" name="Google Shape;194;g3a8fa397a04_1_173"/>
          <p:cNvSpPr txBox="1"/>
          <p:nvPr/>
        </p:nvSpPr>
        <p:spPr>
          <a:xfrm>
            <a:off x="836450" y="1605850"/>
            <a:ext cx="1435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t>Design a </a:t>
            </a:r>
            <a:r>
              <a:rPr b="1" lang="en"/>
              <a:t>mind map</a:t>
            </a:r>
            <a:r>
              <a:rPr b="1" lang="en"/>
              <a:t> explaining the role of a GPU in computer systems?</a:t>
            </a:r>
            <a:endParaRPr b="1"/>
          </a:p>
          <a:p>
            <a:pPr indent="0" lvl="0" marL="0" rtl="0" algn="l">
              <a:spcBef>
                <a:spcPts val="0"/>
              </a:spcBef>
              <a:spcAft>
                <a:spcPts val="0"/>
              </a:spcAft>
              <a:buNone/>
            </a:pPr>
            <a:r>
              <a:t/>
            </a:r>
            <a:endParaRPr b="1"/>
          </a:p>
        </p:txBody>
      </p:sp>
      <p:sp>
        <p:nvSpPr>
          <p:cNvPr id="195" name="Google Shape;195;g3a8fa397a04_1_173"/>
          <p:cNvSpPr/>
          <p:nvPr/>
        </p:nvSpPr>
        <p:spPr>
          <a:xfrm>
            <a:off x="1580350" y="3211351"/>
            <a:ext cx="1660800" cy="738900"/>
          </a:xfrm>
          <a:prstGeom prst="wedgeEllipseCallout">
            <a:avLst>
              <a:gd fmla="val -20833" name="adj1"/>
              <a:gd fmla="val 625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g3a8fa397a04_1_173"/>
          <p:cNvSpPr txBox="1"/>
          <p:nvPr/>
        </p:nvSpPr>
        <p:spPr>
          <a:xfrm>
            <a:off x="1955975" y="3239388"/>
            <a:ext cx="10605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Link to Bio Science , Design </a:t>
            </a:r>
            <a:endParaRPr b="1" sz="1100">
              <a:solidFill>
                <a:schemeClr val="lt1"/>
              </a:solidFill>
            </a:endParaRPr>
          </a:p>
        </p:txBody>
      </p:sp>
      <p:grpSp>
        <p:nvGrpSpPr>
          <p:cNvPr id="197" name="Google Shape;197;g3a8fa397a04_1_173"/>
          <p:cNvGrpSpPr/>
          <p:nvPr/>
        </p:nvGrpSpPr>
        <p:grpSpPr>
          <a:xfrm>
            <a:off x="3952800" y="2429338"/>
            <a:ext cx="702600" cy="401700"/>
            <a:chOff x="5774050" y="132500"/>
            <a:chExt cx="702600" cy="401700"/>
          </a:xfrm>
        </p:grpSpPr>
        <p:sp>
          <p:nvSpPr>
            <p:cNvPr id="198" name="Google Shape;198;g3a8fa397a04_1_173"/>
            <p:cNvSpPr/>
            <p:nvPr/>
          </p:nvSpPr>
          <p:spPr>
            <a:xfrm>
              <a:off x="5774050" y="132500"/>
              <a:ext cx="702600" cy="401700"/>
            </a:xfrm>
            <a:prstGeom prst="cloudCallout">
              <a:avLst>
                <a:gd fmla="val -20833" name="adj1"/>
                <a:gd fmla="val 62500" name="adj2"/>
              </a:avLst>
            </a:prstGeom>
            <a:solidFill>
              <a:srgbClr val="EE381A"/>
            </a:solidFill>
            <a:ln cap="flat" cmpd="sng" w="107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g3a8fa397a04_1_173"/>
            <p:cNvSpPr txBox="1"/>
            <p:nvPr/>
          </p:nvSpPr>
          <p:spPr>
            <a:xfrm>
              <a:off x="5885950" y="153800"/>
              <a:ext cx="4788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FFFFFF"/>
                  </a:solidFill>
                </a:rPr>
                <a:t>H.O.T</a:t>
              </a:r>
              <a:endParaRPr b="1" sz="400">
                <a:solidFill>
                  <a:srgbClr val="FFFFFF"/>
                </a:solidFill>
              </a:endParaRPr>
            </a:p>
          </p:txBody>
        </p:sp>
      </p:grpSp>
      <p:sp>
        <p:nvSpPr>
          <p:cNvPr id="200" name="Google Shape;200;g3a8fa397a04_1_173"/>
          <p:cNvSpPr txBox="1"/>
          <p:nvPr/>
        </p:nvSpPr>
        <p:spPr>
          <a:xfrm>
            <a:off x="7043400" y="4380900"/>
            <a:ext cx="210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highlight>
                  <a:schemeClr val="accent6"/>
                </a:highlight>
              </a:rPr>
              <a:t>WAGOLL (WHAT A GOOD ONE LOOK LIKE) </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a8fa397a04_1_263"/>
          <p:cNvSpPr/>
          <p:nvPr/>
        </p:nvSpPr>
        <p:spPr>
          <a:xfrm>
            <a:off x="16225" y="8125"/>
            <a:ext cx="9144000" cy="673500"/>
          </a:xfrm>
          <a:prstGeom prst="rect">
            <a:avLst/>
          </a:prstGeom>
          <a:solidFill>
            <a:schemeClr val="lt1"/>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rgbClr val="00B050"/>
                </a:solidFill>
              </a:rPr>
              <a:t>Task 2: (Challenging Task)</a:t>
            </a:r>
            <a:r>
              <a:rPr b="1" lang="en" sz="2200">
                <a:solidFill>
                  <a:srgbClr val="3C78D8"/>
                </a:solidFill>
              </a:rPr>
              <a:t> </a:t>
            </a:r>
            <a:endParaRPr b="1" sz="2200">
              <a:solidFill>
                <a:srgbClr val="3C78D8"/>
              </a:solidFill>
            </a:endParaRPr>
          </a:p>
        </p:txBody>
      </p:sp>
      <p:grpSp>
        <p:nvGrpSpPr>
          <p:cNvPr id="206" name="Google Shape;206;g3a8fa397a04_1_263"/>
          <p:cNvGrpSpPr/>
          <p:nvPr/>
        </p:nvGrpSpPr>
        <p:grpSpPr>
          <a:xfrm>
            <a:off x="6822925" y="717550"/>
            <a:ext cx="2337300" cy="4461932"/>
            <a:chOff x="6822925" y="681625"/>
            <a:chExt cx="2337300" cy="4461932"/>
          </a:xfrm>
        </p:grpSpPr>
        <p:sp>
          <p:nvSpPr>
            <p:cNvPr id="207" name="Google Shape;207;g3a8fa397a04_1_263"/>
            <p:cNvSpPr/>
            <p:nvPr/>
          </p:nvSpPr>
          <p:spPr>
            <a:xfrm>
              <a:off x="6822925" y="1256499"/>
              <a:ext cx="2337300" cy="1295700"/>
            </a:xfrm>
            <a:prstGeom prst="rect">
              <a:avLst/>
            </a:prstGeom>
            <a:solidFill>
              <a:srgbClr val="EA9999"/>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34343"/>
                  </a:solidFill>
                </a:rPr>
                <a:t>3-4</a:t>
              </a:r>
              <a:r>
                <a:rPr lang="en">
                  <a:solidFill>
                    <a:srgbClr val="434343"/>
                  </a:solidFill>
                </a:rPr>
                <a:t> </a:t>
              </a:r>
              <a:endParaRPr>
                <a:solidFill>
                  <a:srgbClr val="434343"/>
                </a:solidFill>
              </a:endParaRPr>
            </a:p>
            <a:p>
              <a:pPr indent="0" lvl="0" marL="0" rtl="0" algn="l">
                <a:spcBef>
                  <a:spcPts val="0"/>
                </a:spcBef>
                <a:spcAft>
                  <a:spcPts val="0"/>
                </a:spcAft>
                <a:buNone/>
              </a:pPr>
              <a:r>
                <a:t/>
              </a:r>
              <a:endParaRPr sz="1200">
                <a:solidFill>
                  <a:srgbClr val="434343"/>
                </a:solidFill>
              </a:endParaRPr>
            </a:p>
          </p:txBody>
        </p:sp>
        <p:sp>
          <p:nvSpPr>
            <p:cNvPr id="208" name="Google Shape;208;g3a8fa397a04_1_263"/>
            <p:cNvSpPr/>
            <p:nvPr/>
          </p:nvSpPr>
          <p:spPr>
            <a:xfrm>
              <a:off x="6822925" y="3847857"/>
              <a:ext cx="2337300" cy="1295700"/>
            </a:xfrm>
            <a:prstGeom prst="rect">
              <a:avLst/>
            </a:prstGeom>
            <a:solidFill>
              <a:srgbClr val="B6D7A8"/>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34343"/>
                  </a:solidFill>
                </a:rPr>
                <a:t>7-8</a:t>
              </a:r>
              <a:endParaRPr b="1">
                <a:solidFill>
                  <a:srgbClr val="434343"/>
                </a:solidFill>
              </a:endParaRPr>
            </a:p>
            <a:p>
              <a:pPr indent="0" lvl="0" marL="0" rtl="0" algn="l">
                <a:spcBef>
                  <a:spcPts val="0"/>
                </a:spcBef>
                <a:spcAft>
                  <a:spcPts val="0"/>
                </a:spcAft>
                <a:buNone/>
              </a:pPr>
              <a:r>
                <a:t/>
              </a:r>
              <a:endParaRPr sz="1200">
                <a:solidFill>
                  <a:srgbClr val="434343"/>
                </a:solidFill>
              </a:endParaRPr>
            </a:p>
            <a:p>
              <a:pPr indent="0" lvl="0" marL="0" rtl="0" algn="l">
                <a:spcBef>
                  <a:spcPts val="0"/>
                </a:spcBef>
                <a:spcAft>
                  <a:spcPts val="0"/>
                </a:spcAft>
                <a:buNone/>
              </a:pPr>
              <a:r>
                <a:t/>
              </a:r>
              <a:endParaRPr>
                <a:solidFill>
                  <a:srgbClr val="434343"/>
                </a:solidFill>
              </a:endParaRPr>
            </a:p>
          </p:txBody>
        </p:sp>
        <p:sp>
          <p:nvSpPr>
            <p:cNvPr id="209" name="Google Shape;209;g3a8fa397a04_1_263"/>
            <p:cNvSpPr/>
            <p:nvPr/>
          </p:nvSpPr>
          <p:spPr>
            <a:xfrm>
              <a:off x="6822925" y="2552178"/>
              <a:ext cx="2337300" cy="1295700"/>
            </a:xfrm>
            <a:prstGeom prst="rect">
              <a:avLst/>
            </a:prstGeom>
            <a:solidFill>
              <a:srgbClr val="FFE599"/>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34343"/>
                  </a:solidFill>
                </a:rPr>
                <a:t>5-6</a:t>
              </a:r>
              <a:endParaRPr b="1">
                <a:solidFill>
                  <a:srgbClr val="434343"/>
                </a:solidFill>
              </a:endParaRPr>
            </a:p>
            <a:p>
              <a:pPr indent="0" lvl="0" marL="0" rtl="0" algn="l">
                <a:spcBef>
                  <a:spcPts val="0"/>
                </a:spcBef>
                <a:spcAft>
                  <a:spcPts val="0"/>
                </a:spcAft>
                <a:buNone/>
              </a:pPr>
              <a:r>
                <a:t/>
              </a:r>
              <a:endParaRPr sz="1200">
                <a:solidFill>
                  <a:srgbClr val="434343"/>
                </a:solidFill>
              </a:endParaRPr>
            </a:p>
          </p:txBody>
        </p:sp>
        <p:sp>
          <p:nvSpPr>
            <p:cNvPr id="210" name="Google Shape;210;g3a8fa397a04_1_263"/>
            <p:cNvSpPr/>
            <p:nvPr/>
          </p:nvSpPr>
          <p:spPr>
            <a:xfrm>
              <a:off x="6822925" y="681625"/>
              <a:ext cx="2337300" cy="555900"/>
            </a:xfrm>
            <a:prstGeom prst="rect">
              <a:avLst/>
            </a:prstGeom>
            <a:solidFill>
              <a:schemeClr val="lt1"/>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rgbClr val="00B050"/>
                  </a:solidFill>
                </a:rPr>
                <a:t>Progress check with rubrics  </a:t>
              </a:r>
              <a:endParaRPr>
                <a:solidFill>
                  <a:srgbClr val="00B050"/>
                </a:solidFill>
              </a:endParaRPr>
            </a:p>
          </p:txBody>
        </p:sp>
      </p:grpSp>
      <p:pic>
        <p:nvPicPr>
          <p:cNvPr id="211" name="Google Shape;211;g3a8fa397a04_1_263"/>
          <p:cNvPicPr preferRelativeResize="0"/>
          <p:nvPr/>
        </p:nvPicPr>
        <p:blipFill rotWithShape="1">
          <a:blip r:embed="rId3">
            <a:alphaModFix/>
          </a:blip>
          <a:srcRect b="0" l="5013" r="7336" t="3530"/>
          <a:stretch/>
        </p:blipFill>
        <p:spPr>
          <a:xfrm>
            <a:off x="6822925" y="8125"/>
            <a:ext cx="629271" cy="673500"/>
          </a:xfrm>
          <a:prstGeom prst="rect">
            <a:avLst/>
          </a:prstGeom>
          <a:noFill/>
          <a:ln>
            <a:noFill/>
          </a:ln>
        </p:spPr>
      </p:pic>
      <p:pic>
        <p:nvPicPr>
          <p:cNvPr id="212" name="Google Shape;212;g3a8fa397a04_1_263"/>
          <p:cNvPicPr preferRelativeResize="0"/>
          <p:nvPr/>
        </p:nvPicPr>
        <p:blipFill>
          <a:blip r:embed="rId4">
            <a:alphaModFix/>
          </a:blip>
          <a:stretch>
            <a:fillRect/>
          </a:stretch>
        </p:blipFill>
        <p:spPr>
          <a:xfrm>
            <a:off x="5998902" y="3902076"/>
            <a:ext cx="729838" cy="1195952"/>
          </a:xfrm>
          <a:prstGeom prst="rect">
            <a:avLst/>
          </a:prstGeom>
          <a:noFill/>
          <a:ln cap="flat" cmpd="sng" w="19050">
            <a:solidFill>
              <a:schemeClr val="accent1"/>
            </a:solidFill>
            <a:prstDash val="solid"/>
            <a:round/>
            <a:headEnd len="sm" w="sm" type="none"/>
            <a:tailEnd len="sm" w="sm" type="none"/>
          </a:ln>
        </p:spPr>
      </p:pic>
      <p:sp>
        <p:nvSpPr>
          <p:cNvPr id="213" name="Google Shape;213;g3a8fa397a04_1_263"/>
          <p:cNvSpPr txBox="1"/>
          <p:nvPr/>
        </p:nvSpPr>
        <p:spPr>
          <a:xfrm>
            <a:off x="145025" y="3553525"/>
            <a:ext cx="5759700" cy="1478100"/>
          </a:xfrm>
          <a:prstGeom prst="rect">
            <a:avLst/>
          </a:prstGeom>
          <a:noFill/>
          <a:ln cap="flat" cmpd="sng" w="9525">
            <a:solidFill>
              <a:srgbClr val="00B0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B050"/>
                </a:solidFill>
              </a:rPr>
              <a:t>Extension :</a:t>
            </a:r>
            <a:r>
              <a:rPr b="1" lang="en" sz="1200">
                <a:solidFill>
                  <a:schemeClr val="dk1"/>
                </a:solidFill>
              </a:rPr>
              <a:t> IB/TOK Link (Analyse):</a:t>
            </a:r>
            <a:r>
              <a:rPr lang="en" sz="1200">
                <a:solidFill>
                  <a:schemeClr val="dk1"/>
                </a:solidFill>
              </a:rPr>
              <a:t> The TOK link questions how GPU architecture redefines the boundaries of knowledge in the Natural and Human Sciences.</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Provide one specific example (e.g., in medical diagnostics or climate modeling) of a task that is </a:t>
            </a:r>
            <a:r>
              <a:rPr b="1" lang="en" sz="1200">
                <a:solidFill>
                  <a:schemeClr val="dk1"/>
                </a:solidFill>
              </a:rPr>
              <a:t>epistemologically possible</a:t>
            </a:r>
            <a:r>
              <a:rPr lang="en" sz="1200">
                <a:solidFill>
                  <a:schemeClr val="dk1"/>
                </a:solidFill>
              </a:rPr>
              <a:t> </a:t>
            </a:r>
            <a:r>
              <a:rPr i="1" lang="en" sz="1200">
                <a:solidFill>
                  <a:schemeClr val="dk1"/>
                </a:solidFill>
              </a:rPr>
              <a:t>only</a:t>
            </a:r>
            <a:r>
              <a:rPr lang="en" sz="1200">
                <a:solidFill>
                  <a:schemeClr val="dk1"/>
                </a:solidFill>
              </a:rPr>
              <a:t> because of the GPU's parallel processing.</a:t>
            </a:r>
            <a:endParaRPr sz="1200">
              <a:solidFill>
                <a:schemeClr val="dk1"/>
              </a:solidFill>
            </a:endParaRPr>
          </a:p>
          <a:p>
            <a:pPr indent="0" lvl="0" marL="0" rtl="0" algn="l">
              <a:spcBef>
                <a:spcPts val="1200"/>
              </a:spcBef>
              <a:spcAft>
                <a:spcPts val="0"/>
              </a:spcAft>
              <a:buNone/>
            </a:pPr>
            <a:r>
              <a:rPr lang="en" sz="1200">
                <a:solidFill>
                  <a:srgbClr val="00B050"/>
                </a:solidFill>
              </a:rPr>
              <a:t> </a:t>
            </a:r>
            <a:endParaRPr sz="1200">
              <a:solidFill>
                <a:schemeClr val="dk1"/>
              </a:solidFill>
            </a:endParaRPr>
          </a:p>
          <a:p>
            <a:pPr indent="0" lvl="0" marL="0" rtl="0" algn="l">
              <a:spcBef>
                <a:spcPts val="0"/>
              </a:spcBef>
              <a:spcAft>
                <a:spcPts val="0"/>
              </a:spcAft>
              <a:buNone/>
            </a:pPr>
            <a:r>
              <a:t/>
            </a:r>
            <a:endParaRPr sz="1800">
              <a:solidFill>
                <a:srgbClr val="00B050"/>
              </a:solidFill>
            </a:endParaRPr>
          </a:p>
        </p:txBody>
      </p:sp>
      <p:sp>
        <p:nvSpPr>
          <p:cNvPr id="214" name="Google Shape;214;g3a8fa397a04_1_263"/>
          <p:cNvSpPr txBox="1"/>
          <p:nvPr/>
        </p:nvSpPr>
        <p:spPr>
          <a:xfrm>
            <a:off x="0" y="681625"/>
            <a:ext cx="4982400" cy="521400"/>
          </a:xfrm>
          <a:prstGeom prst="rect">
            <a:avLst/>
          </a:prstGeom>
          <a:solidFill>
            <a:srgbClr val="00B05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DO NOW  { HL - Task 1 / SL - Task 2 } </a:t>
            </a:r>
            <a:r>
              <a:rPr b="1" lang="en" sz="1800">
                <a:solidFill>
                  <a:schemeClr val="dk2"/>
                </a:solidFill>
              </a:rPr>
              <a:t> </a:t>
            </a:r>
            <a:r>
              <a:rPr lang="en" sz="1800">
                <a:solidFill>
                  <a:schemeClr val="dk2"/>
                </a:solidFill>
              </a:rPr>
              <a:t>  </a:t>
            </a:r>
            <a:endParaRPr sz="1800">
              <a:solidFill>
                <a:schemeClr val="dk2"/>
              </a:solidFill>
            </a:endParaRPr>
          </a:p>
        </p:txBody>
      </p:sp>
      <p:pic>
        <p:nvPicPr>
          <p:cNvPr id="215" name="Google Shape;215;g3a8fa397a04_1_263"/>
          <p:cNvPicPr preferRelativeResize="0"/>
          <p:nvPr/>
        </p:nvPicPr>
        <p:blipFill rotWithShape="1">
          <a:blip r:embed="rId5">
            <a:alphaModFix/>
          </a:blip>
          <a:srcRect b="20039" l="18726" r="19223" t="12283"/>
          <a:stretch/>
        </p:blipFill>
        <p:spPr>
          <a:xfrm>
            <a:off x="8807854" y="828427"/>
            <a:ext cx="336148" cy="387255"/>
          </a:xfrm>
          <a:prstGeom prst="rect">
            <a:avLst/>
          </a:prstGeom>
          <a:noFill/>
          <a:ln>
            <a:noFill/>
          </a:ln>
        </p:spPr>
      </p:pic>
      <p:pic>
        <p:nvPicPr>
          <p:cNvPr id="216" name="Google Shape;216;g3a8fa397a04_1_263"/>
          <p:cNvPicPr preferRelativeResize="0"/>
          <p:nvPr/>
        </p:nvPicPr>
        <p:blipFill rotWithShape="1">
          <a:blip r:embed="rId6">
            <a:alphaModFix/>
          </a:blip>
          <a:srcRect b="27636" l="3279" r="-9" t="48105"/>
          <a:stretch/>
        </p:blipFill>
        <p:spPr>
          <a:xfrm>
            <a:off x="5369624" y="754374"/>
            <a:ext cx="629275" cy="535342"/>
          </a:xfrm>
          <a:prstGeom prst="rect">
            <a:avLst/>
          </a:prstGeom>
          <a:noFill/>
          <a:ln>
            <a:noFill/>
          </a:ln>
        </p:spPr>
      </p:pic>
      <p:pic>
        <p:nvPicPr>
          <p:cNvPr id="217" name="Google Shape;217;g3a8fa397a04_1_263"/>
          <p:cNvPicPr preferRelativeResize="0"/>
          <p:nvPr/>
        </p:nvPicPr>
        <p:blipFill rotWithShape="1">
          <a:blip r:embed="rId6">
            <a:alphaModFix/>
          </a:blip>
          <a:srcRect b="53204" l="0" r="3278" t="22537"/>
          <a:stretch/>
        </p:blipFill>
        <p:spPr>
          <a:xfrm>
            <a:off x="6122152" y="754373"/>
            <a:ext cx="629250" cy="535350"/>
          </a:xfrm>
          <a:prstGeom prst="rect">
            <a:avLst/>
          </a:prstGeom>
          <a:noFill/>
          <a:ln>
            <a:noFill/>
          </a:ln>
        </p:spPr>
      </p:pic>
      <p:sp>
        <p:nvSpPr>
          <p:cNvPr id="218" name="Google Shape;218;g3a8fa397a04_1_263"/>
          <p:cNvSpPr txBox="1"/>
          <p:nvPr/>
        </p:nvSpPr>
        <p:spPr>
          <a:xfrm>
            <a:off x="90300" y="1289725"/>
            <a:ext cx="6606600" cy="2177100"/>
          </a:xfrm>
          <a:prstGeom prst="rect">
            <a:avLst/>
          </a:prstGeom>
          <a:noFill/>
          <a:ln cap="flat" cmpd="sng" w="9525">
            <a:solidFill>
              <a:srgbClr val="00B0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Task A : HL</a:t>
            </a:r>
            <a:endParaRPr b="1" sz="1200">
              <a:solidFill>
                <a:schemeClr val="dk2"/>
              </a:solidFill>
            </a:endParaRPr>
          </a:p>
          <a:p>
            <a:pPr indent="0" lvl="0" marL="0" rtl="0" algn="l">
              <a:spcBef>
                <a:spcPts val="0"/>
              </a:spcBef>
              <a:spcAft>
                <a:spcPts val="0"/>
              </a:spcAft>
              <a:buClr>
                <a:schemeClr val="dk1"/>
              </a:buClr>
              <a:buSzPts val="1100"/>
              <a:buFont typeface="Arial"/>
              <a:buNone/>
            </a:pPr>
            <a:r>
              <a:rPr b="1" lang="en" sz="1200">
                <a:solidFill>
                  <a:srgbClr val="FF0000"/>
                </a:solidFill>
              </a:rPr>
              <a:t>Level 1 :</a:t>
            </a:r>
            <a:r>
              <a:rPr b="1" lang="en" sz="1200">
                <a:solidFill>
                  <a:schemeClr val="dk2"/>
                </a:solidFill>
              </a:rPr>
              <a:t> </a:t>
            </a:r>
            <a:r>
              <a:rPr lang="en" sz="1200">
                <a:solidFill>
                  <a:schemeClr val="dk2"/>
                </a:solidFill>
              </a:rPr>
              <a:t>What are the main differences between the design philosophies and usage of a CPU and a GPU?</a:t>
            </a:r>
            <a:endParaRPr sz="1200">
              <a:solidFill>
                <a:schemeClr val="dk2"/>
              </a:solidFill>
            </a:endParaRPr>
          </a:p>
          <a:p>
            <a:pPr indent="0" lvl="0" marL="0" rtl="0" algn="l">
              <a:spcBef>
                <a:spcPts val="0"/>
              </a:spcBef>
              <a:spcAft>
                <a:spcPts val="0"/>
              </a:spcAft>
              <a:buClr>
                <a:schemeClr val="dk1"/>
              </a:buClr>
              <a:buSzPts val="1100"/>
              <a:buFont typeface="Arial"/>
              <a:buNone/>
            </a:pPr>
            <a:r>
              <a:rPr b="1" lang="en" sz="1200">
                <a:solidFill>
                  <a:srgbClr val="4285F4"/>
                </a:solidFill>
              </a:rPr>
              <a:t>Level 2 :</a:t>
            </a:r>
            <a:r>
              <a:rPr lang="en" sz="1200">
                <a:solidFill>
                  <a:srgbClr val="FFFF00"/>
                </a:solidFill>
              </a:rPr>
              <a:t> </a:t>
            </a:r>
            <a:r>
              <a:rPr lang="en" sz="1200">
                <a:solidFill>
                  <a:schemeClr val="dk2"/>
                </a:solidFill>
              </a:rPr>
              <a:t>Explain how do the core architecture, memory access, and power efficiency differ between CPUs and GPUs?</a:t>
            </a:r>
            <a:endParaRPr sz="1200">
              <a:solidFill>
                <a:schemeClr val="dk2"/>
              </a:solidFill>
            </a:endParaRPr>
          </a:p>
          <a:p>
            <a:pPr indent="0" lvl="0" marL="0" rtl="0" algn="l">
              <a:spcBef>
                <a:spcPts val="0"/>
              </a:spcBef>
              <a:spcAft>
                <a:spcPts val="0"/>
              </a:spcAft>
              <a:buNone/>
            </a:pPr>
            <a:r>
              <a:rPr b="1" lang="en" sz="1200">
                <a:solidFill>
                  <a:srgbClr val="38761D"/>
                </a:solidFill>
              </a:rPr>
              <a:t>Level 3 :</a:t>
            </a:r>
            <a:r>
              <a:rPr b="1" lang="en" sz="1200">
                <a:solidFill>
                  <a:schemeClr val="dk2"/>
                </a:solidFill>
              </a:rPr>
              <a:t> </a:t>
            </a:r>
            <a:r>
              <a:rPr lang="en" sz="1200">
                <a:solidFill>
                  <a:schemeClr val="dk2"/>
                </a:solidFill>
              </a:rPr>
              <a:t>Explain how do CPUs and GPUs collaborate in task division, data sharing, and execution coordination?</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b="1" lang="en" sz="1200">
                <a:solidFill>
                  <a:schemeClr val="dk2"/>
                </a:solidFill>
              </a:rPr>
              <a:t>Task B:  SL</a:t>
            </a:r>
            <a:endParaRPr b="1" sz="1200">
              <a:solidFill>
                <a:schemeClr val="dk2"/>
              </a:solidFill>
            </a:endParaRPr>
          </a:p>
          <a:p>
            <a:pPr indent="0" lvl="0" marL="0" rtl="0" algn="l">
              <a:spcBef>
                <a:spcPts val="0"/>
              </a:spcBef>
              <a:spcAft>
                <a:spcPts val="0"/>
              </a:spcAft>
              <a:buNone/>
            </a:pPr>
            <a:r>
              <a:rPr lang="en" sz="1200">
                <a:solidFill>
                  <a:schemeClr val="dk2"/>
                </a:solidFill>
              </a:rPr>
              <a:t>Explain how does the architecture of GPUs make them suitable for tasks like video games, AI, and machine learning?</a:t>
            </a:r>
            <a:endParaRPr sz="1200">
              <a:solidFill>
                <a:schemeClr val="dk2"/>
              </a:solidFill>
            </a:endParaRPr>
          </a:p>
          <a:p>
            <a:pPr indent="0" lvl="0" marL="0" rtl="0" algn="l">
              <a:spcBef>
                <a:spcPts val="0"/>
              </a:spcBef>
              <a:spcAft>
                <a:spcPts val="0"/>
              </a:spcAft>
              <a:buNone/>
            </a:pPr>
            <a:r>
              <a:t/>
            </a:r>
            <a:endParaRPr b="1" sz="1200">
              <a:solidFill>
                <a:schemeClr val="dk2"/>
              </a:solidFill>
            </a:endParaRPr>
          </a:p>
          <a:p>
            <a:pPr indent="0" lvl="0" marL="0" rtl="0" algn="l">
              <a:spcBef>
                <a:spcPts val="0"/>
              </a:spcBef>
              <a:spcAft>
                <a:spcPts val="0"/>
              </a:spcAft>
              <a:buClr>
                <a:schemeClr val="dk1"/>
              </a:buClr>
              <a:buSzPts val="1100"/>
              <a:buFont typeface="Arial"/>
              <a:buNone/>
            </a:pPr>
            <a:r>
              <a:t/>
            </a:r>
            <a:endParaRPr b="1" sz="12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grpSp>
        <p:nvGrpSpPr>
          <p:cNvPr id="219" name="Google Shape;219;g3a8fa397a04_1_263"/>
          <p:cNvGrpSpPr/>
          <p:nvPr/>
        </p:nvGrpSpPr>
        <p:grpSpPr>
          <a:xfrm>
            <a:off x="6152859" y="2215951"/>
            <a:ext cx="567841" cy="324654"/>
            <a:chOff x="5774050" y="132500"/>
            <a:chExt cx="702600" cy="401700"/>
          </a:xfrm>
        </p:grpSpPr>
        <p:sp>
          <p:nvSpPr>
            <p:cNvPr id="220" name="Google Shape;220;g3a8fa397a04_1_263"/>
            <p:cNvSpPr/>
            <p:nvPr/>
          </p:nvSpPr>
          <p:spPr>
            <a:xfrm>
              <a:off x="5774050" y="132500"/>
              <a:ext cx="702600" cy="401700"/>
            </a:xfrm>
            <a:prstGeom prst="cloudCallout">
              <a:avLst>
                <a:gd fmla="val -20833" name="adj1"/>
                <a:gd fmla="val 62500" name="adj2"/>
              </a:avLst>
            </a:prstGeom>
            <a:solidFill>
              <a:srgbClr val="EE381A"/>
            </a:solidFill>
            <a:ln cap="flat" cmpd="sng" w="8675">
              <a:solidFill>
                <a:srgbClr val="595959"/>
              </a:solidFill>
              <a:prstDash val="solid"/>
              <a:round/>
              <a:headEnd len="sm" w="sm" type="none"/>
              <a:tailEnd len="sm" w="sm" type="none"/>
            </a:ln>
          </p:spPr>
          <p:txBody>
            <a:bodyPr anchorCtr="0" anchor="ctr" bIns="73900" lIns="73900" spcFirstLastPara="1" rIns="73900" wrap="square" tIns="73900">
              <a:noAutofit/>
            </a:bodyPr>
            <a:lstStyle/>
            <a:p>
              <a:pPr indent="0" lvl="0" marL="0" rtl="0" algn="ctr">
                <a:spcBef>
                  <a:spcPts val="0"/>
                </a:spcBef>
                <a:spcAft>
                  <a:spcPts val="0"/>
                </a:spcAft>
                <a:buNone/>
              </a:pPr>
              <a:r>
                <a:t/>
              </a:r>
              <a:endParaRPr sz="1131"/>
            </a:p>
          </p:txBody>
        </p:sp>
        <p:sp>
          <p:nvSpPr>
            <p:cNvPr id="221" name="Google Shape;221;g3a8fa397a04_1_263"/>
            <p:cNvSpPr txBox="1"/>
            <p:nvPr/>
          </p:nvSpPr>
          <p:spPr>
            <a:xfrm>
              <a:off x="5885950" y="153800"/>
              <a:ext cx="478800" cy="359100"/>
            </a:xfrm>
            <a:prstGeom prst="rect">
              <a:avLst/>
            </a:prstGeom>
            <a:noFill/>
            <a:ln>
              <a:noFill/>
            </a:ln>
          </p:spPr>
          <p:txBody>
            <a:bodyPr anchorCtr="0" anchor="t" bIns="73900" lIns="73900" spcFirstLastPara="1" rIns="73900" wrap="square" tIns="73900">
              <a:noAutofit/>
            </a:bodyPr>
            <a:lstStyle/>
            <a:p>
              <a:pPr indent="0" lvl="0" marL="0" rtl="0" algn="l">
                <a:spcBef>
                  <a:spcPts val="0"/>
                </a:spcBef>
                <a:spcAft>
                  <a:spcPts val="0"/>
                </a:spcAft>
                <a:buNone/>
              </a:pPr>
              <a:r>
                <a:rPr b="1" lang="en" sz="646">
                  <a:solidFill>
                    <a:srgbClr val="FFFFFF"/>
                  </a:solidFill>
                </a:rPr>
                <a:t>H.O.T</a:t>
              </a:r>
              <a:endParaRPr b="1" sz="323">
                <a:solidFill>
                  <a:srgbClr val="FFFFFF"/>
                </a:solidFill>
              </a:endParaRPr>
            </a:p>
          </p:txBody>
        </p:sp>
      </p:grpSp>
      <p:sp>
        <p:nvSpPr>
          <p:cNvPr id="222" name="Google Shape;222;g3a8fa397a04_1_263"/>
          <p:cNvSpPr txBox="1"/>
          <p:nvPr/>
        </p:nvSpPr>
        <p:spPr>
          <a:xfrm>
            <a:off x="7043400" y="4380900"/>
            <a:ext cx="210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highlight>
                  <a:schemeClr val="accent6"/>
                </a:highlight>
              </a:rPr>
              <a:t>WAGOLL (WHAT A GOOD ONE LOOK LIKE)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a8fa397a04_1_325"/>
          <p:cNvSpPr/>
          <p:nvPr/>
        </p:nvSpPr>
        <p:spPr>
          <a:xfrm>
            <a:off x="16225" y="8125"/>
            <a:ext cx="9144000" cy="673500"/>
          </a:xfrm>
          <a:prstGeom prst="rect">
            <a:avLst/>
          </a:prstGeom>
          <a:solidFill>
            <a:schemeClr val="lt1"/>
          </a:solidFill>
          <a:ln cap="flat" cmpd="sng" w="2857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rgbClr val="00B050"/>
                </a:solidFill>
              </a:rPr>
              <a:t>Plenary: Evaluate on your worksheet (Exit ticket)</a:t>
            </a:r>
            <a:endParaRPr b="1" sz="2200">
              <a:solidFill>
                <a:srgbClr val="00B050"/>
              </a:solidFill>
            </a:endParaRPr>
          </a:p>
        </p:txBody>
      </p:sp>
      <p:pic>
        <p:nvPicPr>
          <p:cNvPr id="228" name="Google Shape;228;g3a8fa397a04_1_325"/>
          <p:cNvPicPr preferRelativeResize="0"/>
          <p:nvPr/>
        </p:nvPicPr>
        <p:blipFill>
          <a:blip r:embed="rId3">
            <a:alphaModFix/>
          </a:blip>
          <a:stretch>
            <a:fillRect/>
          </a:stretch>
        </p:blipFill>
        <p:spPr>
          <a:xfrm>
            <a:off x="7880174" y="1614625"/>
            <a:ext cx="642725" cy="652770"/>
          </a:xfrm>
          <a:prstGeom prst="rect">
            <a:avLst/>
          </a:prstGeom>
          <a:noFill/>
          <a:ln>
            <a:noFill/>
          </a:ln>
        </p:spPr>
      </p:pic>
      <p:pic>
        <p:nvPicPr>
          <p:cNvPr id="229" name="Google Shape;229;g3a8fa397a04_1_325"/>
          <p:cNvPicPr preferRelativeResize="0"/>
          <p:nvPr/>
        </p:nvPicPr>
        <p:blipFill rotWithShape="1">
          <a:blip r:embed="rId4">
            <a:alphaModFix/>
          </a:blip>
          <a:srcRect b="6152" l="6581" r="4482" t="11038"/>
          <a:stretch/>
        </p:blipFill>
        <p:spPr>
          <a:xfrm>
            <a:off x="8348900" y="8123"/>
            <a:ext cx="642713" cy="673500"/>
          </a:xfrm>
          <a:prstGeom prst="rect">
            <a:avLst/>
          </a:prstGeom>
          <a:noFill/>
          <a:ln>
            <a:noFill/>
          </a:ln>
        </p:spPr>
      </p:pic>
      <p:pic>
        <p:nvPicPr>
          <p:cNvPr id="230" name="Google Shape;230;g3a8fa397a04_1_325"/>
          <p:cNvPicPr preferRelativeResize="0"/>
          <p:nvPr/>
        </p:nvPicPr>
        <p:blipFill>
          <a:blip r:embed="rId5">
            <a:alphaModFix/>
          </a:blip>
          <a:stretch>
            <a:fillRect/>
          </a:stretch>
        </p:blipFill>
        <p:spPr>
          <a:xfrm>
            <a:off x="7644325" y="2571738"/>
            <a:ext cx="1114425" cy="1800225"/>
          </a:xfrm>
          <a:prstGeom prst="rect">
            <a:avLst/>
          </a:prstGeom>
          <a:noFill/>
          <a:ln>
            <a:noFill/>
          </a:ln>
        </p:spPr>
      </p:pic>
      <p:graphicFrame>
        <p:nvGraphicFramePr>
          <p:cNvPr id="231" name="Google Shape;231;g3a8fa397a04_1_325"/>
          <p:cNvGraphicFramePr/>
          <p:nvPr/>
        </p:nvGraphicFramePr>
        <p:xfrm>
          <a:off x="306075" y="848400"/>
          <a:ext cx="3000000" cy="3000000"/>
        </p:xfrm>
        <a:graphic>
          <a:graphicData uri="http://schemas.openxmlformats.org/drawingml/2006/table">
            <a:tbl>
              <a:tblPr>
                <a:noFill/>
                <a:tableStyleId>{6C6EA776-72CF-4C4B-B819-5E53C2345A28}</a:tableStyleId>
              </a:tblPr>
              <a:tblGrid>
                <a:gridCol w="934000"/>
                <a:gridCol w="4399625"/>
                <a:gridCol w="921725"/>
              </a:tblGrid>
              <a:tr h="648500">
                <a:tc>
                  <a:txBody>
                    <a:bodyPr/>
                    <a:lstStyle/>
                    <a:p>
                      <a:pPr indent="0" lvl="0" marL="0" rtl="0" algn="l">
                        <a:lnSpc>
                          <a:spcPct val="115000"/>
                        </a:lnSpc>
                        <a:spcBef>
                          <a:spcPts val="0"/>
                        </a:spcBef>
                        <a:spcAft>
                          <a:spcPts val="2400"/>
                        </a:spcAft>
                        <a:buNone/>
                      </a:pPr>
                      <a:r>
                        <a:rPr b="1" lang="en" sz="1100"/>
                        <a:t>Task </a:t>
                      </a:r>
                      <a:endParaRPr b="1"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Success Criteria Statement</a:t>
                      </a:r>
                      <a:endParaRPr b="1"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Check</a:t>
                      </a:r>
                      <a:endParaRPr b="1"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791750">
                <a:tc>
                  <a:txBody>
                    <a:bodyPr/>
                    <a:lstStyle/>
                    <a:p>
                      <a:pPr indent="0" lvl="0" marL="0" rtl="0" algn="l">
                        <a:lnSpc>
                          <a:spcPct val="115000"/>
                        </a:lnSpc>
                        <a:spcBef>
                          <a:spcPts val="0"/>
                        </a:spcBef>
                        <a:spcAft>
                          <a:spcPts val="2400"/>
                        </a:spcAft>
                        <a:buNone/>
                      </a:pPr>
                      <a:r>
                        <a:rPr b="1" lang="en" sz="1100"/>
                        <a:t>1</a:t>
                      </a:r>
                      <a:endParaRPr b="1"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Identify</a:t>
                      </a:r>
                      <a:r>
                        <a:rPr lang="en" sz="1100"/>
                        <a:t> the two primary architectural components that define the GPU (cores and memory).</a:t>
                      </a:r>
                      <a:endParaRPr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t/>
                      </a:r>
                      <a:endParaRPr/>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791750">
                <a:tc>
                  <a:txBody>
                    <a:bodyPr/>
                    <a:lstStyle/>
                    <a:p>
                      <a:pPr indent="0" lvl="0" marL="0" rtl="0" algn="l">
                        <a:lnSpc>
                          <a:spcPct val="115000"/>
                        </a:lnSpc>
                        <a:spcBef>
                          <a:spcPts val="0"/>
                        </a:spcBef>
                        <a:spcAft>
                          <a:spcPts val="2400"/>
                        </a:spcAft>
                        <a:buNone/>
                      </a:pPr>
                      <a:r>
                        <a:rPr b="1" lang="en" sz="1100"/>
                        <a:t>2</a:t>
                      </a:r>
                      <a:endParaRPr b="1"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Explain</a:t>
                      </a:r>
                      <a:r>
                        <a:rPr lang="en" sz="1100"/>
                        <a:t> the difference in processing philosophy between a CPU (sequential) and a GPU (parallel).</a:t>
                      </a:r>
                      <a:endParaRPr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t/>
                      </a:r>
                      <a:endParaRPr/>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791750">
                <a:tc>
                  <a:txBody>
                    <a:bodyPr/>
                    <a:lstStyle/>
                    <a:p>
                      <a:pPr indent="0" lvl="0" marL="0" rtl="0" algn="l">
                        <a:lnSpc>
                          <a:spcPct val="115000"/>
                        </a:lnSpc>
                        <a:spcBef>
                          <a:spcPts val="0"/>
                        </a:spcBef>
                        <a:spcAft>
                          <a:spcPts val="2400"/>
                        </a:spcAft>
                        <a:buNone/>
                      </a:pPr>
                      <a:r>
                        <a:rPr b="1" lang="en" sz="1100"/>
                        <a:t>3</a:t>
                      </a:r>
                      <a:endParaRPr b="1"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Describe</a:t>
                      </a:r>
                      <a:r>
                        <a:rPr lang="en" sz="1100"/>
                        <a:t> the GPU's original and modern roles in computing (graphics and GPGPU).</a:t>
                      </a:r>
                      <a:endParaRPr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t/>
                      </a:r>
                      <a:endParaRPr/>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791750">
                <a:tc>
                  <a:txBody>
                    <a:bodyPr/>
                    <a:lstStyle/>
                    <a:p>
                      <a:pPr indent="0" lvl="0" marL="0" rtl="0" algn="l">
                        <a:lnSpc>
                          <a:spcPct val="115000"/>
                        </a:lnSpc>
                        <a:spcBef>
                          <a:spcPts val="0"/>
                        </a:spcBef>
                        <a:spcAft>
                          <a:spcPts val="2400"/>
                        </a:spcAft>
                        <a:buNone/>
                      </a:pPr>
                      <a:r>
                        <a:rPr b="1" lang="en" sz="1100"/>
                        <a:t>4</a:t>
                      </a:r>
                      <a:endParaRPr b="1"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100"/>
                        <a:t>Provide</a:t>
                      </a:r>
                      <a:r>
                        <a:rPr lang="en" sz="1100"/>
                        <a:t> real-world examples of how the GPU is used in everyday technology (AI, video, etc.).</a:t>
                      </a:r>
                      <a:endParaRPr sz="1100"/>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t/>
                      </a:r>
                      <a:endParaRPr/>
                    </a:p>
                  </a:txBody>
                  <a:tcPr marT="91425" marB="91425" marR="91425" marL="91425">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