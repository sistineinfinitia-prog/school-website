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gH65QG/ScbcRwA2tum0tQbVcF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274320" y="4572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A 2.2.3 + A 2.2.4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74320" y="8229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onsolas"/>
                <a:ea typeface="Consolas"/>
                <a:cs typeface="Consolas"/>
                <a:sym typeface="Consolas"/>
              </a:rPr>
              <a:t>IB Computer Science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28600" y="4206240"/>
            <a:ext cx="320040" cy="320040"/>
          </a:xfrm>
          <a:prstGeom prst="ellipse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31520" y="4206240"/>
            <a:ext cx="320040" cy="320040"/>
          </a:xfrm>
          <a:prstGeom prst="ellipse">
            <a:avLst/>
          </a:prstGeom>
          <a:solidFill>
            <a:srgbClr val="1A2C54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234440" y="4206240"/>
            <a:ext cx="320040" cy="320040"/>
          </a:xfrm>
          <a:prstGeom prst="ellipse">
            <a:avLst/>
          </a:prstGeom>
          <a:solidFill>
            <a:srgbClr val="1A2C54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737360" y="4206240"/>
            <a:ext cx="320040" cy="320040"/>
          </a:xfrm>
          <a:prstGeom prst="ellipse">
            <a:avLst/>
          </a:prstGeom>
          <a:solidFill>
            <a:srgbClr val="1A2C54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749040" y="91440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Networking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749040" y="164592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Models &amp;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749040" y="237744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Segmentation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749040" y="3337560"/>
            <a:ext cx="5029200" cy="27432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3749040" y="34747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85-Minute Lesson  •  Client-Server  •  P2P  •  Subnetting  •  VLANs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749040" y="46177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⏱ 85 Minutes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11480" y="13716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00C8E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11480" y="12801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A2.2.3 &amp; A2.2.4 — Networking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1148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Lesson at a Glance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11480" y="1234440"/>
            <a:ext cx="4023360" cy="91440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11480" y="1234440"/>
            <a:ext cx="54864" cy="914400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520440" y="1344168"/>
            <a:ext cx="777240" cy="256032"/>
          </a:xfrm>
          <a:prstGeom prst="roundRect">
            <a:avLst>
              <a:gd fmla="val 17857" name="adj"/>
            </a:avLst>
          </a:prstGeom>
          <a:solidFill>
            <a:srgbClr val="00B894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502152" y="1335024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76072" y="132588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Starter Activity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76072" y="17373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Differentiated prior knowledge activation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11480" y="2350008"/>
            <a:ext cx="4023360" cy="91440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11480" y="2350008"/>
            <a:ext cx="54864" cy="91440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520440" y="2459736"/>
            <a:ext cx="777240" cy="256032"/>
          </a:xfrm>
          <a:prstGeom prst="roundRect">
            <a:avLst>
              <a:gd fmla="val 17857" name="adj"/>
            </a:avLst>
          </a:prstGeom>
          <a:solidFill>
            <a:srgbClr val="00C8E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3502152" y="2450592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20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76072" y="244144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Networking Models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76072" y="285292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Client-Server vs Peer-to-Peer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11480" y="3465576"/>
            <a:ext cx="4023360" cy="91440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11480" y="3465576"/>
            <a:ext cx="54864" cy="914400"/>
          </a:xfrm>
          <a:prstGeom prst="rect">
            <a:avLst/>
          </a:prstGeom>
          <a:solidFill>
            <a:srgbClr val="7B3FA0"/>
          </a:solidFill>
          <a:ln cap="flat" cmpd="sng" w="12700">
            <a:solidFill>
              <a:srgbClr val="7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3520440" y="3575304"/>
            <a:ext cx="777240" cy="256032"/>
          </a:xfrm>
          <a:prstGeom prst="roundRect">
            <a:avLst>
              <a:gd fmla="val 17857" name="adj"/>
            </a:avLst>
          </a:prstGeom>
          <a:solidFill>
            <a:srgbClr val="7B3FA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3502152" y="3566160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3FA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3FA0"/>
                </a:solidFill>
                <a:latin typeface="Calibri"/>
                <a:ea typeface="Calibri"/>
                <a:cs typeface="Calibri"/>
                <a:sym typeface="Calibri"/>
              </a:rPr>
              <a:t>20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76072" y="355701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 Segmentation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76072" y="3968496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Subnetting, VLANs &amp; security benefits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663440" y="1234440"/>
            <a:ext cx="4023360" cy="91440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663440" y="1234440"/>
            <a:ext cx="54864" cy="914400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7772400" y="1344168"/>
            <a:ext cx="777240" cy="256032"/>
          </a:xfrm>
          <a:prstGeom prst="roundRect">
            <a:avLst>
              <a:gd fmla="val 17857" name="adj"/>
            </a:avLst>
          </a:prstGeom>
          <a:solidFill>
            <a:srgbClr val="F39C12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7754112" y="1335024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828032" y="132588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 Tasks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828032" y="17373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Higher-order thinking — differentiated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663440" y="2350008"/>
            <a:ext cx="4023360" cy="91440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4663440" y="2350008"/>
            <a:ext cx="54864" cy="914400"/>
          </a:xfrm>
          <a:prstGeom prst="rect">
            <a:avLst/>
          </a:prstGeom>
          <a:solidFill>
            <a:srgbClr val="009DB0"/>
          </a:solidFill>
          <a:ln cap="flat" cmpd="sng" w="12700">
            <a:solidFill>
              <a:srgbClr val="009D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7772400" y="2459736"/>
            <a:ext cx="777240" cy="256032"/>
          </a:xfrm>
          <a:prstGeom prst="roundRect">
            <a:avLst>
              <a:gd fmla="val 17857" name="adj"/>
            </a:avLst>
          </a:prstGeom>
          <a:solidFill>
            <a:srgbClr val="009DB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7754112" y="2450592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DB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9DB0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828032" y="244144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Plenary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828032" y="285292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Big picture consolidation &amp; discussion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663440" y="3465576"/>
            <a:ext cx="4023360" cy="91440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4663440" y="3465576"/>
            <a:ext cx="54864" cy="9144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7772400" y="3575304"/>
            <a:ext cx="777240" cy="256032"/>
          </a:xfrm>
          <a:prstGeom prst="roundRect">
            <a:avLst>
              <a:gd fmla="val 17857" name="adj"/>
            </a:avLst>
          </a:prstGeom>
          <a:solidFill>
            <a:srgbClr val="E74C3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7754112" y="3566160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828032" y="355701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Exit Ticket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828032" y="3968496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Individual assessment &amp; self-evaluation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11480" y="13716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00C8E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11480" y="12801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A2.2.3 &amp; A2.2.4 — Networking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1148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11480" y="1005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By the end of this lesson you will be able to: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11480" y="1463040"/>
            <a:ext cx="8321040" cy="56692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548640" y="1572768"/>
            <a:ext cx="347472" cy="347472"/>
          </a:xfrm>
          <a:prstGeom prst="ellipse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548640" y="15727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051560" y="1554480"/>
            <a:ext cx="7406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Compare and contrast client-server and peer-to-peer networking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11480" y="2139696"/>
            <a:ext cx="8321040" cy="56692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548640" y="2249424"/>
            <a:ext cx="347472" cy="347472"/>
          </a:xfrm>
          <a:prstGeom prst="ellipse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548640" y="224942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051560" y="2231136"/>
            <a:ext cx="7406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Explain real-world applications of each networking model with examples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11480" y="2816352"/>
            <a:ext cx="8321040" cy="56692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548640" y="2926080"/>
            <a:ext cx="347472" cy="347472"/>
          </a:xfrm>
          <a:prstGeom prst="ellipse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548640" y="2926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051560" y="2907792"/>
            <a:ext cx="7406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Describe the concepts and benefits of network segmentation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11480" y="3493008"/>
            <a:ext cx="8321040" cy="56692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548640" y="3602736"/>
            <a:ext cx="347472" cy="347472"/>
          </a:xfrm>
          <a:prstGeom prst="ellipse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548640" y="360273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051560" y="3584448"/>
            <a:ext cx="7406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Distinguish between subnetting and VLANs as segmentation techniques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11480" y="4169664"/>
            <a:ext cx="8321040" cy="56692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548640" y="4279392"/>
            <a:ext cx="347472" cy="347472"/>
          </a:xfrm>
          <a:prstGeom prst="ellipse">
            <a:avLst/>
          </a:prstGeom>
          <a:solidFill>
            <a:srgbClr val="7B3FA0"/>
          </a:solidFill>
          <a:ln cap="flat" cmpd="sng" w="12700">
            <a:solidFill>
              <a:srgbClr val="7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548640" y="42793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051560" y="4261104"/>
            <a:ext cx="7406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Evaluate which model or technique is most appropriate in given scenarios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11480" y="13716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00C8E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11480" y="12801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STARTER — 10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A2.2.3 &amp; A2.2.4 — Networking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1148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Starter Activity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11480" y="10058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Choose your challenge level and complete the task.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74320" y="1417320"/>
            <a:ext cx="2788920" cy="352044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274320" y="1417320"/>
            <a:ext cx="2788920" cy="347472"/>
          </a:xfrm>
          <a:prstGeom prst="rect">
            <a:avLst/>
          </a:prstGeom>
          <a:solidFill>
            <a:srgbClr val="00B894">
              <a:alpha val="30196"/>
            </a:srgbClr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84048" y="1435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⬤ FOUNDATION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84048" y="187452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 the 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84048" y="2304288"/>
            <a:ext cx="256032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Look at these two patterns: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🖥️→💻💻💻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💻↔️💻↔️💻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Which shows a central server?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Which shows direct sharing?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Write: Client-Server or P2P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246120" y="1417320"/>
            <a:ext cx="2788920" cy="352044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246120" y="1417320"/>
            <a:ext cx="2788920" cy="347472"/>
          </a:xfrm>
          <a:prstGeom prst="rect">
            <a:avLst/>
          </a:prstGeom>
          <a:solidFill>
            <a:srgbClr val="00C8E0">
              <a:alpha val="30196"/>
            </a:srgbClr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3355848" y="1435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⬤ 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355848" y="187452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Sort the Features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355848" y="2304288"/>
            <a:ext cx="256032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Place each feature in the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correct column: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• Centralised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• No single point of failure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• Expensive server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• Vulnerable to malware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• Easy data backup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→ Client-Server  |  P2P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217920" y="1417320"/>
            <a:ext cx="2788920" cy="352044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6217920" y="1417320"/>
            <a:ext cx="2788920" cy="347472"/>
          </a:xfrm>
          <a:prstGeom prst="rect">
            <a:avLst/>
          </a:prstGeom>
          <a:solidFill>
            <a:srgbClr val="7B3FA0">
              <a:alpha val="30196"/>
            </a:srgbClr>
          </a:solidFill>
          <a:ln cap="flat" cmpd="sng" w="12700">
            <a:solidFill>
              <a:srgbClr val="7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6327648" y="1435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A0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7B3FA0"/>
                </a:solidFill>
                <a:latin typeface="Consolas"/>
                <a:ea typeface="Consolas"/>
                <a:cs typeface="Consolas"/>
                <a:sym typeface="Consolas"/>
              </a:rPr>
              <a:t>⬤ EXTENSION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327648" y="187452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 &amp; Recommend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327648" y="2304288"/>
            <a:ext cx="256032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 hospital needs a network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for patient records and staff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communication. It must be: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• Secure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• Reliable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• Manageable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Which model(s) would you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recommend? Justify with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trade-offs. (3–4 sentences)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11480" y="13716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00C8E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411480" y="12801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NETWORKING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A2.2.3 &amp; A2.2.4 — Networking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Primary Networking Models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274320" y="1143000"/>
            <a:ext cx="4023360" cy="365760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274320" y="1143000"/>
            <a:ext cx="4023360" cy="73152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57200" y="126187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CLIENT-SERVER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463040" y="1783080"/>
            <a:ext cx="914400" cy="502920"/>
          </a:xfrm>
          <a:prstGeom prst="rect">
            <a:avLst/>
          </a:prstGeom>
          <a:solidFill>
            <a:srgbClr val="132247"/>
          </a:solidFill>
          <a:ln cap="flat" cmpd="sng" w="254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1463040" y="17830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02920" y="2606040"/>
            <a:ext cx="640080" cy="347472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88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502920" y="260604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5"/>
          <p:cNvCxnSpPr/>
          <p:nvPr/>
        </p:nvCxnSpPr>
        <p:spPr>
          <a:xfrm rot="10800000">
            <a:off x="822960" y="2286000"/>
            <a:ext cx="0" cy="320040"/>
          </a:xfrm>
          <a:prstGeom prst="straightConnector1">
            <a:avLst/>
          </a:prstGeom>
          <a:noFill/>
          <a:ln cap="flat" cmpd="sng" w="12700">
            <a:solidFill>
              <a:srgbClr val="009DB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5" name="Google Shape;155;p5"/>
          <p:cNvSpPr/>
          <p:nvPr/>
        </p:nvSpPr>
        <p:spPr>
          <a:xfrm>
            <a:off x="1417320" y="2834640"/>
            <a:ext cx="640080" cy="347472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88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1417320" y="283464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5"/>
          <p:cNvCxnSpPr/>
          <p:nvPr/>
        </p:nvCxnSpPr>
        <p:spPr>
          <a:xfrm rot="10800000">
            <a:off x="1737360" y="228600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009DB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8" name="Google Shape;158;p5"/>
          <p:cNvSpPr/>
          <p:nvPr/>
        </p:nvSpPr>
        <p:spPr>
          <a:xfrm>
            <a:off x="2423160" y="2606040"/>
            <a:ext cx="640080" cy="347472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88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2423160" y="260604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5"/>
          <p:cNvCxnSpPr/>
          <p:nvPr/>
        </p:nvCxnSpPr>
        <p:spPr>
          <a:xfrm rot="10800000">
            <a:off x="2743200" y="2286000"/>
            <a:ext cx="0" cy="320040"/>
          </a:xfrm>
          <a:prstGeom prst="straightConnector1">
            <a:avLst/>
          </a:prstGeom>
          <a:noFill/>
          <a:ln cap="flat" cmpd="sng" w="12700">
            <a:solidFill>
              <a:srgbClr val="009DB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1" name="Google Shape;161;p5"/>
          <p:cNvSpPr/>
          <p:nvPr/>
        </p:nvSpPr>
        <p:spPr>
          <a:xfrm>
            <a:off x="457200" y="3310128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How it works: A central server provides services to multiple clients. Clients request resources; the server responds.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57200" y="4005072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Examples: Web browsing, email, online banking, cloud storage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846320" y="1143000"/>
            <a:ext cx="4023360" cy="365760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4846320" y="1143000"/>
            <a:ext cx="4023360" cy="73152"/>
          </a:xfrm>
          <a:prstGeom prst="rect">
            <a:avLst/>
          </a:prstGeom>
          <a:solidFill>
            <a:srgbClr val="7B3FA0"/>
          </a:solidFill>
          <a:ln cap="flat" cmpd="sng" w="12700">
            <a:solidFill>
              <a:srgbClr val="7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5029200" y="126187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PEER-TO-PEER (P2P)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577840" y="1920240"/>
            <a:ext cx="502920" cy="365760"/>
          </a:xfrm>
          <a:prstGeom prst="ellipse">
            <a:avLst/>
          </a:prstGeom>
          <a:solidFill>
            <a:srgbClr val="132247"/>
          </a:solidFill>
          <a:ln cap="flat" cmpd="sng" w="19050">
            <a:solidFill>
              <a:srgbClr val="9B5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5577840" y="19202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PEER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675120" y="1783080"/>
            <a:ext cx="502920" cy="365760"/>
          </a:xfrm>
          <a:prstGeom prst="ellipse">
            <a:avLst/>
          </a:prstGeom>
          <a:solidFill>
            <a:srgbClr val="132247"/>
          </a:solidFill>
          <a:ln cap="flat" cmpd="sng" w="19050">
            <a:solidFill>
              <a:srgbClr val="9B5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6675120" y="178308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PEER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7772400" y="1920240"/>
            <a:ext cx="502920" cy="365760"/>
          </a:xfrm>
          <a:prstGeom prst="ellipse">
            <a:avLst/>
          </a:prstGeom>
          <a:solidFill>
            <a:srgbClr val="132247"/>
          </a:solidFill>
          <a:ln cap="flat" cmpd="sng" w="19050">
            <a:solidFill>
              <a:srgbClr val="9B5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7772400" y="19202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PEER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863840" y="2834640"/>
            <a:ext cx="502920" cy="365760"/>
          </a:xfrm>
          <a:prstGeom prst="ellipse">
            <a:avLst/>
          </a:prstGeom>
          <a:solidFill>
            <a:srgbClr val="132247"/>
          </a:solidFill>
          <a:ln cap="flat" cmpd="sng" w="19050">
            <a:solidFill>
              <a:srgbClr val="9B5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7863840" y="28346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PEER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675120" y="3017520"/>
            <a:ext cx="502920" cy="365760"/>
          </a:xfrm>
          <a:prstGeom prst="ellipse">
            <a:avLst/>
          </a:prstGeom>
          <a:solidFill>
            <a:srgbClr val="132247"/>
          </a:solidFill>
          <a:ln cap="flat" cmpd="sng" w="19050">
            <a:solidFill>
              <a:srgbClr val="9B5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6675120" y="301752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PEER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5486400" y="2834640"/>
            <a:ext cx="502920" cy="365760"/>
          </a:xfrm>
          <a:prstGeom prst="ellipse">
            <a:avLst/>
          </a:prstGeom>
          <a:solidFill>
            <a:srgbClr val="132247"/>
          </a:solidFill>
          <a:ln cap="flat" cmpd="sng" w="19050">
            <a:solidFill>
              <a:srgbClr val="9B5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5486400" y="28346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PEER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5"/>
          <p:cNvCxnSpPr/>
          <p:nvPr/>
        </p:nvCxnSpPr>
        <p:spPr>
          <a:xfrm>
            <a:off x="5852160" y="2103120"/>
            <a:ext cx="822960" cy="0"/>
          </a:xfrm>
          <a:prstGeom prst="straightConnector1">
            <a:avLst/>
          </a:prstGeom>
          <a:noFill/>
          <a:ln cap="flat" cmpd="sng" w="12700">
            <a:solidFill>
              <a:srgbClr val="7B3FA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9" name="Google Shape;179;p5"/>
          <p:cNvCxnSpPr/>
          <p:nvPr/>
        </p:nvCxnSpPr>
        <p:spPr>
          <a:xfrm>
            <a:off x="6949440" y="1965960"/>
            <a:ext cx="822960" cy="0"/>
          </a:xfrm>
          <a:prstGeom prst="straightConnector1">
            <a:avLst/>
          </a:prstGeom>
          <a:noFill/>
          <a:ln cap="flat" cmpd="sng" w="12700">
            <a:solidFill>
              <a:srgbClr val="7B3FA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0" name="Google Shape;180;p5"/>
          <p:cNvCxnSpPr/>
          <p:nvPr/>
        </p:nvCxnSpPr>
        <p:spPr>
          <a:xfrm>
            <a:off x="5760720" y="2834640"/>
            <a:ext cx="822960" cy="0"/>
          </a:xfrm>
          <a:prstGeom prst="straightConnector1">
            <a:avLst/>
          </a:prstGeom>
          <a:noFill/>
          <a:ln cap="flat" cmpd="sng" w="12700">
            <a:solidFill>
              <a:srgbClr val="7B3FA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1" name="Google Shape;181;p5"/>
          <p:cNvCxnSpPr/>
          <p:nvPr/>
        </p:nvCxnSpPr>
        <p:spPr>
          <a:xfrm>
            <a:off x="6949440" y="2834640"/>
            <a:ext cx="822960" cy="0"/>
          </a:xfrm>
          <a:prstGeom prst="straightConnector1">
            <a:avLst/>
          </a:prstGeom>
          <a:noFill/>
          <a:ln cap="flat" cmpd="sng" w="12700">
            <a:solidFill>
              <a:srgbClr val="7B3FA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2" name="Google Shape;182;p5"/>
          <p:cNvSpPr/>
          <p:nvPr/>
        </p:nvSpPr>
        <p:spPr>
          <a:xfrm>
            <a:off x="5029200" y="3310128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How it works: No central server. Each peer acts as both client AND server, sharing resources directly with other peers.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029200" y="4005072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Examples: BitTorrent, Bitcoin, P2P file sharing, some VoIP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411480" y="13716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00C8E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11480" y="12801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CLIENT-SERVER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A2.2.3 &amp; A2.2.4 — Networking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11480" y="502920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Client-Server: Benefits &amp; Drawbacks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274320" y="1115568"/>
            <a:ext cx="4114800" cy="374904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274320" y="1115568"/>
            <a:ext cx="4114800" cy="384048"/>
          </a:xfrm>
          <a:prstGeom prst="rect">
            <a:avLst/>
          </a:prstGeom>
          <a:solidFill>
            <a:srgbClr val="00B894">
              <a:alpha val="25098"/>
            </a:srgbClr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457200" y="1152144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✓  BENEFITS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11480" y="1645920"/>
            <a:ext cx="274320" cy="274320"/>
          </a:xfrm>
          <a:prstGeom prst="ellipse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411480" y="16459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804672" y="16459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Centralised 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804672" y="1938528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Easier to manage, update policies, and enforce security from one place.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11480" y="2670048"/>
            <a:ext cx="274320" cy="274320"/>
          </a:xfrm>
          <a:prstGeom prst="ellipse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411480" y="26700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804672" y="26700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804672" y="2962656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Can handle large numbers of clients and massive datasets without restructuring.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11480" y="3694176"/>
            <a:ext cx="274320" cy="274320"/>
          </a:xfrm>
          <a:prstGeom prst="ellipse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411480" y="36941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804672" y="369417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Easy Data Backup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804672" y="398678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All data stored centrally — one backup location, one recovery point.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754880" y="1115568"/>
            <a:ext cx="4114800" cy="374904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754880" y="1115568"/>
            <a:ext cx="4114800" cy="384048"/>
          </a:xfrm>
          <a:prstGeom prst="rect">
            <a:avLst/>
          </a:prstGeom>
          <a:solidFill>
            <a:srgbClr val="E74C3C">
              <a:alpha val="25098"/>
            </a:srgbClr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4937760" y="1152144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✗  DRAWBACKS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892040" y="1645920"/>
            <a:ext cx="274320" cy="274320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4892040" y="16459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5285232" y="16459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Point of Failure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5285232" y="1938528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If the server goes down, ALL clients lose access to services — catastrophic.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892040" y="2670048"/>
            <a:ext cx="274320" cy="274320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892040" y="26700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285232" y="26700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Cost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5285232" y="2962656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Servers are expensive to purchase, configure, maintain, and keep secure.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892040" y="3694176"/>
            <a:ext cx="274320" cy="274320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4892040" y="36941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285232" y="369417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Potential Bottleneck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5285232" y="398678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Server may become overloaded if too many clients request services simultaneously.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411480" y="13716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00C8E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411480" y="12801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P2P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A2.2.3 &amp; A2.2.4 — Networking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11480" y="502920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Peer-to-Peer: Benefits &amp; Drawbacks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274320" y="1115568"/>
            <a:ext cx="4114800" cy="374904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274320" y="1115568"/>
            <a:ext cx="4114800" cy="384048"/>
          </a:xfrm>
          <a:prstGeom prst="rect">
            <a:avLst/>
          </a:prstGeom>
          <a:solidFill>
            <a:srgbClr val="00B894">
              <a:alpha val="25098"/>
            </a:srgbClr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457200" y="1152144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✓  BENEFITS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11480" y="1645920"/>
            <a:ext cx="274320" cy="274320"/>
          </a:xfrm>
          <a:prstGeom prst="ellipse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411480" y="16459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804672" y="16459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Single Point of Failure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804672" y="1938528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Network stays operational even when some peers go offline — highly resilient.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11480" y="2670048"/>
            <a:ext cx="274320" cy="274320"/>
          </a:xfrm>
          <a:prstGeom prst="ellipse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411480" y="26700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804672" y="26700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Cost-Effective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804672" y="2962656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No expensive dedicated server hardware required — each peer contributes resources.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11480" y="3694176"/>
            <a:ext cx="274320" cy="274320"/>
          </a:xfrm>
          <a:prstGeom prst="ellipse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411480" y="36941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804672" y="369417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Distributed Resources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804672" y="398678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Processing, storage, and bandwidth shared across all peers in the network.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754880" y="1115568"/>
            <a:ext cx="4114800" cy="374904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4754880" y="1115568"/>
            <a:ext cx="4114800" cy="384048"/>
          </a:xfrm>
          <a:prstGeom prst="rect">
            <a:avLst/>
          </a:prstGeom>
          <a:solidFill>
            <a:srgbClr val="E74C3C">
              <a:alpha val="25098"/>
            </a:srgbClr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4937760" y="1152144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✗  DRAWBACKS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892040" y="1645920"/>
            <a:ext cx="274320" cy="274320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4892040" y="16459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5285232" y="16459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Concerns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5285232" y="1938528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More vulnerable to malware and unauthorised access — harder to enforce policies.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4892040" y="2670048"/>
            <a:ext cx="274320" cy="274320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4892040" y="26700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5285232" y="26700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Difficult to Manage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5285232" y="2962656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No central admin point — managing a large P2P network is complex and unpredictable.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892040" y="3694176"/>
            <a:ext cx="274320" cy="274320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4892040" y="36941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5285232" y="369417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 Performance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5285232" y="398678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Speed depends on availability and resources of individual peers — can be inconsistent.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411480" y="13716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00C8E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411480" y="12801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A2.2.3 &amp; A2.2.4 — Networking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11480" y="502920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Real-World Applications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274320" y="1115568"/>
            <a:ext cx="2743200" cy="1719072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274320" y="1115568"/>
            <a:ext cx="27432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384048" y="12527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896112" y="128016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Browsing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896112" y="1572768"/>
            <a:ext cx="1463040" cy="201168"/>
          </a:xfrm>
          <a:prstGeom prst="roundRect">
            <a:avLst>
              <a:gd fmla="val 18182" name="adj"/>
            </a:avLst>
          </a:prstGeom>
          <a:solidFill>
            <a:srgbClr val="00C8E0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896112" y="157276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Client-Server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384048" y="1874520"/>
            <a:ext cx="2514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Browser (client) sends request → web server responds with page content.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200400" y="1115568"/>
            <a:ext cx="2743200" cy="1719072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3200400" y="1115568"/>
            <a:ext cx="27432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3310128" y="12527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📧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3822192" y="128016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822192" y="1572768"/>
            <a:ext cx="1463040" cy="201168"/>
          </a:xfrm>
          <a:prstGeom prst="roundRect">
            <a:avLst>
              <a:gd fmla="val 18182" name="adj"/>
            </a:avLst>
          </a:prstGeom>
          <a:solidFill>
            <a:srgbClr val="00C8E0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3822192" y="157276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Client-Server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310128" y="1874520"/>
            <a:ext cx="2514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Email client → mail server → recipient's mail server → recipient.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126480" y="1115568"/>
            <a:ext cx="2743200" cy="1719072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6126480" y="1115568"/>
            <a:ext cx="27432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6236208" y="12527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🏦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6748272" y="128016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Online Banking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748272" y="1572768"/>
            <a:ext cx="1463040" cy="201168"/>
          </a:xfrm>
          <a:prstGeom prst="roundRect">
            <a:avLst>
              <a:gd fmla="val 18182" name="adj"/>
            </a:avLst>
          </a:prstGeom>
          <a:solidFill>
            <a:srgbClr val="00C8E0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6748272" y="157276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Client-Server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6236208" y="1874520"/>
            <a:ext cx="2514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Secure login credentials sent to bank's central server for verification.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274320" y="3035808"/>
            <a:ext cx="2743200" cy="1719072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274320" y="3035808"/>
            <a:ext cx="2743200" cy="64008"/>
          </a:xfrm>
          <a:prstGeom prst="rect">
            <a:avLst/>
          </a:prstGeom>
          <a:solidFill>
            <a:srgbClr val="9B5FC0"/>
          </a:solidFill>
          <a:ln cap="flat" cmpd="sng" w="12700">
            <a:solidFill>
              <a:srgbClr val="9B5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384048" y="3172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896112" y="32004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File Sharing (Torrent)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896112" y="3493008"/>
            <a:ext cx="1463040" cy="201168"/>
          </a:xfrm>
          <a:prstGeom prst="roundRect">
            <a:avLst>
              <a:gd fmla="val 18182" name="adj"/>
            </a:avLst>
          </a:prstGeom>
          <a:solidFill>
            <a:srgbClr val="9B5FC0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896112" y="349300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Peer-to-Peer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384048" y="3794760"/>
            <a:ext cx="2514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File pieces downloaded simultaneously from many different peers (seeders).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3200400" y="3035808"/>
            <a:ext cx="2743200" cy="1719072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3200400" y="3035808"/>
            <a:ext cx="2743200" cy="64008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3310128" y="3172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📞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3822192" y="32004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Skype / Zoom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3822192" y="3493008"/>
            <a:ext cx="1463040" cy="201168"/>
          </a:xfrm>
          <a:prstGeom prst="roundRect">
            <a:avLst>
              <a:gd fmla="val 18182" name="adj"/>
            </a:avLst>
          </a:prstGeom>
          <a:solidFill>
            <a:srgbClr val="F39C12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3822192" y="349300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Hybrid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3310128" y="3794760"/>
            <a:ext cx="2514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Server manages call setup (CS); direct audio/video may flow P2P.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6126480" y="3035808"/>
            <a:ext cx="2743200" cy="1719072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6126480" y="3035808"/>
            <a:ext cx="2743200" cy="64008"/>
          </a:xfrm>
          <a:prstGeom prst="rect">
            <a:avLst/>
          </a:prstGeom>
          <a:solidFill>
            <a:srgbClr val="9B5FC0"/>
          </a:solidFill>
          <a:ln cap="flat" cmpd="sng" w="12700">
            <a:solidFill>
              <a:srgbClr val="9B5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6236208" y="3172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₿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6748272" y="32004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Blockchain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6748272" y="3493008"/>
            <a:ext cx="1463040" cy="201168"/>
          </a:xfrm>
          <a:prstGeom prst="roundRect">
            <a:avLst>
              <a:gd fmla="val 18182" name="adj"/>
            </a:avLst>
          </a:prstGeom>
          <a:solidFill>
            <a:srgbClr val="9B5FC0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6748272" y="349300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Peer-to-Peer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6236208" y="3794760"/>
            <a:ext cx="2514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Transactions verified across a distributed P2P network — no central authority.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411480" y="13716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00C8E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411480" y="12801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A2.2.3 &amp; A2.2.4 — Networking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411480" y="50292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Activity: Which Model?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411480" y="10058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For each scenario, decide: Client-Server (CS), Peer-to-Peer (P2P), or Hybrid (H)?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274320" y="1371600"/>
            <a:ext cx="6858000" cy="32004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7178040" y="1371600"/>
            <a:ext cx="640080" cy="320040"/>
          </a:xfrm>
          <a:prstGeom prst="rect">
            <a:avLst/>
          </a:prstGeom>
          <a:solidFill>
            <a:srgbClr val="00C8E0">
              <a:alpha val="30196"/>
            </a:srgbClr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7863840" y="1371600"/>
            <a:ext cx="640080" cy="320040"/>
          </a:xfrm>
          <a:prstGeom prst="rect">
            <a:avLst/>
          </a:prstGeom>
          <a:solidFill>
            <a:srgbClr val="9B5FC0">
              <a:alpha val="30196"/>
            </a:srgbClr>
          </a:solidFill>
          <a:ln cap="flat" cmpd="sng" w="12700">
            <a:solidFill>
              <a:srgbClr val="9B5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8549640" y="1371600"/>
            <a:ext cx="411480" cy="320040"/>
          </a:xfrm>
          <a:prstGeom prst="rect">
            <a:avLst/>
          </a:prstGeom>
          <a:solidFill>
            <a:srgbClr val="F39C12">
              <a:alpha val="30196"/>
            </a:srgbClr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7178040" y="137160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7863840" y="137160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P2P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8549640" y="137160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274320" y="1737360"/>
            <a:ext cx="6858000" cy="45720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411480" y="173736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1. A student streams a lecture from the school's VLE (virtual learning environment)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7178040" y="1810512"/>
            <a:ext cx="6400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7863840" y="1810512"/>
            <a:ext cx="6400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8549640" y="1810512"/>
            <a:ext cx="4114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274320" y="2240280"/>
            <a:ext cx="6858000" cy="45720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411480" y="224028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2. A group of friends share music files directly with each other's computers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7178040" y="2313432"/>
            <a:ext cx="6400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7863840" y="2313432"/>
            <a:ext cx="6400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8549640" y="2313432"/>
            <a:ext cx="4114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274320" y="2743200"/>
            <a:ext cx="6858000" cy="45720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411480" y="274320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3. You check your bank balance through the mobile banking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7178040" y="2816352"/>
            <a:ext cx="6400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7863840" y="2816352"/>
            <a:ext cx="6400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8549640" y="2816352"/>
            <a:ext cx="4114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274320" y="3246120"/>
            <a:ext cx="6858000" cy="45720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411480" y="324612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4. A software update is distributed via BitTorrent to millions of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7178040" y="3319272"/>
            <a:ext cx="6400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7863840" y="3319272"/>
            <a:ext cx="6400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8549640" y="3319272"/>
            <a:ext cx="4114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274320" y="3749040"/>
            <a:ext cx="6858000" cy="45720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411480" y="37490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5. You video call a friend on WhatsApp — voice goes directly between devices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7178040" y="3822192"/>
            <a:ext cx="6400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7863840" y="3822192"/>
            <a:ext cx="6400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8549640" y="3822192"/>
            <a:ext cx="4114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274320" y="4251960"/>
            <a:ext cx="6858000" cy="45720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411480" y="425196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6. Google processes your search query and returns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7178040" y="4325112"/>
            <a:ext cx="6400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7863840" y="4325112"/>
            <a:ext cx="6400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8549640" y="4325112"/>
            <a:ext cx="411480" cy="310896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Discuss with your partner — be ready to justify your choices!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411480" y="13716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00C8E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411480" y="12801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SEGMENTATION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A2.2.3 &amp; A2.2.4 — Networking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Network Segmentation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274320" y="1097280"/>
            <a:ext cx="8595360" cy="114300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274320" y="1097280"/>
            <a:ext cx="8595360" cy="54864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502920" y="12070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🏢 The Office Building Analogy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502920" y="1554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Imagine a large office building where everyone can access every room and every file — that would be chaotic and insecure! Network segmentation is like dividing that office into separate departments with controlled access and locked doors between them.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411480" y="239572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Network Segmentation?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411480" y="278892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Network segmentation is the practice of dividing a large network into smaller, more manageable sub-networks (segments). Each segment is isolated from others, with controlled traffic flow between them.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274320" y="3520440"/>
            <a:ext cx="2743200" cy="123444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274320" y="3520440"/>
            <a:ext cx="54864" cy="1234440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457200" y="35935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Segmentation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457200" y="3977640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The overall strategy — divides the network into zones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3200400" y="3520440"/>
            <a:ext cx="2743200" cy="123444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3200400" y="3520440"/>
            <a:ext cx="54864" cy="123444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3383280" y="35935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Subnetting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3383280" y="3977640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Uses IP address ranges to create logical subnetworks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6126480" y="3520440"/>
            <a:ext cx="2743200" cy="1234440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6126480" y="3520440"/>
            <a:ext cx="54864" cy="1234440"/>
          </a:xfrm>
          <a:prstGeom prst="rect">
            <a:avLst/>
          </a:prstGeom>
          <a:solidFill>
            <a:srgbClr val="7B3FA0"/>
          </a:solidFill>
          <a:ln cap="flat" cmpd="sng" w="12700">
            <a:solidFill>
              <a:srgbClr val="7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6309360" y="35935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A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B3FA0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6309360" y="3977640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Groups devices by function regardless of physical location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411480" y="13716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00C8E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411480" y="12801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SEGMENTATION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A2.2.3 &amp; A2.2.4 — Networking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411480" y="502920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Benefits of Network Segmentation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274320" y="1115568"/>
            <a:ext cx="8595360" cy="2615184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274320" y="1115568"/>
            <a:ext cx="8595360" cy="384048"/>
          </a:xfrm>
          <a:prstGeom prst="rect">
            <a:avLst/>
          </a:prstGeom>
          <a:solidFill>
            <a:srgbClr val="E74C3C">
              <a:alpha val="20000"/>
            </a:srgbClr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502920" y="11704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🛡️  Enhanced Security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347472" y="1618488"/>
            <a:ext cx="54864" cy="54864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548640" y="163677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548640" y="1892808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 breach in one segment cannot spread freely to others — limits blast radius.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347472" y="2331720"/>
            <a:ext cx="54864" cy="54864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1"/>
          <p:cNvSpPr/>
          <p:nvPr/>
        </p:nvSpPr>
        <p:spPr>
          <a:xfrm>
            <a:off x="548640" y="235000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548640" y="2606040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Only authorised users in a segment can access its resources.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347472" y="3044952"/>
            <a:ext cx="54864" cy="54864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548640" y="306324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Reduced Attack Surface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548640" y="3319272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Attackers who breach one zone gain limited access to the rest.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274320" y="3849624"/>
            <a:ext cx="8595360" cy="1901952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"/>
          <p:cNvSpPr/>
          <p:nvPr/>
        </p:nvSpPr>
        <p:spPr>
          <a:xfrm>
            <a:off x="274320" y="3849624"/>
            <a:ext cx="8595360" cy="384048"/>
          </a:xfrm>
          <a:prstGeom prst="rect">
            <a:avLst/>
          </a:prstGeom>
          <a:solidFill>
            <a:srgbClr val="00C8E0">
              <a:alpha val="20000"/>
            </a:srgbClr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502920" y="390448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⚡  Improved Performance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347472" y="4352544"/>
            <a:ext cx="54864" cy="54864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548640" y="437083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Reduced Congestion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548640" y="4626864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Broadcast traffic is contained within segments — not flooding the whole network.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347472" y="5065776"/>
            <a:ext cx="54864" cy="54864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548640" y="508406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Optimised Traffic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548640" y="534009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Devices with similar needs are grouped — traffic flows where it's needed.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274320" y="5870448"/>
            <a:ext cx="8595360" cy="1901952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274320" y="5870448"/>
            <a:ext cx="8595360" cy="384048"/>
          </a:xfrm>
          <a:prstGeom prst="rect">
            <a:avLst/>
          </a:prstGeom>
          <a:solidFill>
            <a:srgbClr val="00B894">
              <a:alpha val="20000"/>
            </a:srgbClr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502920" y="59253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🔧  Simplified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347472" y="6373368"/>
            <a:ext cx="54864" cy="548640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548640" y="639165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Easier Troubleshooting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548640" y="6647688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Problems can be isolated to a specific segment for faster diagnosis.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347472" y="7086600"/>
            <a:ext cx="54864" cy="548640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548640" y="71048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 Resources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548640" y="7360920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Bandwidth and processing power allocated per segment's actual needs.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411480" y="13716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00C8E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2"/>
          <p:cNvSpPr/>
          <p:nvPr/>
        </p:nvSpPr>
        <p:spPr>
          <a:xfrm>
            <a:off x="411480" y="12801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SUBNETTING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A2.2.3 &amp; A2.2.4 — Networking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411480" y="502920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Subnetting Explained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274320" y="1097280"/>
            <a:ext cx="8595360" cy="804672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274320" y="1097280"/>
            <a:ext cx="54864" cy="804672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502920" y="117043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Subnetting is the process of dividing a network into smaller sub-networks based on IP addresses. It is like assigning different area codes to different cities — data is routed intelligently to only the relevant subnet.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411480" y="202996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Highway Analogy: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411480" y="235915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Think of a single highway where ALL cars travel the same route — chaos! Subnetting creates separate lanes (subnets) for different types of traffic so cars only travel to their destination city, not everywhere.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274320" y="2999232"/>
            <a:ext cx="4251960" cy="877824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2"/>
          <p:cNvSpPr/>
          <p:nvPr/>
        </p:nvSpPr>
        <p:spPr>
          <a:xfrm>
            <a:off x="274320" y="2999232"/>
            <a:ext cx="54864" cy="877824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2"/>
          <p:cNvSpPr/>
          <p:nvPr/>
        </p:nvSpPr>
        <p:spPr>
          <a:xfrm>
            <a:off x="475488" y="30723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Reduced Congestion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475488" y="3364992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Routers direct data only to the relevant subnet — not broadcasting to the entire network, eliminating unnecessary traffic.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4709160" y="2999232"/>
            <a:ext cx="4251960" cy="877824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4709160" y="2999232"/>
            <a:ext cx="54864" cy="877824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4910328" y="30723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Smart Routing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4910328" y="3364992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Routers and switches make more intelligent decisions about where to send data using subnet masks and CIDR notation.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274320" y="3986784"/>
            <a:ext cx="4251960" cy="877824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274320" y="3986784"/>
            <a:ext cx="54864" cy="877824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2"/>
          <p:cNvSpPr/>
          <p:nvPr/>
        </p:nvSpPr>
        <p:spPr>
          <a:xfrm>
            <a:off x="475488" y="405993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Resource Management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475488" y="4352544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Group devices with similar needs: all printers on one subnet, all servers on another — makes management far easier.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4709160" y="3986784"/>
            <a:ext cx="4251960" cy="877824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4709160" y="3986784"/>
            <a:ext cx="54864" cy="877824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2"/>
          <p:cNvSpPr/>
          <p:nvPr/>
        </p:nvSpPr>
        <p:spPr>
          <a:xfrm>
            <a:off x="4910328" y="405993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CIDR Notation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4910328" y="4352544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Written as IP/prefix e.g. 192.168.1.0/24 — the /24 means 24 bits for the network, leaving 8 bits (256 addresses) for hosts.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3"/>
          <p:cNvSpPr/>
          <p:nvPr/>
        </p:nvSpPr>
        <p:spPr>
          <a:xfrm>
            <a:off x="411480" y="13716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00C8E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3"/>
          <p:cNvSpPr/>
          <p:nvPr/>
        </p:nvSpPr>
        <p:spPr>
          <a:xfrm>
            <a:off x="411480" y="12801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3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A2.2.3 &amp; A2.2.4 — Networking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411480" y="502920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VLANs — Virtual Local Area Networks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274320" y="1078992"/>
            <a:ext cx="8595360" cy="804672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3"/>
          <p:cNvSpPr/>
          <p:nvPr/>
        </p:nvSpPr>
        <p:spPr>
          <a:xfrm>
            <a:off x="274320" y="1078992"/>
            <a:ext cx="54864" cy="804672"/>
          </a:xfrm>
          <a:prstGeom prst="rect">
            <a:avLst/>
          </a:prstGeom>
          <a:solidFill>
            <a:srgbClr val="7B3FA0"/>
          </a:solidFill>
          <a:ln cap="flat" cmpd="sng" w="12700">
            <a:solidFill>
              <a:srgbClr val="7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3"/>
          <p:cNvSpPr/>
          <p:nvPr/>
        </p:nvSpPr>
        <p:spPr>
          <a:xfrm>
            <a:off x="502920" y="1152144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VLANs group devices by their function or department, regardless of their physical location on the network. It's like having different teams in a company — team members may sit in different offices but still operate as one logical group.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274320" y="2011680"/>
            <a:ext cx="4114800" cy="283464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3"/>
          <p:cNvSpPr/>
          <p:nvPr/>
        </p:nvSpPr>
        <p:spPr>
          <a:xfrm>
            <a:off x="457200" y="20848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Example: School Network VLANs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1389958" y="3012940"/>
            <a:ext cx="1097400" cy="457200"/>
          </a:xfrm>
          <a:prstGeom prst="rect">
            <a:avLst/>
          </a:prstGeom>
          <a:solidFill>
            <a:srgbClr val="132247"/>
          </a:solidFill>
          <a:ln cap="flat" cmpd="sng" w="254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3"/>
          <p:cNvSpPr/>
          <p:nvPr/>
        </p:nvSpPr>
        <p:spPr>
          <a:xfrm>
            <a:off x="1389895" y="2953515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384048" y="2395728"/>
            <a:ext cx="1005840" cy="594360"/>
          </a:xfrm>
          <a:prstGeom prst="roundRect">
            <a:avLst>
              <a:gd fmla="val 10769" name="adj"/>
            </a:avLst>
          </a:prstGeom>
          <a:solidFill>
            <a:srgbClr val="00C8E0">
              <a:alpha val="25098"/>
            </a:srgbClr>
          </a:solidFill>
          <a:ln cap="flat" cmpd="sng" w="1905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3"/>
          <p:cNvSpPr/>
          <p:nvPr/>
        </p:nvSpPr>
        <p:spPr>
          <a:xfrm>
            <a:off x="384048" y="2395728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VLAN 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2331720" y="2395728"/>
            <a:ext cx="1005840" cy="594360"/>
          </a:xfrm>
          <a:prstGeom prst="roundRect">
            <a:avLst>
              <a:gd fmla="val 10769" name="adj"/>
            </a:avLst>
          </a:prstGeom>
          <a:solidFill>
            <a:srgbClr val="00B894">
              <a:alpha val="25098"/>
            </a:srgbClr>
          </a:solidFill>
          <a:ln cap="flat" cmpd="sng" w="1905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3"/>
          <p:cNvSpPr/>
          <p:nvPr/>
        </p:nvSpPr>
        <p:spPr>
          <a:xfrm>
            <a:off x="2331720" y="2395728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VLAN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Teachers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384048" y="3493008"/>
            <a:ext cx="1005840" cy="594360"/>
          </a:xfrm>
          <a:prstGeom prst="roundRect">
            <a:avLst>
              <a:gd fmla="val 10769" name="adj"/>
            </a:avLst>
          </a:prstGeom>
          <a:solidFill>
            <a:srgbClr val="F39C12">
              <a:alpha val="25098"/>
            </a:srgbClr>
          </a:solidFill>
          <a:ln cap="flat" cmpd="sng" w="1905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3"/>
          <p:cNvSpPr/>
          <p:nvPr/>
        </p:nvSpPr>
        <p:spPr>
          <a:xfrm>
            <a:off x="384048" y="3493008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VLAN 30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2331720" y="3493008"/>
            <a:ext cx="1005840" cy="594360"/>
          </a:xfrm>
          <a:prstGeom prst="roundRect">
            <a:avLst>
              <a:gd fmla="val 10769" name="adj"/>
            </a:avLst>
          </a:prstGeom>
          <a:solidFill>
            <a:srgbClr val="E74C3C">
              <a:alpha val="25098"/>
            </a:srgbClr>
          </a:solidFill>
          <a:ln cap="flat" cmpd="sng" w="1905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3"/>
          <p:cNvSpPr/>
          <p:nvPr/>
        </p:nvSpPr>
        <p:spPr>
          <a:xfrm>
            <a:off x="2331720" y="3493008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VLAN 40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Guest WiFi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4617720" y="2011680"/>
            <a:ext cx="4206240" cy="84124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3"/>
          <p:cNvSpPr/>
          <p:nvPr/>
        </p:nvSpPr>
        <p:spPr>
          <a:xfrm>
            <a:off x="4617720" y="2011680"/>
            <a:ext cx="54864" cy="841248"/>
          </a:xfrm>
          <a:prstGeom prst="rect">
            <a:avLst/>
          </a:prstGeom>
          <a:solidFill>
            <a:srgbClr val="7B3FA0"/>
          </a:solidFill>
          <a:ln cap="flat" cmpd="sng" w="12700">
            <a:solidFill>
              <a:srgbClr val="7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3"/>
          <p:cNvSpPr/>
          <p:nvPr/>
        </p:nvSpPr>
        <p:spPr>
          <a:xfrm>
            <a:off x="4828032" y="2084832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B3FA0"/>
                </a:solidFill>
                <a:latin typeface="Calibri"/>
                <a:ea typeface="Calibri"/>
                <a:cs typeface="Calibri"/>
                <a:sym typeface="Calibri"/>
              </a:rPr>
              <a:t>Separate Broadcast Domains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4828032" y="2395728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Broadcasts in one VLAN stay in that VLAN — other VLANs aren't flooded with irrelevant traffic, dramatically reducing congestion.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4617720" y="2971800"/>
            <a:ext cx="4206240" cy="84124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"/>
          <p:cNvSpPr/>
          <p:nvPr/>
        </p:nvSpPr>
        <p:spPr>
          <a:xfrm>
            <a:off x="4617720" y="2971800"/>
            <a:ext cx="54864" cy="84124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3"/>
          <p:cNvSpPr/>
          <p:nvPr/>
        </p:nvSpPr>
        <p:spPr>
          <a:xfrm>
            <a:off x="4828032" y="3044952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Different Security Policies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4828032" y="3355848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Each VLAN can have its own firewall rules, QoS settings, and access control lists — fine-grained security.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4617720" y="3931920"/>
            <a:ext cx="4206240" cy="84124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3"/>
          <p:cNvSpPr/>
          <p:nvPr/>
        </p:nvSpPr>
        <p:spPr>
          <a:xfrm>
            <a:off x="4617720" y="3931920"/>
            <a:ext cx="54864" cy="841248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3"/>
          <p:cNvSpPr/>
          <p:nvPr/>
        </p:nvSpPr>
        <p:spPr>
          <a:xfrm>
            <a:off x="4828032" y="4005072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Logical not Physical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4828032" y="4315968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Devices can be on the same physical switch but in completely separate VLANs — flexible, no rewiring needed.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4"/>
          <p:cNvSpPr/>
          <p:nvPr/>
        </p:nvSpPr>
        <p:spPr>
          <a:xfrm>
            <a:off x="411480" y="13716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00C8E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4"/>
          <p:cNvSpPr/>
          <p:nvPr/>
        </p:nvSpPr>
        <p:spPr>
          <a:xfrm>
            <a:off x="411480" y="12801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CHALLENGE — 15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4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A2.2.3 &amp; A2.2.4 — Networking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411480" y="502920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Challenge Tasks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274320" y="1078992"/>
            <a:ext cx="8595360" cy="105156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4"/>
          <p:cNvSpPr/>
          <p:nvPr/>
        </p:nvSpPr>
        <p:spPr>
          <a:xfrm>
            <a:off x="274320" y="1078992"/>
            <a:ext cx="8595360" cy="54864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4"/>
          <p:cNvSpPr/>
          <p:nvPr/>
        </p:nvSpPr>
        <p:spPr>
          <a:xfrm>
            <a:off x="457200" y="117043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📖 Scenario: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1444752" y="1170432"/>
            <a:ext cx="73152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A multinational company runs Finance, HR, R&amp;D, and Customer Service on a single flat network with NO segmentation. A phishing email tricks an HR employee and attackers gain access. Within hours they steal R&amp;D source code and customer payment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274320" y="2286000"/>
            <a:ext cx="2788920" cy="248716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4"/>
          <p:cNvSpPr/>
          <p:nvPr/>
        </p:nvSpPr>
        <p:spPr>
          <a:xfrm>
            <a:off x="274320" y="2286000"/>
            <a:ext cx="2788920" cy="329184"/>
          </a:xfrm>
          <a:prstGeom prst="rect">
            <a:avLst/>
          </a:prstGeom>
          <a:solidFill>
            <a:srgbClr val="00B894">
              <a:alpha val="25098"/>
            </a:srgbClr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4"/>
          <p:cNvSpPr/>
          <p:nvPr/>
        </p:nvSpPr>
        <p:spPr>
          <a:xfrm>
            <a:off x="365760" y="2340864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0B894"/>
                </a:solidFill>
                <a:latin typeface="Consolas"/>
                <a:ea typeface="Consolas"/>
                <a:cs typeface="Consolas"/>
                <a:sym typeface="Consolas"/>
              </a:rPr>
              <a:t>⬤ FOUNDATION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365760" y="2706624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Identify the Problems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365760" y="3072384"/>
            <a:ext cx="2578608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List 2 specific problems caused by using a flat (non-segmented) network in this breach scenario.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365760" y="4187952"/>
            <a:ext cx="2578608" cy="73152"/>
          </a:xfrm>
          <a:prstGeom prst="rect">
            <a:avLst/>
          </a:prstGeom>
          <a:solidFill>
            <a:srgbClr val="00B894">
              <a:alpha val="30196"/>
            </a:srgbClr>
          </a:solidFill>
          <a:ln cap="flat" cmpd="sng" w="12700">
            <a:solidFill>
              <a:srgbClr val="00B89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4"/>
          <p:cNvSpPr/>
          <p:nvPr/>
        </p:nvSpPr>
        <p:spPr>
          <a:xfrm>
            <a:off x="365760" y="4279392"/>
            <a:ext cx="25786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💡 Think: could attackers move between departments? Was there any access control?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3200400" y="2286000"/>
            <a:ext cx="2788920" cy="248716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4"/>
          <p:cNvSpPr/>
          <p:nvPr/>
        </p:nvSpPr>
        <p:spPr>
          <a:xfrm>
            <a:off x="3200400" y="2286000"/>
            <a:ext cx="2788920" cy="329184"/>
          </a:xfrm>
          <a:prstGeom prst="rect">
            <a:avLst/>
          </a:prstGeom>
          <a:solidFill>
            <a:srgbClr val="00C8E0">
              <a:alpha val="25098"/>
            </a:srgbClr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4"/>
          <p:cNvSpPr/>
          <p:nvPr/>
        </p:nvSpPr>
        <p:spPr>
          <a:xfrm>
            <a:off x="3291840" y="2340864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⬤ CORE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3291840" y="2706624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Apply VLANs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/>
          <p:nvPr/>
        </p:nvSpPr>
        <p:spPr>
          <a:xfrm>
            <a:off x="3291840" y="3072384"/>
            <a:ext cx="2578608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Explain how implementing VLANs for each department could have limited the impact of this attack. Use technical vocabulary.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3291840" y="4187952"/>
            <a:ext cx="2578608" cy="73152"/>
          </a:xfrm>
          <a:prstGeom prst="rect">
            <a:avLst/>
          </a:prstGeom>
          <a:solidFill>
            <a:srgbClr val="00C8E0">
              <a:alpha val="30196"/>
            </a:srgbClr>
          </a:solidFill>
          <a:ln cap="flat" cmpd="sng" w="12700">
            <a:solidFill>
              <a:srgbClr val="00C8E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4"/>
          <p:cNvSpPr/>
          <p:nvPr/>
        </p:nvSpPr>
        <p:spPr>
          <a:xfrm>
            <a:off x="3291840" y="4279392"/>
            <a:ext cx="25786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💡 Consider: broadcast domains, inter-VLAN routing, ACLs, firewall rules.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6126480" y="2286000"/>
            <a:ext cx="2788920" cy="248716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4"/>
          <p:cNvSpPr/>
          <p:nvPr/>
        </p:nvSpPr>
        <p:spPr>
          <a:xfrm>
            <a:off x="6126480" y="2286000"/>
            <a:ext cx="2788920" cy="329184"/>
          </a:xfrm>
          <a:prstGeom prst="rect">
            <a:avLst/>
          </a:prstGeom>
          <a:solidFill>
            <a:srgbClr val="9B5FC0">
              <a:alpha val="25098"/>
            </a:srgbClr>
          </a:solidFill>
          <a:ln cap="flat" cmpd="sng" w="12700">
            <a:solidFill>
              <a:srgbClr val="9B5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4"/>
          <p:cNvSpPr/>
          <p:nvPr/>
        </p:nvSpPr>
        <p:spPr>
          <a:xfrm>
            <a:off x="6217920" y="2340864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9B5FC0"/>
                </a:solidFill>
                <a:latin typeface="Consolas"/>
                <a:ea typeface="Consolas"/>
                <a:cs typeface="Consolas"/>
                <a:sym typeface="Consolas"/>
              </a:rPr>
              <a:t>⬤ EXTENSION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6217920" y="2706624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 &amp; Design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6217920" y="3072384"/>
            <a:ext cx="2578608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Evaluate the most effective segmentation strategy for this company. Consider cost, security level, manageability. Recommend subnetting, VLANs, or both — justify your choice.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6217920" y="4187952"/>
            <a:ext cx="2578608" cy="73152"/>
          </a:xfrm>
          <a:prstGeom prst="rect">
            <a:avLst/>
          </a:prstGeom>
          <a:solidFill>
            <a:srgbClr val="9B5FC0">
              <a:alpha val="30196"/>
            </a:srgbClr>
          </a:solidFill>
          <a:ln cap="flat" cmpd="sng" w="12700">
            <a:solidFill>
              <a:srgbClr val="9B5FC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4"/>
          <p:cNvSpPr/>
          <p:nvPr/>
        </p:nvSpPr>
        <p:spPr>
          <a:xfrm>
            <a:off x="6217920" y="4279392"/>
            <a:ext cx="25786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💡 Think: defence-in-depth, principle of least privilege, trade-offs.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411480" y="13716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00C8E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411480" y="12801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CHALLENGE — EXTENSION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A2.2.3 &amp; A2.2.4 — Networking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411480" y="502920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Design Challenge: School Network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274320" y="1078992"/>
            <a:ext cx="8595360" cy="896112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5"/>
          <p:cNvSpPr/>
          <p:nvPr/>
        </p:nvSpPr>
        <p:spPr>
          <a:xfrm>
            <a:off x="274320" y="1078992"/>
            <a:ext cx="8595360" cy="54864"/>
          </a:xfrm>
          <a:prstGeom prst="rect">
            <a:avLst/>
          </a:prstGeom>
          <a:solidFill>
            <a:srgbClr val="9B5FC0"/>
          </a:solidFill>
          <a:ln cap="flat" cmpd="sng" w="12700">
            <a:solidFill>
              <a:srgbClr val="9B5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5"/>
          <p:cNvSpPr/>
          <p:nvPr/>
        </p:nvSpPr>
        <p:spPr>
          <a:xfrm>
            <a:off x="457200" y="117043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Task: A school wants to design a secure network for 4 user groups: Students, Teachers, Admin/Finance, and Guest WiFi — all in one physical building.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411480" y="2084832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your segmentation strategy. Consider: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411480" y="2468880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15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  Which groups should be isolated from each other — and why?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411480" y="2834640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15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  Should you use VLANs, subnetting, or a combination of both?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411480" y="3200400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15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  What are the most critical security boundaries? (e.g. Admin from Students)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5"/>
          <p:cNvSpPr/>
          <p:nvPr/>
        </p:nvSpPr>
        <p:spPr>
          <a:xfrm>
            <a:off x="411480" y="3566160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15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  What networking model (Client-Server / P2P) underpins the overall network?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411480" y="3931920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15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  How would you handle the Guest WiFi — what restrictions are needed?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/>
          <p:nvPr/>
        </p:nvSpPr>
        <p:spPr>
          <a:xfrm>
            <a:off x="274320" y="4407408"/>
            <a:ext cx="8595360" cy="47548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5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Write your design in your books OR be prepared to present it to the class. Extension: Draw a VLAN diagram labelling VLAN IDs (10, 20, 30, 40) for each group.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6"/>
          <p:cNvSpPr/>
          <p:nvPr/>
        </p:nvSpPr>
        <p:spPr>
          <a:xfrm>
            <a:off x="411480" y="13716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00C8E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6"/>
          <p:cNvSpPr/>
          <p:nvPr/>
        </p:nvSpPr>
        <p:spPr>
          <a:xfrm>
            <a:off x="411480" y="12801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PLENARY — 10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6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A2.2.3 &amp; A2.2.4 — Networking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411480" y="502920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Plenary: Big Picture Connections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411480" y="105156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Hot Seat Discussion Questions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274320" y="1508760"/>
            <a:ext cx="4251960" cy="120700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6"/>
          <p:cNvSpPr/>
          <p:nvPr/>
        </p:nvSpPr>
        <p:spPr>
          <a:xfrm>
            <a:off x="274320" y="1508760"/>
            <a:ext cx="4251960" cy="54864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6"/>
          <p:cNvSpPr/>
          <p:nvPr/>
        </p:nvSpPr>
        <p:spPr>
          <a:xfrm>
            <a:off x="411480" y="161848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👥 Security Team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411480" y="1947672"/>
            <a:ext cx="39776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A company suffered ransomware. How would you redesign their network using segmentation to minimise future damage?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4709160" y="1508760"/>
            <a:ext cx="4251960" cy="120700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4709160" y="1508760"/>
            <a:ext cx="4251960" cy="54864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4846320" y="161848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👥 Performance Team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4846320" y="1947672"/>
            <a:ext cx="39776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Your network is running slowly. How would VLANs and subnetting technically reduce congestion? Explain the mechanism.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6"/>
          <p:cNvSpPr/>
          <p:nvPr/>
        </p:nvSpPr>
        <p:spPr>
          <a:xfrm>
            <a:off x="274320" y="2898648"/>
            <a:ext cx="4251960" cy="120700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6"/>
          <p:cNvSpPr/>
          <p:nvPr/>
        </p:nvSpPr>
        <p:spPr>
          <a:xfrm>
            <a:off x="274320" y="2898648"/>
            <a:ext cx="4251960" cy="54864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6"/>
          <p:cNvSpPr/>
          <p:nvPr/>
        </p:nvSpPr>
        <p:spPr>
          <a:xfrm>
            <a:off x="411480" y="300837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👥 Finance Team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411480" y="3337560"/>
            <a:ext cx="39776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A 5-person startup has a £2,000 budget. Compare client-server vs P2P — which do you recommend and why?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4709160" y="2898648"/>
            <a:ext cx="4251960" cy="120700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6"/>
          <p:cNvSpPr/>
          <p:nvPr/>
        </p:nvSpPr>
        <p:spPr>
          <a:xfrm>
            <a:off x="4709160" y="2898648"/>
            <a:ext cx="4251960" cy="54864"/>
          </a:xfrm>
          <a:prstGeom prst="rect">
            <a:avLst/>
          </a:prstGeom>
          <a:solidFill>
            <a:srgbClr val="9B5FC0"/>
          </a:solidFill>
          <a:ln cap="flat" cmpd="sng" w="12700">
            <a:solidFill>
              <a:srgbClr val="9B5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6"/>
          <p:cNvSpPr/>
          <p:nvPr/>
        </p:nvSpPr>
        <p:spPr>
          <a:xfrm>
            <a:off x="4846320" y="300837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👥 Future Tech Team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4846320" y="3337560"/>
            <a:ext cx="39776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How might Software-Defined Networking (SDN) change how we implement segmentation vs traditional VLANs?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274320" y="4407408"/>
            <a:ext cx="8595360" cy="475488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6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📌 Exam Tip: 'Compare' = similarities AND differences with analysis. 'Evaluate' = weigh pros &amp; cons, reach a justified conclusion. Always use technical vocabulary!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7"/>
          <p:cNvSpPr/>
          <p:nvPr/>
        </p:nvSpPr>
        <p:spPr>
          <a:xfrm>
            <a:off x="411480" y="13716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00C8E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7"/>
          <p:cNvSpPr/>
          <p:nvPr/>
        </p:nvSpPr>
        <p:spPr>
          <a:xfrm>
            <a:off x="411480" y="12801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EXIT TICKET — 10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7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A2.2.3 &amp; A2.2.4 — Networking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/>
          <p:nvPr/>
        </p:nvSpPr>
        <p:spPr>
          <a:xfrm>
            <a:off x="411480" y="502920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Exit Ticket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7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Complete independently — this tells your teacher what to revisit next lesson.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7"/>
          <p:cNvSpPr/>
          <p:nvPr/>
        </p:nvSpPr>
        <p:spPr>
          <a:xfrm>
            <a:off x="411480" y="1353312"/>
            <a:ext cx="8321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⚡ Part 1 — Quick Fire (Circle your answer)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7"/>
          <p:cNvSpPr/>
          <p:nvPr/>
        </p:nvSpPr>
        <p:spPr>
          <a:xfrm>
            <a:off x="411480" y="17373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ET1. In P2P, each device acts as both a client and a: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7"/>
          <p:cNvSpPr/>
          <p:nvPr/>
        </p:nvSpPr>
        <p:spPr>
          <a:xfrm>
            <a:off x="594360" y="201168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A) Router     B) Server     C) Switch     D) Firewall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7"/>
          <p:cNvSpPr/>
          <p:nvPr/>
        </p:nvSpPr>
        <p:spPr>
          <a:xfrm>
            <a:off x="411480" y="23957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ET2. Which technique groups devices by function, regardless of location?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7"/>
          <p:cNvSpPr/>
          <p:nvPr/>
        </p:nvSpPr>
        <p:spPr>
          <a:xfrm>
            <a:off x="594360" y="267004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A) Subnetting     B) Routing     C) VLAN     D) DNS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7"/>
          <p:cNvSpPr/>
          <p:nvPr/>
        </p:nvSpPr>
        <p:spPr>
          <a:xfrm>
            <a:off x="411480" y="305409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ET3. Segmentation reduces congestion mainly by: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7"/>
          <p:cNvSpPr/>
          <p:nvPr/>
        </p:nvSpPr>
        <p:spPr>
          <a:xfrm>
            <a:off x="594360" y="332841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A) Adding cables     B) Limiting broadcast traffic     C) Using P2P     D) Speeding up PCs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7"/>
          <p:cNvSpPr/>
          <p:nvPr/>
        </p:nvSpPr>
        <p:spPr>
          <a:xfrm>
            <a:off x="411480" y="37673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✍️ Part 2 — Written Reflection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7"/>
          <p:cNvSpPr/>
          <p:nvPr/>
        </p:nvSpPr>
        <p:spPr>
          <a:xfrm>
            <a:off x="411480" y="41148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ET4. In your own words, explain ONE key difference between subnetting and VLANs: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8" name="Google Shape;618;p17"/>
          <p:cNvCxnSpPr/>
          <p:nvPr/>
        </p:nvCxnSpPr>
        <p:spPr>
          <a:xfrm>
            <a:off x="411480" y="4407408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8899B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19" name="Google Shape;619;p17"/>
          <p:cNvSpPr/>
          <p:nvPr/>
        </p:nvSpPr>
        <p:spPr>
          <a:xfrm>
            <a:off x="411480" y="45902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A"/>
                </a:solidFill>
                <a:latin typeface="Calibri"/>
                <a:ea typeface="Calibri"/>
                <a:cs typeface="Calibri"/>
                <a:sym typeface="Calibri"/>
              </a:rPr>
              <a:t>ET5. Give a real-world example of when P2P would be better than Client-Server. Why?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0" name="Google Shape;620;p17"/>
          <p:cNvCxnSpPr/>
          <p:nvPr/>
        </p:nvCxnSpPr>
        <p:spPr>
          <a:xfrm>
            <a:off x="411480" y="4882896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8899BB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8"/>
          <p:cNvSpPr/>
          <p:nvPr/>
        </p:nvSpPr>
        <p:spPr>
          <a:xfrm>
            <a:off x="109728" y="0"/>
            <a:ext cx="3657600" cy="5143500"/>
          </a:xfrm>
          <a:prstGeom prst="rect">
            <a:avLst/>
          </a:prstGeom>
          <a:solidFill>
            <a:srgbClr val="132247"/>
          </a:solidFill>
          <a:ln cap="flat" cmpd="sng" w="12700">
            <a:solidFill>
              <a:srgbClr val="132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8"/>
          <p:cNvSpPr/>
          <p:nvPr/>
        </p:nvSpPr>
        <p:spPr>
          <a:xfrm>
            <a:off x="274320" y="128016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Takeaways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8"/>
          <p:cNvSpPr/>
          <p:nvPr/>
        </p:nvSpPr>
        <p:spPr>
          <a:xfrm>
            <a:off x="274320" y="27432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A2.2.3 &amp; A2.2.4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8"/>
          <p:cNvSpPr/>
          <p:nvPr/>
        </p:nvSpPr>
        <p:spPr>
          <a:xfrm>
            <a:off x="3931920" y="1078992"/>
            <a:ext cx="4937760" cy="713232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8"/>
          <p:cNvSpPr/>
          <p:nvPr/>
        </p:nvSpPr>
        <p:spPr>
          <a:xfrm>
            <a:off x="3931920" y="1078992"/>
            <a:ext cx="54864" cy="713232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8"/>
          <p:cNvSpPr/>
          <p:nvPr/>
        </p:nvSpPr>
        <p:spPr>
          <a:xfrm>
            <a:off x="4160520" y="11521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Client-Server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8"/>
          <p:cNvSpPr/>
          <p:nvPr/>
        </p:nvSpPr>
        <p:spPr>
          <a:xfrm>
            <a:off x="4160520" y="1426464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Central server → scalable, secure, but expensive &amp; single point of failure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8"/>
          <p:cNvSpPr/>
          <p:nvPr/>
        </p:nvSpPr>
        <p:spPr>
          <a:xfrm>
            <a:off x="3931920" y="1883664"/>
            <a:ext cx="4937760" cy="713232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8"/>
          <p:cNvSpPr/>
          <p:nvPr/>
        </p:nvSpPr>
        <p:spPr>
          <a:xfrm>
            <a:off x="3931920" y="1883664"/>
            <a:ext cx="54864" cy="713232"/>
          </a:xfrm>
          <a:prstGeom prst="rect">
            <a:avLst/>
          </a:prstGeom>
          <a:solidFill>
            <a:srgbClr val="9B5FC0"/>
          </a:solidFill>
          <a:ln cap="flat" cmpd="sng" w="12700">
            <a:solidFill>
              <a:srgbClr val="9B5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8"/>
          <p:cNvSpPr/>
          <p:nvPr/>
        </p:nvSpPr>
        <p:spPr>
          <a:xfrm>
            <a:off x="4160520" y="195681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Peer-to-Peer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8"/>
          <p:cNvSpPr/>
          <p:nvPr/>
        </p:nvSpPr>
        <p:spPr>
          <a:xfrm>
            <a:off x="4160520" y="2231136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Decentralised → resilient &amp; cheap, but harder to secure and manage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8"/>
          <p:cNvSpPr/>
          <p:nvPr/>
        </p:nvSpPr>
        <p:spPr>
          <a:xfrm>
            <a:off x="3931920" y="2688336"/>
            <a:ext cx="4937760" cy="713232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8"/>
          <p:cNvSpPr/>
          <p:nvPr/>
        </p:nvSpPr>
        <p:spPr>
          <a:xfrm>
            <a:off x="3931920" y="2688336"/>
            <a:ext cx="54864" cy="713232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8"/>
          <p:cNvSpPr/>
          <p:nvPr/>
        </p:nvSpPr>
        <p:spPr>
          <a:xfrm>
            <a:off x="4160520" y="27614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Segmentation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8"/>
          <p:cNvSpPr/>
          <p:nvPr/>
        </p:nvSpPr>
        <p:spPr>
          <a:xfrm>
            <a:off x="4160520" y="3035808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Divides networks into zones — limits breaches, reduces congestion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8"/>
          <p:cNvSpPr/>
          <p:nvPr/>
        </p:nvSpPr>
        <p:spPr>
          <a:xfrm>
            <a:off x="3931920" y="3493008"/>
            <a:ext cx="4937760" cy="713232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8"/>
          <p:cNvSpPr/>
          <p:nvPr/>
        </p:nvSpPr>
        <p:spPr>
          <a:xfrm>
            <a:off x="3931920" y="3493008"/>
            <a:ext cx="54864" cy="713232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8"/>
          <p:cNvSpPr/>
          <p:nvPr/>
        </p:nvSpPr>
        <p:spPr>
          <a:xfrm>
            <a:off x="4160520" y="35661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Subnetting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8"/>
          <p:cNvSpPr/>
          <p:nvPr/>
        </p:nvSpPr>
        <p:spPr>
          <a:xfrm>
            <a:off x="4160520" y="384048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IP-based sub-networks — smart routing, less broadcast traffic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8"/>
          <p:cNvSpPr/>
          <p:nvPr/>
        </p:nvSpPr>
        <p:spPr>
          <a:xfrm>
            <a:off x="3931920" y="4297680"/>
            <a:ext cx="4937760" cy="713232"/>
          </a:xfrm>
          <a:prstGeom prst="rect">
            <a:avLst/>
          </a:prstGeom>
          <a:solidFill>
            <a:srgbClr val="1A2C54"/>
          </a:solidFill>
          <a:ln cap="flat" cmpd="sng" w="12700">
            <a:solidFill>
              <a:srgbClr val="1E3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8"/>
          <p:cNvSpPr/>
          <p:nvPr/>
        </p:nvSpPr>
        <p:spPr>
          <a:xfrm>
            <a:off x="3931920" y="4297680"/>
            <a:ext cx="54864" cy="713232"/>
          </a:xfrm>
          <a:prstGeom prst="rect">
            <a:avLst/>
          </a:prstGeom>
          <a:solidFill>
            <a:srgbClr val="9B5FC0"/>
          </a:solidFill>
          <a:ln cap="flat" cmpd="sng" w="12700">
            <a:solidFill>
              <a:srgbClr val="9B5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8"/>
          <p:cNvSpPr/>
          <p:nvPr/>
        </p:nvSpPr>
        <p:spPr>
          <a:xfrm>
            <a:off x="4160520" y="43708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FC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B5FC0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4160520" y="4645152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Logic-based grouping by function — separate broadcast domains, flexible security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2026-03-26T06:29:34Z</dcterms:created>
  <dc:creator>PptxGenJS</dc:creator>
</cp:coreProperties>
</file>