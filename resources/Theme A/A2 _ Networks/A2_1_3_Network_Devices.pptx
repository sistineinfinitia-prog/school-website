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33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731520"/>
            <a:ext cx="3474720" cy="3474720"/>
          </a:xfrm>
          <a:prstGeom prst="ellipse">
            <a:avLst/>
          </a:prstGeom>
          <a:solidFill>
            <a:srgbClr val="2C5F2D">
              <a:alpha val="30000"/>
            </a:srgbClr>
          </a:solidFill>
          <a:ln w="12700">
            <a:solidFill>
              <a:srgbClr val="2C5F2D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0" y="2743200"/>
            <a:ext cx="1828800" cy="1828800"/>
          </a:xfrm>
          <a:prstGeom prst="ellipse">
            <a:avLst/>
          </a:prstGeom>
          <a:solidFill>
            <a:srgbClr val="5A8A3C">
              <a:alpha val="35000"/>
            </a:srgbClr>
          </a:solidFill>
          <a:ln w="12700">
            <a:solidFill>
              <a:srgbClr val="5A8A3C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2.1.3  |  IB Computer Science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7772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Network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Devices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Modems · Routers · Switches · NICs · WAPs · Gateways · Firewalls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931920"/>
            <a:ext cx="4114800" cy="4572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069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Intention: Describe the function of network devices and map them to the TCP/IP model.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DO NOW ACTIVITY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02336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Minutes — Think &amp; Respond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772400" y="91440"/>
            <a:ext cx="1097280" cy="731520"/>
          </a:xfrm>
          <a:prstGeom prst="ellipse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0" y="164592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53949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05840"/>
            <a:ext cx="5394960" cy="7315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097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📋  Your Tasks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11480" y="1572768"/>
            <a:ext cx="548640" cy="38404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57276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1554480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THREE devices you use at home or school that help you connect to the internet.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" y="2578608"/>
            <a:ext cx="548640" cy="384048"/>
          </a:xfrm>
          <a:prstGeom prst="rect">
            <a:avLst/>
          </a:prstGeom>
          <a:solidFill>
            <a:srgbClr val="5A8A3C"/>
          </a:solidFill>
          <a:ln w="12700">
            <a:solidFill>
              <a:srgbClr val="5A8A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57860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2560320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difference between a router and a switch. What does each one do?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1480" y="3584448"/>
            <a:ext cx="548640" cy="384048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58444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3566160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Reflect: If a router failed in your school, what would happen? Which devices would be affected and why?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43600" y="1005840"/>
            <a:ext cx="2926080" cy="35661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80760" y="10789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TOK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263640" y="1481328"/>
            <a:ext cx="2194560" cy="36576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80760" y="1572768"/>
            <a:ext cx="2651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E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we truly understand the technology we depend on — or do we simply trust it to work without knowing how?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E2A1F"/>
          </a:solidFill>
          <a:ln w="12700">
            <a:solidFill>
              <a:srgbClr val="1E2A1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73659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Intention: Describe the function of network devices and understand how they map to the layers of the TCP/IP model.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DEVICES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Modems &amp; Routers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605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4160520" cy="6400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78992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📡  Modem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4813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MOdulator / DEModulator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02336" y="1828800"/>
            <a:ext cx="64008" cy="53035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8470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Function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207568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Translates digital signals from your devices into analogue signals for telephone/cable lines — and back again.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02336" y="2532888"/>
            <a:ext cx="64008" cy="53035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55117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Role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" y="277977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your local network to the wider internet. The 'translator' between home and ISP.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02336" y="3236976"/>
            <a:ext cx="64008" cy="53035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325526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TCP/IP Layer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66928" y="348386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Access (Link) Layer — handles physical signal transmission over the network medium.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02336" y="3941064"/>
            <a:ext cx="64008" cy="53035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395935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Example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66928" y="418795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ADSL modem, cable modem, fibre ONT (optical network terminal).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1005840"/>
            <a:ext cx="41605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1005840"/>
            <a:ext cx="4160520" cy="64008"/>
          </a:xfrm>
          <a:prstGeom prst="rect">
            <a:avLst/>
          </a:prstGeom>
          <a:solidFill>
            <a:srgbClr val="5A8A3C"/>
          </a:solidFill>
          <a:ln w="12700">
            <a:solidFill>
              <a:srgbClr val="5A8A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1078992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A8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🔀  Router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892040" y="14813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controller of your network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37176" y="1828800"/>
            <a:ext cx="64008" cy="530352"/>
          </a:xfrm>
          <a:prstGeom prst="rect">
            <a:avLst/>
          </a:prstGeom>
          <a:solidFill>
            <a:srgbClr val="5A8A3C"/>
          </a:solidFill>
          <a:ln w="12700">
            <a:solidFill>
              <a:srgbClr val="5A8A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01768" y="18470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Function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01768" y="207568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data packets from the modem and directs them to the correct device using IP addresses.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37176" y="2532888"/>
            <a:ext cx="64008" cy="530352"/>
          </a:xfrm>
          <a:prstGeom prst="rect">
            <a:avLst/>
          </a:prstGeom>
          <a:solidFill>
            <a:srgbClr val="5A8A3C"/>
          </a:solidFill>
          <a:ln w="12700">
            <a:solidFill>
              <a:srgbClr val="5A8A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01768" y="255117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Role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01768" y="277977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network traffic between devices. Like a central hub with multiple roads to different destinations.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37176" y="3236976"/>
            <a:ext cx="64008" cy="530352"/>
          </a:xfrm>
          <a:prstGeom prst="rect">
            <a:avLst/>
          </a:prstGeom>
          <a:solidFill>
            <a:srgbClr val="5A8A3C"/>
          </a:solidFill>
          <a:ln w="12700">
            <a:solidFill>
              <a:srgbClr val="5A8A3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01768" y="325526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TCP/IP Layer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01768" y="348386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Layer — routes packets between networks using IP addresses to find the best path.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37176" y="3941064"/>
            <a:ext cx="64008" cy="530352"/>
          </a:xfrm>
          <a:prstGeom prst="rect">
            <a:avLst/>
          </a:prstGeom>
          <a:solidFill>
            <a:srgbClr val="5A8A3C"/>
          </a:solidFill>
          <a:ln w="12700">
            <a:solidFill>
              <a:srgbClr val="5A8A3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01768" y="395935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Example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001768" y="418795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Wi-Fi router, enterprise Cisco router, ISP core router.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433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A1A"/>
          </a:solidFill>
          <a:ln w="12700">
            <a:solidFill>
              <a:srgbClr val="1A2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DEVICES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Switches &amp; Network Interface Cards (NICs)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60520" cy="3749040"/>
          </a:xfrm>
          <a:prstGeom prst="rect">
            <a:avLst/>
          </a:prstGeom>
          <a:solidFill>
            <a:srgbClr val="0E2010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7899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🔌  Switch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4813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mailroom of your network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02336" y="1828800"/>
            <a:ext cx="64008" cy="53035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8470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Function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6928" y="207568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E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multiple devices within a LAN and directs data packets only to the intended recipient — using MAC addresses.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2336" y="2532888"/>
            <a:ext cx="64008" cy="53035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55117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Role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" y="277977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E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unnecessary traffic by sending data only to the addressed device — like a mailroom sorting mail.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02336" y="3236976"/>
            <a:ext cx="64008" cy="53035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325526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TCP/IP Layer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6928" y="348386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E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Access (Link) Layer — operates using MAC addresses within a local network.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02336" y="3941064"/>
            <a:ext cx="64008" cy="53035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95935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Example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66928" y="418795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E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24-port office switch, managed enterprise switch, PoE switch.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1005840"/>
            <a:ext cx="4160520" cy="3749040"/>
          </a:xfrm>
          <a:prstGeom prst="rect">
            <a:avLst/>
          </a:prstGeom>
          <a:solidFill>
            <a:srgbClr val="0E2010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107899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🖥  Network Interface Card (NIC)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46320" y="14813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doorway into the network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37176" y="1828800"/>
            <a:ext cx="64008" cy="530352"/>
          </a:xfrm>
          <a:prstGeom prst="rect">
            <a:avLst/>
          </a:prstGeom>
          <a:solidFill>
            <a:srgbClr val="5A8A3C"/>
          </a:solidFill>
          <a:ln w="12700">
            <a:solidFill>
              <a:srgbClr val="5A8A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01768" y="18470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Function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01768" y="207568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E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the physical interface for a device to connect to a network — wired (Ethernet) or wireless.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37176" y="2532888"/>
            <a:ext cx="64008" cy="530352"/>
          </a:xfrm>
          <a:prstGeom prst="rect">
            <a:avLst/>
          </a:prstGeom>
          <a:solidFill>
            <a:srgbClr val="5A8A3C"/>
          </a:solidFill>
          <a:ln w="12700">
            <a:solidFill>
              <a:srgbClr val="5A8A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01768" y="255117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Role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01768" y="277977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E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networked device needs a NIC. It's the doorway that lets a device 'enter' the network.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37176" y="3236976"/>
            <a:ext cx="64008" cy="530352"/>
          </a:xfrm>
          <a:prstGeom prst="rect">
            <a:avLst/>
          </a:prstGeom>
          <a:solidFill>
            <a:srgbClr val="5A8A3C"/>
          </a:solidFill>
          <a:ln w="12700">
            <a:solidFill>
              <a:srgbClr val="5A8A3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01768" y="325526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TCP/IP Layer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01768" y="348386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E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Access (Link) Layer — provides the hardware interface between device and network medium.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37176" y="3941064"/>
            <a:ext cx="64008" cy="530352"/>
          </a:xfrm>
          <a:prstGeom prst="rect">
            <a:avLst/>
          </a:prstGeom>
          <a:solidFill>
            <a:srgbClr val="5A8A3C"/>
          </a:solidFill>
          <a:ln w="12700">
            <a:solidFill>
              <a:srgbClr val="5A8A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01768" y="395935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Example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01768" y="418795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E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Ethernet port on a laptop, PCIe network card, USB Wi-Fi adapter.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DEVICES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Wireless Access Points (WAPs) &amp; Gateways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605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4160520" cy="6400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78992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📶  Wireless Access Point (WAP)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4813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radio tower of your network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02336" y="1828800"/>
            <a:ext cx="64008" cy="53035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8470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Function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207568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Broadcasts a wireless (Wi-Fi) signal that devices can detect and connect to — creating a wireless network.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02336" y="2532888"/>
            <a:ext cx="64008" cy="53035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55117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Role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" y="277977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a wired network to wireless devices. Acts like a radio tower transmitting signals.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02336" y="3236976"/>
            <a:ext cx="64008" cy="53035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325526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TCP/IP Layer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66928" y="348386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Access (Link) Layer — provides wireless access using 802.11 (Wi-Fi) standards.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02336" y="3941064"/>
            <a:ext cx="64008" cy="53035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395935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Example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66928" y="418795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Wi-Fi access point, Cisco WAP, ceiling-mounted enterprise AP.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1005840"/>
            <a:ext cx="41605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1005840"/>
            <a:ext cx="4160520" cy="64008"/>
          </a:xfrm>
          <a:prstGeom prst="rect">
            <a:avLst/>
          </a:prstGeom>
          <a:solidFill>
            <a:srgbClr val="5A8A3C"/>
          </a:solidFill>
          <a:ln w="12700">
            <a:solidFill>
              <a:srgbClr val="5A8A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1078992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A8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🔗  Gateway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892040" y="14813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border crossing between networks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37176" y="1828800"/>
            <a:ext cx="64008" cy="530352"/>
          </a:xfrm>
          <a:prstGeom prst="rect">
            <a:avLst/>
          </a:prstGeom>
          <a:solidFill>
            <a:srgbClr val="5A8A3C"/>
          </a:solidFill>
          <a:ln w="12700">
            <a:solidFill>
              <a:srgbClr val="5A8A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01768" y="18470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Function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01768" y="207568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two different networks with incompatible protocols — translating data formats so they can communicate.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37176" y="2532888"/>
            <a:ext cx="64008" cy="530352"/>
          </a:xfrm>
          <a:prstGeom prst="rect">
            <a:avLst/>
          </a:prstGeom>
          <a:solidFill>
            <a:srgbClr val="5A8A3C"/>
          </a:solidFill>
          <a:ln w="12700">
            <a:solidFill>
              <a:srgbClr val="5A8A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01768" y="255117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Role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01768" y="277977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like a border crossing: checks and translates between two 'countries' with different languages/rules.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37176" y="3236976"/>
            <a:ext cx="64008" cy="530352"/>
          </a:xfrm>
          <a:prstGeom prst="rect">
            <a:avLst/>
          </a:prstGeom>
          <a:solidFill>
            <a:srgbClr val="5A8A3C"/>
          </a:solidFill>
          <a:ln w="12700">
            <a:solidFill>
              <a:srgbClr val="5A8A3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01768" y="325526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TCP/IP Layer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01768" y="348386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Operates at MULTIPLE layers — translates protocols across Application, Transport &amp; Network layers as needed.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37176" y="3941064"/>
            <a:ext cx="64008" cy="530352"/>
          </a:xfrm>
          <a:prstGeom prst="rect">
            <a:avLst/>
          </a:prstGeom>
          <a:solidFill>
            <a:srgbClr val="5A8A3C"/>
          </a:solidFill>
          <a:ln w="12700">
            <a:solidFill>
              <a:srgbClr val="5A8A3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01768" y="395935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Example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001768" y="418795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VoIP gateway (phone ↔ internet), cloud gateway, IoT gateway.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433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A1A"/>
          </a:solidFill>
          <a:ln w="12700">
            <a:solidFill>
              <a:srgbClr val="1A2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DEVICES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Hardware Firewalls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60520" cy="3749040"/>
          </a:xfrm>
          <a:prstGeom prst="rect">
            <a:avLst/>
          </a:prstGeom>
          <a:solidFill>
            <a:srgbClr val="0E2010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7899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🔒  What is a Hardware Firewall?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4813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security guard of your network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02336" y="1828800"/>
            <a:ext cx="64008" cy="53035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8470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Function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6928" y="207568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E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Examines all incoming and outgoing network traffic — blocking unauthorised access and malicious activity.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2336" y="2532888"/>
            <a:ext cx="64008" cy="53035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55117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Role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" y="277977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E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as a physical barrier between your internal network and the outside world, protecting devices and data.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02336" y="3236976"/>
            <a:ext cx="64008" cy="53035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325526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TCP/IP Layer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6928" y="348386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E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Operates at MULTIPLE layers — filters by IP address (Network), port (Transport), and protocol (Application).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02336" y="3941064"/>
            <a:ext cx="64008" cy="53035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95935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Example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66928" y="418795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E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ASA firewall, Fortinet FortiGate, WatchGuard Firebox, pfSense appliance.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1005840"/>
            <a:ext cx="4160520" cy="3749040"/>
          </a:xfrm>
          <a:prstGeom prst="rect">
            <a:avLst/>
          </a:prstGeom>
          <a:solidFill>
            <a:srgbClr val="0E2010"/>
          </a:solidFill>
          <a:ln w="12700">
            <a:solidFill>
              <a:srgbClr val="A6323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09160" y="1005840"/>
            <a:ext cx="4160520" cy="64008"/>
          </a:xfrm>
          <a:prstGeom prst="rect">
            <a:avLst/>
          </a:prstGeom>
          <a:solidFill>
            <a:srgbClr val="A63232"/>
          </a:solidFill>
          <a:ln w="12700">
            <a:solidFill>
              <a:srgbClr val="A632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107899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632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🛡  What Does It Filter?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846320" y="1572768"/>
            <a:ext cx="64008" cy="502920"/>
          </a:xfrm>
          <a:prstGeom prst="rect">
            <a:avLst/>
          </a:prstGeom>
          <a:solidFill>
            <a:srgbClr val="A63232"/>
          </a:solidFill>
          <a:ln w="12700">
            <a:solidFill>
              <a:srgbClr val="A632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10912" y="159105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6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Addresses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10912" y="18288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E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or allow traffic from specific source or destination IPs.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46320" y="2212848"/>
            <a:ext cx="64008" cy="502920"/>
          </a:xfrm>
          <a:prstGeom prst="rect">
            <a:avLst/>
          </a:prstGeom>
          <a:solidFill>
            <a:srgbClr val="A63232"/>
          </a:solidFill>
          <a:ln w="12700">
            <a:solidFill>
              <a:srgbClr val="A6323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10912" y="223113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6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10912" y="246888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E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access to specific ports (e.g. block port 23 Telnet, allow 443 HTTPS).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2852928"/>
            <a:ext cx="64008" cy="502920"/>
          </a:xfrm>
          <a:prstGeom prst="rect">
            <a:avLst/>
          </a:prstGeom>
          <a:solidFill>
            <a:srgbClr val="A63232"/>
          </a:solidFill>
          <a:ln w="12700">
            <a:solidFill>
              <a:srgbClr val="A6323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10912" y="287121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6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10912" y="31089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E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based on protocol type — TCP, UDP, ICMP etc.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46320" y="3493008"/>
            <a:ext cx="64008" cy="502920"/>
          </a:xfrm>
          <a:prstGeom prst="rect">
            <a:avLst/>
          </a:prstGeom>
          <a:solidFill>
            <a:srgbClr val="A63232"/>
          </a:solidFill>
          <a:ln w="12700">
            <a:solidFill>
              <a:srgbClr val="A6323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10912" y="351129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6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Inspection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10912" y="37490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E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packet inspection examines the content of data packets for malicious payloads.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46320" y="4133088"/>
            <a:ext cx="64008" cy="502920"/>
          </a:xfrm>
          <a:prstGeom prst="rect">
            <a:avLst/>
          </a:prstGeom>
          <a:solidFill>
            <a:srgbClr val="A63232"/>
          </a:solidFill>
          <a:ln w="12700">
            <a:solidFill>
              <a:srgbClr val="A6323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10912" y="415137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6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 Tracking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010912" y="43891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E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connection states — only allows responses to legitimate outbound requests.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TCP/IP MODEL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Understanding the Four Layers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8595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24128"/>
            <a:ext cx="502920" cy="8686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24128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1078992"/>
            <a:ext cx="7818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 Layer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1389888"/>
            <a:ext cx="7818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Deals with user applications &amp; services — web browsers, email clients, FTP programs. Where users interact.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057400"/>
            <a:ext cx="502920" cy="868680"/>
          </a:xfrm>
          <a:prstGeom prst="rect">
            <a:avLst/>
          </a:prstGeom>
          <a:solidFill>
            <a:srgbClr val="5A8A3C"/>
          </a:solidFill>
          <a:ln w="12700">
            <a:solidFill>
              <a:srgbClr val="5A8A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05740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14400" y="2112264"/>
            <a:ext cx="7818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8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Transport Layer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2423160"/>
            <a:ext cx="7818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reliable data delivery between applications. Handles segmentation, flow control &amp; error checking (TCP/UDP).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3090672"/>
            <a:ext cx="8595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090672"/>
            <a:ext cx="502920" cy="868680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090672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14400" y="3145536"/>
            <a:ext cx="7818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7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Network Layer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3456432"/>
            <a:ext cx="7818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logical addressing &amp; routing between networks. Uses IP addresses to determine the best path for packets.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4123944"/>
            <a:ext cx="8595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4123944"/>
            <a:ext cx="502920" cy="868680"/>
          </a:xfrm>
          <a:prstGeom prst="rect">
            <a:avLst/>
          </a:prstGeom>
          <a:solidFill>
            <a:srgbClr val="A63232"/>
          </a:solidFill>
          <a:ln w="12700">
            <a:solidFill>
              <a:srgbClr val="A632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123944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14400" y="4178808"/>
            <a:ext cx="7818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632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Network Access Layer (Link Layer)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14400" y="4489704"/>
            <a:ext cx="7818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transmission of data over a specific medium (Ethernet, Wi-Fi). Defines protocols for accessing the physical network.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433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A1A"/>
          </a:solidFill>
          <a:ln w="12700">
            <a:solidFill>
              <a:srgbClr val="1A2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TCP/IP MAPPING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Network Devices &amp; Their TCP/IP Layers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2011680" cy="438912"/>
          </a:xfrm>
          <a:prstGeom prst="rect">
            <a:avLst/>
          </a:prstGeom>
          <a:solidFill>
            <a:srgbClr val="2C5F2D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01752" y="1005840"/>
            <a:ext cx="18653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Device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40280" y="1005840"/>
            <a:ext cx="2286000" cy="438912"/>
          </a:xfrm>
          <a:prstGeom prst="rect">
            <a:avLst/>
          </a:prstGeom>
          <a:solidFill>
            <a:srgbClr val="2C5F2D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13432" y="1005840"/>
            <a:ext cx="21396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TCP/IP Layer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26280" y="1005840"/>
            <a:ext cx="1828800" cy="438912"/>
          </a:xfrm>
          <a:prstGeom prst="rect">
            <a:avLst/>
          </a:prstGeom>
          <a:solidFill>
            <a:srgbClr val="2C5F2D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9432" y="1005840"/>
            <a:ext cx="16824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Address Used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55080" y="1005840"/>
            <a:ext cx="2697480" cy="438912"/>
          </a:xfrm>
          <a:prstGeom prst="rect">
            <a:avLst/>
          </a:prstGeom>
          <a:solidFill>
            <a:srgbClr val="2C5F2D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28232" y="1005840"/>
            <a:ext cx="25511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Role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8600" y="1463040"/>
            <a:ext cx="2011680" cy="475488"/>
          </a:xfrm>
          <a:prstGeom prst="rect">
            <a:avLst/>
          </a:prstGeom>
          <a:solidFill>
            <a:srgbClr val="0E2010"/>
          </a:solidFill>
          <a:ln w="12700">
            <a:solidFill>
              <a:srgbClr val="2A4A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1752" y="1463040"/>
            <a:ext cx="1865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Modem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240280" y="1463040"/>
            <a:ext cx="2286000" cy="475488"/>
          </a:xfrm>
          <a:prstGeom prst="rect">
            <a:avLst/>
          </a:prstGeom>
          <a:solidFill>
            <a:srgbClr val="0E2010"/>
          </a:solidFill>
          <a:ln w="12700">
            <a:solidFill>
              <a:srgbClr val="2A4A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13432" y="1463040"/>
            <a:ext cx="21396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Access (Link)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26280" y="1463040"/>
            <a:ext cx="1828800" cy="475488"/>
          </a:xfrm>
          <a:prstGeom prst="rect">
            <a:avLst/>
          </a:prstGeom>
          <a:solidFill>
            <a:srgbClr val="0E2010"/>
          </a:solidFill>
          <a:ln w="12700">
            <a:solidFill>
              <a:srgbClr val="2A4A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99432" y="1463040"/>
            <a:ext cx="1682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signal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355080" y="1463040"/>
            <a:ext cx="2697480" cy="475488"/>
          </a:xfrm>
          <a:prstGeom prst="rect">
            <a:avLst/>
          </a:prstGeom>
          <a:solidFill>
            <a:srgbClr val="0E2010"/>
          </a:solidFill>
          <a:ln w="12700">
            <a:solidFill>
              <a:srgbClr val="2A4A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28232" y="1463040"/>
            <a:ext cx="2551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↔ Analogue signal conversion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28600" y="1984248"/>
            <a:ext cx="2011680" cy="475488"/>
          </a:xfrm>
          <a:prstGeom prst="rect">
            <a:avLst/>
          </a:prstGeom>
          <a:solidFill>
            <a:srgbClr val="122818"/>
          </a:solidFill>
          <a:ln w="12700">
            <a:solidFill>
              <a:srgbClr val="2A4A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1752" y="1984248"/>
            <a:ext cx="1865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240280" y="1984248"/>
            <a:ext cx="2286000" cy="475488"/>
          </a:xfrm>
          <a:prstGeom prst="rect">
            <a:avLst/>
          </a:prstGeom>
          <a:solidFill>
            <a:srgbClr val="122818"/>
          </a:solidFill>
          <a:ln w="12700">
            <a:solidFill>
              <a:srgbClr val="2A4A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313432" y="1984248"/>
            <a:ext cx="21396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Layer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26280" y="1984248"/>
            <a:ext cx="1828800" cy="475488"/>
          </a:xfrm>
          <a:prstGeom prst="rect">
            <a:avLst/>
          </a:prstGeom>
          <a:solidFill>
            <a:srgbClr val="122818"/>
          </a:solidFill>
          <a:ln w="12700">
            <a:solidFill>
              <a:srgbClr val="2A4A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99432" y="1984248"/>
            <a:ext cx="1682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address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355080" y="1984248"/>
            <a:ext cx="2697480" cy="475488"/>
          </a:xfrm>
          <a:prstGeom prst="rect">
            <a:avLst/>
          </a:prstGeom>
          <a:solidFill>
            <a:srgbClr val="122818"/>
          </a:solidFill>
          <a:ln w="12700">
            <a:solidFill>
              <a:srgbClr val="2A4A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28232" y="1984248"/>
            <a:ext cx="2551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packets between networks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28600" y="2505456"/>
            <a:ext cx="2011680" cy="475488"/>
          </a:xfrm>
          <a:prstGeom prst="rect">
            <a:avLst/>
          </a:prstGeom>
          <a:solidFill>
            <a:srgbClr val="0E2010"/>
          </a:solidFill>
          <a:ln w="12700">
            <a:solidFill>
              <a:srgbClr val="2A4A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01752" y="2505456"/>
            <a:ext cx="1865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240280" y="2505456"/>
            <a:ext cx="2286000" cy="475488"/>
          </a:xfrm>
          <a:prstGeom prst="rect">
            <a:avLst/>
          </a:prstGeom>
          <a:solidFill>
            <a:srgbClr val="0E2010"/>
          </a:solidFill>
          <a:ln w="12700">
            <a:solidFill>
              <a:srgbClr val="2A4A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313432" y="2505456"/>
            <a:ext cx="21396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Access (Link)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526280" y="2505456"/>
            <a:ext cx="1828800" cy="475488"/>
          </a:xfrm>
          <a:prstGeom prst="rect">
            <a:avLst/>
          </a:prstGeom>
          <a:solidFill>
            <a:srgbClr val="0E2010"/>
          </a:solidFill>
          <a:ln w="12700">
            <a:solidFill>
              <a:srgbClr val="2A4A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99432" y="2505456"/>
            <a:ext cx="1682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address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355080" y="2505456"/>
            <a:ext cx="2697480" cy="475488"/>
          </a:xfrm>
          <a:prstGeom prst="rect">
            <a:avLst/>
          </a:prstGeom>
          <a:solidFill>
            <a:srgbClr val="0E2010"/>
          </a:solidFill>
          <a:ln w="12700">
            <a:solidFill>
              <a:srgbClr val="2A4A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28232" y="2505456"/>
            <a:ext cx="2551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Directs packets within a LAN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28600" y="3026664"/>
            <a:ext cx="2011680" cy="475488"/>
          </a:xfrm>
          <a:prstGeom prst="rect">
            <a:avLst/>
          </a:prstGeom>
          <a:solidFill>
            <a:srgbClr val="122818"/>
          </a:solidFill>
          <a:ln w="12700">
            <a:solidFill>
              <a:srgbClr val="2A4A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01752" y="3026664"/>
            <a:ext cx="1865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240280" y="3026664"/>
            <a:ext cx="2286000" cy="475488"/>
          </a:xfrm>
          <a:prstGeom prst="rect">
            <a:avLst/>
          </a:prstGeom>
          <a:solidFill>
            <a:srgbClr val="122818"/>
          </a:solidFill>
          <a:ln w="12700">
            <a:solidFill>
              <a:srgbClr val="2A4A2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313432" y="3026664"/>
            <a:ext cx="21396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Access (Link)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526280" y="3026664"/>
            <a:ext cx="1828800" cy="475488"/>
          </a:xfrm>
          <a:prstGeom prst="rect">
            <a:avLst/>
          </a:prstGeom>
          <a:solidFill>
            <a:srgbClr val="122818"/>
          </a:solidFill>
          <a:ln w="12700">
            <a:solidFill>
              <a:srgbClr val="2A4A2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99432" y="3026664"/>
            <a:ext cx="1682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address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355080" y="3026664"/>
            <a:ext cx="2697480" cy="475488"/>
          </a:xfrm>
          <a:prstGeom prst="rect">
            <a:avLst/>
          </a:prstGeom>
          <a:solidFill>
            <a:srgbClr val="122818"/>
          </a:solidFill>
          <a:ln w="12700">
            <a:solidFill>
              <a:srgbClr val="2A4A2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28232" y="3026664"/>
            <a:ext cx="2551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interface for network connection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228600" y="3547872"/>
            <a:ext cx="2011680" cy="475488"/>
          </a:xfrm>
          <a:prstGeom prst="rect">
            <a:avLst/>
          </a:prstGeom>
          <a:solidFill>
            <a:srgbClr val="0E2010"/>
          </a:solidFill>
          <a:ln w="12700">
            <a:solidFill>
              <a:srgbClr val="2A4A2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01752" y="3547872"/>
            <a:ext cx="1865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WAP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2240280" y="3547872"/>
            <a:ext cx="2286000" cy="475488"/>
          </a:xfrm>
          <a:prstGeom prst="rect">
            <a:avLst/>
          </a:prstGeom>
          <a:solidFill>
            <a:srgbClr val="0E2010"/>
          </a:solidFill>
          <a:ln w="12700">
            <a:solidFill>
              <a:srgbClr val="2A4A2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313432" y="3547872"/>
            <a:ext cx="21396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Access (Link)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526280" y="3547872"/>
            <a:ext cx="1828800" cy="475488"/>
          </a:xfrm>
          <a:prstGeom prst="rect">
            <a:avLst/>
          </a:prstGeom>
          <a:solidFill>
            <a:srgbClr val="0E2010"/>
          </a:solidFill>
          <a:ln w="12700">
            <a:solidFill>
              <a:srgbClr val="2A4A2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99432" y="3547872"/>
            <a:ext cx="1682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address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6355080" y="3547872"/>
            <a:ext cx="2697480" cy="475488"/>
          </a:xfrm>
          <a:prstGeom prst="rect">
            <a:avLst/>
          </a:prstGeom>
          <a:solidFill>
            <a:srgbClr val="0E2010"/>
          </a:solidFill>
          <a:ln w="12700">
            <a:solidFill>
              <a:srgbClr val="2A4A2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28232" y="3547872"/>
            <a:ext cx="2551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access via 802.11 (Wi-Fi)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228600" y="4069080"/>
            <a:ext cx="2011680" cy="475488"/>
          </a:xfrm>
          <a:prstGeom prst="rect">
            <a:avLst/>
          </a:prstGeom>
          <a:solidFill>
            <a:srgbClr val="122818"/>
          </a:solidFill>
          <a:ln w="12700">
            <a:solidFill>
              <a:srgbClr val="2A4A2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01752" y="4069080"/>
            <a:ext cx="1865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2240280" y="4069080"/>
            <a:ext cx="2286000" cy="475488"/>
          </a:xfrm>
          <a:prstGeom prst="rect">
            <a:avLst/>
          </a:prstGeom>
          <a:solidFill>
            <a:srgbClr val="122818"/>
          </a:solidFill>
          <a:ln w="12700">
            <a:solidFill>
              <a:srgbClr val="2A4A2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313432" y="4069080"/>
            <a:ext cx="21396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layers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4526280" y="4069080"/>
            <a:ext cx="1828800" cy="475488"/>
          </a:xfrm>
          <a:prstGeom prst="rect">
            <a:avLst/>
          </a:prstGeom>
          <a:solidFill>
            <a:srgbClr val="122818"/>
          </a:solidFill>
          <a:ln w="12700">
            <a:solidFill>
              <a:srgbClr val="2A4A2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99432" y="4069080"/>
            <a:ext cx="1682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Various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6355080" y="4069080"/>
            <a:ext cx="2697480" cy="475488"/>
          </a:xfrm>
          <a:prstGeom prst="rect">
            <a:avLst/>
          </a:prstGeom>
          <a:solidFill>
            <a:srgbClr val="122818"/>
          </a:solidFill>
          <a:ln w="12700">
            <a:solidFill>
              <a:srgbClr val="2A4A2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428232" y="4069080"/>
            <a:ext cx="2551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Translates protocols between networks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228600" y="4590288"/>
            <a:ext cx="2011680" cy="475488"/>
          </a:xfrm>
          <a:prstGeom prst="rect">
            <a:avLst/>
          </a:prstGeom>
          <a:solidFill>
            <a:srgbClr val="0E2010"/>
          </a:solidFill>
          <a:ln w="12700">
            <a:solidFill>
              <a:srgbClr val="2A4A2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01752" y="4590288"/>
            <a:ext cx="1865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2240280" y="4590288"/>
            <a:ext cx="2286000" cy="475488"/>
          </a:xfrm>
          <a:prstGeom prst="rect">
            <a:avLst/>
          </a:prstGeom>
          <a:solidFill>
            <a:srgbClr val="0E2010"/>
          </a:solidFill>
          <a:ln w="12700">
            <a:solidFill>
              <a:srgbClr val="2A4A2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313432" y="4590288"/>
            <a:ext cx="21396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layers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4526280" y="4590288"/>
            <a:ext cx="1828800" cy="475488"/>
          </a:xfrm>
          <a:prstGeom prst="rect">
            <a:avLst/>
          </a:prstGeom>
          <a:solidFill>
            <a:srgbClr val="0E2010"/>
          </a:solidFill>
          <a:ln w="12700">
            <a:solidFill>
              <a:srgbClr val="2A4A2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599432" y="4590288"/>
            <a:ext cx="1682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/ Port / Proto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6355080" y="4590288"/>
            <a:ext cx="2697480" cy="475488"/>
          </a:xfrm>
          <a:prstGeom prst="rect">
            <a:avLst/>
          </a:prstGeom>
          <a:solidFill>
            <a:srgbClr val="0E2010"/>
          </a:solidFill>
          <a:ln w="12700">
            <a:solidFill>
              <a:srgbClr val="2A4A2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428232" y="4590288"/>
            <a:ext cx="2551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&amp; blocks unauthorised traffic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COMPARISONS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Modem vs Router vs Gateway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9536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8595360" cy="6400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972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📡  Modem vs Router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1499616"/>
            <a:ext cx="1188720" cy="2743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49961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691640" y="1499616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your network to the ISP/internet — converts digital to analogue signals.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1480" y="1837944"/>
            <a:ext cx="1188720" cy="274320"/>
          </a:xfrm>
          <a:prstGeom prst="rect">
            <a:avLst/>
          </a:prstGeom>
          <a:solidFill>
            <a:srgbClr val="5A8A3C"/>
          </a:solidFill>
          <a:ln w="12700">
            <a:solidFill>
              <a:srgbClr val="5A8A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83794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691640" y="1837944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traffic WITHIN your network — directs packets to the right device using IP addresses.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1480" y="2176272"/>
            <a:ext cx="1188720" cy="274320"/>
          </a:xfrm>
          <a:prstGeom prst="rect">
            <a:avLst/>
          </a:prstGeom>
          <a:solidFill>
            <a:srgbClr val="1E2A1F"/>
          </a:solidFill>
          <a:ln w="12700">
            <a:solidFill>
              <a:srgbClr val="1E2A1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1762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691640" y="2176272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Modem = connects to internet. Router = manages internal network. You need BOTH together.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2743200"/>
            <a:ext cx="859536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743200"/>
            <a:ext cx="8595360" cy="64008"/>
          </a:xfrm>
          <a:prstGeom prst="rect">
            <a:avLst/>
          </a:prstGeom>
          <a:solidFill>
            <a:srgbClr val="5A8A3C"/>
          </a:solidFill>
          <a:ln w="12700">
            <a:solidFill>
              <a:srgbClr val="5A8A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8346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8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🔗  Router vs Gateway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11480" y="3236976"/>
            <a:ext cx="1188720" cy="274320"/>
          </a:xfrm>
          <a:prstGeom prst="rect">
            <a:avLst/>
          </a:prstGeom>
          <a:solidFill>
            <a:srgbClr val="5A8A3C"/>
          </a:solidFill>
          <a:ln w="12700">
            <a:solidFill>
              <a:srgbClr val="5A8A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23697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691640" y="3236976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packets between networks using IP addresses — typically same protocol family.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11480" y="3575304"/>
            <a:ext cx="1188720" cy="274320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57530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691640" y="3575304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DIFFERENT networks with INCOMPATIBLE protocols — full protocol translation needed.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11480" y="3913632"/>
            <a:ext cx="1188720" cy="274320"/>
          </a:xfrm>
          <a:prstGeom prst="rect">
            <a:avLst/>
          </a:prstGeom>
          <a:solidFill>
            <a:srgbClr val="1E2A1F"/>
          </a:solidFill>
          <a:ln w="12700">
            <a:solidFill>
              <a:srgbClr val="1E2A1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9136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691640" y="3913632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is more powerful: it translates between entirely different network types and protocols.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433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A1A"/>
          </a:solidFill>
          <a:ln w="12700">
            <a:solidFill>
              <a:srgbClr val="1A2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 DIFFERENTIATED ACTIVITIES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Exam-Style Questions  —  20 Minutes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2743200" cy="5486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128016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AO1 · Recall &amp; Define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46120" y="987552"/>
            <a:ext cx="2743200" cy="548640"/>
          </a:xfrm>
          <a:prstGeom prst="rect">
            <a:avLst/>
          </a:prstGeom>
          <a:solidFill>
            <a:srgbClr val="5A8A3C"/>
          </a:solidFill>
          <a:ln w="12700">
            <a:solidFill>
              <a:srgbClr val="5A8A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46120" y="1005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46120" y="128016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AO2 · Explain &amp; Analyse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217920" y="987552"/>
            <a:ext cx="2743200" cy="548640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005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17920" y="128016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AO3 · Justify &amp; Discuss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1600200"/>
            <a:ext cx="2743200" cy="3246120"/>
          </a:xfrm>
          <a:prstGeom prst="rect">
            <a:avLst/>
          </a:prstGeom>
          <a:solidFill>
            <a:srgbClr val="0E2010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1600200"/>
            <a:ext cx="2743200" cy="54864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167335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  (3 marks)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84048" y="2011680"/>
            <a:ext cx="2514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at home wants to connect their laptop to the internet.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E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Identify the device that converts digital signals to be sent over a telephone line. [1]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E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State TWO functions of a router in a home network. [2]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46120" y="1600200"/>
            <a:ext cx="2788920" cy="3246120"/>
          </a:xfrm>
          <a:prstGeom prst="rect">
            <a:avLst/>
          </a:prstGeom>
          <a:solidFill>
            <a:srgbClr val="0E2010"/>
          </a:solidFill>
          <a:ln w="12700">
            <a:solidFill>
              <a:srgbClr val="5A8A3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46120" y="1600200"/>
            <a:ext cx="2788920" cy="54864"/>
          </a:xfrm>
          <a:prstGeom prst="rect">
            <a:avLst/>
          </a:prstGeom>
          <a:solidFill>
            <a:srgbClr val="5A8A3C"/>
          </a:solidFill>
          <a:ln w="12700">
            <a:solidFill>
              <a:srgbClr val="5A8A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55848" y="167335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8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  (4 marks)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55848" y="2011680"/>
            <a:ext cx="2560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school network has 200 computers connected via switches with one router to the internet.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E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Explain why switches are used instead of connecting all devices directly to the router. [2]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E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Identify the TCP/IP layer that switches operate at and explain why. [2]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17920" y="1600200"/>
            <a:ext cx="2651760" cy="3246120"/>
          </a:xfrm>
          <a:prstGeom prst="rect">
            <a:avLst/>
          </a:prstGeom>
          <a:solidFill>
            <a:srgbClr val="0E2010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17920" y="1600200"/>
            <a:ext cx="2651760" cy="54864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27648" y="167335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7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Q3  (5 marks)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27648" y="2011680"/>
            <a:ext cx="2423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E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business connects its office LAN to a hospital's different network system.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E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Identify the device most suitable for this connection. [1]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E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Explain why this device must operate at multiple TCP/IP layers. [2]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E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Evaluate whether a router alone could perform this role. [2]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 STRETCH  |  EXTENSION ACTIVITIES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Analyse · Evaluate · Justify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20624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A84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4206240" cy="64008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78992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A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Q4  (6 marks)  —  AO3 — Evaluate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481328"/>
            <a:ext cx="39319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company is upgrading its network security and is choosing between a software firewall and a hardware firewall.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Describe TWO differences between a software and hardware firewall. [2]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Evaluate which solution better suits a company network with 500 employees, justifying your answer with reference to TCP/IP layers. [4]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09160" y="1005840"/>
            <a:ext cx="420624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A6323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005840"/>
            <a:ext cx="4206240" cy="64008"/>
          </a:xfrm>
          <a:prstGeom prst="rect">
            <a:avLst/>
          </a:prstGeom>
          <a:solidFill>
            <a:srgbClr val="A63232"/>
          </a:solidFill>
          <a:ln w="12700">
            <a:solidFill>
              <a:srgbClr val="A632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078992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32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Q5  (6 marks)  —  AO3 — Justify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1481328"/>
            <a:ext cx="39319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smart factory connects traditional machinery to a cloud-based monitoring system using IoT sensors.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Identify the network device needed to bridge the factory's legacy network to the internet system. [1]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Explain why this device must operate at multiple TCP/IP layers. [2]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Justify whether a router and a WAP alone could replace this device. [3]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433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A1A"/>
          </a:solidFill>
          <a:ln w="12700">
            <a:solidFill>
              <a:srgbClr val="1A2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PLENARY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Match the Device to Its Function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6675120" cy="804672"/>
          </a:xfrm>
          <a:prstGeom prst="rect">
            <a:avLst/>
          </a:prstGeom>
          <a:solidFill>
            <a:srgbClr val="0E2010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51560"/>
            <a:ext cx="365760" cy="80467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51560"/>
            <a:ext cx="365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49808" y="1051560"/>
            <a:ext cx="6080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E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digital signals to analogue and back again — connecting your local network to the internet.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4320" y="2011680"/>
            <a:ext cx="6675120" cy="804672"/>
          </a:xfrm>
          <a:prstGeom prst="rect">
            <a:avLst/>
          </a:prstGeom>
          <a:solidFill>
            <a:srgbClr val="0E2010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011680"/>
            <a:ext cx="365760" cy="80467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011680"/>
            <a:ext cx="365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49808" y="2011680"/>
            <a:ext cx="6080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E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Directs data packets only to the intended device within a LAN using MAC addresses, reducing traffic.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74320" y="2971800"/>
            <a:ext cx="6675120" cy="804672"/>
          </a:xfrm>
          <a:prstGeom prst="rect">
            <a:avLst/>
          </a:prstGeom>
          <a:solidFill>
            <a:srgbClr val="0E2010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971800"/>
            <a:ext cx="365760" cy="80467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971800"/>
            <a:ext cx="365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49808" y="2971800"/>
            <a:ext cx="6080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E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Wi-Fi network by broadcasting a wireless signal that nearby devices can detect and join.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74320" y="3931920"/>
            <a:ext cx="6675120" cy="804672"/>
          </a:xfrm>
          <a:prstGeom prst="rect">
            <a:avLst/>
          </a:prstGeom>
          <a:solidFill>
            <a:srgbClr val="0E2010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931920"/>
            <a:ext cx="365760" cy="80467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931920"/>
            <a:ext cx="365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49808" y="3931920"/>
            <a:ext cx="6080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E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as a border crossing between two networks with incompatible protocols — translating both data formats and languages.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178040" y="1051560"/>
            <a:ext cx="1691640" cy="80467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78040" y="1051560"/>
            <a:ext cx="1691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A. Modem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178040" y="2011680"/>
            <a:ext cx="1691640" cy="804672"/>
          </a:xfrm>
          <a:prstGeom prst="rect">
            <a:avLst/>
          </a:prstGeom>
          <a:solidFill>
            <a:srgbClr val="5A8A3C"/>
          </a:solidFill>
          <a:ln w="12700">
            <a:solidFill>
              <a:srgbClr val="5A8A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78040" y="2011680"/>
            <a:ext cx="1691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B. Switch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178040" y="2971800"/>
            <a:ext cx="1691640" cy="804672"/>
          </a:xfrm>
          <a:prstGeom prst="rect">
            <a:avLst/>
          </a:prstGeom>
          <a:solidFill>
            <a:srgbClr val="B87333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78040" y="2971800"/>
            <a:ext cx="1691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C. WAP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178040" y="3931920"/>
            <a:ext cx="1691640" cy="804672"/>
          </a:xfrm>
          <a:prstGeom prst="rect">
            <a:avLst/>
          </a:prstGeom>
          <a:solidFill>
            <a:srgbClr val="A63232"/>
          </a:solidFill>
          <a:ln w="12700">
            <a:solidFill>
              <a:srgbClr val="A632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78040" y="3931920"/>
            <a:ext cx="1691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D. Gateway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A2.1.3 Network Devices</dc:title>
  <dc:subject>PptxGenJS Presentation</dc:subject>
  <dc:creator>PptxGenJS</dc:creator>
  <cp:lastModifiedBy>PptxGenJS</cp:lastModifiedBy>
  <cp:revision>1</cp:revision>
  <dcterms:created xsi:type="dcterms:W3CDTF">2026-03-04T19:44:26Z</dcterms:created>
  <dcterms:modified xsi:type="dcterms:W3CDTF">2026-03-04T19:44:26Z</dcterms:modified>
</cp:coreProperties>
</file>