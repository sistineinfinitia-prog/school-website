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731520"/>
            <a:ext cx="2468880" cy="24688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800" kern="0" dirty="0">
                <a:solidFill>
                  <a:srgbClr val="02C39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TOPOLOGIES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devices connect and communicate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4709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2.2.1  |  Computer Science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Network Topology?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79552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topology defines the physical or logical arrangement of nodes (devices) and connections in a network — determining how data flows and how reliable that flow is.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23160"/>
            <a:ext cx="40233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data flow efficiency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network reliability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Influences installation cost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scalability &amp; growth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42316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423160"/>
            <a:ext cx="402336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TYPES COVERED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&amp; Ring (legacy)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(most common today)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&amp; Mesh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(enterprise)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 &amp; Ring Topologies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40233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95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 TOPOLOGY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connect to a single shared cable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cheap to install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Disadvantages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congestion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network fails if cable breaks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troubleshoot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143000"/>
            <a:ext cx="402336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17957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RING TOPOLOGY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17373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 connected in a closed loop; data travels one direction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920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Advantages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2606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data collisions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Disadvantages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3639312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node failure breaks the network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add devices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star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 Topology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widely used topology in homes and offices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1488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2128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devices connect to a central hub or switch — makes management easy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88920" y="1828800"/>
            <a:ext cx="21488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88920" y="182880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2953512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Troubleshoot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53512" y="221284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Isolating a faulty device is straightforward without affecting others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21488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363016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hub fails, the entire network goes down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88920" y="3246120"/>
            <a:ext cx="2148840" cy="12344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88920" y="3246120"/>
            <a:ext cx="73152" cy="12344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2953512" y="3337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53512" y="3630168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Homes, small offices, and enterprise LANs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19456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331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554480"/>
            <a:ext cx="868680" cy="1051560"/>
          </a:xfrm>
          <a:prstGeom prst="line">
            <a:avLst/>
          </a:prstGeom>
          <a:noFill/>
          <a:ln w="19050">
            <a:solidFill>
              <a:srgbClr val="B8D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13716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0" y="1554480"/>
            <a:ext cx="-228600" cy="1051560"/>
          </a:xfrm>
          <a:prstGeom prst="line">
            <a:avLst/>
          </a:prstGeom>
          <a:noFill/>
          <a:ln w="19050">
            <a:solidFill>
              <a:srgbClr val="B8D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49440" y="137160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2514600"/>
            <a:ext cx="-1051560" cy="91440"/>
          </a:xfrm>
          <a:prstGeom prst="line">
            <a:avLst/>
          </a:prstGeom>
          <a:noFill/>
          <a:ln w="19050">
            <a:solidFill>
              <a:srgbClr val="B8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3317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0" y="3566160"/>
            <a:ext cx="-228600" cy="-960120"/>
          </a:xfrm>
          <a:prstGeom prst="line">
            <a:avLst/>
          </a:prstGeom>
          <a:noFill/>
          <a:ln w="19050">
            <a:solidFill>
              <a:srgbClr val="B8D8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33832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3566160"/>
            <a:ext cx="1143000" cy="-960120"/>
          </a:xfrm>
          <a:prstGeom prst="line">
            <a:avLst/>
          </a:prstGeom>
          <a:noFill/>
          <a:ln w="19050">
            <a:solidFill>
              <a:srgbClr val="B8D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338328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2514600"/>
            <a:ext cx="1417320" cy="91440"/>
          </a:xfrm>
          <a:prstGeom prst="line">
            <a:avLst/>
          </a:prstGeom>
          <a:noFill/>
          <a:ln w="19050">
            <a:solidFill>
              <a:srgbClr val="B8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03520" y="2331720"/>
            <a:ext cx="411480" cy="4114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B8D8E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Mesh Topology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connects to every other device — maximum redundancy, maximum cost.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18288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691640"/>
            <a:ext cx="18288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691640"/>
            <a:ext cx="1828800" cy="1371600"/>
          </a:xfrm>
          <a:prstGeom prst="rect">
            <a:avLst/>
          </a:prstGeom>
          <a:solidFill>
            <a:srgbClr val="E74C3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LOW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Failure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691640"/>
            <a:ext cx="1828800" cy="137160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75120" y="182880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2423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291840"/>
            <a:ext cx="2560320" cy="36576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1927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2160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fault tolerance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point of failure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takes multiple paths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for critical systems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3291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291840"/>
            <a:ext cx="2560320" cy="3657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331927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72160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 to implement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to configure &amp; maintain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many cables/ports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scalable for large networks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32918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3291840"/>
            <a:ext cx="2560320" cy="36576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331927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26480" y="3721608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government networks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trading systems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critical infrastructure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recovery systems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&amp; Hybrid Topologies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931920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TOPOLOGY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hierarchical structure — a root node branches out to sub-nodes, like an org chart.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hierarchy for large networks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manage sections independently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of a branch affects only that branch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node failure = total network failure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college campuses &amp; corporate intranets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4300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43000"/>
            <a:ext cx="393192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17043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HYBRID TOPOLOGY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17373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two or more topologies to get the best of each for specific needs.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 — tailored to exact requirements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in large corporations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combine Star + Mesh for reliability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to design and manage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expensive than single-topology networks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Topology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28016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7043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100584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117043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143000"/>
            <a:ext cx="123444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170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94760" y="1143000"/>
            <a:ext cx="123444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170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1143000"/>
            <a:ext cx="393192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1704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554480"/>
            <a:ext cx="1280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" y="158191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1554480"/>
            <a:ext cx="10058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17" name="Text 15"/>
          <p:cNvSpPr/>
          <p:nvPr/>
        </p:nvSpPr>
        <p:spPr>
          <a:xfrm>
            <a:off x="1609344" y="15819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1554480"/>
            <a:ext cx="12344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19" name="Text 17"/>
          <p:cNvSpPr/>
          <p:nvPr/>
        </p:nvSpPr>
        <p:spPr>
          <a:xfrm>
            <a:off x="2615184" y="158191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1554480"/>
            <a:ext cx="12344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21" name="Text 19"/>
          <p:cNvSpPr/>
          <p:nvPr/>
        </p:nvSpPr>
        <p:spPr>
          <a:xfrm>
            <a:off x="3849624" y="158191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1554480"/>
            <a:ext cx="393192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15819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/ small setups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066544"/>
            <a:ext cx="1280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" y="2093976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554480" y="2066544"/>
            <a:ext cx="10058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27" name="Text 25"/>
          <p:cNvSpPr/>
          <p:nvPr/>
        </p:nvSpPr>
        <p:spPr>
          <a:xfrm>
            <a:off x="1609344" y="209397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2066544"/>
            <a:ext cx="12344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29" name="Text 27"/>
          <p:cNvSpPr/>
          <p:nvPr/>
        </p:nvSpPr>
        <p:spPr>
          <a:xfrm>
            <a:off x="2615184" y="209397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94760" y="2066544"/>
            <a:ext cx="12344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31" name="Text 29"/>
          <p:cNvSpPr/>
          <p:nvPr/>
        </p:nvSpPr>
        <p:spPr>
          <a:xfrm>
            <a:off x="3849624" y="2093976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066544"/>
            <a:ext cx="393192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33" name="Text 31"/>
          <p:cNvSpPr/>
          <p:nvPr/>
        </p:nvSpPr>
        <p:spPr>
          <a:xfrm>
            <a:off x="5084064" y="209397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LANs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74320" y="2578608"/>
            <a:ext cx="1280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" y="260604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554480" y="2578608"/>
            <a:ext cx="10058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37" name="Text 35"/>
          <p:cNvSpPr/>
          <p:nvPr/>
        </p:nvSpPr>
        <p:spPr>
          <a:xfrm>
            <a:off x="1609344" y="260604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560320" y="2578608"/>
            <a:ext cx="12344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39" name="Text 37"/>
          <p:cNvSpPr/>
          <p:nvPr/>
        </p:nvSpPr>
        <p:spPr>
          <a:xfrm>
            <a:off x="2615184" y="2606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794760" y="2578608"/>
            <a:ext cx="12344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41" name="Text 39"/>
          <p:cNvSpPr/>
          <p:nvPr/>
        </p:nvSpPr>
        <p:spPr>
          <a:xfrm>
            <a:off x="3849624" y="2606040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029200" y="2578608"/>
            <a:ext cx="393192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43" name="Text 41"/>
          <p:cNvSpPr/>
          <p:nvPr/>
        </p:nvSpPr>
        <p:spPr>
          <a:xfrm>
            <a:off x="5084064" y="260604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 &amp; offices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74320" y="3090672"/>
            <a:ext cx="1280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5" name="Text 43"/>
          <p:cNvSpPr/>
          <p:nvPr/>
        </p:nvSpPr>
        <p:spPr>
          <a:xfrm>
            <a:off x="329184" y="3118104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554480" y="3090672"/>
            <a:ext cx="10058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47" name="Text 45"/>
          <p:cNvSpPr/>
          <p:nvPr/>
        </p:nvSpPr>
        <p:spPr>
          <a:xfrm>
            <a:off x="1609344" y="311810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60320" y="3090672"/>
            <a:ext cx="12344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49" name="Text 47"/>
          <p:cNvSpPr/>
          <p:nvPr/>
        </p:nvSpPr>
        <p:spPr>
          <a:xfrm>
            <a:off x="2615184" y="311810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794760" y="3090672"/>
            <a:ext cx="12344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51" name="Text 49"/>
          <p:cNvSpPr/>
          <p:nvPr/>
        </p:nvSpPr>
        <p:spPr>
          <a:xfrm>
            <a:off x="3849624" y="3118104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0" y="3090672"/>
            <a:ext cx="393192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53" name="Text 51"/>
          <p:cNvSpPr/>
          <p:nvPr/>
        </p:nvSpPr>
        <p:spPr>
          <a:xfrm>
            <a:off x="5084064" y="311810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Campuses / intranets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74320" y="3602736"/>
            <a:ext cx="1280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5" name="Text 53"/>
          <p:cNvSpPr/>
          <p:nvPr/>
        </p:nvSpPr>
        <p:spPr>
          <a:xfrm>
            <a:off x="329184" y="3630168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554480" y="3602736"/>
            <a:ext cx="10058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57" name="Text 55"/>
          <p:cNvSpPr/>
          <p:nvPr/>
        </p:nvSpPr>
        <p:spPr>
          <a:xfrm>
            <a:off x="1609344" y="36301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560320" y="3602736"/>
            <a:ext cx="12344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59" name="Text 57"/>
          <p:cNvSpPr/>
          <p:nvPr/>
        </p:nvSpPr>
        <p:spPr>
          <a:xfrm>
            <a:off x="2615184" y="3630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3794760" y="3602736"/>
            <a:ext cx="123444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61" name="Text 59"/>
          <p:cNvSpPr/>
          <p:nvPr/>
        </p:nvSpPr>
        <p:spPr>
          <a:xfrm>
            <a:off x="3849624" y="3630168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029200" y="3602736"/>
            <a:ext cx="3931920" cy="502920"/>
          </a:xfrm>
          <a:prstGeom prst="rect">
            <a:avLst/>
          </a:prstGeom>
          <a:solidFill>
            <a:srgbClr val="F8FBFD"/>
          </a:solidFill>
          <a:ln/>
        </p:spPr>
      </p:sp>
      <p:sp>
        <p:nvSpPr>
          <p:cNvPr id="63" name="Text 61"/>
          <p:cNvSpPr/>
          <p:nvPr/>
        </p:nvSpPr>
        <p:spPr>
          <a:xfrm>
            <a:off x="5084064" y="36301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systems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274320" y="4114800"/>
            <a:ext cx="1280160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5" name="Text 63"/>
          <p:cNvSpPr/>
          <p:nvPr/>
        </p:nvSpPr>
        <p:spPr>
          <a:xfrm>
            <a:off x="329184" y="4142232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1554480" y="4114800"/>
            <a:ext cx="10058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67" name="Text 65"/>
          <p:cNvSpPr/>
          <p:nvPr/>
        </p:nvSpPr>
        <p:spPr>
          <a:xfrm>
            <a:off x="1609344" y="414223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560320" y="4114800"/>
            <a:ext cx="12344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69" name="Text 67"/>
          <p:cNvSpPr/>
          <p:nvPr/>
        </p:nvSpPr>
        <p:spPr>
          <a:xfrm>
            <a:off x="2615184" y="4142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794760" y="4114800"/>
            <a:ext cx="123444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71" name="Text 69"/>
          <p:cNvSpPr/>
          <p:nvPr/>
        </p:nvSpPr>
        <p:spPr>
          <a:xfrm>
            <a:off x="3849624" y="4142232"/>
            <a:ext cx="1143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029200" y="4114800"/>
            <a:ext cx="3931920" cy="502920"/>
          </a:xfrm>
          <a:prstGeom prst="rect">
            <a:avLst/>
          </a:prstGeom>
          <a:solidFill>
            <a:srgbClr val="EEF4F7"/>
          </a:solidFill>
          <a:ln/>
        </p:spPr>
      </p:sp>
      <p:sp>
        <p:nvSpPr>
          <p:cNvPr id="73" name="Text 71"/>
          <p:cNvSpPr/>
          <p:nvPr/>
        </p:nvSpPr>
        <p:spPr>
          <a:xfrm>
            <a:off x="5084064" y="414223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Factors Influencing Network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91440" cy="1645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consistently does the network function without failure? Mesh = highest; Bus = lowest.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188720"/>
            <a:ext cx="91440" cy="1645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is data transferred? Star topologies excel; Bus suffers from congestion.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0" y="1188720"/>
            <a:ext cx="91440" cy="16459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add more devices easily? Star &amp; Hybrid scale well; Ring does not.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91440" cy="1645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 of setup &amp; maintenance. Bus is cheapest; Mesh is most expensive.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17520"/>
            <a:ext cx="91440" cy="1645920"/>
          </a:xfrm>
          <a:prstGeom prst="rect">
            <a:avLst/>
          </a:prstGeom>
          <a:solidFill>
            <a:srgbClr val="D4700A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7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Collisions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devices sending simultaneously. Bus is most prone; Star minimises them.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35040" y="3017520"/>
            <a:ext cx="27432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35040" y="3017520"/>
            <a:ext cx="91440" cy="164592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154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network survive device failures? Mesh is the gold standard.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605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Small Office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234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manage, easy troubleshooting, adequate speed for everyday use.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416052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188720"/>
            <a:ext cx="41605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34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Campus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43800" y="12344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 + Tree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multiple buildings into departments while keeping sections manageable.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6052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017520"/>
            <a:ext cx="4160520" cy="41148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Corporation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Hybrid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520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topologies to meet diverse departmental needs under one network.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160520" cy="1645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3017520"/>
            <a:ext cx="4160520" cy="4114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Military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3063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Mesh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52044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reliability and security for critical operations where downtime is unacceptable.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Questions &amp; Quick Quiz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66344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663440" cy="41148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2471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TO CONSIDER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43891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advantages &amp; disadvantages of each topology?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topology choice affect performance &amp; reliability?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factors should guide topology selection for a given setting?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real-world examples for each topology?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topologies impact data security?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emerging trends are shaping future network design?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097280"/>
            <a:ext cx="3657600" cy="3840480"/>
          </a:xfrm>
          <a:prstGeom prst="rect">
            <a:avLst/>
          </a:prstGeom>
          <a:solidFill>
            <a:srgbClr val="1C7293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49240" y="123444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QUIZ SAMPLE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49240" y="16916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Which topology has the highest fault tolerance?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20574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Mesh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4924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Which topology uses a single shared cable?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49240" y="3108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Bus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37947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What is the main weakness of Star topology?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49240" y="41605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Single point of failure (the hub)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23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6052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Core Topologies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9105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Bus, Ring, Star, Tree, Mesh — each with distinct tradeoffs between cost, reliability, and complexity.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1188720"/>
            <a:ext cx="416052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188720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26187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Dominates Today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59105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 topology is the most common choice for homes and businesses due to its balance of simplicity and performance.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416052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68880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420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for Critical 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87121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downtime is unacceptable — government, military, finance — mesh topology provides unparalleled redundancy.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468880"/>
            <a:ext cx="416052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468880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5420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for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71216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organisations combine topologies to meet complex and varied connectivity demands.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86000" y="3749040"/>
            <a:ext cx="4663440" cy="11430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635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0" y="3749040"/>
            <a:ext cx="91440" cy="1143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38221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SDN &amp; Cloud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468880" y="4151376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Software-Defined Networking and cloud computing are reshaping network architecture for greater flexibility and scalability.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Topologies</dc:title>
  <dc:subject>PptxGenJS Presentation</dc:subject>
  <dc:creator>PptxGenJS</dc:creator>
  <cp:lastModifiedBy>PptxGenJS</cp:lastModifiedBy>
  <cp:revision>1</cp:revision>
  <dcterms:created xsi:type="dcterms:W3CDTF">2026-03-25T04:01:24Z</dcterms:created>
  <dcterms:modified xsi:type="dcterms:W3CDTF">2026-03-25T04:01:24Z</dcterms:modified>
</cp:coreProperties>
</file>