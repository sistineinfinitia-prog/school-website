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9144000" cy="6858000"/>
  <p:embeddedFontLst>
    <p:embeddedFont>
      <p:font typeface="Lexen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  <p:ext uri="GoogleSlidesCustomDataVersion2">
      <go:slidesCustomData xmlns:go="http://customooxmlschemas.google.com/" r:id="rId19" roundtripDataSignature="AMtx7mgm9C1BxxcZmtbRDMVWuoI/8zx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Lexend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customschemas.google.com/relationships/presentationmetadata" Target="metadata"/><Relationship Id="rId6" Type="http://schemas.openxmlformats.org/officeDocument/2006/relationships/notesMaster" Target="notesMasters/notesMaster1.xml"/><Relationship Id="rId18" Type="http://schemas.openxmlformats.org/officeDocument/2006/relationships/font" Target="fonts/Lexen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e02ba6c1a_0_106:notes"/>
          <p:cNvSpPr/>
          <p:nvPr>
            <p:ph idx="2" type="sldImg"/>
          </p:nvPr>
        </p:nvSpPr>
        <p:spPr>
          <a:xfrm>
            <a:off x="508400" y="514350"/>
            <a:ext cx="81279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be02ba6c1a_0_10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a2b52f0c6_0_7:notes"/>
          <p:cNvSpPr/>
          <p:nvPr>
            <p:ph idx="2" type="sldImg"/>
          </p:nvPr>
        </p:nvSpPr>
        <p:spPr>
          <a:xfrm>
            <a:off x="508400" y="514350"/>
            <a:ext cx="81279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ca2b52f0c6_0_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ca2b52f0c6_0_7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ca2b52f0c6_0_7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g3ca2b52f0c6_0_79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ca2b52f0c6_0_8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ca2b52f0c6_0_8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g3ca2b52f0c6_0_84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ca2b52f0c6_0_8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ca2b52f0c6_0_8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g3ca2b52f0c6_0_89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ca2b52f0c6_0_9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ca2b52f0c6_0_9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g3ca2b52f0c6_0_94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95873be30f_0_1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95873be30f_0_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95873be30f_0_13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95873be30f_0_1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95873be30f_0_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95873be30f_0_18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p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ca2b52f0c6_0_10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ca2b52f0c6_0_10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g3ca2b52f0c6_0_104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be02ba6c1a_0_1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g3be02ba6c1a_0_1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g3be02ba6c1a_0_1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be02ba6c1a_0_1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be02ba6c1a_0_1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g3be02ba6c1a_0_1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be02ba6c1a_0_1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g3be02ba6c1a_0_1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g3be02ba6c1a_0_1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be02ba6c1a_0_1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g3be02ba6c1a_0_1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g3be02ba6c1a_0_1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g3be02ba6c1a_0_1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be02ba6c1a_0_1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g3be02ba6c1a_0_1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be02ba6c1a_0_13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g3be02ba6c1a_0_13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g3be02ba6c1a_0_1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be02ba6c1a_0_1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g3be02ba6c1a_0_1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be02ba6c1a_0_14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be02ba6c1a_0_1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" name="Google Shape;44;g3be02ba6c1a_0_1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" name="Google Shape;45;g3be02ba6c1a_0_1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g3be02ba6c1a_0_1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be02ba6c1a_0_14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9" name="Google Shape;49;g3be02ba6c1a_0_1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e02ba6c1a_0_15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g3be02ba6c1a_0_15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g3be02ba6c1a_0_1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1"/>
          <p:cNvSpPr txBox="1"/>
          <p:nvPr>
            <p:ph type="title"/>
          </p:nvPr>
        </p:nvSpPr>
        <p:spPr>
          <a:xfrm>
            <a:off x="457200" y="20637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1"/>
          <p:cNvSpPr txBox="1"/>
          <p:nvPr>
            <p:ph idx="1" type="body"/>
          </p:nvPr>
        </p:nvSpPr>
        <p:spPr>
          <a:xfrm>
            <a:off x="457200" y="1200150"/>
            <a:ext cx="8229600" cy="3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0" type="dt"/>
          </p:nvPr>
        </p:nvSpPr>
        <p:spPr>
          <a:xfrm>
            <a:off x="457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1" type="ftr"/>
          </p:nvPr>
        </p:nvSpPr>
        <p:spPr>
          <a:xfrm>
            <a:off x="3124200" y="4767263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1"/>
          <p:cNvSpPr txBox="1"/>
          <p:nvPr>
            <p:ph idx="12" type="sldNum"/>
          </p:nvPr>
        </p:nvSpPr>
        <p:spPr>
          <a:xfrm>
            <a:off x="6553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7"/>
          <p:cNvSpPr txBox="1"/>
          <p:nvPr>
            <p:ph idx="10" type="dt"/>
          </p:nvPr>
        </p:nvSpPr>
        <p:spPr>
          <a:xfrm>
            <a:off x="457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7"/>
          <p:cNvSpPr txBox="1"/>
          <p:nvPr>
            <p:ph idx="11" type="ftr"/>
          </p:nvPr>
        </p:nvSpPr>
        <p:spPr>
          <a:xfrm>
            <a:off x="3124200" y="4767263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7"/>
          <p:cNvSpPr txBox="1"/>
          <p:nvPr>
            <p:ph idx="12" type="sldNum"/>
          </p:nvPr>
        </p:nvSpPr>
        <p:spPr>
          <a:xfrm>
            <a:off x="6553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6"/>
          <p:cNvSpPr txBox="1"/>
          <p:nvPr>
            <p:ph type="title"/>
          </p:nvPr>
        </p:nvSpPr>
        <p:spPr>
          <a:xfrm>
            <a:off x="457200" y="20637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0" type="dt"/>
          </p:nvPr>
        </p:nvSpPr>
        <p:spPr>
          <a:xfrm>
            <a:off x="457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1" type="ftr"/>
          </p:nvPr>
        </p:nvSpPr>
        <p:spPr>
          <a:xfrm>
            <a:off x="3124200" y="4767263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6"/>
          <p:cNvSpPr txBox="1"/>
          <p:nvPr>
            <p:ph idx="12" type="sldNum"/>
          </p:nvPr>
        </p:nvSpPr>
        <p:spPr>
          <a:xfrm>
            <a:off x="6553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 type="title">
  <p:cSld name="TITLE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/>
          <p:nvPr>
            <p:ph type="ctrTitle"/>
          </p:nvPr>
        </p:nvSpPr>
        <p:spPr>
          <a:xfrm>
            <a:off x="685800" y="1597821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8" name="Google Shape;78;p20"/>
          <p:cNvSpPr txBox="1"/>
          <p:nvPr>
            <p:ph idx="10" type="dt"/>
          </p:nvPr>
        </p:nvSpPr>
        <p:spPr>
          <a:xfrm>
            <a:off x="457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1" type="ftr"/>
          </p:nvPr>
        </p:nvSpPr>
        <p:spPr>
          <a:xfrm>
            <a:off x="3124200" y="4767263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2" type="sldNum"/>
          </p:nvPr>
        </p:nvSpPr>
        <p:spPr>
          <a:xfrm>
            <a:off x="6553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22"/>
          <p:cNvSpPr txBox="1"/>
          <p:nvPr>
            <p:ph idx="10" type="dt"/>
          </p:nvPr>
        </p:nvSpPr>
        <p:spPr>
          <a:xfrm>
            <a:off x="457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2"/>
          <p:cNvSpPr txBox="1"/>
          <p:nvPr>
            <p:ph idx="11" type="ftr"/>
          </p:nvPr>
        </p:nvSpPr>
        <p:spPr>
          <a:xfrm>
            <a:off x="3124200" y="4767263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12" type="sldNum"/>
          </p:nvPr>
        </p:nvSpPr>
        <p:spPr>
          <a:xfrm>
            <a:off x="6553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" name="Google Shape;86;p22"/>
          <p:cNvSpPr/>
          <p:nvPr/>
        </p:nvSpPr>
        <p:spPr>
          <a:xfrm>
            <a:off x="-4432" y="75684"/>
            <a:ext cx="9153000" cy="4077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d.taylor_wso\Documents\Documents\Branding\GEMS corner swoosh\GEMS_A4_BLUE_EDUCATION_CMYK.png" id="87" name="Google Shape;8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76256" y="2886389"/>
            <a:ext cx="2278376" cy="2278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>
            <p:ph type="title"/>
          </p:nvPr>
        </p:nvSpPr>
        <p:spPr>
          <a:xfrm>
            <a:off x="722313" y="3305176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3"/>
          <p:cNvSpPr txBox="1"/>
          <p:nvPr>
            <p:ph idx="1" type="body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1" name="Google Shape;91;p23"/>
          <p:cNvSpPr txBox="1"/>
          <p:nvPr>
            <p:ph idx="10" type="dt"/>
          </p:nvPr>
        </p:nvSpPr>
        <p:spPr>
          <a:xfrm>
            <a:off x="457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1" type="ftr"/>
          </p:nvPr>
        </p:nvSpPr>
        <p:spPr>
          <a:xfrm>
            <a:off x="3124200" y="4767263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12" type="sldNum"/>
          </p:nvPr>
        </p:nvSpPr>
        <p:spPr>
          <a:xfrm>
            <a:off x="6553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4"/>
          <p:cNvSpPr txBox="1"/>
          <p:nvPr>
            <p:ph type="title"/>
          </p:nvPr>
        </p:nvSpPr>
        <p:spPr>
          <a:xfrm>
            <a:off x="457200" y="20637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4"/>
          <p:cNvSpPr txBox="1"/>
          <p:nvPr>
            <p:ph idx="1" type="body"/>
          </p:nvPr>
        </p:nvSpPr>
        <p:spPr>
          <a:xfrm>
            <a:off x="457200" y="1200151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7" name="Google Shape;97;p24"/>
          <p:cNvSpPr txBox="1"/>
          <p:nvPr>
            <p:ph idx="2" type="body"/>
          </p:nvPr>
        </p:nvSpPr>
        <p:spPr>
          <a:xfrm>
            <a:off x="4648200" y="1200151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8" name="Google Shape;98;p24"/>
          <p:cNvSpPr txBox="1"/>
          <p:nvPr>
            <p:ph idx="10" type="dt"/>
          </p:nvPr>
        </p:nvSpPr>
        <p:spPr>
          <a:xfrm>
            <a:off x="457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4"/>
          <p:cNvSpPr txBox="1"/>
          <p:nvPr>
            <p:ph idx="11" type="ftr"/>
          </p:nvPr>
        </p:nvSpPr>
        <p:spPr>
          <a:xfrm>
            <a:off x="3124200" y="4767263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12" type="sldNum"/>
          </p:nvPr>
        </p:nvSpPr>
        <p:spPr>
          <a:xfrm>
            <a:off x="6553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5"/>
          <p:cNvSpPr txBox="1"/>
          <p:nvPr>
            <p:ph type="title"/>
          </p:nvPr>
        </p:nvSpPr>
        <p:spPr>
          <a:xfrm>
            <a:off x="457200" y="20637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5"/>
          <p:cNvSpPr txBox="1"/>
          <p:nvPr>
            <p:ph idx="1" type="body"/>
          </p:nvPr>
        </p:nvSpPr>
        <p:spPr>
          <a:xfrm>
            <a:off x="457200" y="1151335"/>
            <a:ext cx="40401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4" name="Google Shape;104;p25"/>
          <p:cNvSpPr txBox="1"/>
          <p:nvPr>
            <p:ph idx="2" type="body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05" name="Google Shape;105;p25"/>
          <p:cNvSpPr txBox="1"/>
          <p:nvPr>
            <p:ph idx="3" type="body"/>
          </p:nvPr>
        </p:nvSpPr>
        <p:spPr>
          <a:xfrm>
            <a:off x="4645026" y="1151335"/>
            <a:ext cx="40419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6" name="Google Shape;106;p25"/>
          <p:cNvSpPr txBox="1"/>
          <p:nvPr>
            <p:ph idx="4" type="body"/>
          </p:nvPr>
        </p:nvSpPr>
        <p:spPr>
          <a:xfrm>
            <a:off x="4645026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07" name="Google Shape;107;p25"/>
          <p:cNvSpPr txBox="1"/>
          <p:nvPr>
            <p:ph idx="10" type="dt"/>
          </p:nvPr>
        </p:nvSpPr>
        <p:spPr>
          <a:xfrm>
            <a:off x="457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5"/>
          <p:cNvSpPr txBox="1"/>
          <p:nvPr>
            <p:ph idx="11" type="ftr"/>
          </p:nvPr>
        </p:nvSpPr>
        <p:spPr>
          <a:xfrm>
            <a:off x="3124200" y="4767263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5"/>
          <p:cNvSpPr txBox="1"/>
          <p:nvPr>
            <p:ph idx="12" type="sldNum"/>
          </p:nvPr>
        </p:nvSpPr>
        <p:spPr>
          <a:xfrm>
            <a:off x="6553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8"/>
          <p:cNvSpPr txBox="1"/>
          <p:nvPr>
            <p:ph type="title"/>
          </p:nvPr>
        </p:nvSpPr>
        <p:spPr>
          <a:xfrm>
            <a:off x="457201" y="204787"/>
            <a:ext cx="30084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8"/>
          <p:cNvSpPr txBox="1"/>
          <p:nvPr>
            <p:ph idx="1" type="body"/>
          </p:nvPr>
        </p:nvSpPr>
        <p:spPr>
          <a:xfrm>
            <a:off x="3575050" y="204788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13" name="Google Shape;113;p28"/>
          <p:cNvSpPr txBox="1"/>
          <p:nvPr>
            <p:ph idx="2" type="body"/>
          </p:nvPr>
        </p:nvSpPr>
        <p:spPr>
          <a:xfrm>
            <a:off x="457201" y="1076326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4" name="Google Shape;114;p28"/>
          <p:cNvSpPr txBox="1"/>
          <p:nvPr>
            <p:ph idx="10" type="dt"/>
          </p:nvPr>
        </p:nvSpPr>
        <p:spPr>
          <a:xfrm>
            <a:off x="457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8"/>
          <p:cNvSpPr txBox="1"/>
          <p:nvPr>
            <p:ph idx="11" type="ftr"/>
          </p:nvPr>
        </p:nvSpPr>
        <p:spPr>
          <a:xfrm>
            <a:off x="3124200" y="4767263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8"/>
          <p:cNvSpPr txBox="1"/>
          <p:nvPr>
            <p:ph idx="12" type="sldNum"/>
          </p:nvPr>
        </p:nvSpPr>
        <p:spPr>
          <a:xfrm>
            <a:off x="6553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9"/>
          <p:cNvSpPr txBox="1"/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9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29"/>
          <p:cNvSpPr txBox="1"/>
          <p:nvPr>
            <p:ph idx="1" type="body"/>
          </p:nvPr>
        </p:nvSpPr>
        <p:spPr>
          <a:xfrm>
            <a:off x="1792288" y="4025503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21" name="Google Shape;121;p29"/>
          <p:cNvSpPr txBox="1"/>
          <p:nvPr>
            <p:ph idx="10" type="dt"/>
          </p:nvPr>
        </p:nvSpPr>
        <p:spPr>
          <a:xfrm>
            <a:off x="457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9"/>
          <p:cNvSpPr txBox="1"/>
          <p:nvPr>
            <p:ph idx="11" type="ftr"/>
          </p:nvPr>
        </p:nvSpPr>
        <p:spPr>
          <a:xfrm>
            <a:off x="3124200" y="4767263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9"/>
          <p:cNvSpPr txBox="1"/>
          <p:nvPr>
            <p:ph idx="12" type="sldNum"/>
          </p:nvPr>
        </p:nvSpPr>
        <p:spPr>
          <a:xfrm>
            <a:off x="6553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 txBox="1"/>
          <p:nvPr>
            <p:ph type="title"/>
          </p:nvPr>
        </p:nvSpPr>
        <p:spPr>
          <a:xfrm>
            <a:off x="457200" y="20637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0"/>
          <p:cNvSpPr txBox="1"/>
          <p:nvPr>
            <p:ph idx="1" type="body"/>
          </p:nvPr>
        </p:nvSpPr>
        <p:spPr>
          <a:xfrm rot="5400000">
            <a:off x="2874901" y="-1217550"/>
            <a:ext cx="33942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30"/>
          <p:cNvSpPr txBox="1"/>
          <p:nvPr>
            <p:ph idx="10" type="dt"/>
          </p:nvPr>
        </p:nvSpPr>
        <p:spPr>
          <a:xfrm>
            <a:off x="457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0"/>
          <p:cNvSpPr txBox="1"/>
          <p:nvPr>
            <p:ph idx="11" type="ftr"/>
          </p:nvPr>
        </p:nvSpPr>
        <p:spPr>
          <a:xfrm>
            <a:off x="3124200" y="4767263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0"/>
          <p:cNvSpPr txBox="1"/>
          <p:nvPr>
            <p:ph idx="12" type="sldNum"/>
          </p:nvPr>
        </p:nvSpPr>
        <p:spPr>
          <a:xfrm>
            <a:off x="6553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1"/>
          <p:cNvSpPr txBox="1"/>
          <p:nvPr>
            <p:ph type="title"/>
          </p:nvPr>
        </p:nvSpPr>
        <p:spPr>
          <a:xfrm rot="5400000">
            <a:off x="5463750" y="1371629"/>
            <a:ext cx="43887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1"/>
          <p:cNvSpPr txBox="1"/>
          <p:nvPr>
            <p:ph idx="1" type="body"/>
          </p:nvPr>
        </p:nvSpPr>
        <p:spPr>
          <a:xfrm rot="5400000">
            <a:off x="1272750" y="-609571"/>
            <a:ext cx="43887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31"/>
          <p:cNvSpPr txBox="1"/>
          <p:nvPr>
            <p:ph idx="10" type="dt"/>
          </p:nvPr>
        </p:nvSpPr>
        <p:spPr>
          <a:xfrm>
            <a:off x="457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1"/>
          <p:cNvSpPr txBox="1"/>
          <p:nvPr>
            <p:ph idx="11" type="ftr"/>
          </p:nvPr>
        </p:nvSpPr>
        <p:spPr>
          <a:xfrm>
            <a:off x="3124200" y="4767263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1"/>
          <p:cNvSpPr txBox="1"/>
          <p:nvPr>
            <p:ph idx="12" type="sldNum"/>
          </p:nvPr>
        </p:nvSpPr>
        <p:spPr>
          <a:xfrm>
            <a:off x="6553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be02ba6c1a_0_1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g3be02ba6c1a_0_1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g3be02ba6c1a_0_1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0637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457200" y="1200150"/>
            <a:ext cx="8229600" cy="3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19"/>
          <p:cNvSpPr txBox="1"/>
          <p:nvPr>
            <p:ph idx="10" type="dt"/>
          </p:nvPr>
        </p:nvSpPr>
        <p:spPr>
          <a:xfrm>
            <a:off x="457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19"/>
          <p:cNvSpPr txBox="1"/>
          <p:nvPr>
            <p:ph idx="11" type="ftr"/>
          </p:nvPr>
        </p:nvSpPr>
        <p:spPr>
          <a:xfrm>
            <a:off x="3124200" y="4767263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19"/>
          <p:cNvSpPr txBox="1"/>
          <p:nvPr>
            <p:ph idx="12" type="sldNum"/>
          </p:nvPr>
        </p:nvSpPr>
        <p:spPr>
          <a:xfrm>
            <a:off x="6553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e02ba6c1a_0_10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/>
              <a:t>A2 -Network</a:t>
            </a:r>
            <a:endParaRPr/>
          </a:p>
        </p:txBody>
      </p:sp>
      <p:sp>
        <p:nvSpPr>
          <p:cNvPr id="141" name="Google Shape;141;g3be02ba6c1a_0_10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b="1" sz="7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US" sz="7500"/>
              <a:t>A 2.1 Network fundamentals</a:t>
            </a:r>
            <a:endParaRPr b="1" sz="7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b="1" sz="7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, company name&#10;&#10;Description automatically generated" id="146" name="Google Shape;146;g3ca2b52f0c6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426" y="88355"/>
            <a:ext cx="800177" cy="800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g3ca2b52f0c6_0_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43825" y="0"/>
            <a:ext cx="800197" cy="1381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g3ca2b52f0c6_0_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43828" y="1381056"/>
            <a:ext cx="800197" cy="149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g3ca2b52f0c6_0_7"/>
          <p:cNvSpPr txBox="1"/>
          <p:nvPr/>
        </p:nvSpPr>
        <p:spPr>
          <a:xfrm>
            <a:off x="856050" y="466200"/>
            <a:ext cx="74319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z="31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 Now Activity (5 mins)</a:t>
            </a:r>
            <a:endParaRPr b="1" i="0" sz="31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ca2b52f0c6_0_7"/>
          <p:cNvSpPr txBox="1"/>
          <p:nvPr/>
        </p:nvSpPr>
        <p:spPr>
          <a:xfrm>
            <a:off x="291100" y="1375800"/>
            <a:ext cx="74319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ca2b52f0c6_0_7"/>
          <p:cNvSpPr/>
          <p:nvPr/>
        </p:nvSpPr>
        <p:spPr>
          <a:xfrm>
            <a:off x="619025" y="1252913"/>
            <a:ext cx="5022600" cy="26649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g3ca2b52f0c6_0_7"/>
          <p:cNvSpPr/>
          <p:nvPr/>
        </p:nvSpPr>
        <p:spPr>
          <a:xfrm>
            <a:off x="5641525" y="1252800"/>
            <a:ext cx="2396100" cy="2664900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TOK </a:t>
            </a:r>
            <a:endParaRPr b="1" i="0" sz="15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 easier access to information through the internet mean we actually know more, or just that we can find information faster?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53" name="Google Shape;153;g3ca2b52f0c6_0_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43826" y="2878053"/>
            <a:ext cx="800185" cy="1194448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ca2b52f0c6_0_7"/>
          <p:cNvSpPr/>
          <p:nvPr/>
        </p:nvSpPr>
        <p:spPr>
          <a:xfrm>
            <a:off x="128425" y="4072500"/>
            <a:ext cx="9015600" cy="1033800"/>
          </a:xfrm>
          <a:prstGeom prst="rect">
            <a:avLst/>
          </a:prstGeom>
          <a:solidFill>
            <a:srgbClr val="90C226"/>
          </a:solidFill>
          <a:ln cap="flat" cmpd="sng" w="2540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ca2b52f0c6_0_7"/>
          <p:cNvSpPr txBox="1"/>
          <p:nvPr/>
        </p:nvSpPr>
        <p:spPr>
          <a:xfrm>
            <a:off x="128425" y="4313151"/>
            <a:ext cx="375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ca2b52f0c6_0_7"/>
          <p:cNvSpPr txBox="1"/>
          <p:nvPr/>
        </p:nvSpPr>
        <p:spPr>
          <a:xfrm>
            <a:off x="4282610" y="4168994"/>
            <a:ext cx="375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ca2b52f0c6_0_7"/>
          <p:cNvSpPr/>
          <p:nvPr/>
        </p:nvSpPr>
        <p:spPr>
          <a:xfrm>
            <a:off x="128425" y="4072500"/>
            <a:ext cx="5484300" cy="956700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Learning Intention: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300">
                <a:solidFill>
                  <a:schemeClr val="dk1"/>
                </a:solidFill>
              </a:rPr>
              <a:t>Describe the purpose of networks, understand key network characteristics, and differentiate between LANs, WANs, PANs, and VPNs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ca2b52f0c6_0_7"/>
          <p:cNvSpPr/>
          <p:nvPr/>
        </p:nvSpPr>
        <p:spPr>
          <a:xfrm>
            <a:off x="5612725" y="4020325"/>
            <a:ext cx="3589200" cy="1033800"/>
          </a:xfrm>
          <a:prstGeom prst="rect">
            <a:avLst/>
          </a:prstGeom>
          <a:noFill/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Success Criteria</a:t>
            </a: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-"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Students will be able to analyse the flow of instructions through a pipeline and identify potential hazards.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-"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Students will be able to evaluate the impact of pipelining on instruction throughput and execution time.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-"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Students will be able to explain the advantages of multi-core processors for multitasking and parallel processing.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9" name="Google Shape;159;g3ca2b52f0c6_0_7"/>
          <p:cNvSpPr txBox="1"/>
          <p:nvPr/>
        </p:nvSpPr>
        <p:spPr>
          <a:xfrm>
            <a:off x="705650" y="1379025"/>
            <a:ext cx="4840200" cy="24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L1 :  </a:t>
            </a:r>
            <a:r>
              <a:rPr lang="en-US">
                <a:solidFill>
                  <a:schemeClr val="dk1"/>
                </a:solidFill>
              </a:rPr>
              <a:t>Explain what is a network ?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L2:</a:t>
            </a:r>
            <a:r>
              <a:rPr lang="en-US">
                <a:solidFill>
                  <a:schemeClr val="dk1"/>
                </a:solidFill>
              </a:rPr>
              <a:t>  Mention types of networking with example 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L3: </a:t>
            </a:r>
            <a:r>
              <a:rPr lang="en-US">
                <a:solidFill>
                  <a:schemeClr val="dk1"/>
                </a:solidFill>
              </a:rPr>
              <a:t>L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ist all the devices they have used today that connect to the internet or to another device.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g3ca2b52f0c6_0_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675" y="1473475"/>
            <a:ext cx="8839199" cy="294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3ca2b52f0c6_0_79"/>
          <p:cNvSpPr txBox="1"/>
          <p:nvPr/>
        </p:nvSpPr>
        <p:spPr>
          <a:xfrm>
            <a:off x="1678400" y="606400"/>
            <a:ext cx="5383500" cy="5541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Why Do We Need Networks?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g3ca2b52f0c6_0_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200" y="1018675"/>
            <a:ext cx="8839201" cy="368073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g3ca2b52f0c6_0_84"/>
          <p:cNvSpPr txBox="1"/>
          <p:nvPr/>
        </p:nvSpPr>
        <p:spPr>
          <a:xfrm>
            <a:off x="2317275" y="389800"/>
            <a:ext cx="4636500" cy="5541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How Do Networks Work?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g3ca2b52f0c6_0_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191500" cy="414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g3ca2b52f0c6_0_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15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g395873be30f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071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g395873be30f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3628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"/>
          <p:cNvSpPr/>
          <p:nvPr/>
        </p:nvSpPr>
        <p:spPr>
          <a:xfrm>
            <a:off x="4400" y="267494"/>
            <a:ext cx="9144000" cy="56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Challenging Activities - 20 mins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6"/>
          <p:cNvSpPr txBox="1"/>
          <p:nvPr/>
        </p:nvSpPr>
        <p:spPr>
          <a:xfrm>
            <a:off x="515550" y="1110575"/>
            <a:ext cx="7588200" cy="3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Exam-Style Questions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Question 1 (3 marks)</a:t>
            </a:r>
            <a:br>
              <a:rPr b="1"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A student connects their laptop to the school printer and shared files while inside the school building.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(a) Identify the type of network being used. (1)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(b) State two characteristics of this type of network. (2)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Question 2 (4 marks)</a:t>
            </a:r>
            <a:br>
              <a:rPr b="1"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During an online video call, the video freezes and the audio arrives late even though the internet speed is high.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(a) Identify the network characteristic causing the delay. (1)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(b) Explain why this affects video conferencing. (2)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(c) Suggest one way to improve the situation. (1)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Question 3 (5 marks)</a:t>
            </a:r>
            <a:br>
              <a:rPr b="1"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A company allows employees to access the office system from home using a secure connection over the internet.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(a) Identify the type of network technology used. (1)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(b) Describe how it works. (2)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(c) State two advantages of using this technology. (2)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1600">
        <p14:prism dir="l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ca2b52f0c6_0_104"/>
          <p:cNvSpPr txBox="1"/>
          <p:nvPr>
            <p:ph type="title"/>
          </p:nvPr>
        </p:nvSpPr>
        <p:spPr>
          <a:xfrm>
            <a:off x="457200" y="20637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Plenary </a:t>
            </a:r>
            <a:endParaRPr/>
          </a:p>
        </p:txBody>
      </p:sp>
      <p:pic>
        <p:nvPicPr>
          <p:cNvPr id="210" name="Google Shape;210;g3ca2b52f0c6_0_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3250" y="1063775"/>
            <a:ext cx="6799238" cy="377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2013-09-12T12:17:01Z</dcterms:created>
  <dc:creator>PRE wso</dc:creator>
</cp:coreProperties>
</file>