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C8FA4">
              <a:alpha val="20000"/>
            </a:srgbClr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World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Stays Connected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Computer Science · Networking Unit · SL Topics A2.1 – A2.4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256032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5.4B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931920"/>
            <a:ext cx="256032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 Cables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256032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of Fibre Laid Yearly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498080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96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Purpose &amp; Devices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" y="139903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9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353312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179222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83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1746504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&amp; Topologies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032" y="218541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76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2139696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/ TCP-IP Models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56032" y="257860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69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253288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&amp; Subnets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6032" y="29718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626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292608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Media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56032" y="336499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3319272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Switching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6032" y="375818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3712464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&amp; Encryption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56032" y="415137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" y="4105656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56032" y="454456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535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449884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Reflection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2918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3291840" y="8686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walks through the essential concepts of computer networking — from the physical cables in the ground to the encrypted data flowing over them. Each topic maps directly to IB SL syllabus points A2.1 through A2.4.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91840" y="2011680"/>
            <a:ext cx="55778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8FA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74720" y="212140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Internet is the world's largest experiment in anarchy, and it works because everyone agrees to follow the same rules — the protocols."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74720" y="3017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Vint Cerf, Co-inventor of TCP/IP</a:t>
            </a:r>
            <a:endParaRPr lang="en-US" sz="10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291840" y="3520440"/>
            <a:ext cx="548640" cy="54864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3931920" y="3538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2.1 · A 2.2 · A 2.3 · A 2.4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291840" y="4251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Deadline: Sunday, 13th April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Purpose &amp; Characteristics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2.1.1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82296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276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Sharing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allow multiple users to share files, printers, internet connections, and storage — reducing cost and increasing efficiency.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508760"/>
            <a:ext cx="82296" cy="1508760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6276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VoIP, messaging and video conferencing are all made possible by network infrastructure connecting billions of devices.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32004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200400"/>
            <a:ext cx="82296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375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3192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Centralised Data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37033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store and manage data centrally, enabling consistent access, backup, and control across an organisation.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09160" y="32004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3200400"/>
            <a:ext cx="82296" cy="1508760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3192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37033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links and protocols ensure that if one path fails, data is rerouted — maintaining uptime across the network.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20040" y="50292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(Local Area Network) · WAN (Wide Area Network) · MAN (Metropolitan Area Network) · PAN (Personal Area Network) · Bandwidth · Latency · Throughput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Digital Infrastructures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2.1.2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697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61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" y="2304288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22311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scalable resources via the internet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" y="2962656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8895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/ PaaS / SaaS service models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" y="362102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" y="35478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Providers: AWS, Azure, Google Cloud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" y="4279392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4206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need for on-premise hardware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0" y="14630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1463040"/>
            <a:ext cx="2697480" cy="685800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36192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476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Delivery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Networks (CDNs)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355848" y="2304288"/>
            <a:ext cx="128016" cy="128016"/>
          </a:xfrm>
          <a:prstGeom prst="ellipse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47872" y="22311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distributed servers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355848" y="2962656"/>
            <a:ext cx="128016" cy="128016"/>
          </a:xfrm>
          <a:prstGeom prst="ellipse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47872" y="28895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content close to users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355848" y="3621024"/>
            <a:ext cx="128016" cy="128016"/>
          </a:xfrm>
          <a:prstGeom prst="ellipse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47872" y="35478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latency &amp; server load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355848" y="4279392"/>
            <a:ext cx="128016" cy="128016"/>
          </a:xfrm>
          <a:prstGeom prst="ellipse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547872" y="4206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Netflix, YouTube, Cloudflare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080760" y="14630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80760" y="1463040"/>
            <a:ext cx="2697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36192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7512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Centres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236208" y="2304288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28232" y="22311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thousands of servers &amp; networking gear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236208" y="2962656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28232" y="28895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redundant power &amp; cooling systems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236208" y="362102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28232" y="35478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high-speed fibre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6236208" y="4279392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28232" y="4206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metric measures energy efficiency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320040" y="4773168"/>
            <a:ext cx="8503920" cy="182880"/>
          </a:xfrm>
          <a:prstGeom prst="rect">
            <a:avLst/>
          </a:prstGeom>
          <a:solidFill>
            <a:srgbClr val="D1E8EF"/>
          </a:solidFill>
          <a:ln w="12700">
            <a:solidFill>
              <a:srgbClr val="D1E8EF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20040" y="4736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Link: Over 95% of all internet traffic passes through submarine fibre-optic cables connecting continents.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Devices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2.1.3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618488"/>
            <a:ext cx="566928" cy="56692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6733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18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19842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OSI: Layer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" y="2331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data to ALL connected devices. Layer 1 device. Creates collisions — largely obsolete.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4630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64992" y="161848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67335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618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023360" y="19842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OSI: Layer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364992" y="2331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frames only to the target device using MAC addresses. Layer 2. Reduces collisions.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0760" y="14630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45352" y="1618488"/>
            <a:ext cx="566928" cy="566928"/>
          </a:xfrm>
          <a:prstGeom prst="ellipse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67335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1618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903720" y="19842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OSI: Layer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45352" y="2331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different networks; routes packets using IP addresses. Layer 3. Core to the internet.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20040" y="3200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" y="3355848"/>
            <a:ext cx="566928" cy="566928"/>
          </a:xfrm>
          <a:prstGeom prst="ellipse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41071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355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WAP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143000" y="37216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OSI: Layer 2/3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4632" y="406908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Point. Extends LAN wirelessly via radio waves (802.11 standards).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00400" y="3200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64992" y="3355848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410712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23360" y="3355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Firewall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023360" y="37216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OSI: Layer 2/3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364992" y="406908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&amp; filters traffic using rules. Hardware or software. First line of network defence.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80760" y="3200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45352" y="33558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410712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03720" y="3355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6903720" y="37216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OSI: Layer 2/3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245352" y="406908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services (web, DNS, DHCP, file) to client devices across the network.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Protocols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2.1.4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 is a set of rules that governs how data is transmitted between devices. Without agreed protocols, devices from different manufacturers could not communicate.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65960"/>
          <a:ext cx="850392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663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HTTPS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(7)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page transfer; HTTPS adds TLS encryption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(4)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Reliable, ordered delivery — connection-oriented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(4)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connectionless — used in streaming &amp; gaming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(3)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and routes packets across networks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(7)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domain names to IP addresses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(7)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Automatically assigns IP addresses to devices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Link (2)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IP addresses to MAC addresses on a 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/ SSL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(5)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Establishes encrypted, authenticated sessions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Topologies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2.2.1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356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share one backbone cable. Simple but single point of failure.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697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356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4389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connect to a central switch/hub. Most common in modern LANs.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417320"/>
            <a:ext cx="2697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4356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389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form a loop. Data travels one direction. Failure of one node can break the ring.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22860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2377440"/>
            <a:ext cx="0" cy="4572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103120"/>
            <a:ext cx="256032" cy="201168"/>
          </a:xfrm>
          <a:prstGeom prst="rect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3154680"/>
            <a:ext cx="0" cy="32004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3246120"/>
            <a:ext cx="256032" cy="201168"/>
          </a:xfrm>
          <a:prstGeom prst="rect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55648" y="2377440"/>
            <a:ext cx="0" cy="4572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103120"/>
            <a:ext cx="256032" cy="201168"/>
          </a:xfrm>
          <a:prstGeom prst="rect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58568" y="3154680"/>
            <a:ext cx="0" cy="32004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3246120"/>
            <a:ext cx="256032" cy="201168"/>
          </a:xfrm>
          <a:prstGeom prst="rect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70048" y="2377440"/>
            <a:ext cx="0" cy="4572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2103120"/>
            <a:ext cx="256032" cy="201168"/>
          </a:xfrm>
          <a:prstGeom prst="rect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2743200"/>
            <a:ext cx="475488" cy="475488"/>
          </a:xfrm>
          <a:prstGeom prst="rect">
            <a:avLst/>
          </a:prstGeom>
          <a:solidFill>
            <a:srgbClr val="065A82"/>
          </a:solidFill>
          <a:ln w="25400">
            <a:solidFill>
              <a:srgbClr val="1C8F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64024" y="2980944"/>
            <a:ext cx="-832104" cy="-1014984"/>
          </a:xfrm>
          <a:prstGeom prst="line">
            <a:avLst/>
          </a:prstGeom>
          <a:noFill/>
          <a:ln w="19050">
            <a:solidFill>
              <a:srgbClr val="1C8FA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31920" y="1965960"/>
            <a:ext cx="237744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64024" y="2980944"/>
            <a:ext cx="-9144" cy="-1060704"/>
          </a:xfrm>
          <a:prstGeom prst="line">
            <a:avLst/>
          </a:prstGeom>
          <a:noFill/>
          <a:ln w="19050">
            <a:solidFill>
              <a:srgbClr val="1C8FA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920240"/>
            <a:ext cx="237744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64024" y="2980944"/>
            <a:ext cx="768096" cy="-877824"/>
          </a:xfrm>
          <a:prstGeom prst="line">
            <a:avLst/>
          </a:prstGeom>
          <a:noFill/>
          <a:ln w="19050">
            <a:solidFill>
              <a:srgbClr val="1C8FA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32120" y="2103120"/>
            <a:ext cx="237744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4024" y="2980944"/>
            <a:ext cx="-1060704" cy="-146304"/>
          </a:xfrm>
          <a:prstGeom prst="line">
            <a:avLst/>
          </a:prstGeom>
          <a:noFill/>
          <a:ln w="19050">
            <a:solidFill>
              <a:srgbClr val="1C8FA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03320" y="2834640"/>
            <a:ext cx="237744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64024" y="2980944"/>
            <a:ext cx="859536" cy="-100584"/>
          </a:xfrm>
          <a:prstGeom prst="line">
            <a:avLst/>
          </a:prstGeom>
          <a:noFill/>
          <a:ln w="19050">
            <a:solidFill>
              <a:srgbClr val="1C8FA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23560" y="2880360"/>
            <a:ext cx="237744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64024" y="2980944"/>
            <a:ext cx="-557784" cy="676656"/>
          </a:xfrm>
          <a:prstGeom prst="line">
            <a:avLst/>
          </a:prstGeom>
          <a:noFill/>
          <a:ln w="19050">
            <a:solidFill>
              <a:srgbClr val="1C8FA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3657600"/>
            <a:ext cx="237744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99248" y="2011680"/>
            <a:ext cx="914400" cy="50292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13648" y="2514600"/>
            <a:ext cx="0" cy="8229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13648" y="3337560"/>
            <a:ext cx="-914400" cy="54864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99248" y="3886200"/>
            <a:ext cx="-914400" cy="-54864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84848" y="3337560"/>
            <a:ext cx="0" cy="-8229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84848" y="2514600"/>
            <a:ext cx="914400" cy="-50292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9520" y="1920240"/>
            <a:ext cx="237744" cy="201168"/>
          </a:xfrm>
          <a:prstGeom prst="ellipse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03920" y="2423160"/>
            <a:ext cx="237744" cy="201168"/>
          </a:xfrm>
          <a:prstGeom prst="ellipse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0" y="3246120"/>
            <a:ext cx="237744" cy="201168"/>
          </a:xfrm>
          <a:prstGeom prst="ellipse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89520" y="3794760"/>
            <a:ext cx="237744" cy="201168"/>
          </a:xfrm>
          <a:prstGeom prst="ellipse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0" y="3246120"/>
            <a:ext cx="237744" cy="201168"/>
          </a:xfrm>
          <a:prstGeom prst="ellipse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75120" y="2423160"/>
            <a:ext cx="237744" cy="201168"/>
          </a:xfrm>
          <a:prstGeom prst="ellipse">
            <a:avLst/>
          </a:prstGeom>
          <a:solidFill>
            <a:srgbClr val="1C8FA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solidFill>
            <a:srgbClr val="D1E8EF"/>
          </a:solidFill>
          <a:ln w="12700">
            <a:solidFill>
              <a:srgbClr val="D1E8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736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covered: Mesh (all devices interconnected — highly resilient, used in military/Internet backbone) · Hybrid (combination of topologies)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 Models: OSI &amp; TCP/IP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2.2.3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describe how data moves from one device to another. The OSI model has 7 layers and is conceptual; TCP/IP (4 layers) is the practical model the internet runs 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OSI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212848"/>
            <a:ext cx="3657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" y="2212848"/>
            <a:ext cx="146304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49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85416" y="2212848"/>
            <a:ext cx="2743200" cy="347472"/>
          </a:xfrm>
          <a:prstGeom prst="rect">
            <a:avLst/>
          </a:prstGeom>
          <a:solidFill>
            <a:srgbClr val="F8FBFD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2258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DNS, FTP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36576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9689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" y="2596896"/>
            <a:ext cx="146304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85416" y="2596896"/>
            <a:ext cx="2743200" cy="347472"/>
          </a:xfrm>
          <a:prstGeom prst="rect">
            <a:avLst/>
          </a:prstGeom>
          <a:solidFill>
            <a:srgbClr val="F8FBFD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31136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JPEG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80944"/>
            <a:ext cx="36576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809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" y="2980944"/>
            <a:ext cx="146304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85416" y="2980944"/>
            <a:ext cx="2743200" cy="347472"/>
          </a:xfrm>
          <a:prstGeom prst="rect">
            <a:avLst/>
          </a:prstGeom>
          <a:solidFill>
            <a:srgbClr val="F8FBFD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1136" y="3026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NetBIOS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364992"/>
            <a:ext cx="365760" cy="347472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36499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" y="3364992"/>
            <a:ext cx="146304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85416" y="3364992"/>
            <a:ext cx="2743200" cy="347472"/>
          </a:xfrm>
          <a:prstGeom prst="rect">
            <a:avLst/>
          </a:prstGeom>
          <a:solidFill>
            <a:srgbClr val="F8FBFD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31136" y="3410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749040"/>
            <a:ext cx="365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49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4088" y="3749040"/>
            <a:ext cx="146304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785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85416" y="3749040"/>
            <a:ext cx="2743200" cy="347472"/>
          </a:xfrm>
          <a:prstGeom prst="rect">
            <a:avLst/>
          </a:prstGeom>
          <a:solidFill>
            <a:srgbClr val="F8FBFD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31136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ICMP, Routing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133088"/>
            <a:ext cx="3657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1330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4088" y="4133088"/>
            <a:ext cx="146304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4169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185416" y="4133088"/>
            <a:ext cx="2743200" cy="347472"/>
          </a:xfrm>
          <a:prstGeom prst="rect">
            <a:avLst/>
          </a:prstGeom>
          <a:solidFill>
            <a:srgbClr val="F8FBFD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31136" y="4178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MAC, Ethernet, ARP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4517136"/>
            <a:ext cx="3657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5171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04088" y="4517136"/>
            <a:ext cx="146304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4553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185416" y="4517136"/>
            <a:ext cx="2743200" cy="347472"/>
          </a:xfrm>
          <a:prstGeom prst="rect">
            <a:avLst/>
          </a:prstGeom>
          <a:solidFill>
            <a:srgbClr val="F8FBFD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31136" y="4562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Cables, Radio waves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12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TCP/IP Model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12080" y="2212848"/>
            <a:ext cx="3611880" cy="1152144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2212848"/>
            <a:ext cx="21945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424928" y="2212848"/>
            <a:ext cx="1371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L7 + L6 + L5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212080" y="3364992"/>
            <a:ext cx="3611880" cy="384048"/>
          </a:xfrm>
          <a:prstGeom prst="rect">
            <a:avLst/>
          </a:prstGeom>
          <a:solidFill>
            <a:srgbClr val="1C8F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33649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424928" y="33649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212080" y="3749040"/>
            <a:ext cx="36118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0" y="3749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24928" y="37490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L3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212080" y="4133088"/>
            <a:ext cx="361188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4133088"/>
            <a:ext cx="21945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(Access)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424928" y="4133088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L2 + L1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Segmentation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2.2.4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divides a network into smaller sub-networks (segments) to improve performance, security, and management. Key technique: VLANs (Virtual Local Area Networks).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65960"/>
            <a:ext cx="82296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39696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85416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039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34440" y="240487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Logically separate devices on the same physical network. Traffic between VLANs must pass through a router. Reduces broadcast domains and limits security breaches.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2990088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990088"/>
            <a:ext cx="82296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954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DMZ (Demilitarised Zone)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234440" y="34290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buffer zone between the public internet and an internal network. Hosts public-facing servers (web, email) while protecting internal systems.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0040" y="4014216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4014216"/>
            <a:ext cx="82296" cy="914400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4187952"/>
            <a:ext cx="530352" cy="530352"/>
          </a:xfrm>
          <a:prstGeom prst="ellipse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33672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4087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Subnetting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234440" y="44531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an IP network into smaller logical networks. Reduces congestion, improves routing efficiency, and simplifies administration.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 Tip: VLANs operate at Layer 2 (Data Link); routing between VLANs requires a Layer 3 device.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Addressing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2.3.1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206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IPv4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3716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04825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057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address (4 octets)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86584"/>
            <a:ext cx="13716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4231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432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13716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79806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8072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 – 255.255.255.255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13716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1729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1821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~4.3 billion addresses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13716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557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(large nets), B (medium), C (small)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13716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92277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931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10.x, 172.16.x, 192.168.x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261104"/>
            <a:ext cx="137160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306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exhaustion — prompting IPv6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4173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417320"/>
            <a:ext cx="4114800" cy="502920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4447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IPv6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846320" y="2011680"/>
            <a:ext cx="12801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204825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0574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hexadecimal address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46320" y="2386584"/>
            <a:ext cx="12801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4231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24323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2001:0db8:85a3::8a2e:0370:7334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46320" y="2761488"/>
            <a:ext cx="12801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279806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28072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× 10³⁸ addresses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46320" y="3136392"/>
            <a:ext cx="12801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17296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31821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IPv4 exhaustion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46320" y="3511296"/>
            <a:ext cx="12801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354787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3557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 (no DHCP needed)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846320" y="3886200"/>
            <a:ext cx="12801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392277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39319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IPSec support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846320" y="4261104"/>
            <a:ext cx="12801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73752" y="429768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17920" y="4306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~46% of global traffic in 2024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Notation: 192.168.1.0/24 means 24 bits for network, 8 bits for hosts → 256 possible addresses (254 usable)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 Media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2.3.2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63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Twisted Pair (UTP/STP)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" y="20848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70432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Gbps (Cat 6A)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4632" y="249631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70432" y="24963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 segments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4632" y="290779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70432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4632" y="33192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70432" y="3319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LANs, home networks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767328"/>
            <a:ext cx="2423160" cy="548640"/>
          </a:xfrm>
          <a:prstGeom prst="rect">
            <a:avLst/>
          </a:prstGeom>
          <a:solidFill>
            <a:srgbClr val="EFF8FA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78561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Cheap, flexible, easy to install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0233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Susceptible to EMI, limited range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0" y="14173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1417320"/>
            <a:ext cx="269748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81328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94760" y="1463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Fibre Optic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3364992" y="20848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050792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100+ Tbps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364992" y="249631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050792" y="24963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km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364992" y="290779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050792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364992" y="33192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050792" y="3319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 cables, backbone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337560" y="3767328"/>
            <a:ext cx="2423160" cy="548640"/>
          </a:xfrm>
          <a:prstGeom prst="rect">
            <a:avLst/>
          </a:prstGeom>
          <a:solidFill>
            <a:srgbClr val="EFF8FA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83280" y="378561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Extremely fast, immune to EMI, long range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3383280" y="40233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Expensive, fragile, harder to install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080760" y="14173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080760" y="1417320"/>
            <a:ext cx="2697480" cy="566928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81328"/>
            <a:ext cx="384048" cy="38404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675120" y="1463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Wireless (Wi-Fi / 5G)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6245352" y="20848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931152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6: 9.6 Gbps; 5G: 20 Gbps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6245352" y="249631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6931152" y="24963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(30m–km)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6245352" y="290779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931152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6245352" y="33192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6931152" y="3319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IoT, home networks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6217920" y="3767328"/>
            <a:ext cx="2423160" cy="548640"/>
          </a:xfrm>
          <a:prstGeom prst="rect">
            <a:avLst/>
          </a:prstGeom>
          <a:solidFill>
            <a:srgbClr val="EFF8FA"/>
          </a:solidFill>
          <a:ln w="6350">
            <a:solidFill>
              <a:srgbClr val="D1E8EF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263640" y="378561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physical cables, mobility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6263640" y="40233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Interference, lower security, shared medium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Switching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2.3.3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switching breaks data into small units called packets. Each packet travels independently across the network and is reassembled at the destination. This is the foundation of the internet.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5528" y="2029968"/>
            <a:ext cx="777240" cy="7772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1C8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299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72768" y="2418588"/>
            <a:ext cx="804672" cy="0"/>
          </a:xfrm>
          <a:prstGeom prst="line">
            <a:avLst/>
          </a:prstGeom>
          <a:noFill/>
          <a:ln w="25400">
            <a:solidFill>
              <a:srgbClr val="1C8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Created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video or message is created by the sender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32888" y="2029968"/>
            <a:ext cx="777240" cy="7772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1C8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20299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10128" y="2418588"/>
            <a:ext cx="804672" cy="0"/>
          </a:xfrm>
          <a:prstGeom prst="line">
            <a:avLst/>
          </a:prstGeom>
          <a:noFill/>
          <a:ln w="25400">
            <a:solidFill>
              <a:srgbClr val="1C8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into packets of fixed size (typically 1,500 bytes)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70248" y="2029968"/>
            <a:ext cx="777240" cy="7772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1C8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20299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47488" y="2418588"/>
            <a:ext cx="804672" cy="0"/>
          </a:xfrm>
          <a:prstGeom prst="line">
            <a:avLst/>
          </a:prstGeom>
          <a:noFill/>
          <a:ln w="25400">
            <a:solidFill>
              <a:srgbClr val="1C8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packet gets source &amp; destination IP header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07608" y="2029968"/>
            <a:ext cx="777240" cy="7772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1C8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20299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784848" y="2418588"/>
            <a:ext cx="804672" cy="0"/>
          </a:xfrm>
          <a:prstGeom prst="line">
            <a:avLst/>
          </a:prstGeom>
          <a:noFill/>
          <a:ln w="25400">
            <a:solidFill>
              <a:srgbClr val="1C8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forward each packet along the best available path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44968" y="2029968"/>
            <a:ext cx="777240" cy="7772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1C8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44968" y="20299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69480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Reassembled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reorders packets by sequence number at destination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041648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Structure: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103120" y="4133088"/>
            <a:ext cx="10058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41330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54680" y="4133088"/>
            <a:ext cx="1005840" cy="548640"/>
          </a:xfrm>
          <a:prstGeom prst="rect">
            <a:avLst/>
          </a:prstGeom>
          <a:solidFill>
            <a:srgbClr val="1C8F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41330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4133088"/>
            <a:ext cx="1005840" cy="548640"/>
          </a:xfrm>
          <a:prstGeom prst="rect">
            <a:avLst/>
          </a:prstGeom>
          <a:solidFill>
            <a:srgbClr val="1C8F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41330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IP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4133088"/>
            <a:ext cx="100584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41330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No.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4133088"/>
            <a:ext cx="22860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1330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(Data)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41080" y="4133088"/>
            <a:ext cx="10058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41330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 / CRC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Firewalls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2.4.1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82296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8132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is a network security device that monitors and controls incoming and outgoing traffic based on predetermined security rules. It creates a barrier between trusted internal networks and untrusted external networks.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23317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331720"/>
            <a:ext cx="82296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423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Filtering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packets in isolation. Checks source/destination IP, port, protocol. Fast but cannot detect stateful attacks.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23317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2331720"/>
            <a:ext cx="82296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423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Stateful Inspection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93776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state of active connections. More secure — knows if a packet belongs to an established session.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3657600"/>
            <a:ext cx="82296" cy="1234440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 (WAF)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114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traffic at Layer 7. Can detect SQL injection, XSS, and other application-level attacks. Slowest but most thorough.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0916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3657600"/>
            <a:ext cx="82296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Next-Gen Firewall (NGFW)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937760" y="4114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stateful inspection with deep packet inspection, IDS/IPS, and application awareness. Industry standard today.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use ALLOW / DENY logic. Default stance: deny all, then whitelist permitted traffic (principle of least privilege).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 &amp; Digital Certificates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2.4.4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16052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6304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Symmetric: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2340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encrypts &amp; decrypts. Fast. Examples: AES-256, DES. Problem: key distribution.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Asymmetric: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3090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encrypts; private key decrypts. Examples: RSA, ECC. Used in HTTPS handshake.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TLS / HTTPS: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asymmetric encryption to exchange a symmetric session key, then encrypts all traffic with that key.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4334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Hashing: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4590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function: SHA-256 produces a fixed digest. Used for password storage &amp; data integrity checks.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417320"/>
            <a:ext cx="4160520" cy="548640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81328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146304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Certificates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800600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8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it?: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800600" y="2340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 document that binds a public key to an identity, signed by a Certificate Authority (CA).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80060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8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CA: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800600" y="3090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third-party (e.g. DigiCert, Let's Encrypt) that issues &amp; signs certificates after verifying identity.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80060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8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X.509 Standard: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80060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format for digital certificates used in HTTPS. Contains: owner, public key, expiry, CA signature.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800600" y="4334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8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PKI: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800600" y="4590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Infrastructure — the entire system of CAs, policies, and procedures that manages digital certificates.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HTTPS = HTTP + TLS. The padlock in your browser indicates a valid certificate and encrypted connection.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Netflix: How 15% of Global Internet Traffic is Delivered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CDN (A 2.1.2)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18928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Netflix's Open Connect CDN places servers in ISP data centres worldwide. Content is cached close to users, cutting latency by up to 80%.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325880"/>
            <a:ext cx="269748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63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Switching (A 2.3.3)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337560" y="18928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video stream is split into packets and transmitted over the internet's packet-switched backbone, reassembled in real time by the client.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0760" y="1325880"/>
            <a:ext cx="269748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Protocols (A 2.1.4)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217920" y="18928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uses HTTPS for encryption (TLS 1.3), QUIC (UDP-based) for fast streaming, and adaptive bitrate switching based on available bandwidth.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0040" y="3017520"/>
            <a:ext cx="269748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(A 2.4.1 / A 2.4.4)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35844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certificates protect streams. Firewalls protect backend APIs. DRM (Digital Rights Management) prevents unauthorised redistribution.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00400" y="3017520"/>
            <a:ext cx="269748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546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(A 2.1.2)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337560" y="35844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operates 3+ major cloud regions on AWS, with 6,000+ Open Connect Appliances (OCAs) deployed in 1,000+ cities globally.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080760" y="3017520"/>
            <a:ext cx="269748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546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751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Devices (A 2.1.3)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217920" y="35844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at ISP peering points direct traffic to the nearest OCA. BGP (Border Gateway Protocol) manages routing between autonomous systems.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320040" y="48371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Netflix Technology Blog | Sandvine Global Internet Phenomena 2024 | Cisco Annual Internet Report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&amp; 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Citations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34747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Tanenbaum, A. S. &amp; Wetherall, D. J. (2011). Computer Networks (5th ed.). Prentice Hall.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1907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textbook covering OSI model, protocols, and transmission media.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02536"/>
            <a:ext cx="8503920" cy="548640"/>
          </a:xfrm>
          <a:prstGeom prst="rect">
            <a:avLst/>
          </a:prstGeom>
          <a:solidFill>
            <a:srgbClr val="F5FBFD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02536"/>
            <a:ext cx="34747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02536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48256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Systems (2024). Cisco Annual Internet Report 2018–2023 White Paper. Cisco.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304288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 on IPv6 adoption, CDN traffic, and global internet growth statistics.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87752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87752"/>
            <a:ext cx="34747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87752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6334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Sandvine (2024). Global Internet Phenomena Report. Sandvine.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889504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traffic share data; breakdown of global protocol usage and streaming trends.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8503920" cy="548640"/>
          </a:xfrm>
          <a:prstGeom prst="rect">
            <a:avLst/>
          </a:prstGeom>
          <a:solidFill>
            <a:srgbClr val="F5FBFD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72968"/>
            <a:ext cx="34747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72968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21868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Technology Blog (2023). Delivering Netflix with Open Connect. Netflix Inc.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474720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 for CDN architecture, OCA deployment, and adaptive bitrate streaming.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58184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58184"/>
            <a:ext cx="34747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58184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80390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Society (2024). IPv6 Deployment — State of the Internet. ISOC.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059936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IPv6 adoption rates and transition from IPv4 globally.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343400"/>
            <a:ext cx="8503920" cy="548640"/>
          </a:xfrm>
          <a:prstGeom prst="rect">
            <a:avLst/>
          </a:prstGeom>
          <a:solidFill>
            <a:srgbClr val="F5FBFD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343400"/>
            <a:ext cx="34747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4340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438912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(2023). NIST Special Publication 800-52 Rev 2: TLS Guidelines. NIST.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464515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for TLS implementation, digital certificates, and encryption requirements.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&amp; Challenges Encountered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44752"/>
            <a:ext cx="82296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517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Deepest Insight: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34440" y="1837944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 initially seemed abstract, but building the Netflix case study made it concrete — seeing how TLS maps to L5, IP to L3, and cables to L1 brought the layers to life in a real context.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359152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359152"/>
            <a:ext cx="82296" cy="822960"/>
          </a:xfrm>
          <a:prstGeom prst="rect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487168"/>
            <a:ext cx="548640" cy="548640"/>
          </a:xfrm>
          <a:prstGeom prst="ellipse">
            <a:avLst/>
          </a:prstGeom>
          <a:solidFill>
            <a:srgbClr val="1C8FA4"/>
          </a:solidFill>
          <a:ln w="12700">
            <a:solidFill>
              <a:srgbClr val="1C8FA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3288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4323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8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Surprising Fact: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234440" y="2752344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exhaustion is not a future problem — it already happened. The internet survives today largely due to NAT (Network Address Translation) acting as a short-term workaround.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" y="3273552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273552"/>
            <a:ext cx="82296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401568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4728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Biggest Challenge: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234440" y="3666744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interplay between firewalls, encryption, and certificates was initially confusing. Firewalls operate on packets; TLS operates on sessions — they complement rather than replace each other.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20040" y="4187952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4187952"/>
            <a:ext cx="82296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315968"/>
            <a:ext cx="548640" cy="5486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36168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4261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Takeaway: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234440" y="4581144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is not just a technical subject — it underpins global communication, commerce, education, and security. Every website visited, every message sent, relies on these protocols working flawlessly.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C8FA4">
              <a:alpha val="20000"/>
            </a:srgbClr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A8D8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Listening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Computer Science · Networking Unit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05072"/>
            <a:ext cx="19202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0507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2.1 — Network Fundamentals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24912" y="4005072"/>
            <a:ext cx="19202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400507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2.2 — Topologies &amp;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9744" y="4005072"/>
            <a:ext cx="19202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400507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2.3 — Addressing &amp; Media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94576" y="4005072"/>
            <a:ext cx="19202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8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400507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2.4 — Security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Deadline: Sunday, 13th April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Networking: How the World Stays Connected</dc:title>
  <dc:subject>PptxGenJS Presentation</dc:subject>
  <dc:creator>IB Computer Science</dc:creator>
  <cp:lastModifiedBy>IB Computer Science</cp:lastModifiedBy>
  <cp:revision>1</cp:revision>
  <dcterms:created xsi:type="dcterms:W3CDTF">2026-04-01T17:16:33Z</dcterms:created>
  <dcterms:modified xsi:type="dcterms:W3CDTF">2026-04-01T17:16:33Z</dcterms:modified>
</cp:coreProperties>
</file>