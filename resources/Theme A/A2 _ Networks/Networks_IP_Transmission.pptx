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mnCdzztW65y4MuVGyCirsQvYa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5DD7B9-AEB0-4DE2-9F1D-3A0E48E9115F}">
  <a:tblStyle styleId="{065DD7B9-AEB0-4DE2-9F1D-3A0E48E9115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355e9245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355e9245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355e9245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15" name="Shape 15"/>
        <p:cNvGrpSpPr/>
        <p:nvPr/>
      </p:nvGrpSpPr>
      <p:grpSpPr>
        <a:xfrm>
          <a:off x="0" y="0"/>
          <a:ext cx="0" cy="0"/>
          <a:chOff x="0" y="0"/>
          <a:chExt cx="0" cy="0"/>
        </a:xfrm>
      </p:grpSpPr>
      <p:sp>
        <p:nvSpPr>
          <p:cNvPr id="16" name="Google Shape;16;p1"/>
          <p:cNvSpPr/>
          <p:nvPr/>
        </p:nvSpPr>
        <p:spPr>
          <a:xfrm>
            <a:off x="6858000" y="-457200"/>
            <a:ext cx="3657600" cy="3657600"/>
          </a:xfrm>
          <a:prstGeom prst="ellipse">
            <a:avLst/>
          </a:prstGeom>
          <a:solidFill>
            <a:srgbClr val="0D3B5A">
              <a:alpha val="60000"/>
            </a:srgbClr>
          </a:solidFill>
          <a:ln cap="flat" cmpd="sng" w="12700">
            <a:solidFill>
              <a:srgbClr val="0D3B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14400" y="3200400"/>
            <a:ext cx="2743200" cy="2743200"/>
          </a:xfrm>
          <a:prstGeom prst="ellipse">
            <a:avLst/>
          </a:prstGeom>
          <a:solidFill>
            <a:srgbClr val="014F6A">
              <a:alpha val="60000"/>
            </a:srgbClr>
          </a:solidFill>
          <a:ln cap="flat" cmpd="sng" w="12700">
            <a:solidFill>
              <a:srgbClr val="014F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0" y="0"/>
            <a:ext cx="182880"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57200" y="6400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800"/>
              <a:buFont typeface="Trebuchet MS"/>
              <a:buNone/>
            </a:pPr>
            <a:r>
              <a:rPr b="0" i="0" lang="en-US" sz="1800" u="none" cap="none" strike="noStrike">
                <a:solidFill>
                  <a:srgbClr val="02C39A"/>
                </a:solidFill>
                <a:latin typeface="Trebuchet MS"/>
                <a:ea typeface="Trebuchet MS"/>
                <a:cs typeface="Trebuchet MS"/>
                <a:sym typeface="Trebuchet MS"/>
              </a:rPr>
              <a:t>Networks</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457200" y="1188720"/>
            <a:ext cx="82296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Trebuchet MS"/>
              <a:buNone/>
            </a:pPr>
            <a:r>
              <a:rPr b="1" i="0" lang="en-US" sz="4200" u="none" cap="none" strike="noStrike">
                <a:solidFill>
                  <a:srgbClr val="FFFFFF"/>
                </a:solidFill>
                <a:latin typeface="Trebuchet MS"/>
                <a:ea typeface="Trebuchet MS"/>
                <a:cs typeface="Trebuchet MS"/>
                <a:sym typeface="Trebuchet MS"/>
              </a:rPr>
              <a:t>IP Addressing &amp;</a:t>
            </a:r>
            <a:endParaRPr b="0" i="0" sz="4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200"/>
              <a:buFont typeface="Trebuchet MS"/>
              <a:buNone/>
            </a:pPr>
            <a:r>
              <a:rPr b="1" i="0" lang="en-US" sz="4200" u="none" cap="none" strike="noStrike">
                <a:solidFill>
                  <a:srgbClr val="FFFFFF"/>
                </a:solidFill>
                <a:latin typeface="Trebuchet MS"/>
                <a:ea typeface="Trebuchet MS"/>
                <a:cs typeface="Trebuchet MS"/>
                <a:sym typeface="Trebuchet MS"/>
              </a:rPr>
              <a:t>Transmission Media</a:t>
            </a:r>
            <a:endParaRPr b="0" i="0" sz="4200" u="none" cap="none" strike="noStrike">
              <a:solidFill>
                <a:schemeClr val="dk1"/>
              </a:solidFill>
              <a:latin typeface="Calibri"/>
              <a:ea typeface="Calibri"/>
              <a:cs typeface="Calibri"/>
              <a:sym typeface="Calibri"/>
            </a:endParaRPr>
          </a:p>
        </p:txBody>
      </p:sp>
      <p:sp>
        <p:nvSpPr>
          <p:cNvPr id="21" name="Google Shape;21;p1"/>
          <p:cNvSpPr/>
          <p:nvPr/>
        </p:nvSpPr>
        <p:spPr>
          <a:xfrm>
            <a:off x="457200" y="3200400"/>
            <a:ext cx="3840480" cy="50292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48640" y="321868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 2.3.1  IP Addressing</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4754880" y="3200400"/>
            <a:ext cx="3840480" cy="50292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846320" y="321868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 2.3.2  Transmission Media</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457200" y="393192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100"/>
              <a:buFont typeface="Calibri"/>
              <a:buNone/>
            </a:pPr>
            <a:r>
              <a:rPr b="0" i="1" lang="en-US" sz="1100" u="none" cap="none" strike="noStrike">
                <a:solidFill>
                  <a:srgbClr val="CBD5E0"/>
                </a:solidFill>
                <a:latin typeface="Calibri"/>
                <a:ea typeface="Calibri"/>
                <a:cs typeface="Calibri"/>
                <a:sym typeface="Calibri"/>
              </a:rPr>
              <a:t>Covers: IPv4/IPv6 · Public/Private · Static/Dynamic · NAT · Fibre Optic · Twisted Pair · Wireless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30" name="Shape 30"/>
        <p:cNvGrpSpPr/>
        <p:nvPr/>
      </p:nvGrpSpPr>
      <p:grpSpPr>
        <a:xfrm>
          <a:off x="0" y="0"/>
          <a:ext cx="0" cy="0"/>
          <a:chOff x="0" y="0"/>
          <a:chExt cx="0" cy="0"/>
        </a:xfrm>
      </p:grpSpPr>
      <p:sp>
        <p:nvSpPr>
          <p:cNvPr id="31" name="Google Shape;31;p2"/>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Learning Objectives</a:t>
            </a:r>
            <a:endParaRPr b="0" i="0" sz="2200" u="none" cap="none" strike="noStrike">
              <a:solidFill>
                <a:schemeClr val="dk1"/>
              </a:solidFill>
              <a:latin typeface="Calibri"/>
              <a:ea typeface="Calibri"/>
              <a:cs typeface="Calibri"/>
              <a:sym typeface="Calibri"/>
            </a:endParaRPr>
          </a:p>
        </p:txBody>
      </p:sp>
      <p:sp>
        <p:nvSpPr>
          <p:cNvPr id="33" name="Google Shape;33;p2"/>
          <p:cNvSpPr/>
          <p:nvPr/>
        </p:nvSpPr>
        <p:spPr>
          <a:xfrm>
            <a:off x="365760" y="914400"/>
            <a:ext cx="8412480" cy="7772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65760" y="914400"/>
            <a:ext cx="73152" cy="77724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48640" y="960120"/>
            <a:ext cx="8046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0" i="0" lang="en-US" sz="1400" u="none" cap="none" strike="noStrike">
                <a:solidFill>
                  <a:srgbClr val="0A2342"/>
                </a:solidFill>
                <a:latin typeface="Calibri"/>
                <a:ea typeface="Calibri"/>
                <a:cs typeface="Calibri"/>
                <a:sym typeface="Calibri"/>
              </a:rPr>
              <a:t>1.  Describe different types of IP addressing including IPv4, IPv6, public, private, static and dynamic.</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365760" y="1874520"/>
            <a:ext cx="8412480" cy="7772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65760" y="1874520"/>
            <a:ext cx="73152" cy="77724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48640" y="1920240"/>
            <a:ext cx="8046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0" i="0" lang="en-US" sz="1400" u="none" cap="none" strike="noStrike">
                <a:solidFill>
                  <a:srgbClr val="0A2342"/>
                </a:solidFill>
                <a:latin typeface="Calibri"/>
                <a:ea typeface="Calibri"/>
                <a:cs typeface="Calibri"/>
                <a:sym typeface="Calibri"/>
              </a:rPr>
              <a:t>2.  Explain how Network Address Translation (NAT) works and why it is used.</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365760" y="2834640"/>
            <a:ext cx="8412480" cy="7772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65760" y="2834640"/>
            <a:ext cx="73152" cy="77724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48640" y="2880360"/>
            <a:ext cx="8046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0" i="0" lang="en-US" sz="1400" u="none" cap="none" strike="noStrike">
                <a:solidFill>
                  <a:srgbClr val="0A2342"/>
                </a:solidFill>
                <a:latin typeface="Calibri"/>
                <a:ea typeface="Calibri"/>
                <a:cs typeface="Calibri"/>
                <a:sym typeface="Calibri"/>
              </a:rPr>
              <a:t>3.  Compare types of transmission media: fibre optic, twisted pair and wireless.</a:t>
            </a:r>
            <a:endParaRPr b="0" i="0" sz="1400" u="none" cap="none" strike="noStrike">
              <a:solidFill>
                <a:schemeClr val="dk1"/>
              </a:solidFill>
              <a:latin typeface="Calibri"/>
              <a:ea typeface="Calibri"/>
              <a:cs typeface="Calibri"/>
              <a:sym typeface="Calibri"/>
            </a:endParaRPr>
          </a:p>
        </p:txBody>
      </p:sp>
      <p:sp>
        <p:nvSpPr>
          <p:cNvPr id="42" name="Google Shape;42;p2"/>
          <p:cNvSpPr/>
          <p:nvPr/>
        </p:nvSpPr>
        <p:spPr>
          <a:xfrm>
            <a:off x="365760" y="3794760"/>
            <a:ext cx="8412480" cy="7772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65760" y="3794760"/>
            <a:ext cx="73152" cy="77724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48640" y="3840480"/>
            <a:ext cx="8046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0" i="0" lang="en-US" sz="1400" u="none" cap="none" strike="noStrike">
                <a:solidFill>
                  <a:srgbClr val="0A2342"/>
                </a:solidFill>
                <a:latin typeface="Calibri"/>
                <a:ea typeface="Calibri"/>
                <a:cs typeface="Calibri"/>
                <a:sym typeface="Calibri"/>
              </a:rPr>
              <a:t>4.  Evaluate factors such as bandwidth, cost, range, security and interference.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49" name="Shape 49"/>
        <p:cNvGrpSpPr/>
        <p:nvPr/>
      </p:nvGrpSpPr>
      <p:grpSpPr>
        <a:xfrm>
          <a:off x="0" y="0"/>
          <a:ext cx="0" cy="0"/>
          <a:chOff x="0" y="0"/>
          <a:chExt cx="0" cy="0"/>
        </a:xfrm>
      </p:grpSpPr>
      <p:sp>
        <p:nvSpPr>
          <p:cNvPr id="50" name="Google Shape;50;p3"/>
          <p:cNvSpPr/>
          <p:nvPr/>
        </p:nvSpPr>
        <p:spPr>
          <a:xfrm>
            <a:off x="0" y="0"/>
            <a:ext cx="164592"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365760" y="73152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6400"/>
              <a:buFont typeface="Calibri"/>
              <a:buNone/>
            </a:pPr>
            <a:r>
              <a:rPr b="0" i="0" lang="en-US" sz="6400" u="none" cap="none" strike="noStrike">
                <a:solidFill>
                  <a:srgbClr val="000000"/>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52" name="Google Shape;52;p3"/>
          <p:cNvSpPr/>
          <p:nvPr/>
        </p:nvSpPr>
        <p:spPr>
          <a:xfrm>
            <a:off x="365760" y="2194560"/>
            <a:ext cx="84124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Topic 1: IP Addressing</a:t>
            </a:r>
            <a:endParaRPr b="0" i="0" sz="4000" u="none" cap="none" strike="noStrike">
              <a:solidFill>
                <a:schemeClr val="dk1"/>
              </a:solidFill>
              <a:latin typeface="Calibri"/>
              <a:ea typeface="Calibri"/>
              <a:cs typeface="Calibri"/>
              <a:sym typeface="Calibri"/>
            </a:endParaRPr>
          </a:p>
        </p:txBody>
      </p:sp>
      <p:sp>
        <p:nvSpPr>
          <p:cNvPr id="53" name="Google Shape;53;p3"/>
          <p:cNvSpPr/>
          <p:nvPr/>
        </p:nvSpPr>
        <p:spPr>
          <a:xfrm>
            <a:off x="365760" y="3200400"/>
            <a:ext cx="84124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800"/>
              <a:buFont typeface="Calibri"/>
              <a:buNone/>
            </a:pPr>
            <a:r>
              <a:rPr b="0" i="1" lang="en-US" sz="1800" u="none" cap="none" strike="noStrike">
                <a:solidFill>
                  <a:srgbClr val="02C39A"/>
                </a:solidFill>
                <a:latin typeface="Calibri"/>
                <a:ea typeface="Calibri"/>
                <a:cs typeface="Calibri"/>
                <a:sym typeface="Calibri"/>
              </a:rPr>
              <a:t>A 2.3.1 — Describe different types of IP addressing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58" name="Shape 58"/>
        <p:cNvGrpSpPr/>
        <p:nvPr/>
      </p:nvGrpSpPr>
      <p:grpSpPr>
        <a:xfrm>
          <a:off x="0" y="0"/>
          <a:ext cx="0" cy="0"/>
          <a:chOff x="0" y="0"/>
          <a:chExt cx="0" cy="0"/>
        </a:xfrm>
      </p:grpSpPr>
      <p:sp>
        <p:nvSpPr>
          <p:cNvPr id="59" name="Google Shape;59;p4"/>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 Starter Activity — IP Addressing</a:t>
            </a:r>
            <a:endParaRPr b="0" i="0" sz="2200" u="none" cap="none" strike="noStrike">
              <a:solidFill>
                <a:schemeClr val="dk1"/>
              </a:solidFill>
              <a:latin typeface="Calibri"/>
              <a:ea typeface="Calibri"/>
              <a:cs typeface="Calibri"/>
              <a:sym typeface="Calibri"/>
            </a:endParaRPr>
          </a:p>
        </p:txBody>
      </p:sp>
      <p:sp>
        <p:nvSpPr>
          <p:cNvPr id="61" name="Google Shape;61;p4"/>
          <p:cNvSpPr/>
          <p:nvPr/>
        </p:nvSpPr>
        <p:spPr>
          <a:xfrm>
            <a:off x="6858000" y="45720"/>
            <a:ext cx="2011680" cy="5943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200"/>
              <a:buFont typeface="Calibri"/>
              <a:buNone/>
            </a:pPr>
            <a:r>
              <a:rPr b="0" i="1" lang="en-US" sz="1200" u="none" cap="none" strike="noStrike">
                <a:solidFill>
                  <a:srgbClr val="02C39A"/>
                </a:solidFill>
                <a:latin typeface="Calibri"/>
                <a:ea typeface="Calibri"/>
                <a:cs typeface="Calibri"/>
                <a:sym typeface="Calibri"/>
              </a:rPr>
              <a:t>A 2.3.1</a:t>
            </a:r>
            <a:endParaRPr b="0" i="0" sz="1200" u="none" cap="none" strike="noStrike">
              <a:solidFill>
                <a:schemeClr val="dk1"/>
              </a:solidFill>
              <a:latin typeface="Calibri"/>
              <a:ea typeface="Calibri"/>
              <a:cs typeface="Calibri"/>
              <a:sym typeface="Calibri"/>
            </a:endParaRPr>
          </a:p>
        </p:txBody>
      </p:sp>
      <p:sp>
        <p:nvSpPr>
          <p:cNvPr id="62" name="Google Shape;62;p4"/>
          <p:cNvSpPr/>
          <p:nvPr/>
        </p:nvSpPr>
        <p:spPr>
          <a:xfrm>
            <a:off x="27432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74320" y="822960"/>
            <a:ext cx="2651760" cy="41148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34747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Foundation</a:t>
            </a:r>
            <a:endParaRPr b="0" i="0" sz="1300" u="none" cap="none" strike="noStrike">
              <a:solidFill>
                <a:schemeClr val="dk1"/>
              </a:solidFill>
              <a:latin typeface="Calibri"/>
              <a:ea typeface="Calibri"/>
              <a:cs typeface="Calibri"/>
              <a:sym typeface="Calibri"/>
            </a:endParaRPr>
          </a:p>
        </p:txBody>
      </p:sp>
      <p:sp>
        <p:nvSpPr>
          <p:cNvPr id="65" name="Google Shape;65;p4"/>
          <p:cNvSpPr/>
          <p:nvPr/>
        </p:nvSpPr>
        <p:spPr>
          <a:xfrm>
            <a:off x="41148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Think of a postal address. What does it tell you?</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In your own words, why might every device on the internet need a unique address?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Write down 3 devices in your home that connect to the internet.</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What happens if two devices share the same address? Discuss with a partner.</a:t>
            </a:r>
            <a:endParaRPr b="0" i="0" sz="1200" u="none" cap="none" strike="noStrike">
              <a:solidFill>
                <a:schemeClr val="dk1"/>
              </a:solidFill>
              <a:latin typeface="Calibri"/>
              <a:ea typeface="Calibri"/>
              <a:cs typeface="Calibri"/>
              <a:sym typeface="Calibri"/>
            </a:endParaRPr>
          </a:p>
        </p:txBody>
      </p:sp>
      <p:sp>
        <p:nvSpPr>
          <p:cNvPr id="66" name="Google Shape;66;p4"/>
          <p:cNvSpPr/>
          <p:nvPr/>
        </p:nvSpPr>
        <p:spPr>
          <a:xfrm>
            <a:off x="306324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063240" y="822960"/>
            <a:ext cx="2651760" cy="4114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13639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Core</a:t>
            </a:r>
            <a:endParaRPr b="0" i="0" sz="1300" u="none" cap="none" strike="noStrike">
              <a:solidFill>
                <a:schemeClr val="dk1"/>
              </a:solidFill>
              <a:latin typeface="Calibri"/>
              <a:ea typeface="Calibri"/>
              <a:cs typeface="Calibri"/>
              <a:sym typeface="Calibri"/>
            </a:endParaRPr>
          </a:p>
        </p:txBody>
      </p:sp>
      <p:sp>
        <p:nvSpPr>
          <p:cNvPr id="69" name="Google Shape;69;p4"/>
          <p:cNvSpPr/>
          <p:nvPr/>
        </p:nvSpPr>
        <p:spPr>
          <a:xfrm>
            <a:off x="320040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What is an IP address and what is its purpose?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IPv4 uses 32 bits. How many unique addresses does this allow? Show your working.</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Name ONE difference between a public IP and a private IP address.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Give ONE real-world example of when a static IP would be preferred over dynamic.</a:t>
            </a:r>
            <a:endParaRPr b="0" i="0" sz="1200" u="none" cap="none" strike="noStrike">
              <a:solidFill>
                <a:schemeClr val="dk1"/>
              </a:solidFill>
              <a:latin typeface="Calibri"/>
              <a:ea typeface="Calibri"/>
              <a:cs typeface="Calibri"/>
              <a:sym typeface="Calibri"/>
            </a:endParaRPr>
          </a:p>
        </p:txBody>
      </p:sp>
      <p:sp>
        <p:nvSpPr>
          <p:cNvPr id="70" name="Google Shape;70;p4"/>
          <p:cNvSpPr/>
          <p:nvPr/>
        </p:nvSpPr>
        <p:spPr>
          <a:xfrm>
            <a:off x="585216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5852160" y="822960"/>
            <a:ext cx="2651760" cy="411480"/>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592531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Extension</a:t>
            </a:r>
            <a:endParaRPr b="0" i="0" sz="1300" u="none" cap="none" strike="noStrike">
              <a:solidFill>
                <a:schemeClr val="dk1"/>
              </a:solidFill>
              <a:latin typeface="Calibri"/>
              <a:ea typeface="Calibri"/>
              <a:cs typeface="Calibri"/>
              <a:sym typeface="Calibri"/>
            </a:endParaRPr>
          </a:p>
        </p:txBody>
      </p:sp>
      <p:sp>
        <p:nvSpPr>
          <p:cNvPr id="73" name="Google Shape;73;p4"/>
          <p:cNvSpPr/>
          <p:nvPr/>
        </p:nvSpPr>
        <p:spPr>
          <a:xfrm>
            <a:off x="598932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IPv4 is 'running out'. Explain what this means technically and why it is a problem.</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Compare IPv4 and IPv6 — address format, size, and security features.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why private IP addresses are 'not routable' on the public internet.</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How does NAT solve the IPv4 exhaustion problem? Include a worked example.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78" name="Shape 78"/>
        <p:cNvGrpSpPr/>
        <p:nvPr/>
      </p:nvGrpSpPr>
      <p:grpSpPr>
        <a:xfrm>
          <a:off x="0" y="0"/>
          <a:ext cx="0" cy="0"/>
          <a:chOff x="0" y="0"/>
          <a:chExt cx="0" cy="0"/>
        </a:xfrm>
      </p:grpSpPr>
      <p:sp>
        <p:nvSpPr>
          <p:cNvPr id="79" name="Google Shape;79;p5"/>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IPv4 vs IPv6 — The Evolution of Addressing</a:t>
            </a:r>
            <a:endParaRPr b="0" i="0" sz="2200" u="none" cap="none" strike="noStrike">
              <a:solidFill>
                <a:schemeClr val="dk1"/>
              </a:solidFill>
              <a:latin typeface="Calibri"/>
              <a:ea typeface="Calibri"/>
              <a:cs typeface="Calibri"/>
              <a:sym typeface="Calibri"/>
            </a:endParaRPr>
          </a:p>
        </p:txBody>
      </p:sp>
      <p:sp>
        <p:nvSpPr>
          <p:cNvPr id="81" name="Google Shape;81;p5"/>
          <p:cNvSpPr/>
          <p:nvPr/>
        </p:nvSpPr>
        <p:spPr>
          <a:xfrm>
            <a:off x="274320" y="777240"/>
            <a:ext cx="411480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274320" y="777240"/>
            <a:ext cx="4114800" cy="6400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65760" y="804672"/>
            <a:ext cx="2286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IPv4</a:t>
            </a:r>
            <a:endParaRPr b="0" i="0" sz="2200" u="none" cap="none" strike="noStrike">
              <a:solidFill>
                <a:schemeClr val="dk1"/>
              </a:solidFill>
              <a:latin typeface="Calibri"/>
              <a:ea typeface="Calibri"/>
              <a:cs typeface="Calibri"/>
              <a:sym typeface="Calibri"/>
            </a:endParaRPr>
          </a:p>
        </p:txBody>
      </p:sp>
      <p:sp>
        <p:nvSpPr>
          <p:cNvPr id="84" name="Google Shape;84;p5"/>
          <p:cNvSpPr/>
          <p:nvPr/>
        </p:nvSpPr>
        <p:spPr>
          <a:xfrm>
            <a:off x="2651760" y="822960"/>
            <a:ext cx="15544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400"/>
              <a:buFont typeface="Calibri"/>
              <a:buNone/>
            </a:pPr>
            <a:r>
              <a:rPr b="0" i="1" lang="en-US" sz="1400" u="none" cap="none" strike="noStrike">
                <a:solidFill>
                  <a:srgbClr val="02C39A"/>
                </a:solidFill>
                <a:latin typeface="Calibri"/>
                <a:ea typeface="Calibri"/>
                <a:cs typeface="Calibri"/>
                <a:sym typeface="Calibri"/>
              </a:rPr>
              <a:t>32-bit</a:t>
            </a:r>
            <a:endParaRPr b="0" i="0" sz="1400" u="none" cap="none" strike="noStrike">
              <a:solidFill>
                <a:schemeClr val="dk1"/>
              </a:solidFill>
              <a:latin typeface="Calibri"/>
              <a:ea typeface="Calibri"/>
              <a:cs typeface="Calibri"/>
              <a:sym typeface="Calibri"/>
            </a:endParaRPr>
          </a:p>
        </p:txBody>
      </p:sp>
      <p:sp>
        <p:nvSpPr>
          <p:cNvPr id="85" name="Google Shape;85;p5"/>
          <p:cNvSpPr/>
          <p:nvPr/>
        </p:nvSpPr>
        <p:spPr>
          <a:xfrm>
            <a:off x="411480" y="1508760"/>
            <a:ext cx="3840480" cy="3063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~4.3 billion unique addresses</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Dotted decimal format: 192.168.1.1</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Security features optional</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Limited auto-configuration</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Running out due to device explosion</a:t>
            </a:r>
            <a:endParaRPr b="0" i="0" sz="1300" u="none" cap="none" strike="noStrike">
              <a:solidFill>
                <a:schemeClr val="dk1"/>
              </a:solidFill>
              <a:latin typeface="Calibri"/>
              <a:ea typeface="Calibri"/>
              <a:cs typeface="Calibri"/>
              <a:sym typeface="Calibri"/>
            </a:endParaRPr>
          </a:p>
        </p:txBody>
      </p:sp>
      <p:sp>
        <p:nvSpPr>
          <p:cNvPr id="86" name="Google Shape;86;p5"/>
          <p:cNvSpPr/>
          <p:nvPr/>
        </p:nvSpPr>
        <p:spPr>
          <a:xfrm>
            <a:off x="4754880" y="777240"/>
            <a:ext cx="411480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4754880" y="777240"/>
            <a:ext cx="41148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4846320" y="804672"/>
            <a:ext cx="2286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IPv6</a:t>
            </a:r>
            <a:endParaRPr b="0" i="0" sz="2200" u="none" cap="none" strike="noStrike">
              <a:solidFill>
                <a:schemeClr val="dk1"/>
              </a:solidFill>
              <a:latin typeface="Calibri"/>
              <a:ea typeface="Calibri"/>
              <a:cs typeface="Calibri"/>
              <a:sym typeface="Calibri"/>
            </a:endParaRPr>
          </a:p>
        </p:txBody>
      </p:sp>
      <p:sp>
        <p:nvSpPr>
          <p:cNvPr id="89" name="Google Shape;89;p5"/>
          <p:cNvSpPr/>
          <p:nvPr/>
        </p:nvSpPr>
        <p:spPr>
          <a:xfrm>
            <a:off x="7132320" y="822960"/>
            <a:ext cx="15544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400"/>
              <a:buFont typeface="Calibri"/>
              <a:buNone/>
            </a:pPr>
            <a:r>
              <a:rPr b="0" i="1" lang="en-US" sz="1400" u="none" cap="none" strike="noStrike">
                <a:solidFill>
                  <a:srgbClr val="02C39A"/>
                </a:solidFill>
                <a:latin typeface="Calibri"/>
                <a:ea typeface="Calibri"/>
                <a:cs typeface="Calibri"/>
                <a:sym typeface="Calibri"/>
              </a:rPr>
              <a:t>128-bit</a:t>
            </a:r>
            <a:endParaRPr b="0" i="0" sz="1400" u="none" cap="none" strike="noStrike">
              <a:solidFill>
                <a:schemeClr val="dk1"/>
              </a:solidFill>
              <a:latin typeface="Calibri"/>
              <a:ea typeface="Calibri"/>
              <a:cs typeface="Calibri"/>
              <a:sym typeface="Calibri"/>
            </a:endParaRPr>
          </a:p>
        </p:txBody>
      </p:sp>
      <p:sp>
        <p:nvSpPr>
          <p:cNvPr id="90" name="Google Shape;90;p5"/>
          <p:cNvSpPr/>
          <p:nvPr/>
        </p:nvSpPr>
        <p:spPr>
          <a:xfrm>
            <a:off x="4892040" y="1508760"/>
            <a:ext cx="3840480" cy="3063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3.4 × 10³⁸ unique addresses</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Hexadecimal: 2001:0db8:85a3::8a2e:0370:7334</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Security integrated (IPSec)</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Stateless &amp; stateful auto-config</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300"/>
              <a:buFont typeface="Calibri"/>
              <a:buChar char="•"/>
            </a:pPr>
            <a:r>
              <a:rPr b="0" i="0" lang="en-US" sz="1300" u="none" cap="none" strike="noStrike">
                <a:solidFill>
                  <a:srgbClr val="4A5568"/>
                </a:solidFill>
                <a:latin typeface="Calibri"/>
                <a:ea typeface="Calibri"/>
                <a:cs typeface="Calibri"/>
                <a:sym typeface="Calibri"/>
              </a:rPr>
              <a:t>Future-proof for billions of devices</a:t>
            </a:r>
            <a:endParaRPr b="0" i="0" sz="1300" u="none" cap="none" strike="noStrike">
              <a:solidFill>
                <a:schemeClr val="dk1"/>
              </a:solidFill>
              <a:latin typeface="Calibri"/>
              <a:ea typeface="Calibri"/>
              <a:cs typeface="Calibri"/>
              <a:sym typeface="Calibri"/>
            </a:endParaRPr>
          </a:p>
        </p:txBody>
      </p:sp>
      <p:sp>
        <p:nvSpPr>
          <p:cNvPr id="91" name="Google Shape;91;p5"/>
          <p:cNvSpPr/>
          <p:nvPr/>
        </p:nvSpPr>
        <p:spPr>
          <a:xfrm>
            <a:off x="274320" y="4572000"/>
            <a:ext cx="8595360" cy="41148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365760" y="4590288"/>
            <a:ext cx="8412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  Key Fact: IPv6 could assign an IP address to every grain of sand on Earth — and still have addresses to spare!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g3d355e9245b_0_0"/>
          <p:cNvPicPr preferRelativeResize="0"/>
          <p:nvPr/>
        </p:nvPicPr>
        <p:blipFill>
          <a:blip r:embed="rId3">
            <a:alphaModFix/>
          </a:blip>
          <a:stretch>
            <a:fillRect/>
          </a:stretch>
        </p:blipFill>
        <p:spPr>
          <a:xfrm>
            <a:off x="152400" y="152400"/>
            <a:ext cx="8727325" cy="4334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03" name="Shape 103"/>
        <p:cNvGrpSpPr/>
        <p:nvPr/>
      </p:nvGrpSpPr>
      <p:grpSpPr>
        <a:xfrm>
          <a:off x="0" y="0"/>
          <a:ext cx="0" cy="0"/>
          <a:chOff x="0" y="0"/>
          <a:chExt cx="0" cy="0"/>
        </a:xfrm>
      </p:grpSpPr>
      <p:sp>
        <p:nvSpPr>
          <p:cNvPr id="104" name="Google Shape;104;p6"/>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Public vs Private  &amp;  Static vs Dynamic IP Addresses</a:t>
            </a:r>
            <a:endParaRPr b="0" i="0" sz="2200" u="none" cap="none" strike="noStrike">
              <a:solidFill>
                <a:schemeClr val="dk1"/>
              </a:solidFill>
              <a:latin typeface="Calibri"/>
              <a:ea typeface="Calibri"/>
              <a:cs typeface="Calibri"/>
              <a:sym typeface="Calibri"/>
            </a:endParaRPr>
          </a:p>
        </p:txBody>
      </p:sp>
      <p:sp>
        <p:nvSpPr>
          <p:cNvPr id="106" name="Google Shape;106;p6"/>
          <p:cNvSpPr/>
          <p:nvPr/>
        </p:nvSpPr>
        <p:spPr>
          <a:xfrm>
            <a:off x="274320" y="777240"/>
            <a:ext cx="4114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2342"/>
              </a:buClr>
              <a:buSzPts val="1700"/>
              <a:buFont typeface="Trebuchet MS"/>
              <a:buNone/>
            </a:pPr>
            <a:r>
              <a:rPr b="1" i="0" lang="en-US" sz="1700" u="none" cap="none" strike="noStrike">
                <a:solidFill>
                  <a:srgbClr val="0A2342"/>
                </a:solidFill>
                <a:latin typeface="Trebuchet MS"/>
                <a:ea typeface="Trebuchet MS"/>
                <a:cs typeface="Trebuchet MS"/>
                <a:sym typeface="Trebuchet MS"/>
              </a:rPr>
              <a:t>Public vs Private</a:t>
            </a:r>
            <a:endParaRPr b="0" i="0" sz="1700" u="none" cap="none" strike="noStrike">
              <a:solidFill>
                <a:schemeClr val="dk1"/>
              </a:solidFill>
              <a:latin typeface="Calibri"/>
              <a:ea typeface="Calibri"/>
              <a:cs typeface="Calibri"/>
              <a:sym typeface="Calibri"/>
            </a:endParaRPr>
          </a:p>
        </p:txBody>
      </p:sp>
      <p:graphicFrame>
        <p:nvGraphicFramePr>
          <p:cNvPr id="107" name="Google Shape;107;p6"/>
          <p:cNvGraphicFramePr/>
          <p:nvPr/>
        </p:nvGraphicFramePr>
        <p:xfrm>
          <a:off x="274320" y="1234440"/>
          <a:ext cx="3000000" cy="3000000"/>
        </p:xfrm>
        <a:graphic>
          <a:graphicData uri="http://schemas.openxmlformats.org/drawingml/2006/table">
            <a:tbl>
              <a:tblPr>
                <a:noFill/>
                <a:tableStyleId>{065DD7B9-AEB0-4DE2-9F1D-3A0E48E9115F}</a:tableStyleId>
              </a:tblPr>
              <a:tblGrid>
                <a:gridCol w="1371600"/>
                <a:gridCol w="1371600"/>
                <a:gridCol w="1371600"/>
              </a:tblGrid>
              <a:tr h="365750">
                <a:tc>
                  <a:txBody>
                    <a:bodyPr/>
                    <a:lstStyle/>
                    <a:p>
                      <a:pPr indent="0" lvl="0" marL="0" marR="0" rtl="0" algn="l">
                        <a:spcBef>
                          <a:spcPts val="0"/>
                        </a:spcBef>
                        <a:spcAft>
                          <a:spcPts val="0"/>
                        </a:spcAft>
                        <a:buClr>
                          <a:schemeClr val="dk1"/>
                        </a:buClr>
                        <a:buSzPts val="1100"/>
                        <a:buFont typeface="Calibri"/>
                        <a:buNone/>
                      </a:pPr>
                      <a:r>
                        <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Public IP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Private IP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28090"/>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Assigned by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Your ISP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Your router (DHCP)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Routable?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Yes</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No</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Unique globally?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Yes</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No (reused)</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Example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203.0.113.5</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192.168.0.10</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bl>
          </a:graphicData>
        </a:graphic>
      </p:graphicFrame>
      <p:sp>
        <p:nvSpPr>
          <p:cNvPr id="108" name="Google Shape;108;p6"/>
          <p:cNvSpPr/>
          <p:nvPr/>
        </p:nvSpPr>
        <p:spPr>
          <a:xfrm>
            <a:off x="4754880" y="777240"/>
            <a:ext cx="4114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2342"/>
              </a:buClr>
              <a:buSzPts val="1700"/>
              <a:buFont typeface="Trebuchet MS"/>
              <a:buNone/>
            </a:pPr>
            <a:r>
              <a:rPr b="1" i="0" lang="en-US" sz="1700" u="none" cap="none" strike="noStrike">
                <a:solidFill>
                  <a:srgbClr val="0A2342"/>
                </a:solidFill>
                <a:latin typeface="Trebuchet MS"/>
                <a:ea typeface="Trebuchet MS"/>
                <a:cs typeface="Trebuchet MS"/>
                <a:sym typeface="Trebuchet MS"/>
              </a:rPr>
              <a:t>Static vs Dynamic</a:t>
            </a:r>
            <a:endParaRPr b="0" i="0" sz="1700" u="none" cap="none" strike="noStrike">
              <a:solidFill>
                <a:schemeClr val="dk1"/>
              </a:solidFill>
              <a:latin typeface="Calibri"/>
              <a:ea typeface="Calibri"/>
              <a:cs typeface="Calibri"/>
              <a:sym typeface="Calibri"/>
            </a:endParaRPr>
          </a:p>
        </p:txBody>
      </p:sp>
      <p:graphicFrame>
        <p:nvGraphicFramePr>
          <p:cNvPr id="109" name="Google Shape;109;p6"/>
          <p:cNvGraphicFramePr/>
          <p:nvPr/>
        </p:nvGraphicFramePr>
        <p:xfrm>
          <a:off x="4754880" y="1234440"/>
          <a:ext cx="3000000" cy="3000000"/>
        </p:xfrm>
        <a:graphic>
          <a:graphicData uri="http://schemas.openxmlformats.org/drawingml/2006/table">
            <a:tbl>
              <a:tblPr>
                <a:noFill/>
                <a:tableStyleId>{065DD7B9-AEB0-4DE2-9F1D-3A0E48E9115F}</a:tableStyleId>
              </a:tblPr>
              <a:tblGrid>
                <a:gridCol w="1371600"/>
                <a:gridCol w="1371600"/>
                <a:gridCol w="1371600"/>
              </a:tblGrid>
              <a:tr h="365750">
                <a:tc>
                  <a:txBody>
                    <a:bodyPr/>
                    <a:lstStyle/>
                    <a:p>
                      <a:pPr indent="0" lvl="0" marL="0" marR="0" rtl="0" algn="l">
                        <a:spcBef>
                          <a:spcPts val="0"/>
                        </a:spcBef>
                        <a:spcAft>
                          <a:spcPts val="0"/>
                        </a:spcAft>
                        <a:buClr>
                          <a:schemeClr val="dk1"/>
                        </a:buClr>
                        <a:buSzPts val="1100"/>
                        <a:buFont typeface="Calibri"/>
                        <a:buNone/>
                      </a:pPr>
                      <a:r>
                        <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Static IP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Dynamic IP</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Changes?</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Never</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 Over time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Assigned by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Admin manually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DHCP server</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Best for</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Servers, hosting</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Home users</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Cost</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Higher</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Usually free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bl>
          </a:graphicData>
        </a:graphic>
      </p:graphicFrame>
      <p:sp>
        <p:nvSpPr>
          <p:cNvPr id="110" name="Google Shape;110;p6"/>
          <p:cNvSpPr/>
          <p:nvPr/>
        </p:nvSpPr>
        <p:spPr>
          <a:xfrm>
            <a:off x="274320" y="3291840"/>
            <a:ext cx="8595360" cy="155448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274320" y="3291840"/>
            <a:ext cx="64008" cy="155448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57200" y="3364992"/>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300"/>
              <a:buFont typeface="Calibri"/>
              <a:buNone/>
            </a:pPr>
            <a:r>
              <a:rPr b="0" i="0" lang="en-US" sz="1300" u="none" cap="none" strike="noStrike">
                <a:solidFill>
                  <a:srgbClr val="4A5568"/>
                </a:solidFill>
                <a:latin typeface="Calibri"/>
                <a:ea typeface="Calibri"/>
                <a:cs typeface="Calibri"/>
                <a:sym typeface="Calibri"/>
              </a:rPr>
              <a:t>Why private IPs exist: Without private IP ranges, every home device would need a globally unique public IP — exhausting the IPv4 pool instantly. Routers use NAT to let many private devices share one public IP.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17" name="Shape 117"/>
        <p:cNvGrpSpPr/>
        <p:nvPr/>
      </p:nvGrpSpPr>
      <p:grpSpPr>
        <a:xfrm>
          <a:off x="0" y="0"/>
          <a:ext cx="0" cy="0"/>
          <a:chOff x="0" y="0"/>
          <a:chExt cx="0" cy="0"/>
        </a:xfrm>
      </p:grpSpPr>
      <p:sp>
        <p:nvSpPr>
          <p:cNvPr id="118" name="Google Shape;118;p7"/>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Network Address Translation (NAT)</a:t>
            </a:r>
            <a:endParaRPr b="0" i="0" sz="2200" u="none" cap="none" strike="noStrike">
              <a:solidFill>
                <a:schemeClr val="dk1"/>
              </a:solidFill>
              <a:latin typeface="Calibri"/>
              <a:ea typeface="Calibri"/>
              <a:cs typeface="Calibri"/>
              <a:sym typeface="Calibri"/>
            </a:endParaRPr>
          </a:p>
        </p:txBody>
      </p:sp>
      <p:sp>
        <p:nvSpPr>
          <p:cNvPr id="120" name="Google Shape;120;p7"/>
          <p:cNvSpPr/>
          <p:nvPr/>
        </p:nvSpPr>
        <p:spPr>
          <a:xfrm>
            <a:off x="274320" y="777240"/>
            <a:ext cx="8595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2342"/>
              </a:buClr>
              <a:buSzPts val="1700"/>
              <a:buFont typeface="Trebuchet MS"/>
              <a:buNone/>
            </a:pPr>
            <a:r>
              <a:rPr b="1" i="0" lang="en-US" sz="1700" u="none" cap="none" strike="noStrike">
                <a:solidFill>
                  <a:srgbClr val="0A2342"/>
                </a:solidFill>
                <a:latin typeface="Trebuchet MS"/>
                <a:ea typeface="Trebuchet MS"/>
                <a:cs typeface="Trebuchet MS"/>
                <a:sym typeface="Trebuchet MS"/>
              </a:rPr>
              <a:t>How NAT Works</a:t>
            </a:r>
            <a:endParaRPr b="0" i="0" sz="1700" u="none" cap="none" strike="noStrike">
              <a:solidFill>
                <a:schemeClr val="dk1"/>
              </a:solidFill>
              <a:latin typeface="Calibri"/>
              <a:ea typeface="Calibri"/>
              <a:cs typeface="Calibri"/>
              <a:sym typeface="Calibri"/>
            </a:endParaRPr>
          </a:p>
        </p:txBody>
      </p:sp>
      <p:sp>
        <p:nvSpPr>
          <p:cNvPr id="121" name="Google Shape;121;p7"/>
          <p:cNvSpPr/>
          <p:nvPr/>
        </p:nvSpPr>
        <p:spPr>
          <a:xfrm>
            <a:off x="274320" y="1234440"/>
            <a:ext cx="2011680" cy="23774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914400" y="1325880"/>
            <a:ext cx="640080" cy="6400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914400" y="1344168"/>
            <a:ext cx="6400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24" name="Google Shape;124;p7"/>
          <p:cNvSpPr/>
          <p:nvPr/>
        </p:nvSpPr>
        <p:spPr>
          <a:xfrm>
            <a:off x="365760" y="205740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2342"/>
              </a:buClr>
              <a:buSzPts val="1200"/>
              <a:buFont typeface="Trebuchet MS"/>
              <a:buNone/>
            </a:pPr>
            <a:r>
              <a:rPr b="1" i="0" lang="en-US" sz="1200" u="none" cap="none" strike="noStrike">
                <a:solidFill>
                  <a:srgbClr val="0A2342"/>
                </a:solidFill>
                <a:latin typeface="Trebuchet MS"/>
                <a:ea typeface="Trebuchet MS"/>
                <a:cs typeface="Trebuchet MS"/>
                <a:sym typeface="Trebuchet MS"/>
              </a:rPr>
              <a:t>Device Sends Request</a:t>
            </a:r>
            <a:endParaRPr b="0" i="0" sz="1200" u="none" cap="none" strike="noStrike">
              <a:solidFill>
                <a:schemeClr val="dk1"/>
              </a:solidFill>
              <a:latin typeface="Calibri"/>
              <a:ea typeface="Calibri"/>
              <a:cs typeface="Calibri"/>
              <a:sym typeface="Calibri"/>
            </a:endParaRPr>
          </a:p>
        </p:txBody>
      </p:sp>
      <p:sp>
        <p:nvSpPr>
          <p:cNvPr id="125" name="Google Shape;125;p7"/>
          <p:cNvSpPr/>
          <p:nvPr/>
        </p:nvSpPr>
        <p:spPr>
          <a:xfrm>
            <a:off x="365760" y="2560320"/>
            <a:ext cx="182880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Home device (e.g. 192.168.0.5) sends data to the internet.</a:t>
            </a:r>
            <a:endParaRPr b="0" i="0" sz="1100" u="none" cap="none" strike="noStrike">
              <a:solidFill>
                <a:schemeClr val="dk1"/>
              </a:solidFill>
              <a:latin typeface="Calibri"/>
              <a:ea typeface="Calibri"/>
              <a:cs typeface="Calibri"/>
              <a:sym typeface="Calibri"/>
            </a:endParaRPr>
          </a:p>
        </p:txBody>
      </p:sp>
      <p:cxnSp>
        <p:nvCxnSpPr>
          <p:cNvPr id="126" name="Google Shape;126;p7"/>
          <p:cNvCxnSpPr/>
          <p:nvPr/>
        </p:nvCxnSpPr>
        <p:spPr>
          <a:xfrm>
            <a:off x="2286000" y="2423160"/>
            <a:ext cx="137160" cy="0"/>
          </a:xfrm>
          <a:prstGeom prst="straightConnector1">
            <a:avLst/>
          </a:prstGeom>
          <a:noFill/>
          <a:ln cap="flat" cmpd="sng" w="25400">
            <a:solidFill>
              <a:srgbClr val="02C39A"/>
            </a:solidFill>
            <a:prstDash val="solid"/>
            <a:round/>
            <a:headEnd len="sm" w="sm" type="none"/>
            <a:tailEnd len="sm" w="sm" type="none"/>
          </a:ln>
        </p:spPr>
      </p:cxnSp>
      <p:sp>
        <p:nvSpPr>
          <p:cNvPr id="127" name="Google Shape;127;p7"/>
          <p:cNvSpPr/>
          <p:nvPr/>
        </p:nvSpPr>
        <p:spPr>
          <a:xfrm>
            <a:off x="2423160" y="1234440"/>
            <a:ext cx="2011680" cy="23774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3063240" y="1325880"/>
            <a:ext cx="640080" cy="6400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3063240" y="1344168"/>
            <a:ext cx="6400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30" name="Google Shape;130;p7"/>
          <p:cNvSpPr/>
          <p:nvPr/>
        </p:nvSpPr>
        <p:spPr>
          <a:xfrm>
            <a:off x="2514600" y="205740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2342"/>
              </a:buClr>
              <a:buSzPts val="1200"/>
              <a:buFont typeface="Trebuchet MS"/>
              <a:buNone/>
            </a:pPr>
            <a:r>
              <a:rPr b="1" i="0" lang="en-US" sz="1200" u="none" cap="none" strike="noStrike">
                <a:solidFill>
                  <a:srgbClr val="0A2342"/>
                </a:solidFill>
                <a:latin typeface="Trebuchet MS"/>
                <a:ea typeface="Trebuchet MS"/>
                <a:cs typeface="Trebuchet MS"/>
                <a:sym typeface="Trebuchet MS"/>
              </a:rPr>
              <a:t>Router Translates</a:t>
            </a:r>
            <a:endParaRPr b="0" i="0" sz="1200" u="none" cap="none" strike="noStrike">
              <a:solidFill>
                <a:schemeClr val="dk1"/>
              </a:solidFill>
              <a:latin typeface="Calibri"/>
              <a:ea typeface="Calibri"/>
              <a:cs typeface="Calibri"/>
              <a:sym typeface="Calibri"/>
            </a:endParaRPr>
          </a:p>
        </p:txBody>
      </p:sp>
      <p:sp>
        <p:nvSpPr>
          <p:cNvPr id="131" name="Google Shape;131;p7"/>
          <p:cNvSpPr/>
          <p:nvPr/>
        </p:nvSpPr>
        <p:spPr>
          <a:xfrm>
            <a:off x="2514600" y="2560320"/>
            <a:ext cx="182880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Router replaces private IP with its public IP (e.g. 203.0.113.1) and logs the mapping.</a:t>
            </a:r>
            <a:endParaRPr b="0" i="0" sz="1100" u="none" cap="none" strike="noStrike">
              <a:solidFill>
                <a:schemeClr val="dk1"/>
              </a:solidFill>
              <a:latin typeface="Calibri"/>
              <a:ea typeface="Calibri"/>
              <a:cs typeface="Calibri"/>
              <a:sym typeface="Calibri"/>
            </a:endParaRPr>
          </a:p>
        </p:txBody>
      </p:sp>
      <p:cxnSp>
        <p:nvCxnSpPr>
          <p:cNvPr id="132" name="Google Shape;132;p7"/>
          <p:cNvCxnSpPr/>
          <p:nvPr/>
        </p:nvCxnSpPr>
        <p:spPr>
          <a:xfrm>
            <a:off x="4434840" y="2423160"/>
            <a:ext cx="137160" cy="0"/>
          </a:xfrm>
          <a:prstGeom prst="straightConnector1">
            <a:avLst/>
          </a:prstGeom>
          <a:noFill/>
          <a:ln cap="flat" cmpd="sng" w="25400">
            <a:solidFill>
              <a:srgbClr val="02C39A"/>
            </a:solidFill>
            <a:prstDash val="solid"/>
            <a:round/>
            <a:headEnd len="sm" w="sm" type="none"/>
            <a:tailEnd len="sm" w="sm" type="none"/>
          </a:ln>
        </p:spPr>
      </p:cxnSp>
      <p:sp>
        <p:nvSpPr>
          <p:cNvPr id="133" name="Google Shape;133;p7"/>
          <p:cNvSpPr/>
          <p:nvPr/>
        </p:nvSpPr>
        <p:spPr>
          <a:xfrm>
            <a:off x="4572000" y="1234440"/>
            <a:ext cx="2011680" cy="23774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5212080" y="1325880"/>
            <a:ext cx="640080" cy="6400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5212080" y="1344168"/>
            <a:ext cx="6400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36" name="Google Shape;136;p7"/>
          <p:cNvSpPr/>
          <p:nvPr/>
        </p:nvSpPr>
        <p:spPr>
          <a:xfrm>
            <a:off x="4663440" y="205740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2342"/>
              </a:buClr>
              <a:buSzPts val="1200"/>
              <a:buFont typeface="Trebuchet MS"/>
              <a:buNone/>
            </a:pPr>
            <a:r>
              <a:rPr b="1" i="0" lang="en-US" sz="1200" u="none" cap="none" strike="noStrike">
                <a:solidFill>
                  <a:srgbClr val="0A2342"/>
                </a:solidFill>
                <a:latin typeface="Trebuchet MS"/>
                <a:ea typeface="Trebuchet MS"/>
                <a:cs typeface="Trebuchet MS"/>
                <a:sym typeface="Trebuchet MS"/>
              </a:rPr>
              <a:t>Reaches Destination</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4663440" y="2560320"/>
            <a:ext cx="182880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Web server receives request from the public IP only — private IP stays hidden.</a:t>
            </a:r>
            <a:endParaRPr b="0" i="0" sz="1100" u="none" cap="none" strike="noStrike">
              <a:solidFill>
                <a:schemeClr val="dk1"/>
              </a:solidFill>
              <a:latin typeface="Calibri"/>
              <a:ea typeface="Calibri"/>
              <a:cs typeface="Calibri"/>
              <a:sym typeface="Calibri"/>
            </a:endParaRPr>
          </a:p>
        </p:txBody>
      </p:sp>
      <p:cxnSp>
        <p:nvCxnSpPr>
          <p:cNvPr id="138" name="Google Shape;138;p7"/>
          <p:cNvCxnSpPr/>
          <p:nvPr/>
        </p:nvCxnSpPr>
        <p:spPr>
          <a:xfrm>
            <a:off x="6583680" y="2423160"/>
            <a:ext cx="137160" cy="0"/>
          </a:xfrm>
          <a:prstGeom prst="straightConnector1">
            <a:avLst/>
          </a:prstGeom>
          <a:noFill/>
          <a:ln cap="flat" cmpd="sng" w="25400">
            <a:solidFill>
              <a:srgbClr val="02C39A"/>
            </a:solidFill>
            <a:prstDash val="solid"/>
            <a:round/>
            <a:headEnd len="sm" w="sm" type="none"/>
            <a:tailEnd len="sm" w="sm" type="none"/>
          </a:ln>
        </p:spPr>
      </p:cxnSp>
      <p:sp>
        <p:nvSpPr>
          <p:cNvPr id="139" name="Google Shape;139;p7"/>
          <p:cNvSpPr/>
          <p:nvPr/>
        </p:nvSpPr>
        <p:spPr>
          <a:xfrm>
            <a:off x="6720840" y="1234440"/>
            <a:ext cx="2011680" cy="237744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7360920" y="1325880"/>
            <a:ext cx="640080" cy="6400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7360920" y="1344168"/>
            <a:ext cx="6400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42" name="Google Shape;142;p7"/>
          <p:cNvSpPr/>
          <p:nvPr/>
        </p:nvSpPr>
        <p:spPr>
          <a:xfrm>
            <a:off x="6812280" y="205740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2342"/>
              </a:buClr>
              <a:buSzPts val="1200"/>
              <a:buFont typeface="Trebuchet MS"/>
              <a:buNone/>
            </a:pPr>
            <a:r>
              <a:rPr b="1" i="0" lang="en-US" sz="1200" u="none" cap="none" strike="noStrike">
                <a:solidFill>
                  <a:srgbClr val="0A2342"/>
                </a:solidFill>
                <a:latin typeface="Trebuchet MS"/>
                <a:ea typeface="Trebuchet MS"/>
                <a:cs typeface="Trebuchet MS"/>
                <a:sym typeface="Trebuchet MS"/>
              </a:rPr>
              <a:t>Response Routed Back</a:t>
            </a:r>
            <a:endParaRPr b="0" i="0" sz="1200" u="none" cap="none" strike="noStrike">
              <a:solidFill>
                <a:schemeClr val="dk1"/>
              </a:solidFill>
              <a:latin typeface="Calibri"/>
              <a:ea typeface="Calibri"/>
              <a:cs typeface="Calibri"/>
              <a:sym typeface="Calibri"/>
            </a:endParaRPr>
          </a:p>
        </p:txBody>
      </p:sp>
      <p:sp>
        <p:nvSpPr>
          <p:cNvPr id="143" name="Google Shape;143;p7"/>
          <p:cNvSpPr/>
          <p:nvPr/>
        </p:nvSpPr>
        <p:spPr>
          <a:xfrm>
            <a:off x="6812280" y="2560320"/>
            <a:ext cx="182880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Router checks its table, translates back to the correct private IP and forwards data.</a:t>
            </a:r>
            <a:endParaRPr b="0" i="0" sz="1100" u="none" cap="none" strike="noStrike">
              <a:solidFill>
                <a:schemeClr val="dk1"/>
              </a:solidFill>
              <a:latin typeface="Calibri"/>
              <a:ea typeface="Calibri"/>
              <a:cs typeface="Calibri"/>
              <a:sym typeface="Calibri"/>
            </a:endParaRPr>
          </a:p>
        </p:txBody>
      </p:sp>
      <p:sp>
        <p:nvSpPr>
          <p:cNvPr id="144" name="Google Shape;144;p7"/>
          <p:cNvSpPr/>
          <p:nvPr/>
        </p:nvSpPr>
        <p:spPr>
          <a:xfrm>
            <a:off x="274320" y="3794760"/>
            <a:ext cx="8595360" cy="96012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548640" y="3858768"/>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Security</a:t>
            </a:r>
            <a:endParaRPr b="0" i="0" sz="1300" u="none" cap="none" strike="noStrike">
              <a:solidFill>
                <a:schemeClr val="dk1"/>
              </a:solidFill>
              <a:latin typeface="Calibri"/>
              <a:ea typeface="Calibri"/>
              <a:cs typeface="Calibri"/>
              <a:sym typeface="Calibri"/>
            </a:endParaRPr>
          </a:p>
        </p:txBody>
      </p:sp>
      <p:sp>
        <p:nvSpPr>
          <p:cNvPr id="146" name="Google Shape;146;p7"/>
          <p:cNvSpPr/>
          <p:nvPr/>
        </p:nvSpPr>
        <p:spPr>
          <a:xfrm>
            <a:off x="548640" y="4206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00"/>
              <a:buFont typeface="Calibri"/>
              <a:buNone/>
            </a:pPr>
            <a:r>
              <a:rPr b="0" i="0" lang="en-US" sz="1100" u="none" cap="none" strike="noStrike">
                <a:solidFill>
                  <a:srgbClr val="CBD5E0"/>
                </a:solidFill>
                <a:latin typeface="Calibri"/>
                <a:ea typeface="Calibri"/>
                <a:cs typeface="Calibri"/>
                <a:sym typeface="Calibri"/>
              </a:rPr>
              <a:t>Hides internal device addresses</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3383280" y="3858768"/>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Conserves IPs</a:t>
            </a:r>
            <a:endParaRPr b="0" i="0" sz="1300" u="none" cap="none" strike="noStrike">
              <a:solidFill>
                <a:schemeClr val="dk1"/>
              </a:solidFill>
              <a:latin typeface="Calibri"/>
              <a:ea typeface="Calibri"/>
              <a:cs typeface="Calibri"/>
              <a:sym typeface="Calibri"/>
            </a:endParaRPr>
          </a:p>
        </p:txBody>
      </p:sp>
      <p:sp>
        <p:nvSpPr>
          <p:cNvPr id="148" name="Google Shape;148;p7"/>
          <p:cNvSpPr/>
          <p:nvPr/>
        </p:nvSpPr>
        <p:spPr>
          <a:xfrm>
            <a:off x="3383280" y="4206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00"/>
              <a:buFont typeface="Calibri"/>
              <a:buNone/>
            </a:pPr>
            <a:r>
              <a:rPr b="0" i="0" lang="en-US" sz="1100" u="none" cap="none" strike="noStrike">
                <a:solidFill>
                  <a:srgbClr val="CBD5E0"/>
                </a:solidFill>
                <a:latin typeface="Calibri"/>
                <a:ea typeface="Calibri"/>
                <a:cs typeface="Calibri"/>
                <a:sym typeface="Calibri"/>
              </a:rPr>
              <a:t>Many devices share one public IP</a:t>
            </a:r>
            <a:endParaRPr b="0" i="0" sz="1100" u="none" cap="none" strike="noStrike">
              <a:solidFill>
                <a:schemeClr val="dk1"/>
              </a:solidFill>
              <a:latin typeface="Calibri"/>
              <a:ea typeface="Calibri"/>
              <a:cs typeface="Calibri"/>
              <a:sym typeface="Calibri"/>
            </a:endParaRPr>
          </a:p>
        </p:txBody>
      </p:sp>
      <p:sp>
        <p:nvSpPr>
          <p:cNvPr id="149" name="Google Shape;149;p7"/>
          <p:cNvSpPr/>
          <p:nvPr/>
        </p:nvSpPr>
        <p:spPr>
          <a:xfrm>
            <a:off x="6217920" y="3858768"/>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Transparency</a:t>
            </a:r>
            <a:endParaRPr b="0" i="0" sz="1300" u="none" cap="none" strike="noStrike">
              <a:solidFill>
                <a:schemeClr val="dk1"/>
              </a:solidFill>
              <a:latin typeface="Calibri"/>
              <a:ea typeface="Calibri"/>
              <a:cs typeface="Calibri"/>
              <a:sym typeface="Calibri"/>
            </a:endParaRPr>
          </a:p>
        </p:txBody>
      </p:sp>
      <p:sp>
        <p:nvSpPr>
          <p:cNvPr id="150" name="Google Shape;150;p7"/>
          <p:cNvSpPr/>
          <p:nvPr/>
        </p:nvSpPr>
        <p:spPr>
          <a:xfrm>
            <a:off x="6217920" y="4206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00"/>
              <a:buFont typeface="Calibri"/>
              <a:buNone/>
            </a:pPr>
            <a:r>
              <a:rPr b="0" i="0" lang="en-US" sz="1100" u="none" cap="none" strike="noStrike">
                <a:solidFill>
                  <a:srgbClr val="CBD5E0"/>
                </a:solidFill>
                <a:latin typeface="Calibri"/>
                <a:ea typeface="Calibri"/>
                <a:cs typeface="Calibri"/>
                <a:sym typeface="Calibri"/>
              </a:rPr>
              <a:t>Users don't notice it happening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55" name="Shape 155"/>
        <p:cNvGrpSpPr/>
        <p:nvPr/>
      </p:nvGrpSpPr>
      <p:grpSpPr>
        <a:xfrm>
          <a:off x="0" y="0"/>
          <a:ext cx="0" cy="0"/>
          <a:chOff x="0" y="0"/>
          <a:chExt cx="0" cy="0"/>
        </a:xfrm>
      </p:grpSpPr>
      <p:sp>
        <p:nvSpPr>
          <p:cNvPr id="156" name="Google Shape;156;p8"/>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 Activity 1 — IP Addressing</a:t>
            </a:r>
            <a:endParaRPr b="0" i="0" sz="2200" u="none" cap="none" strike="noStrike">
              <a:solidFill>
                <a:schemeClr val="dk1"/>
              </a:solidFill>
              <a:latin typeface="Calibri"/>
              <a:ea typeface="Calibri"/>
              <a:cs typeface="Calibri"/>
              <a:sym typeface="Calibri"/>
            </a:endParaRPr>
          </a:p>
        </p:txBody>
      </p:sp>
      <p:sp>
        <p:nvSpPr>
          <p:cNvPr id="158" name="Google Shape;158;p8"/>
          <p:cNvSpPr/>
          <p:nvPr/>
        </p:nvSpPr>
        <p:spPr>
          <a:xfrm>
            <a:off x="6858000" y="45720"/>
            <a:ext cx="2011680" cy="5943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200"/>
              <a:buFont typeface="Calibri"/>
              <a:buNone/>
            </a:pPr>
            <a:r>
              <a:rPr b="0" i="1" lang="en-US" sz="1200" u="none" cap="none" strike="noStrike">
                <a:solidFill>
                  <a:srgbClr val="02C39A"/>
                </a:solidFill>
                <a:latin typeface="Calibri"/>
                <a:ea typeface="Calibri"/>
                <a:cs typeface="Calibri"/>
                <a:sym typeface="Calibri"/>
              </a:rPr>
              <a:t>A 2.3.1</a:t>
            </a:r>
            <a:endParaRPr b="0" i="0" sz="1200" u="none" cap="none" strike="noStrike">
              <a:solidFill>
                <a:schemeClr val="dk1"/>
              </a:solidFill>
              <a:latin typeface="Calibri"/>
              <a:ea typeface="Calibri"/>
              <a:cs typeface="Calibri"/>
              <a:sym typeface="Calibri"/>
            </a:endParaRPr>
          </a:p>
        </p:txBody>
      </p:sp>
      <p:sp>
        <p:nvSpPr>
          <p:cNvPr id="159" name="Google Shape;159;p8"/>
          <p:cNvSpPr/>
          <p:nvPr/>
        </p:nvSpPr>
        <p:spPr>
          <a:xfrm>
            <a:off x="27432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274320" y="822960"/>
            <a:ext cx="2651760" cy="41148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34747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Foundation — Match &amp; Define</a:t>
            </a:r>
            <a:endParaRPr b="0" i="0" sz="1300" u="none" cap="none" strike="noStrike">
              <a:solidFill>
                <a:schemeClr val="dk1"/>
              </a:solidFill>
              <a:latin typeface="Calibri"/>
              <a:ea typeface="Calibri"/>
              <a:cs typeface="Calibri"/>
              <a:sym typeface="Calibri"/>
            </a:endParaRPr>
          </a:p>
        </p:txBody>
      </p:sp>
      <p:sp>
        <p:nvSpPr>
          <p:cNvPr id="162" name="Google Shape;162;p8"/>
          <p:cNvSpPr/>
          <p:nvPr/>
        </p:nvSpPr>
        <p:spPr>
          <a:xfrm>
            <a:off x="41148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Match each term to its definition: IPv4, IPv6, NAT, DHCP, Static IP, Dynamic IP.</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Fill in the gap: A _______ IP address never changes and is often used by _______ .</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True or False? Private IP addresses can be accessed directly from the internet.</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Name ONE advantage of a dynamic IP address over a static one.</a:t>
            </a:r>
            <a:endParaRPr b="0" i="0" sz="1200" u="none" cap="none" strike="noStrike">
              <a:solidFill>
                <a:schemeClr val="dk1"/>
              </a:solidFill>
              <a:latin typeface="Calibri"/>
              <a:ea typeface="Calibri"/>
              <a:cs typeface="Calibri"/>
              <a:sym typeface="Calibri"/>
            </a:endParaRPr>
          </a:p>
        </p:txBody>
      </p:sp>
      <p:sp>
        <p:nvSpPr>
          <p:cNvPr id="163" name="Google Shape;163;p8"/>
          <p:cNvSpPr/>
          <p:nvPr/>
        </p:nvSpPr>
        <p:spPr>
          <a:xfrm>
            <a:off x="306324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3063240" y="822960"/>
            <a:ext cx="2651760" cy="4114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313639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Core — Apply &amp; Explain</a:t>
            </a:r>
            <a:endParaRPr b="0" i="0" sz="1300" u="none" cap="none" strike="noStrike">
              <a:solidFill>
                <a:schemeClr val="dk1"/>
              </a:solidFill>
              <a:latin typeface="Calibri"/>
              <a:ea typeface="Calibri"/>
              <a:cs typeface="Calibri"/>
              <a:sym typeface="Calibri"/>
            </a:endParaRPr>
          </a:p>
        </p:txBody>
      </p:sp>
      <p:sp>
        <p:nvSpPr>
          <p:cNvPr id="166" name="Google Shape;166;p8"/>
          <p:cNvSpPr/>
          <p:nvPr/>
        </p:nvSpPr>
        <p:spPr>
          <a:xfrm>
            <a:off x="320040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 school has 300 student laptops. Should they use static or dynamic IPs? Give TWO reasons.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the difference between a public and private IP address using a real-life analogy.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Describe TWO differences between IPv4 and IPv6.</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Draw or describe the steps of NAT when a device visits a website.</a:t>
            </a:r>
            <a:endParaRPr b="0" i="0" sz="1200" u="none" cap="none" strike="noStrike">
              <a:solidFill>
                <a:schemeClr val="dk1"/>
              </a:solidFill>
              <a:latin typeface="Calibri"/>
              <a:ea typeface="Calibri"/>
              <a:cs typeface="Calibri"/>
              <a:sym typeface="Calibri"/>
            </a:endParaRPr>
          </a:p>
        </p:txBody>
      </p:sp>
      <p:sp>
        <p:nvSpPr>
          <p:cNvPr id="167" name="Google Shape;167;p8"/>
          <p:cNvSpPr/>
          <p:nvPr/>
        </p:nvSpPr>
        <p:spPr>
          <a:xfrm>
            <a:off x="585216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5852160" y="822960"/>
            <a:ext cx="2651760" cy="411480"/>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592531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Extension — Evaluate &amp; Analyse</a:t>
            </a:r>
            <a:endParaRPr b="0" i="0" sz="1300" u="none" cap="none" strike="noStrike">
              <a:solidFill>
                <a:schemeClr val="dk1"/>
              </a:solidFill>
              <a:latin typeface="Calibri"/>
              <a:ea typeface="Calibri"/>
              <a:cs typeface="Calibri"/>
              <a:sym typeface="Calibri"/>
            </a:endParaRPr>
          </a:p>
        </p:txBody>
      </p:sp>
      <p:sp>
        <p:nvSpPr>
          <p:cNvPr id="170" name="Google Shape;170;p8"/>
          <p:cNvSpPr/>
          <p:nvPr/>
        </p:nvSpPr>
        <p:spPr>
          <a:xfrm>
            <a:off x="598932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 business runs a web server, 20 staff PCs and a CCTV system. Justify which devices should have static vs dynamic IPs.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Evaluate whether IPv6 completely eliminates the need for NAT. Support your answer.</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TWO security risks of static IPs and how they can be mitigated.</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Compare IPv4 and IPv6 on: address space, security, auto-config and compatibility.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2E"/>
        </a:solidFill>
      </p:bgPr>
    </p:bg>
    <p:spTree>
      <p:nvGrpSpPr>
        <p:cNvPr id="175" name="Shape 175"/>
        <p:cNvGrpSpPr/>
        <p:nvPr/>
      </p:nvGrpSpPr>
      <p:grpSpPr>
        <a:xfrm>
          <a:off x="0" y="0"/>
          <a:ext cx="0" cy="0"/>
          <a:chOff x="0" y="0"/>
          <a:chExt cx="0" cy="0"/>
        </a:xfrm>
      </p:grpSpPr>
      <p:sp>
        <p:nvSpPr>
          <p:cNvPr id="176" name="Google Shape;176;p9"/>
          <p:cNvSpPr/>
          <p:nvPr/>
        </p:nvSpPr>
        <p:spPr>
          <a:xfrm>
            <a:off x="7772400" y="-731520"/>
            <a:ext cx="3200400" cy="3200400"/>
          </a:xfrm>
          <a:prstGeom prst="ellipse">
            <a:avLst/>
          </a:prstGeom>
          <a:solidFill>
            <a:srgbClr val="2D0B55">
              <a:alpha val="70196"/>
            </a:srgbClr>
          </a:solidFill>
          <a:ln cap="flat" cmpd="sng" w="12700">
            <a:solidFill>
              <a:srgbClr val="2D0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0" y="0"/>
            <a:ext cx="164592" cy="514350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320040" y="182880"/>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2200"/>
              <a:buFont typeface="Trebuchet MS"/>
              <a:buNone/>
            </a:pPr>
            <a:r>
              <a:rPr b="1" i="0" lang="en-US" sz="2200" u="none" cap="none" strike="noStrike">
                <a:solidFill>
                  <a:srgbClr val="F4A261"/>
                </a:solidFill>
                <a:latin typeface="Trebuchet MS"/>
                <a:ea typeface="Trebuchet MS"/>
                <a:cs typeface="Trebuchet MS"/>
                <a:sym typeface="Trebuchet MS"/>
              </a:rPr>
              <a:t>⭐ Challenging Activity 2 — IP Addressing</a:t>
            </a:r>
            <a:endParaRPr b="0" i="0" sz="2200" u="none" cap="none" strike="noStrike">
              <a:solidFill>
                <a:schemeClr val="dk1"/>
              </a:solidFill>
              <a:latin typeface="Calibri"/>
              <a:ea typeface="Calibri"/>
              <a:cs typeface="Calibri"/>
              <a:sym typeface="Calibri"/>
            </a:endParaRPr>
          </a:p>
        </p:txBody>
      </p:sp>
      <p:sp>
        <p:nvSpPr>
          <p:cNvPr id="179" name="Google Shape;179;p9"/>
          <p:cNvSpPr/>
          <p:nvPr/>
        </p:nvSpPr>
        <p:spPr>
          <a:xfrm>
            <a:off x="320040" y="685800"/>
            <a:ext cx="8503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1" lang="en-US" sz="1200" u="none" cap="none" strike="noStrike">
                <a:solidFill>
                  <a:srgbClr val="CBD5E0"/>
                </a:solidFill>
                <a:latin typeface="Calibri"/>
                <a:ea typeface="Calibri"/>
                <a:cs typeface="Calibri"/>
                <a:sym typeface="Calibri"/>
              </a:rPr>
              <a:t>A 2.3.1  |  Higher-Order Thinking</a:t>
            </a:r>
            <a:endParaRPr b="0" i="0" sz="1200" u="none" cap="none" strike="noStrike">
              <a:solidFill>
                <a:schemeClr val="dk1"/>
              </a:solidFill>
              <a:latin typeface="Calibri"/>
              <a:ea typeface="Calibri"/>
              <a:cs typeface="Calibri"/>
              <a:sym typeface="Calibri"/>
            </a:endParaRPr>
          </a:p>
        </p:txBody>
      </p:sp>
      <p:sp>
        <p:nvSpPr>
          <p:cNvPr id="180" name="Google Shape;180;p9"/>
          <p:cNvSpPr/>
          <p:nvPr/>
        </p:nvSpPr>
        <p:spPr>
          <a:xfrm>
            <a:off x="320040" y="1097280"/>
            <a:ext cx="8503920" cy="1143000"/>
          </a:xfrm>
          <a:prstGeom prst="rect">
            <a:avLst/>
          </a:prstGeom>
          <a:solidFill>
            <a:srgbClr val="2A1A4A"/>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02920" y="1170432"/>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1  Scenario: Hospital Network</a:t>
            </a:r>
            <a:endParaRPr b="0" i="0" sz="1300" u="none" cap="none" strike="noStrike">
              <a:solidFill>
                <a:schemeClr val="dk1"/>
              </a:solidFill>
              <a:latin typeface="Calibri"/>
              <a:ea typeface="Calibri"/>
              <a:cs typeface="Calibri"/>
              <a:sym typeface="Calibri"/>
            </a:endParaRPr>
          </a:p>
        </p:txBody>
      </p:sp>
      <p:sp>
        <p:nvSpPr>
          <p:cNvPr id="182" name="Google Shape;182;p9"/>
          <p:cNvSpPr/>
          <p:nvPr/>
        </p:nvSpPr>
        <p:spPr>
          <a:xfrm>
            <a:off x="502920" y="149047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A hospital uses 200 medical devices, 500 staff computers, and 30 public kiosks. Design an IP addressing scheme. State which devices use static vs dynamic IPs, whether IPv4 or IPv6 is preferable, and how NAT should be configured. Justify every choice.</a:t>
            </a:r>
            <a:endParaRPr b="0" i="0" sz="1150" u="none" cap="none" strike="noStrike">
              <a:solidFill>
                <a:schemeClr val="dk1"/>
              </a:solidFill>
              <a:latin typeface="Calibri"/>
              <a:ea typeface="Calibri"/>
              <a:cs typeface="Calibri"/>
              <a:sym typeface="Calibri"/>
            </a:endParaRPr>
          </a:p>
        </p:txBody>
      </p:sp>
      <p:sp>
        <p:nvSpPr>
          <p:cNvPr id="183" name="Google Shape;183;p9"/>
          <p:cNvSpPr/>
          <p:nvPr/>
        </p:nvSpPr>
        <p:spPr>
          <a:xfrm>
            <a:off x="320040" y="2359152"/>
            <a:ext cx="8503920" cy="1143000"/>
          </a:xfrm>
          <a:prstGeom prst="rect">
            <a:avLst/>
          </a:prstGeom>
          <a:solidFill>
            <a:srgbClr val="2A1A4A"/>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502920" y="2432304"/>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2  Critical Analysis</a:t>
            </a:r>
            <a:endParaRPr b="0" i="0" sz="1300" u="none" cap="none" strike="noStrike">
              <a:solidFill>
                <a:schemeClr val="dk1"/>
              </a:solidFill>
              <a:latin typeface="Calibri"/>
              <a:ea typeface="Calibri"/>
              <a:cs typeface="Calibri"/>
              <a:sym typeface="Calibri"/>
            </a:endParaRPr>
          </a:p>
        </p:txBody>
      </p:sp>
      <p:sp>
        <p:nvSpPr>
          <p:cNvPr id="185" name="Google Shape;185;p9"/>
          <p:cNvSpPr/>
          <p:nvPr/>
        </p:nvSpPr>
        <p:spPr>
          <a:xfrm>
            <a:off x="502920" y="2752344"/>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"NAT is a temporary solution to a permanent problem." Discuss this statement. In your answer, explain what problem NAT solves, why it is considered a workaround, and whether IPv6 makes NAT obsolete.</a:t>
            </a:r>
            <a:endParaRPr b="0" i="0" sz="1150" u="none" cap="none" strike="noStrike">
              <a:solidFill>
                <a:schemeClr val="dk1"/>
              </a:solidFill>
              <a:latin typeface="Calibri"/>
              <a:ea typeface="Calibri"/>
              <a:cs typeface="Calibri"/>
              <a:sym typeface="Calibri"/>
            </a:endParaRPr>
          </a:p>
        </p:txBody>
      </p:sp>
      <p:sp>
        <p:nvSpPr>
          <p:cNvPr id="186" name="Google Shape;186;p9"/>
          <p:cNvSpPr/>
          <p:nvPr/>
        </p:nvSpPr>
        <p:spPr>
          <a:xfrm>
            <a:off x="320040" y="3621024"/>
            <a:ext cx="8503920" cy="1143000"/>
          </a:xfrm>
          <a:prstGeom prst="rect">
            <a:avLst/>
          </a:prstGeom>
          <a:solidFill>
            <a:srgbClr val="2A1A4A"/>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502920" y="3694176"/>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3  Extended Writing</a:t>
            </a:r>
            <a:endParaRPr b="0" i="0" sz="1300" u="none" cap="none" strike="noStrike">
              <a:solidFill>
                <a:schemeClr val="dk1"/>
              </a:solidFill>
              <a:latin typeface="Calibri"/>
              <a:ea typeface="Calibri"/>
              <a:cs typeface="Calibri"/>
              <a:sym typeface="Calibri"/>
            </a:endParaRPr>
          </a:p>
        </p:txBody>
      </p:sp>
      <p:sp>
        <p:nvSpPr>
          <p:cNvPr id="188" name="Google Shape;188;p9"/>
          <p:cNvSpPr/>
          <p:nvPr/>
        </p:nvSpPr>
        <p:spPr>
          <a:xfrm>
            <a:off x="502920" y="401421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Compare IPv4 and IPv6 across FOUR criteria of your choice. For each criterion, explain the difference and evaluate which protocol is superior and why. Include at least ONE counter-argument.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193" name="Shape 193"/>
        <p:cNvGrpSpPr/>
        <p:nvPr/>
      </p:nvGrpSpPr>
      <p:grpSpPr>
        <a:xfrm>
          <a:off x="0" y="0"/>
          <a:ext cx="0" cy="0"/>
          <a:chOff x="0" y="0"/>
          <a:chExt cx="0" cy="0"/>
        </a:xfrm>
      </p:grpSpPr>
      <p:sp>
        <p:nvSpPr>
          <p:cNvPr id="194" name="Google Shape;194;p10"/>
          <p:cNvSpPr/>
          <p:nvPr/>
        </p:nvSpPr>
        <p:spPr>
          <a:xfrm>
            <a:off x="0" y="0"/>
            <a:ext cx="164592"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365760" y="73152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6400"/>
              <a:buFont typeface="Calibri"/>
              <a:buNone/>
            </a:pPr>
            <a:r>
              <a:rPr b="0" i="0" lang="en-US" sz="6400" u="none" cap="none" strike="noStrike">
                <a:solidFill>
                  <a:srgbClr val="000000"/>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196" name="Google Shape;196;p10"/>
          <p:cNvSpPr/>
          <p:nvPr/>
        </p:nvSpPr>
        <p:spPr>
          <a:xfrm>
            <a:off x="365760" y="2194560"/>
            <a:ext cx="84124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Topic 2: Transmission Media</a:t>
            </a:r>
            <a:endParaRPr b="0" i="0" sz="4000" u="none" cap="none" strike="noStrike">
              <a:solidFill>
                <a:schemeClr val="dk1"/>
              </a:solidFill>
              <a:latin typeface="Calibri"/>
              <a:ea typeface="Calibri"/>
              <a:cs typeface="Calibri"/>
              <a:sym typeface="Calibri"/>
            </a:endParaRPr>
          </a:p>
        </p:txBody>
      </p:sp>
      <p:sp>
        <p:nvSpPr>
          <p:cNvPr id="197" name="Google Shape;197;p10"/>
          <p:cNvSpPr/>
          <p:nvPr/>
        </p:nvSpPr>
        <p:spPr>
          <a:xfrm>
            <a:off x="365760" y="3200400"/>
            <a:ext cx="841248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800"/>
              <a:buFont typeface="Calibri"/>
              <a:buNone/>
            </a:pPr>
            <a:r>
              <a:rPr b="0" i="1" lang="en-US" sz="1800" u="none" cap="none" strike="noStrike">
                <a:solidFill>
                  <a:srgbClr val="02C39A"/>
                </a:solidFill>
                <a:latin typeface="Calibri"/>
                <a:ea typeface="Calibri"/>
                <a:cs typeface="Calibri"/>
                <a:sym typeface="Calibri"/>
              </a:rPr>
              <a:t>A 2.3.2 — Compare types of media for data transmission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02" name="Shape 202"/>
        <p:cNvGrpSpPr/>
        <p:nvPr/>
      </p:nvGrpSpPr>
      <p:grpSpPr>
        <a:xfrm>
          <a:off x="0" y="0"/>
          <a:ext cx="0" cy="0"/>
          <a:chOff x="0" y="0"/>
          <a:chExt cx="0" cy="0"/>
        </a:xfrm>
      </p:grpSpPr>
      <p:sp>
        <p:nvSpPr>
          <p:cNvPr id="203" name="Google Shape;203;p11"/>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 Starter Activity — Transmission Media</a:t>
            </a:r>
            <a:endParaRPr b="0" i="0" sz="2200" u="none" cap="none" strike="noStrike">
              <a:solidFill>
                <a:schemeClr val="dk1"/>
              </a:solidFill>
              <a:latin typeface="Calibri"/>
              <a:ea typeface="Calibri"/>
              <a:cs typeface="Calibri"/>
              <a:sym typeface="Calibri"/>
            </a:endParaRPr>
          </a:p>
        </p:txBody>
      </p:sp>
      <p:sp>
        <p:nvSpPr>
          <p:cNvPr id="205" name="Google Shape;205;p11"/>
          <p:cNvSpPr/>
          <p:nvPr/>
        </p:nvSpPr>
        <p:spPr>
          <a:xfrm>
            <a:off x="6858000" y="45720"/>
            <a:ext cx="2011680" cy="5943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200"/>
              <a:buFont typeface="Calibri"/>
              <a:buNone/>
            </a:pPr>
            <a:r>
              <a:rPr b="0" i="1" lang="en-US" sz="1200" u="none" cap="none" strike="noStrike">
                <a:solidFill>
                  <a:srgbClr val="02C39A"/>
                </a:solidFill>
                <a:latin typeface="Calibri"/>
                <a:ea typeface="Calibri"/>
                <a:cs typeface="Calibri"/>
                <a:sym typeface="Calibri"/>
              </a:rPr>
              <a:t>A 2.3.2</a:t>
            </a:r>
            <a:endParaRPr b="0" i="0" sz="1200" u="none" cap="none" strike="noStrike">
              <a:solidFill>
                <a:schemeClr val="dk1"/>
              </a:solidFill>
              <a:latin typeface="Calibri"/>
              <a:ea typeface="Calibri"/>
              <a:cs typeface="Calibri"/>
              <a:sym typeface="Calibri"/>
            </a:endParaRPr>
          </a:p>
        </p:txBody>
      </p:sp>
      <p:sp>
        <p:nvSpPr>
          <p:cNvPr id="206" name="Google Shape;206;p11"/>
          <p:cNvSpPr/>
          <p:nvPr/>
        </p:nvSpPr>
        <p:spPr>
          <a:xfrm>
            <a:off x="27432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274320" y="822960"/>
            <a:ext cx="2651760" cy="41148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34747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Foundation</a:t>
            </a:r>
            <a:endParaRPr b="0" i="0" sz="1300" u="none" cap="none" strike="noStrike">
              <a:solidFill>
                <a:schemeClr val="dk1"/>
              </a:solidFill>
              <a:latin typeface="Calibri"/>
              <a:ea typeface="Calibri"/>
              <a:cs typeface="Calibri"/>
              <a:sym typeface="Calibri"/>
            </a:endParaRPr>
          </a:p>
        </p:txBody>
      </p:sp>
      <p:sp>
        <p:nvSpPr>
          <p:cNvPr id="209" name="Google Shape;209;p11"/>
          <p:cNvSpPr/>
          <p:nvPr/>
        </p:nvSpPr>
        <p:spPr>
          <a:xfrm>
            <a:off x="41148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Name THREE ways you can connect a device to the internet.</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What is a cable? What do you think travels through it when you send data?</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Would you use a cable or Wi-Fi in a library? Why?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Write down ONE advantage of wireless internet. Write down ONE disadvantage.</a:t>
            </a:r>
            <a:endParaRPr b="0" i="0" sz="1200" u="none" cap="none" strike="noStrike">
              <a:solidFill>
                <a:schemeClr val="dk1"/>
              </a:solidFill>
              <a:latin typeface="Calibri"/>
              <a:ea typeface="Calibri"/>
              <a:cs typeface="Calibri"/>
              <a:sym typeface="Calibri"/>
            </a:endParaRPr>
          </a:p>
        </p:txBody>
      </p:sp>
      <p:sp>
        <p:nvSpPr>
          <p:cNvPr id="210" name="Google Shape;210;p11"/>
          <p:cNvSpPr/>
          <p:nvPr/>
        </p:nvSpPr>
        <p:spPr>
          <a:xfrm>
            <a:off x="306324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3063240" y="822960"/>
            <a:ext cx="2651760" cy="4114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313639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Core</a:t>
            </a:r>
            <a:endParaRPr b="0" i="0" sz="1300" u="none" cap="none" strike="noStrike">
              <a:solidFill>
                <a:schemeClr val="dk1"/>
              </a:solidFill>
              <a:latin typeface="Calibri"/>
              <a:ea typeface="Calibri"/>
              <a:cs typeface="Calibri"/>
              <a:sym typeface="Calibri"/>
            </a:endParaRPr>
          </a:p>
        </p:txBody>
      </p:sp>
      <p:sp>
        <p:nvSpPr>
          <p:cNvPr id="213" name="Google Shape;213;p11"/>
          <p:cNvSpPr/>
          <p:nvPr/>
        </p:nvSpPr>
        <p:spPr>
          <a:xfrm>
            <a:off x="320040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Name the THREE types of transmission media covered in this topic.</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What is 'bandwidth' and why does it matter for data transmission?</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Suggest ONE place where fibre optic cable would be preferred over Wi-Fi. Explain why.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What does 'attenuation' mean? Which medium suffers from it most?</a:t>
            </a:r>
            <a:endParaRPr b="0" i="0" sz="1200" u="none" cap="none" strike="noStrike">
              <a:solidFill>
                <a:schemeClr val="dk1"/>
              </a:solidFill>
              <a:latin typeface="Calibri"/>
              <a:ea typeface="Calibri"/>
              <a:cs typeface="Calibri"/>
              <a:sym typeface="Calibri"/>
            </a:endParaRPr>
          </a:p>
        </p:txBody>
      </p:sp>
      <p:sp>
        <p:nvSpPr>
          <p:cNvPr id="214" name="Google Shape;214;p11"/>
          <p:cNvSpPr/>
          <p:nvPr/>
        </p:nvSpPr>
        <p:spPr>
          <a:xfrm>
            <a:off x="585216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5852160" y="822960"/>
            <a:ext cx="2651760" cy="411480"/>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592531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Extension</a:t>
            </a:r>
            <a:endParaRPr b="0" i="0" sz="1300" u="none" cap="none" strike="noStrike">
              <a:solidFill>
                <a:schemeClr val="dk1"/>
              </a:solidFill>
              <a:latin typeface="Calibri"/>
              <a:ea typeface="Calibri"/>
              <a:cs typeface="Calibri"/>
              <a:sym typeface="Calibri"/>
            </a:endParaRPr>
          </a:p>
        </p:txBody>
      </p:sp>
      <p:sp>
        <p:nvSpPr>
          <p:cNvPr id="217" name="Google Shape;217;p11"/>
          <p:cNvSpPr/>
          <p:nvPr/>
        </p:nvSpPr>
        <p:spPr>
          <a:xfrm>
            <a:off x="598932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Rank fibre optic, twisted pair, and wireless by bandwidth. Justify your ranking.</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how twisted pair cables reduce electromagnetic interference through their design.</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Why is security a concern with wireless transmission but less so with fibre optic?</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 company needs to connect two offices 50 km apart. Recommend a medium and justify using THREE criteria.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22" name="Shape 222"/>
        <p:cNvGrpSpPr/>
        <p:nvPr/>
      </p:nvGrpSpPr>
      <p:grpSpPr>
        <a:xfrm>
          <a:off x="0" y="0"/>
          <a:ext cx="0" cy="0"/>
          <a:chOff x="0" y="0"/>
          <a:chExt cx="0" cy="0"/>
        </a:xfrm>
      </p:grpSpPr>
      <p:sp>
        <p:nvSpPr>
          <p:cNvPr id="223" name="Google Shape;223;p12"/>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Fibre Optic Cables</a:t>
            </a:r>
            <a:endParaRPr b="0" i="0" sz="2200" u="none" cap="none" strike="noStrike">
              <a:solidFill>
                <a:schemeClr val="dk1"/>
              </a:solidFill>
              <a:latin typeface="Calibri"/>
              <a:ea typeface="Calibri"/>
              <a:cs typeface="Calibri"/>
              <a:sym typeface="Calibri"/>
            </a:endParaRPr>
          </a:p>
        </p:txBody>
      </p:sp>
      <p:sp>
        <p:nvSpPr>
          <p:cNvPr id="225" name="Google Shape;225;p12"/>
          <p:cNvSpPr/>
          <p:nvPr/>
        </p:nvSpPr>
        <p:spPr>
          <a:xfrm>
            <a:off x="274320" y="777240"/>
            <a:ext cx="393192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411480" y="86868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500"/>
              <a:buFont typeface="Trebuchet MS"/>
              <a:buNone/>
            </a:pPr>
            <a:r>
              <a:rPr b="1" i="0" lang="en-US" sz="1500" u="none" cap="none" strike="noStrike">
                <a:solidFill>
                  <a:srgbClr val="028090"/>
                </a:solidFill>
                <a:latin typeface="Trebuchet MS"/>
                <a:ea typeface="Trebuchet MS"/>
                <a:cs typeface="Trebuchet MS"/>
                <a:sym typeface="Trebuchet MS"/>
              </a:rPr>
              <a:t>How it works</a:t>
            </a:r>
            <a:endParaRPr b="0" i="0" sz="1500" u="none" cap="none" strike="noStrike">
              <a:solidFill>
                <a:schemeClr val="dk1"/>
              </a:solidFill>
              <a:latin typeface="Calibri"/>
              <a:ea typeface="Calibri"/>
              <a:cs typeface="Calibri"/>
              <a:sym typeface="Calibri"/>
            </a:endParaRPr>
          </a:p>
        </p:txBody>
      </p:sp>
      <p:sp>
        <p:nvSpPr>
          <p:cNvPr id="227" name="Google Shape;227;p12"/>
          <p:cNvSpPr/>
          <p:nvPr/>
        </p:nvSpPr>
        <p:spPr>
          <a:xfrm>
            <a:off x="411480" y="1280160"/>
            <a:ext cx="3657600" cy="3291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Light Source: </a:t>
            </a:r>
            <a:r>
              <a:rPr b="0" i="0" lang="en-US" sz="1200" u="none" cap="none" strike="noStrike">
                <a:solidFill>
                  <a:srgbClr val="4A5568"/>
                </a:solidFill>
                <a:latin typeface="Calibri"/>
                <a:ea typeface="Calibri"/>
                <a:cs typeface="Calibri"/>
                <a:sym typeface="Calibri"/>
              </a:rPr>
              <a:t>Lasers or LEDs generate light pulses.</a:t>
            </a:r>
            <a:br>
              <a:rPr b="0" i="0" lang="en-US" sz="1200" u="none" cap="none" strike="noStrike">
                <a:solidFill>
                  <a:srgbClr val="4A5568"/>
                </a:solidFill>
                <a:latin typeface="Calibri"/>
                <a:ea typeface="Calibri"/>
                <a:cs typeface="Calibri"/>
                <a:sym typeface="Calibri"/>
              </a:rPr>
            </a:br>
            <a:br>
              <a:rPr b="0" i="0" lang="en-US" sz="1200" u="none" cap="none" strike="noStrike">
                <a:solidFill>
                  <a:srgbClr val="4A5568"/>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Core: </a:t>
            </a:r>
            <a:r>
              <a:rPr b="0" i="0" lang="en-US" sz="1200" u="none" cap="none" strike="noStrike">
                <a:solidFill>
                  <a:srgbClr val="4A5568"/>
                </a:solidFill>
                <a:latin typeface="Calibri"/>
                <a:ea typeface="Calibri"/>
                <a:cs typeface="Calibri"/>
                <a:sym typeface="Calibri"/>
              </a:rPr>
              <a:t>Glass/plastic strand — light travels through it.</a:t>
            </a:r>
            <a:br>
              <a:rPr b="0" i="0" lang="en-US" sz="1200" u="none" cap="none" strike="noStrike">
                <a:solidFill>
                  <a:srgbClr val="4A5568"/>
                </a:solidFill>
                <a:latin typeface="Calibri"/>
                <a:ea typeface="Calibri"/>
                <a:cs typeface="Calibri"/>
                <a:sym typeface="Calibri"/>
              </a:rPr>
            </a:br>
            <a:br>
              <a:rPr b="0" i="0" lang="en-US" sz="1200" u="none" cap="none" strike="noStrike">
                <a:solidFill>
                  <a:srgbClr val="4A5568"/>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Cladding: </a:t>
            </a:r>
            <a:r>
              <a:rPr b="0" i="0" lang="en-US" sz="1200" u="none" cap="none" strike="noStrike">
                <a:solidFill>
                  <a:srgbClr val="4A5568"/>
                </a:solidFill>
                <a:latin typeface="Calibri"/>
                <a:ea typeface="Calibri"/>
                <a:cs typeface="Calibri"/>
                <a:sym typeface="Calibri"/>
              </a:rPr>
              <a:t>Reflects light back inward (total internal reflection) to prevent signal loss.</a:t>
            </a:r>
            <a:br>
              <a:rPr b="0" i="0" lang="en-US" sz="1200" u="none" cap="none" strike="noStrike">
                <a:solidFill>
                  <a:srgbClr val="4A5568"/>
                </a:solidFill>
                <a:latin typeface="Calibri"/>
                <a:ea typeface="Calibri"/>
                <a:cs typeface="Calibri"/>
                <a:sym typeface="Calibri"/>
              </a:rPr>
            </a:br>
            <a:br>
              <a:rPr b="0" i="0" lang="en-US" sz="1200" u="none" cap="none" strike="noStrike">
                <a:solidFill>
                  <a:srgbClr val="4A5568"/>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Jacket: </a:t>
            </a:r>
            <a:r>
              <a:rPr b="0" i="0" lang="en-US" sz="1200" u="none" cap="none" strike="noStrike">
                <a:solidFill>
                  <a:srgbClr val="4A5568"/>
                </a:solidFill>
                <a:latin typeface="Calibri"/>
                <a:ea typeface="Calibri"/>
                <a:cs typeface="Calibri"/>
                <a:sym typeface="Calibri"/>
              </a:rPr>
              <a:t>Protective outer coating.</a:t>
            </a:r>
            <a:endParaRPr b="0" i="0" sz="1200" u="none" cap="none" strike="noStrike">
              <a:solidFill>
                <a:schemeClr val="dk1"/>
              </a:solidFill>
              <a:latin typeface="Calibri"/>
              <a:ea typeface="Calibri"/>
              <a:cs typeface="Calibri"/>
              <a:sym typeface="Calibri"/>
            </a:endParaRPr>
          </a:p>
        </p:txBody>
      </p:sp>
      <p:sp>
        <p:nvSpPr>
          <p:cNvPr id="228" name="Google Shape;228;p12"/>
          <p:cNvSpPr/>
          <p:nvPr/>
        </p:nvSpPr>
        <p:spPr>
          <a:xfrm>
            <a:off x="4389120" y="777240"/>
            <a:ext cx="4389120" cy="1783080"/>
          </a:xfrm>
          <a:prstGeom prst="rect">
            <a:avLst/>
          </a:prstGeom>
          <a:solidFill>
            <a:srgbClr val="E8F8F0"/>
          </a:solidFill>
          <a:ln cap="flat" cmpd="sng" w="12700">
            <a:solidFill>
              <a:srgbClr val="B2D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4526280" y="841248"/>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7A4A"/>
              </a:buClr>
              <a:buSzPts val="1400"/>
              <a:buFont typeface="Calibri"/>
              <a:buNone/>
            </a:pPr>
            <a:r>
              <a:rPr b="1" i="0" lang="en-US" sz="1400" u="none" cap="none" strike="noStrike">
                <a:solidFill>
                  <a:srgbClr val="1A7A4A"/>
                </a:solidFill>
                <a:latin typeface="Calibri"/>
                <a:ea typeface="Calibri"/>
                <a:cs typeface="Calibri"/>
                <a:sym typeface="Calibri"/>
              </a:rPr>
              <a:t>✅  Advantages</a:t>
            </a:r>
            <a:endParaRPr b="0" i="0" sz="1400" u="none" cap="none" strike="noStrike">
              <a:solidFill>
                <a:schemeClr val="dk1"/>
              </a:solidFill>
              <a:latin typeface="Calibri"/>
              <a:ea typeface="Calibri"/>
              <a:cs typeface="Calibri"/>
              <a:sym typeface="Calibri"/>
            </a:endParaRPr>
          </a:p>
        </p:txBody>
      </p:sp>
      <p:sp>
        <p:nvSpPr>
          <p:cNvPr id="230" name="Google Shape;230;p12"/>
          <p:cNvSpPr/>
          <p:nvPr/>
        </p:nvSpPr>
        <p:spPr>
          <a:xfrm>
            <a:off x="4526280" y="1207008"/>
            <a:ext cx="4114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Extremely high bandwidth</a:t>
            </a:r>
            <a:endParaRPr b="0" i="0" sz="1150" u="none" cap="none" strike="noStrike">
              <a:solidFill>
                <a:schemeClr val="dk1"/>
              </a:solidFill>
              <a:latin typeface="Calibri"/>
              <a:ea typeface="Calibri"/>
              <a:cs typeface="Calibri"/>
              <a:sym typeface="Calibri"/>
            </a:endParaRPr>
          </a:p>
        </p:txBody>
      </p:sp>
      <p:sp>
        <p:nvSpPr>
          <p:cNvPr id="231" name="Google Shape;231;p12"/>
          <p:cNvSpPr/>
          <p:nvPr/>
        </p:nvSpPr>
        <p:spPr>
          <a:xfrm>
            <a:off x="4526280" y="1517904"/>
            <a:ext cx="4114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Low attenuation — works over long distances</a:t>
            </a:r>
            <a:endParaRPr b="0" i="0" sz="1150" u="none" cap="none" strike="noStrike">
              <a:solidFill>
                <a:schemeClr val="dk1"/>
              </a:solidFill>
              <a:latin typeface="Calibri"/>
              <a:ea typeface="Calibri"/>
              <a:cs typeface="Calibri"/>
              <a:sym typeface="Calibri"/>
            </a:endParaRPr>
          </a:p>
        </p:txBody>
      </p:sp>
      <p:sp>
        <p:nvSpPr>
          <p:cNvPr id="232" name="Google Shape;232;p12"/>
          <p:cNvSpPr/>
          <p:nvPr/>
        </p:nvSpPr>
        <p:spPr>
          <a:xfrm>
            <a:off x="4526280" y="1828800"/>
            <a:ext cx="4114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Immune to electromagnetic interference</a:t>
            </a:r>
            <a:endParaRPr b="0" i="0" sz="1150" u="none" cap="none" strike="noStrike">
              <a:solidFill>
                <a:schemeClr val="dk1"/>
              </a:solidFill>
              <a:latin typeface="Calibri"/>
              <a:ea typeface="Calibri"/>
              <a:cs typeface="Calibri"/>
              <a:sym typeface="Calibri"/>
            </a:endParaRPr>
          </a:p>
        </p:txBody>
      </p:sp>
      <p:sp>
        <p:nvSpPr>
          <p:cNvPr id="233" name="Google Shape;233;p12"/>
          <p:cNvSpPr/>
          <p:nvPr/>
        </p:nvSpPr>
        <p:spPr>
          <a:xfrm>
            <a:off x="4526280" y="2139696"/>
            <a:ext cx="4114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Highly secure — hard to intercept</a:t>
            </a:r>
            <a:endParaRPr b="0" i="0" sz="1150" u="none" cap="none" strike="noStrike">
              <a:solidFill>
                <a:schemeClr val="dk1"/>
              </a:solidFill>
              <a:latin typeface="Calibri"/>
              <a:ea typeface="Calibri"/>
              <a:cs typeface="Calibri"/>
              <a:sym typeface="Calibri"/>
            </a:endParaRPr>
          </a:p>
        </p:txBody>
      </p:sp>
      <p:sp>
        <p:nvSpPr>
          <p:cNvPr id="234" name="Google Shape;234;p12"/>
          <p:cNvSpPr/>
          <p:nvPr/>
        </p:nvSpPr>
        <p:spPr>
          <a:xfrm>
            <a:off x="4389120" y="2697480"/>
            <a:ext cx="4389120" cy="2011680"/>
          </a:xfrm>
          <a:prstGeom prst="rect">
            <a:avLst/>
          </a:prstGeom>
          <a:solidFill>
            <a:srgbClr val="FEF0EE"/>
          </a:solidFill>
          <a:ln cap="flat" cmpd="sng" w="12700">
            <a:solidFill>
              <a:srgbClr val="F5B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4526280" y="2761488"/>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301E"/>
              </a:buClr>
              <a:buSzPts val="1400"/>
              <a:buFont typeface="Calibri"/>
              <a:buNone/>
            </a:pPr>
            <a:r>
              <a:rPr b="1" i="0" lang="en-US" sz="1400" u="none" cap="none" strike="noStrike">
                <a:solidFill>
                  <a:srgbClr val="A0301E"/>
                </a:solidFill>
                <a:latin typeface="Calibri"/>
                <a:ea typeface="Calibri"/>
                <a:cs typeface="Calibri"/>
                <a:sym typeface="Calibri"/>
              </a:rPr>
              <a:t>❌  Disadvantages</a:t>
            </a:r>
            <a:endParaRPr b="0" i="0" sz="1400" u="none" cap="none" strike="noStrike">
              <a:solidFill>
                <a:schemeClr val="dk1"/>
              </a:solidFill>
              <a:latin typeface="Calibri"/>
              <a:ea typeface="Calibri"/>
              <a:cs typeface="Calibri"/>
              <a:sym typeface="Calibri"/>
            </a:endParaRPr>
          </a:p>
        </p:txBody>
      </p:sp>
      <p:sp>
        <p:nvSpPr>
          <p:cNvPr id="236" name="Google Shape;236;p12"/>
          <p:cNvSpPr/>
          <p:nvPr/>
        </p:nvSpPr>
        <p:spPr>
          <a:xfrm>
            <a:off x="4526280" y="3127248"/>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High installation cost</a:t>
            </a:r>
            <a:endParaRPr b="0" i="0" sz="1150" u="none" cap="none" strike="noStrike">
              <a:solidFill>
                <a:schemeClr val="dk1"/>
              </a:solidFill>
              <a:latin typeface="Calibri"/>
              <a:ea typeface="Calibri"/>
              <a:cs typeface="Calibri"/>
              <a:sym typeface="Calibri"/>
            </a:endParaRPr>
          </a:p>
        </p:txBody>
      </p:sp>
      <p:sp>
        <p:nvSpPr>
          <p:cNvPr id="237" name="Google Shape;237;p12"/>
          <p:cNvSpPr/>
          <p:nvPr/>
        </p:nvSpPr>
        <p:spPr>
          <a:xfrm>
            <a:off x="4526280" y="3511296"/>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Fragile — glass fibres can snap</a:t>
            </a:r>
            <a:endParaRPr b="0" i="0" sz="1150" u="none" cap="none" strike="noStrike">
              <a:solidFill>
                <a:schemeClr val="dk1"/>
              </a:solidFill>
              <a:latin typeface="Calibri"/>
              <a:ea typeface="Calibri"/>
              <a:cs typeface="Calibri"/>
              <a:sym typeface="Calibri"/>
            </a:endParaRPr>
          </a:p>
        </p:txBody>
      </p:sp>
      <p:sp>
        <p:nvSpPr>
          <p:cNvPr id="238" name="Google Shape;238;p12"/>
          <p:cNvSpPr/>
          <p:nvPr/>
        </p:nvSpPr>
        <p:spPr>
          <a:xfrm>
            <a:off x="4526280" y="3895344"/>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Complex installation (specialist required)</a:t>
            </a:r>
            <a:endParaRPr b="0" i="0" sz="1150" u="none" cap="none" strike="noStrike">
              <a:solidFill>
                <a:schemeClr val="dk1"/>
              </a:solidFill>
              <a:latin typeface="Calibri"/>
              <a:ea typeface="Calibri"/>
              <a:cs typeface="Calibri"/>
              <a:sym typeface="Calibri"/>
            </a:endParaRPr>
          </a:p>
        </p:txBody>
      </p:sp>
      <p:sp>
        <p:nvSpPr>
          <p:cNvPr id="239" name="Google Shape;239;p12"/>
          <p:cNvSpPr/>
          <p:nvPr/>
        </p:nvSpPr>
        <p:spPr>
          <a:xfrm>
            <a:off x="4526280" y="4279392"/>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 Difficult to repair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44" name="Shape 244"/>
        <p:cNvGrpSpPr/>
        <p:nvPr/>
      </p:nvGrpSpPr>
      <p:grpSpPr>
        <a:xfrm>
          <a:off x="0" y="0"/>
          <a:ext cx="0" cy="0"/>
          <a:chOff x="0" y="0"/>
          <a:chExt cx="0" cy="0"/>
        </a:xfrm>
      </p:grpSpPr>
      <p:sp>
        <p:nvSpPr>
          <p:cNvPr id="245" name="Google Shape;245;p13"/>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Twisted Pair Cables  &amp;  Wireless Transmission</a:t>
            </a:r>
            <a:endParaRPr b="0" i="0" sz="2200" u="none" cap="none" strike="noStrike">
              <a:solidFill>
                <a:schemeClr val="dk1"/>
              </a:solidFill>
              <a:latin typeface="Calibri"/>
              <a:ea typeface="Calibri"/>
              <a:cs typeface="Calibri"/>
              <a:sym typeface="Calibri"/>
            </a:endParaRPr>
          </a:p>
        </p:txBody>
      </p:sp>
      <p:sp>
        <p:nvSpPr>
          <p:cNvPr id="247" name="Google Shape;247;p13"/>
          <p:cNvSpPr/>
          <p:nvPr/>
        </p:nvSpPr>
        <p:spPr>
          <a:xfrm>
            <a:off x="274320" y="777240"/>
            <a:ext cx="411480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274320" y="777240"/>
            <a:ext cx="411480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411480" y="804672"/>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  Twisted Pair Cables</a:t>
            </a:r>
            <a:endParaRPr b="0" i="0" sz="1500" u="none" cap="none" strike="noStrike">
              <a:solidFill>
                <a:schemeClr val="dk1"/>
              </a:solidFill>
              <a:latin typeface="Calibri"/>
              <a:ea typeface="Calibri"/>
              <a:cs typeface="Calibri"/>
              <a:sym typeface="Calibri"/>
            </a:endParaRPr>
          </a:p>
        </p:txBody>
      </p:sp>
      <p:sp>
        <p:nvSpPr>
          <p:cNvPr id="250" name="Google Shape;250;p13"/>
          <p:cNvSpPr/>
          <p:nvPr/>
        </p:nvSpPr>
        <p:spPr>
          <a:xfrm>
            <a:off x="411480" y="1316736"/>
            <a:ext cx="3749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Copper wires twisted together in pairs to cancel electromagnetic interference. Used in Ethernet and telephone lines.</a:t>
            </a:r>
            <a:endParaRPr b="0" i="0" sz="1200" u="none" cap="none" strike="noStrike">
              <a:solidFill>
                <a:schemeClr val="dk1"/>
              </a:solidFill>
              <a:latin typeface="Calibri"/>
              <a:ea typeface="Calibri"/>
              <a:cs typeface="Calibri"/>
              <a:sym typeface="Calibri"/>
            </a:endParaRPr>
          </a:p>
        </p:txBody>
      </p:sp>
      <p:sp>
        <p:nvSpPr>
          <p:cNvPr id="251" name="Google Shape;251;p13"/>
          <p:cNvSpPr/>
          <p:nvPr/>
        </p:nvSpPr>
        <p:spPr>
          <a:xfrm>
            <a:off x="411480" y="205740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Low cost &amp; widely available</a:t>
            </a:r>
            <a:endParaRPr b="0" i="0" sz="1200" u="none" cap="none" strike="noStrike">
              <a:solidFill>
                <a:schemeClr val="dk1"/>
              </a:solidFill>
              <a:latin typeface="Calibri"/>
              <a:ea typeface="Calibri"/>
              <a:cs typeface="Calibri"/>
              <a:sym typeface="Calibri"/>
            </a:endParaRPr>
          </a:p>
        </p:txBody>
      </p:sp>
      <p:sp>
        <p:nvSpPr>
          <p:cNvPr id="252" name="Google Shape;252;p13"/>
          <p:cNvSpPr/>
          <p:nvPr/>
        </p:nvSpPr>
        <p:spPr>
          <a:xfrm>
            <a:off x="411480" y="2478024"/>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Easy to install</a:t>
            </a:r>
            <a:endParaRPr b="0" i="0" sz="1200" u="none" cap="none" strike="noStrike">
              <a:solidFill>
                <a:schemeClr val="dk1"/>
              </a:solidFill>
              <a:latin typeface="Calibri"/>
              <a:ea typeface="Calibri"/>
              <a:cs typeface="Calibri"/>
              <a:sym typeface="Calibri"/>
            </a:endParaRPr>
          </a:p>
        </p:txBody>
      </p:sp>
      <p:sp>
        <p:nvSpPr>
          <p:cNvPr id="253" name="Google Shape;253;p13"/>
          <p:cNvSpPr/>
          <p:nvPr/>
        </p:nvSpPr>
        <p:spPr>
          <a:xfrm>
            <a:off x="411480" y="2898648"/>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Suitable for short-medium range (LAN)</a:t>
            </a:r>
            <a:endParaRPr b="0" i="0" sz="1200" u="none" cap="none" strike="noStrike">
              <a:solidFill>
                <a:schemeClr val="dk1"/>
              </a:solidFill>
              <a:latin typeface="Calibri"/>
              <a:ea typeface="Calibri"/>
              <a:cs typeface="Calibri"/>
              <a:sym typeface="Calibri"/>
            </a:endParaRPr>
          </a:p>
        </p:txBody>
      </p:sp>
      <p:sp>
        <p:nvSpPr>
          <p:cNvPr id="254" name="Google Shape;254;p13"/>
          <p:cNvSpPr/>
          <p:nvPr/>
        </p:nvSpPr>
        <p:spPr>
          <a:xfrm>
            <a:off x="411480" y="3319272"/>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Limited bandwidth vs fibre</a:t>
            </a:r>
            <a:endParaRPr b="0" i="0" sz="1200" u="none" cap="none" strike="noStrike">
              <a:solidFill>
                <a:schemeClr val="dk1"/>
              </a:solidFill>
              <a:latin typeface="Calibri"/>
              <a:ea typeface="Calibri"/>
              <a:cs typeface="Calibri"/>
              <a:sym typeface="Calibri"/>
            </a:endParaRPr>
          </a:p>
        </p:txBody>
      </p:sp>
      <p:sp>
        <p:nvSpPr>
          <p:cNvPr id="255" name="Google Shape;255;p13"/>
          <p:cNvSpPr/>
          <p:nvPr/>
        </p:nvSpPr>
        <p:spPr>
          <a:xfrm>
            <a:off x="411480" y="3739896"/>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Moderate attenuation &amp; interference</a:t>
            </a:r>
            <a:endParaRPr b="0" i="0" sz="1200" u="none" cap="none" strike="noStrike">
              <a:solidFill>
                <a:schemeClr val="dk1"/>
              </a:solidFill>
              <a:latin typeface="Calibri"/>
              <a:ea typeface="Calibri"/>
              <a:cs typeface="Calibri"/>
              <a:sym typeface="Calibri"/>
            </a:endParaRPr>
          </a:p>
        </p:txBody>
      </p:sp>
      <p:sp>
        <p:nvSpPr>
          <p:cNvPr id="256" name="Google Shape;256;p13"/>
          <p:cNvSpPr/>
          <p:nvPr/>
        </p:nvSpPr>
        <p:spPr>
          <a:xfrm>
            <a:off x="411480" y="416052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Less secure than fibre</a:t>
            </a:r>
            <a:endParaRPr b="0" i="0" sz="1200" u="none" cap="none" strike="noStrike">
              <a:solidFill>
                <a:schemeClr val="dk1"/>
              </a:solidFill>
              <a:latin typeface="Calibri"/>
              <a:ea typeface="Calibri"/>
              <a:cs typeface="Calibri"/>
              <a:sym typeface="Calibri"/>
            </a:endParaRPr>
          </a:p>
        </p:txBody>
      </p:sp>
      <p:sp>
        <p:nvSpPr>
          <p:cNvPr id="257" name="Google Shape;257;p13"/>
          <p:cNvSpPr/>
          <p:nvPr/>
        </p:nvSpPr>
        <p:spPr>
          <a:xfrm>
            <a:off x="4663440" y="777240"/>
            <a:ext cx="411480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4663440" y="777240"/>
            <a:ext cx="4114800" cy="4572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4800600" y="804672"/>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  Wireless Transmission</a:t>
            </a:r>
            <a:endParaRPr b="0" i="0" sz="1500" u="none" cap="none" strike="noStrike">
              <a:solidFill>
                <a:schemeClr val="dk1"/>
              </a:solidFill>
              <a:latin typeface="Calibri"/>
              <a:ea typeface="Calibri"/>
              <a:cs typeface="Calibri"/>
              <a:sym typeface="Calibri"/>
            </a:endParaRPr>
          </a:p>
        </p:txBody>
      </p:sp>
      <p:sp>
        <p:nvSpPr>
          <p:cNvPr id="260" name="Google Shape;260;p13"/>
          <p:cNvSpPr/>
          <p:nvPr/>
        </p:nvSpPr>
        <p:spPr>
          <a:xfrm>
            <a:off x="4800600" y="1316736"/>
            <a:ext cx="3749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Electromagnetic waves carry data through the air. Includes Wi-Fi, cellular (4G/5G), and satellite communication.</a:t>
            </a:r>
            <a:endParaRPr b="0" i="0" sz="1200" u="none" cap="none" strike="noStrike">
              <a:solidFill>
                <a:schemeClr val="dk1"/>
              </a:solidFill>
              <a:latin typeface="Calibri"/>
              <a:ea typeface="Calibri"/>
              <a:cs typeface="Calibri"/>
              <a:sym typeface="Calibri"/>
            </a:endParaRPr>
          </a:p>
        </p:txBody>
      </p:sp>
      <p:sp>
        <p:nvSpPr>
          <p:cNvPr id="261" name="Google Shape;261;p13"/>
          <p:cNvSpPr/>
          <p:nvPr/>
        </p:nvSpPr>
        <p:spPr>
          <a:xfrm>
            <a:off x="4800600" y="205740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Mobility — no cables needed</a:t>
            </a:r>
            <a:endParaRPr b="0" i="0" sz="1200" u="none" cap="none" strike="noStrike">
              <a:solidFill>
                <a:schemeClr val="dk1"/>
              </a:solidFill>
              <a:latin typeface="Calibri"/>
              <a:ea typeface="Calibri"/>
              <a:cs typeface="Calibri"/>
              <a:sym typeface="Calibri"/>
            </a:endParaRPr>
          </a:p>
        </p:txBody>
      </p:sp>
      <p:sp>
        <p:nvSpPr>
          <p:cNvPr id="262" name="Google Shape;262;p13"/>
          <p:cNvSpPr/>
          <p:nvPr/>
        </p:nvSpPr>
        <p:spPr>
          <a:xfrm>
            <a:off x="4800600" y="2478024"/>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Easy &amp; flexible installation</a:t>
            </a:r>
            <a:endParaRPr b="0" i="0" sz="1200" u="none" cap="none" strike="noStrike">
              <a:solidFill>
                <a:schemeClr val="dk1"/>
              </a:solidFill>
              <a:latin typeface="Calibri"/>
              <a:ea typeface="Calibri"/>
              <a:cs typeface="Calibri"/>
              <a:sym typeface="Calibri"/>
            </a:endParaRPr>
          </a:p>
        </p:txBody>
      </p:sp>
      <p:sp>
        <p:nvSpPr>
          <p:cNvPr id="263" name="Google Shape;263;p13"/>
          <p:cNvSpPr/>
          <p:nvPr/>
        </p:nvSpPr>
        <p:spPr>
          <a:xfrm>
            <a:off x="4800600" y="2898648"/>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Covers large areas (satellite = global)</a:t>
            </a:r>
            <a:endParaRPr b="0" i="0" sz="1200" u="none" cap="none" strike="noStrike">
              <a:solidFill>
                <a:schemeClr val="dk1"/>
              </a:solidFill>
              <a:latin typeface="Calibri"/>
              <a:ea typeface="Calibri"/>
              <a:cs typeface="Calibri"/>
              <a:sym typeface="Calibri"/>
            </a:endParaRPr>
          </a:p>
        </p:txBody>
      </p:sp>
      <p:sp>
        <p:nvSpPr>
          <p:cNvPr id="264" name="Google Shape;264;p13"/>
          <p:cNvSpPr/>
          <p:nvPr/>
        </p:nvSpPr>
        <p:spPr>
          <a:xfrm>
            <a:off x="4800600" y="3319272"/>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Susceptible to interference</a:t>
            </a:r>
            <a:endParaRPr b="0" i="0" sz="1200" u="none" cap="none" strike="noStrike">
              <a:solidFill>
                <a:schemeClr val="dk1"/>
              </a:solidFill>
              <a:latin typeface="Calibri"/>
              <a:ea typeface="Calibri"/>
              <a:cs typeface="Calibri"/>
              <a:sym typeface="Calibri"/>
            </a:endParaRPr>
          </a:p>
        </p:txBody>
      </p:sp>
      <p:sp>
        <p:nvSpPr>
          <p:cNvPr id="265" name="Google Shape;265;p13"/>
          <p:cNvSpPr/>
          <p:nvPr/>
        </p:nvSpPr>
        <p:spPr>
          <a:xfrm>
            <a:off x="4800600" y="3739896"/>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Variable reliability &amp; bandwidth</a:t>
            </a:r>
            <a:endParaRPr b="0" i="0" sz="1200" u="none" cap="none" strike="noStrike">
              <a:solidFill>
                <a:schemeClr val="dk1"/>
              </a:solidFill>
              <a:latin typeface="Calibri"/>
              <a:ea typeface="Calibri"/>
              <a:cs typeface="Calibri"/>
              <a:sym typeface="Calibri"/>
            </a:endParaRPr>
          </a:p>
        </p:txBody>
      </p:sp>
      <p:sp>
        <p:nvSpPr>
          <p:cNvPr id="266" name="Google Shape;266;p13"/>
          <p:cNvSpPr/>
          <p:nvPr/>
        </p:nvSpPr>
        <p:spPr>
          <a:xfrm>
            <a:off x="4800600" y="416052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  Security risks — needs encryption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71" name="Shape 271"/>
        <p:cNvGrpSpPr/>
        <p:nvPr/>
      </p:nvGrpSpPr>
      <p:grpSpPr>
        <a:xfrm>
          <a:off x="0" y="0"/>
          <a:ext cx="0" cy="0"/>
          <a:chOff x="0" y="0"/>
          <a:chExt cx="0" cy="0"/>
        </a:xfrm>
      </p:grpSpPr>
      <p:sp>
        <p:nvSpPr>
          <p:cNvPr id="272" name="Google Shape;272;p14"/>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Comparing Transmission Media — At a Glance</a:t>
            </a:r>
            <a:endParaRPr b="0" i="0" sz="2200" u="none" cap="none" strike="noStrike">
              <a:solidFill>
                <a:schemeClr val="dk1"/>
              </a:solidFill>
              <a:latin typeface="Calibri"/>
              <a:ea typeface="Calibri"/>
              <a:cs typeface="Calibri"/>
              <a:sym typeface="Calibri"/>
            </a:endParaRPr>
          </a:p>
        </p:txBody>
      </p:sp>
      <p:graphicFrame>
        <p:nvGraphicFramePr>
          <p:cNvPr id="274" name="Google Shape;274;p14"/>
          <p:cNvGraphicFramePr/>
          <p:nvPr/>
        </p:nvGraphicFramePr>
        <p:xfrm>
          <a:off x="274320" y="777240"/>
          <a:ext cx="3000000" cy="3000000"/>
        </p:xfrm>
        <a:graphic>
          <a:graphicData uri="http://schemas.openxmlformats.org/drawingml/2006/table">
            <a:tbl>
              <a:tblPr>
                <a:noFill/>
                <a:tableStyleId>{065DD7B9-AEB0-4DE2-9F1D-3A0E48E9115F}</a:tableStyleId>
              </a:tblPr>
              <a:tblGrid>
                <a:gridCol w="1828800"/>
                <a:gridCol w="2103125"/>
                <a:gridCol w="2103125"/>
                <a:gridCol w="2011675"/>
              </a:tblGrid>
              <a:tr h="4470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Feature</a:t>
                      </a:r>
                      <a:endParaRPr sz="12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Fibre Optic</a:t>
                      </a:r>
                      <a:endParaRPr sz="12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Twisted Pair</a:t>
                      </a:r>
                      <a:endParaRPr sz="12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Wireless</a:t>
                      </a:r>
                      <a:endParaRPr sz="12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0A2342"/>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Bandwidth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Extremely 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Variable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Range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Very long</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Short–Medium</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Variable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Interference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Immune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Attenuation</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Very low</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Security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Variable/Low</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Cost</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 (install)</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Low</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Variable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Install Complexity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Low–Moderate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r>
              <a:tr h="44705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Reliability</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EF6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Very high</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E8F8F0"/>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Moderate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Variable</a:t>
                      </a:r>
                      <a:endParaRPr sz="1100" u="none" cap="none" strike="noStrike"/>
                    </a:p>
                  </a:txBody>
                  <a:tcPr marT="45725" marB="45725" marR="91450" marL="91450">
                    <a:lnL cap="flat" cmpd="sng" w="12700">
                      <a:solidFill>
                        <a:srgbClr val="CBD5E0"/>
                      </a:solidFill>
                      <a:prstDash val="solid"/>
                      <a:round/>
                      <a:headEnd len="sm" w="sm" type="none"/>
                      <a:tailEnd len="sm" w="sm" type="none"/>
                    </a:lnL>
                    <a:lnR cap="flat" cmpd="sng" w="12700">
                      <a:solidFill>
                        <a:srgbClr val="CBD5E0"/>
                      </a:solidFill>
                      <a:prstDash val="solid"/>
                      <a:round/>
                      <a:headEnd len="sm" w="sm" type="none"/>
                      <a:tailEnd len="sm" w="sm" type="none"/>
                    </a:lnR>
                    <a:lnT cap="flat" cmpd="sng" w="12700">
                      <a:solidFill>
                        <a:srgbClr val="CBD5E0"/>
                      </a:solidFill>
                      <a:prstDash val="solid"/>
                      <a:round/>
                      <a:headEnd len="sm" w="sm" type="none"/>
                      <a:tailEnd len="sm" w="sm" type="none"/>
                    </a:lnT>
                    <a:lnB cap="flat" cmpd="sng" w="12700">
                      <a:solidFill>
                        <a:srgbClr val="CBD5E0"/>
                      </a:solidFill>
                      <a:prstDash val="solid"/>
                      <a:round/>
                      <a:headEnd len="sm" w="sm" type="none"/>
                      <a:tailEnd len="sm" w="sm" type="none"/>
                    </a:lnB>
                    <a:solidFill>
                      <a:srgbClr val="FEF0EE"/>
                    </a:solidFill>
                  </a:tcPr>
                </a:tc>
              </a:tr>
            </a:tbl>
          </a:graphicData>
        </a:graphic>
      </p:graphicFrame>
      <p:sp>
        <p:nvSpPr>
          <p:cNvPr id="275" name="Google Shape;275;p14"/>
          <p:cNvSpPr/>
          <p:nvPr/>
        </p:nvSpPr>
        <p:spPr>
          <a:xfrm>
            <a:off x="274320" y="4892040"/>
            <a:ext cx="85953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1" lang="en-US" sz="1000" u="none" cap="none" strike="noStrike">
                <a:solidFill>
                  <a:srgbClr val="4A5568"/>
                </a:solidFill>
                <a:latin typeface="Calibri"/>
                <a:ea typeface="Calibri"/>
                <a:cs typeface="Calibri"/>
                <a:sym typeface="Calibri"/>
              </a:rPr>
              <a:t>🟢 = strong advantage   🔴 = limitation or risk   Colour coding indicates relative performance.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80" name="Shape 280"/>
        <p:cNvGrpSpPr/>
        <p:nvPr/>
      </p:nvGrpSpPr>
      <p:grpSpPr>
        <a:xfrm>
          <a:off x="0" y="0"/>
          <a:ext cx="0" cy="0"/>
          <a:chOff x="0" y="0"/>
          <a:chExt cx="0" cy="0"/>
        </a:xfrm>
      </p:grpSpPr>
      <p:sp>
        <p:nvSpPr>
          <p:cNvPr id="281" name="Google Shape;281;p15"/>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274320" y="4572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 Activity 1 — Transmission Media</a:t>
            </a:r>
            <a:endParaRPr b="0" i="0" sz="2200" u="none" cap="none" strike="noStrike">
              <a:solidFill>
                <a:schemeClr val="dk1"/>
              </a:solidFill>
              <a:latin typeface="Calibri"/>
              <a:ea typeface="Calibri"/>
              <a:cs typeface="Calibri"/>
              <a:sym typeface="Calibri"/>
            </a:endParaRPr>
          </a:p>
        </p:txBody>
      </p:sp>
      <p:sp>
        <p:nvSpPr>
          <p:cNvPr id="283" name="Google Shape;283;p15"/>
          <p:cNvSpPr/>
          <p:nvPr/>
        </p:nvSpPr>
        <p:spPr>
          <a:xfrm>
            <a:off x="6858000" y="45720"/>
            <a:ext cx="2011680" cy="5943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C39A"/>
              </a:buClr>
              <a:buSzPts val="1200"/>
              <a:buFont typeface="Calibri"/>
              <a:buNone/>
            </a:pPr>
            <a:r>
              <a:rPr b="0" i="1" lang="en-US" sz="1200" u="none" cap="none" strike="noStrike">
                <a:solidFill>
                  <a:srgbClr val="02C39A"/>
                </a:solidFill>
                <a:latin typeface="Calibri"/>
                <a:ea typeface="Calibri"/>
                <a:cs typeface="Calibri"/>
                <a:sym typeface="Calibri"/>
              </a:rPr>
              <a:t>A 2.3.2</a:t>
            </a:r>
            <a:endParaRPr b="0" i="0" sz="1200" u="none" cap="none" strike="noStrike">
              <a:solidFill>
                <a:schemeClr val="dk1"/>
              </a:solidFill>
              <a:latin typeface="Calibri"/>
              <a:ea typeface="Calibri"/>
              <a:cs typeface="Calibri"/>
              <a:sym typeface="Calibri"/>
            </a:endParaRPr>
          </a:p>
        </p:txBody>
      </p:sp>
      <p:sp>
        <p:nvSpPr>
          <p:cNvPr id="284" name="Google Shape;284;p15"/>
          <p:cNvSpPr/>
          <p:nvPr/>
        </p:nvSpPr>
        <p:spPr>
          <a:xfrm>
            <a:off x="27432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274320" y="822960"/>
            <a:ext cx="2651760" cy="41148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34747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Foundation — Recall &amp; Match</a:t>
            </a:r>
            <a:endParaRPr b="0" i="0" sz="1300" u="none" cap="none" strike="noStrike">
              <a:solidFill>
                <a:schemeClr val="dk1"/>
              </a:solidFill>
              <a:latin typeface="Calibri"/>
              <a:ea typeface="Calibri"/>
              <a:cs typeface="Calibri"/>
              <a:sym typeface="Calibri"/>
            </a:endParaRPr>
          </a:p>
        </p:txBody>
      </p:sp>
      <p:sp>
        <p:nvSpPr>
          <p:cNvPr id="287" name="Google Shape;287;p15"/>
          <p:cNvSpPr/>
          <p:nvPr/>
        </p:nvSpPr>
        <p:spPr>
          <a:xfrm>
            <a:off x="41148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Match each cable type to its description: Fibre Optic, Twisted Pair, Wireless.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Fill in: Fibre optic cables use _______ pulses, while twisted pair uses _______ signals.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True or False? Twisted pair cables are immune to electromagnetic interference.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Name ONE device that uses wireless transmission in everyday life.</a:t>
            </a:r>
            <a:endParaRPr b="0" i="0" sz="1200" u="none" cap="none" strike="noStrike">
              <a:solidFill>
                <a:schemeClr val="dk1"/>
              </a:solidFill>
              <a:latin typeface="Calibri"/>
              <a:ea typeface="Calibri"/>
              <a:cs typeface="Calibri"/>
              <a:sym typeface="Calibri"/>
            </a:endParaRPr>
          </a:p>
        </p:txBody>
      </p:sp>
      <p:sp>
        <p:nvSpPr>
          <p:cNvPr id="288" name="Google Shape;288;p15"/>
          <p:cNvSpPr/>
          <p:nvPr/>
        </p:nvSpPr>
        <p:spPr>
          <a:xfrm>
            <a:off x="306324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3063240" y="822960"/>
            <a:ext cx="2651760" cy="4114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313639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Core — Apply &amp; Explain</a:t>
            </a:r>
            <a:endParaRPr b="0" i="0" sz="1300" u="none" cap="none" strike="noStrike">
              <a:solidFill>
                <a:schemeClr val="dk1"/>
              </a:solidFill>
              <a:latin typeface="Calibri"/>
              <a:ea typeface="Calibri"/>
              <a:cs typeface="Calibri"/>
              <a:sym typeface="Calibri"/>
            </a:endParaRPr>
          </a:p>
        </p:txBody>
      </p:sp>
      <p:sp>
        <p:nvSpPr>
          <p:cNvPr id="291" name="Google Shape;291;p15"/>
          <p:cNvSpPr/>
          <p:nvPr/>
        </p:nvSpPr>
        <p:spPr>
          <a:xfrm>
            <a:off x="320040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why fibre optic cables have lower attenuation than twisted pair.</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 school wants to install internet in all classrooms cheaply. Recommend a medium. Give TWO reasons.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Describe how the design of twisted pair cables reduces interference.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Explain ONE reason why wireless transmission poses a security risk.</a:t>
            </a:r>
            <a:endParaRPr b="0" i="0" sz="1200" u="none" cap="none" strike="noStrike">
              <a:solidFill>
                <a:schemeClr val="dk1"/>
              </a:solidFill>
              <a:latin typeface="Calibri"/>
              <a:ea typeface="Calibri"/>
              <a:cs typeface="Calibri"/>
              <a:sym typeface="Calibri"/>
            </a:endParaRPr>
          </a:p>
        </p:txBody>
      </p:sp>
      <p:sp>
        <p:nvSpPr>
          <p:cNvPr id="292" name="Google Shape;292;p15"/>
          <p:cNvSpPr/>
          <p:nvPr/>
        </p:nvSpPr>
        <p:spPr>
          <a:xfrm>
            <a:off x="5852160" y="822960"/>
            <a:ext cx="2651760" cy="3931920"/>
          </a:xfrm>
          <a:prstGeom prst="rect">
            <a:avLst/>
          </a:prstGeom>
          <a:solidFill>
            <a:srgbClr val="FFFFFF"/>
          </a:solidFill>
          <a:ln cap="flat" cmpd="sng" w="12700">
            <a:solidFill>
              <a:srgbClr val="CBD5E0"/>
            </a:solidFill>
            <a:prstDash val="solid"/>
            <a:round/>
            <a:headEnd len="sm" w="sm" type="none"/>
            <a:tailEnd len="sm" w="sm" type="none"/>
          </a:ln>
          <a:effectLst>
            <a:outerShdw blurRad="101600" rotWithShape="0" algn="bl" dir="8100000" dist="381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5852160" y="822960"/>
            <a:ext cx="2651760" cy="411480"/>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5925312" y="841248"/>
            <a:ext cx="250545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Extension — Evaluate &amp; Justify</a:t>
            </a:r>
            <a:endParaRPr b="0" i="0" sz="1300" u="none" cap="none" strike="noStrike">
              <a:solidFill>
                <a:schemeClr val="dk1"/>
              </a:solidFill>
              <a:latin typeface="Calibri"/>
              <a:ea typeface="Calibri"/>
              <a:cs typeface="Calibri"/>
              <a:sym typeface="Calibri"/>
            </a:endParaRPr>
          </a:p>
        </p:txBody>
      </p:sp>
      <p:sp>
        <p:nvSpPr>
          <p:cNvPr id="295" name="Google Shape;295;p15"/>
          <p:cNvSpPr/>
          <p:nvPr/>
        </p:nvSpPr>
        <p:spPr>
          <a:xfrm>
            <a:off x="5989320" y="1325880"/>
            <a:ext cx="2377440"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 new hospital is being built. Compare fibre optic and twisted pair for internal networking. Recommend one, justifying with bandwidth, security, and cost.</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Analyse why wireless transmission has 'variable' reliability. What factors cause this variability?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Evaluate the trade-offs between cost and performance when selecting transmission media for a large university campus.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Construct an argument for or against using wireless-only transmission in a smart home.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A2A"/>
        </a:solidFill>
      </p:bgPr>
    </p:bg>
    <p:spTree>
      <p:nvGrpSpPr>
        <p:cNvPr id="300" name="Shape 300"/>
        <p:cNvGrpSpPr/>
        <p:nvPr/>
      </p:nvGrpSpPr>
      <p:grpSpPr>
        <a:xfrm>
          <a:off x="0" y="0"/>
          <a:ext cx="0" cy="0"/>
          <a:chOff x="0" y="0"/>
          <a:chExt cx="0" cy="0"/>
        </a:xfrm>
      </p:grpSpPr>
      <p:sp>
        <p:nvSpPr>
          <p:cNvPr id="301" name="Google Shape;301;p16"/>
          <p:cNvSpPr/>
          <p:nvPr/>
        </p:nvSpPr>
        <p:spPr>
          <a:xfrm>
            <a:off x="7132320" y="-457200"/>
            <a:ext cx="3657600" cy="3657600"/>
          </a:xfrm>
          <a:prstGeom prst="ellipse">
            <a:avLst/>
          </a:prstGeom>
          <a:solidFill>
            <a:srgbClr val="0D2B40">
              <a:alpha val="70196"/>
            </a:srgbClr>
          </a:solidFill>
          <a:ln cap="flat" cmpd="sng" w="12700">
            <a:solidFill>
              <a:srgbClr val="0D2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0" y="0"/>
            <a:ext cx="164592" cy="514350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320040" y="182880"/>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2200"/>
              <a:buFont typeface="Trebuchet MS"/>
              <a:buNone/>
            </a:pPr>
            <a:r>
              <a:rPr b="1" i="0" lang="en-US" sz="2200" u="none" cap="none" strike="noStrike">
                <a:solidFill>
                  <a:srgbClr val="F4A261"/>
                </a:solidFill>
                <a:latin typeface="Trebuchet MS"/>
                <a:ea typeface="Trebuchet MS"/>
                <a:cs typeface="Trebuchet MS"/>
                <a:sym typeface="Trebuchet MS"/>
              </a:rPr>
              <a:t>⭐ Challenging Activity 2 — Transmission Media</a:t>
            </a:r>
            <a:endParaRPr b="0" i="0" sz="2200" u="none" cap="none" strike="noStrike">
              <a:solidFill>
                <a:schemeClr val="dk1"/>
              </a:solidFill>
              <a:latin typeface="Calibri"/>
              <a:ea typeface="Calibri"/>
              <a:cs typeface="Calibri"/>
              <a:sym typeface="Calibri"/>
            </a:endParaRPr>
          </a:p>
        </p:txBody>
      </p:sp>
      <p:sp>
        <p:nvSpPr>
          <p:cNvPr id="304" name="Google Shape;304;p16"/>
          <p:cNvSpPr/>
          <p:nvPr/>
        </p:nvSpPr>
        <p:spPr>
          <a:xfrm>
            <a:off x="320040" y="685800"/>
            <a:ext cx="8503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1" lang="en-US" sz="1200" u="none" cap="none" strike="noStrike">
                <a:solidFill>
                  <a:srgbClr val="CBD5E0"/>
                </a:solidFill>
                <a:latin typeface="Calibri"/>
                <a:ea typeface="Calibri"/>
                <a:cs typeface="Calibri"/>
                <a:sym typeface="Calibri"/>
              </a:rPr>
              <a:t>A 2.3.2  |  Higher-Order Thinking</a:t>
            </a:r>
            <a:endParaRPr b="0" i="0" sz="1200" u="none" cap="none" strike="noStrike">
              <a:solidFill>
                <a:schemeClr val="dk1"/>
              </a:solidFill>
              <a:latin typeface="Calibri"/>
              <a:ea typeface="Calibri"/>
              <a:cs typeface="Calibri"/>
              <a:sym typeface="Calibri"/>
            </a:endParaRPr>
          </a:p>
        </p:txBody>
      </p:sp>
      <p:sp>
        <p:nvSpPr>
          <p:cNvPr id="305" name="Google Shape;305;p16"/>
          <p:cNvSpPr/>
          <p:nvPr/>
        </p:nvSpPr>
        <p:spPr>
          <a:xfrm>
            <a:off x="320040" y="1097280"/>
            <a:ext cx="8503920" cy="1143000"/>
          </a:xfrm>
          <a:prstGeom prst="rect">
            <a:avLst/>
          </a:prstGeom>
          <a:solidFill>
            <a:srgbClr val="0D2035"/>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a:off x="502920" y="1170432"/>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1  Scenario: Smart City Planning</a:t>
            </a:r>
            <a:endParaRPr b="0" i="0" sz="1300" u="none" cap="none" strike="noStrike">
              <a:solidFill>
                <a:schemeClr val="dk1"/>
              </a:solidFill>
              <a:latin typeface="Calibri"/>
              <a:ea typeface="Calibri"/>
              <a:cs typeface="Calibri"/>
              <a:sym typeface="Calibri"/>
            </a:endParaRPr>
          </a:p>
        </p:txBody>
      </p:sp>
      <p:sp>
        <p:nvSpPr>
          <p:cNvPr id="307" name="Google Shape;307;p16"/>
          <p:cNvSpPr/>
          <p:nvPr/>
        </p:nvSpPr>
        <p:spPr>
          <a:xfrm>
            <a:off x="502920" y="149047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A city is designing its digital infrastructure. It needs to connect 50 schools, 200 street cameras, and 1000 smart traffic lights. For EACH system, recommend a transmission medium and justify your choice using at least THREE of: bandwidth, cost, security, range, reliability, interference.</a:t>
            </a:r>
            <a:endParaRPr b="0" i="0" sz="1150" u="none" cap="none" strike="noStrike">
              <a:solidFill>
                <a:schemeClr val="dk1"/>
              </a:solidFill>
              <a:latin typeface="Calibri"/>
              <a:ea typeface="Calibri"/>
              <a:cs typeface="Calibri"/>
              <a:sym typeface="Calibri"/>
            </a:endParaRPr>
          </a:p>
        </p:txBody>
      </p:sp>
      <p:sp>
        <p:nvSpPr>
          <p:cNvPr id="308" name="Google Shape;308;p16"/>
          <p:cNvSpPr/>
          <p:nvPr/>
        </p:nvSpPr>
        <p:spPr>
          <a:xfrm>
            <a:off x="320040" y="2359152"/>
            <a:ext cx="8503920" cy="1143000"/>
          </a:xfrm>
          <a:prstGeom prst="rect">
            <a:avLst/>
          </a:prstGeom>
          <a:solidFill>
            <a:srgbClr val="0D2035"/>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502920" y="2432304"/>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2  Data &amp; Decision</a:t>
            </a:r>
            <a:endParaRPr b="0" i="0" sz="1300" u="none" cap="none" strike="noStrike">
              <a:solidFill>
                <a:schemeClr val="dk1"/>
              </a:solidFill>
              <a:latin typeface="Calibri"/>
              <a:ea typeface="Calibri"/>
              <a:cs typeface="Calibri"/>
              <a:sym typeface="Calibri"/>
            </a:endParaRPr>
          </a:p>
        </p:txBody>
      </p:sp>
      <p:sp>
        <p:nvSpPr>
          <p:cNvPr id="310" name="Google Shape;310;p16"/>
          <p:cNvSpPr/>
          <p:nvPr/>
        </p:nvSpPr>
        <p:spPr>
          <a:xfrm>
            <a:off x="502920" y="2752344"/>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You are given the following: a factory floor (lots of machinery), a submarine cable, and a mobile emergency service vehicle. For each scenario, identify the BIGGEST challenge to data transmission, explain which medium is most suitable, and analyse any trade-offs.</a:t>
            </a:r>
            <a:endParaRPr b="0" i="0" sz="1150" u="none" cap="none" strike="noStrike">
              <a:solidFill>
                <a:schemeClr val="dk1"/>
              </a:solidFill>
              <a:latin typeface="Calibri"/>
              <a:ea typeface="Calibri"/>
              <a:cs typeface="Calibri"/>
              <a:sym typeface="Calibri"/>
            </a:endParaRPr>
          </a:p>
        </p:txBody>
      </p:sp>
      <p:sp>
        <p:nvSpPr>
          <p:cNvPr id="311" name="Google Shape;311;p16"/>
          <p:cNvSpPr/>
          <p:nvPr/>
        </p:nvSpPr>
        <p:spPr>
          <a:xfrm>
            <a:off x="320040" y="3621024"/>
            <a:ext cx="8503920" cy="1143000"/>
          </a:xfrm>
          <a:prstGeom prst="rect">
            <a:avLst/>
          </a:prstGeom>
          <a:solidFill>
            <a:srgbClr val="0D2035"/>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502920" y="3694176"/>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300"/>
              <a:buFont typeface="Calibri"/>
              <a:buNone/>
            </a:pPr>
            <a:r>
              <a:rPr b="1" i="0" lang="en-US" sz="1300" u="none" cap="none" strike="noStrike">
                <a:solidFill>
                  <a:srgbClr val="F4A261"/>
                </a:solidFill>
                <a:latin typeface="Calibri"/>
                <a:ea typeface="Calibri"/>
                <a:cs typeface="Calibri"/>
                <a:sym typeface="Calibri"/>
              </a:rPr>
              <a:t>3  Evaluate &amp; Debate</a:t>
            </a:r>
            <a:endParaRPr b="0" i="0" sz="1300" u="none" cap="none" strike="noStrike">
              <a:solidFill>
                <a:schemeClr val="dk1"/>
              </a:solidFill>
              <a:latin typeface="Calibri"/>
              <a:ea typeface="Calibri"/>
              <a:cs typeface="Calibri"/>
              <a:sym typeface="Calibri"/>
            </a:endParaRPr>
          </a:p>
        </p:txBody>
      </p:sp>
      <p:sp>
        <p:nvSpPr>
          <p:cNvPr id="313" name="Google Shape;313;p16"/>
          <p:cNvSpPr/>
          <p:nvPr/>
        </p:nvSpPr>
        <p:spPr>
          <a:xfrm>
            <a:off x="502920" y="401421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150"/>
              <a:buFont typeface="Calibri"/>
              <a:buNone/>
            </a:pPr>
            <a:r>
              <a:rPr b="0" i="0" lang="en-US" sz="1150" u="none" cap="none" strike="noStrike">
                <a:solidFill>
                  <a:srgbClr val="CBD5E0"/>
                </a:solidFill>
                <a:latin typeface="Calibri"/>
                <a:ea typeface="Calibri"/>
                <a:cs typeface="Calibri"/>
                <a:sym typeface="Calibri"/>
              </a:rPr>
              <a:t>"As wireless technology improves, wired transmission will eventually become obsolete." To what extent do you agree? Consider bandwidth, security, reliability, infrastructure cost, and physical constraints. Support your argument with specific examples.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318" name="Shape 318"/>
        <p:cNvGrpSpPr/>
        <p:nvPr/>
      </p:nvGrpSpPr>
      <p:grpSpPr>
        <a:xfrm>
          <a:off x="0" y="0"/>
          <a:ext cx="0" cy="0"/>
          <a:chOff x="0" y="0"/>
          <a:chExt cx="0" cy="0"/>
        </a:xfrm>
      </p:grpSpPr>
      <p:sp>
        <p:nvSpPr>
          <p:cNvPr id="319" name="Google Shape;319;p17"/>
          <p:cNvSpPr/>
          <p:nvPr/>
        </p:nvSpPr>
        <p:spPr>
          <a:xfrm>
            <a:off x="0" y="0"/>
            <a:ext cx="164592"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365760" y="22860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Trebuchet MS"/>
              <a:buNone/>
            </a:pPr>
            <a:r>
              <a:rPr b="1" i="0" lang="en-US" sz="2800" u="none" cap="none" strike="noStrike">
                <a:solidFill>
                  <a:srgbClr val="FFFFFF"/>
                </a:solidFill>
                <a:latin typeface="Trebuchet MS"/>
                <a:ea typeface="Trebuchet MS"/>
                <a:cs typeface="Trebuchet MS"/>
                <a:sym typeface="Trebuchet MS"/>
              </a:rPr>
              <a:t>Lesson Summary</a:t>
            </a:r>
            <a:endParaRPr b="0" i="0" sz="2800" u="none" cap="none" strike="noStrike">
              <a:solidFill>
                <a:schemeClr val="dk1"/>
              </a:solidFill>
              <a:latin typeface="Calibri"/>
              <a:ea typeface="Calibri"/>
              <a:cs typeface="Calibri"/>
              <a:sym typeface="Calibri"/>
            </a:endParaRPr>
          </a:p>
        </p:txBody>
      </p:sp>
      <p:sp>
        <p:nvSpPr>
          <p:cNvPr id="321" name="Google Shape;321;p17"/>
          <p:cNvSpPr/>
          <p:nvPr/>
        </p:nvSpPr>
        <p:spPr>
          <a:xfrm>
            <a:off x="365760" y="868680"/>
            <a:ext cx="4023360" cy="3886200"/>
          </a:xfrm>
          <a:prstGeom prst="rect">
            <a:avLst/>
          </a:prstGeom>
          <a:solidFill>
            <a:srgbClr val="102A44"/>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365760" y="868680"/>
            <a:ext cx="402336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457200" y="886968"/>
            <a:ext cx="38404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 IP Addressing (A 2.3.1)</a:t>
            </a:r>
            <a:endParaRPr b="0" i="0" sz="1400" u="none" cap="none" strike="noStrike">
              <a:solidFill>
                <a:schemeClr val="dk1"/>
              </a:solidFill>
              <a:latin typeface="Calibri"/>
              <a:ea typeface="Calibri"/>
              <a:cs typeface="Calibri"/>
              <a:sym typeface="Calibri"/>
            </a:endParaRPr>
          </a:p>
        </p:txBody>
      </p:sp>
      <p:sp>
        <p:nvSpPr>
          <p:cNvPr id="324" name="Google Shape;324;p17"/>
          <p:cNvSpPr/>
          <p:nvPr/>
        </p:nvSpPr>
        <p:spPr>
          <a:xfrm>
            <a:off x="502920" y="1417320"/>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IPv4 (32-bit, ~4.3bn) vs IPv6 (128-bit, 3.4×10³⁸)</a:t>
            </a:r>
            <a:endParaRPr b="0" i="0" sz="1200" u="none" cap="none" strike="noStrike">
              <a:solidFill>
                <a:schemeClr val="dk1"/>
              </a:solidFill>
              <a:latin typeface="Calibri"/>
              <a:ea typeface="Calibri"/>
              <a:cs typeface="Calibri"/>
              <a:sym typeface="Calibri"/>
            </a:endParaRPr>
          </a:p>
        </p:txBody>
      </p:sp>
      <p:sp>
        <p:nvSpPr>
          <p:cNvPr id="325" name="Google Shape;325;p17"/>
          <p:cNvSpPr/>
          <p:nvPr/>
        </p:nvSpPr>
        <p:spPr>
          <a:xfrm>
            <a:off x="502920" y="2075688"/>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Public vs private IPs — routing &amp; network segmentation</a:t>
            </a:r>
            <a:endParaRPr b="0" i="0" sz="1200" u="none" cap="none" strike="noStrike">
              <a:solidFill>
                <a:schemeClr val="dk1"/>
              </a:solidFill>
              <a:latin typeface="Calibri"/>
              <a:ea typeface="Calibri"/>
              <a:cs typeface="Calibri"/>
              <a:sym typeface="Calibri"/>
            </a:endParaRPr>
          </a:p>
        </p:txBody>
      </p:sp>
      <p:sp>
        <p:nvSpPr>
          <p:cNvPr id="326" name="Google Shape;326;p17"/>
          <p:cNvSpPr/>
          <p:nvPr/>
        </p:nvSpPr>
        <p:spPr>
          <a:xfrm>
            <a:off x="502920" y="2734056"/>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Static (permanent, server-suitable) vs Dynamic (DHCP-assigned)</a:t>
            </a:r>
            <a:endParaRPr b="0" i="0" sz="1200" u="none" cap="none" strike="noStrike">
              <a:solidFill>
                <a:schemeClr val="dk1"/>
              </a:solidFill>
              <a:latin typeface="Calibri"/>
              <a:ea typeface="Calibri"/>
              <a:cs typeface="Calibri"/>
              <a:sym typeface="Calibri"/>
            </a:endParaRPr>
          </a:p>
        </p:txBody>
      </p:sp>
      <p:sp>
        <p:nvSpPr>
          <p:cNvPr id="327" name="Google Shape;327;p17"/>
          <p:cNvSpPr/>
          <p:nvPr/>
        </p:nvSpPr>
        <p:spPr>
          <a:xfrm>
            <a:off x="502920" y="3392424"/>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NAT — shares one public IP across many private devices</a:t>
            </a:r>
            <a:endParaRPr b="0" i="0" sz="1200" u="none" cap="none" strike="noStrike">
              <a:solidFill>
                <a:schemeClr val="dk1"/>
              </a:solidFill>
              <a:latin typeface="Calibri"/>
              <a:ea typeface="Calibri"/>
              <a:cs typeface="Calibri"/>
              <a:sym typeface="Calibri"/>
            </a:endParaRPr>
          </a:p>
        </p:txBody>
      </p:sp>
      <p:sp>
        <p:nvSpPr>
          <p:cNvPr id="328" name="Google Shape;328;p17"/>
          <p:cNvSpPr/>
          <p:nvPr/>
        </p:nvSpPr>
        <p:spPr>
          <a:xfrm>
            <a:off x="4663440" y="868680"/>
            <a:ext cx="4023360" cy="3886200"/>
          </a:xfrm>
          <a:prstGeom prst="rect">
            <a:avLst/>
          </a:prstGeom>
          <a:solidFill>
            <a:srgbClr val="102A44"/>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4663440" y="868680"/>
            <a:ext cx="4023360"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a:off x="4754880" y="886968"/>
            <a:ext cx="38404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 Transmission Media (A 2.3.2)</a:t>
            </a:r>
            <a:endParaRPr b="0" i="0" sz="1400" u="none" cap="none" strike="noStrike">
              <a:solidFill>
                <a:schemeClr val="dk1"/>
              </a:solidFill>
              <a:latin typeface="Calibri"/>
              <a:ea typeface="Calibri"/>
              <a:cs typeface="Calibri"/>
              <a:sym typeface="Calibri"/>
            </a:endParaRPr>
          </a:p>
        </p:txBody>
      </p:sp>
      <p:sp>
        <p:nvSpPr>
          <p:cNvPr id="331" name="Google Shape;331;p17"/>
          <p:cNvSpPr/>
          <p:nvPr/>
        </p:nvSpPr>
        <p:spPr>
          <a:xfrm>
            <a:off x="4800600" y="1417320"/>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Fibre optic: light, highest bandwidth, immune to EMI, costly</a:t>
            </a:r>
            <a:endParaRPr b="0" i="0" sz="1200" u="none" cap="none" strike="noStrike">
              <a:solidFill>
                <a:schemeClr val="dk1"/>
              </a:solidFill>
              <a:latin typeface="Calibri"/>
              <a:ea typeface="Calibri"/>
              <a:cs typeface="Calibri"/>
              <a:sym typeface="Calibri"/>
            </a:endParaRPr>
          </a:p>
        </p:txBody>
      </p:sp>
      <p:sp>
        <p:nvSpPr>
          <p:cNvPr id="332" name="Google Shape;332;p17"/>
          <p:cNvSpPr/>
          <p:nvPr/>
        </p:nvSpPr>
        <p:spPr>
          <a:xfrm>
            <a:off x="4800600" y="2075688"/>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Twisted pair: copper, low cost, moderate bandwidth, easy install</a:t>
            </a:r>
            <a:endParaRPr b="0" i="0" sz="1200" u="none" cap="none" strike="noStrike">
              <a:solidFill>
                <a:schemeClr val="dk1"/>
              </a:solidFill>
              <a:latin typeface="Calibri"/>
              <a:ea typeface="Calibri"/>
              <a:cs typeface="Calibri"/>
              <a:sym typeface="Calibri"/>
            </a:endParaRPr>
          </a:p>
        </p:txBody>
      </p:sp>
      <p:sp>
        <p:nvSpPr>
          <p:cNvPr id="333" name="Google Shape;333;p17"/>
          <p:cNvSpPr/>
          <p:nvPr/>
        </p:nvSpPr>
        <p:spPr>
          <a:xfrm>
            <a:off x="4800600" y="2734056"/>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Wireless: EM waves, mobile, interference-prone, security risks</a:t>
            </a:r>
            <a:endParaRPr b="0" i="0" sz="1200" u="none" cap="none" strike="noStrike">
              <a:solidFill>
                <a:schemeClr val="dk1"/>
              </a:solidFill>
              <a:latin typeface="Calibri"/>
              <a:ea typeface="Calibri"/>
              <a:cs typeface="Calibri"/>
              <a:sym typeface="Calibri"/>
            </a:endParaRPr>
          </a:p>
        </p:txBody>
      </p:sp>
      <p:sp>
        <p:nvSpPr>
          <p:cNvPr id="334" name="Google Shape;334;p17"/>
          <p:cNvSpPr/>
          <p:nvPr/>
        </p:nvSpPr>
        <p:spPr>
          <a:xfrm>
            <a:off x="4800600" y="3392424"/>
            <a:ext cx="3749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 Key factors: bandwidth, range, cost, interference, security</a:t>
            </a:r>
            <a:endParaRPr b="0" i="0" sz="1200" u="none" cap="none" strike="noStrike">
              <a:solidFill>
                <a:schemeClr val="dk1"/>
              </a:solidFill>
              <a:latin typeface="Calibri"/>
              <a:ea typeface="Calibri"/>
              <a:cs typeface="Calibri"/>
              <a:sym typeface="Calibri"/>
            </a:endParaRPr>
          </a:p>
        </p:txBody>
      </p:sp>
      <p:sp>
        <p:nvSpPr>
          <p:cNvPr id="335" name="Google Shape;335;p17"/>
          <p:cNvSpPr/>
          <p:nvPr/>
        </p:nvSpPr>
        <p:spPr>
          <a:xfrm>
            <a:off x="365760" y="4754880"/>
            <a:ext cx="8412480" cy="27432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457200" y="4764024"/>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Exit Ticket: Name ONE thing you learned today and ONE question you still have.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2026-03-28T11:03:18Z</dcterms:created>
  <dc:creator>PptxGenJS</dc:creator>
</cp:coreProperties>
</file>