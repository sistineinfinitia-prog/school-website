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65760"/>
            <a:ext cx="457200" cy="457200"/>
          </a:xfrm>
          <a:prstGeom prst="ellipse">
            <a:avLst/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097280"/>
            <a:ext cx="320040" cy="320040"/>
          </a:xfrm>
          <a:prstGeom prst="ellipse">
            <a:avLst/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40080"/>
            <a:ext cx="411480" cy="411480"/>
          </a:xfrm>
          <a:prstGeom prst="ellipse">
            <a:avLst/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011680"/>
            <a:ext cx="365760" cy="365760"/>
          </a:xfrm>
          <a:prstGeom prst="ellipse">
            <a:avLst/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1737360"/>
            <a:ext cx="274320" cy="274320"/>
          </a:xfrm>
          <a:prstGeom prst="ellipse">
            <a:avLst/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743200"/>
            <a:ext cx="457200" cy="457200"/>
          </a:xfrm>
          <a:prstGeom prst="ellipse">
            <a:avLst/>
          </a:prstGeom>
          <a:solidFill>
            <a:srgbClr val="0891B2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594360"/>
            <a:ext cx="1188720" cy="73152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92340" y="1257300"/>
            <a:ext cx="914400" cy="-45720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2340" y="1257300"/>
            <a:ext cx="-548640" cy="91440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2460" y="845820"/>
            <a:ext cx="274320" cy="109728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194560"/>
            <a:ext cx="1737360" cy="-27432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194560"/>
            <a:ext cx="1005840" cy="73152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1874520"/>
            <a:ext cx="-731520" cy="100584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A2.3.3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Switching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travels across a network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5303520" cy="15544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Learning Objective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337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packet switching is used to send data across a network, including the roles of switches and routers.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STARTER ACTIVITY  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level and complete the challenge!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651760" cy="356616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6517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LEVEL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words to the definitions: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 •  Header  •  Payload  •  Router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actual data being sent (the message)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Control information like source/destination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small chunk of data sent across a network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device that connects different networks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356616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LEVEL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9659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sending a letter cut into pieces: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might you add the recipient's address to each piece?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problem could occur if the pieces arrive out of order?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would you know if a piece was missing?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advantage does splitting the letter give?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2651760" cy="356616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143000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143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LEVEL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analyse: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packet switching to circuit switching (where a dedicated path is reserved for the whole transmission).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TWO advantages and ONE disadvantage of packet switching over circuit switching?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might circuit switching be preferred?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1  |  What is Packet Switching?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0690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broken into small units called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packet travels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may take different routes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are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reassembled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destination in correct order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corrupted packets can be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343400" cy="1828800"/>
          </a:xfrm>
          <a:prstGeom prst="rect">
            <a:avLst/>
          </a:prstGeom>
          <a:solidFill>
            <a:srgbClr val="1323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✉️  The Letter Analogy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23444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cutting a letter into pieces, placing each in its own envelope with the recipient's address. The pieces travel separately but are reassembled at the destination into the original letter.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2697480"/>
            <a:ext cx="4343400" cy="21488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are transmitted independently and reassembled using sequence numbers in the header.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ACTIVITY 1  |  Put the Packets in Order!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'DATA IS SENT IN PACKETS' has been split into 5 packets that arrived out of order. Number them 1–5 to reassemble the message.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645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1645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#3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192.168.1.1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Dst: 10.0.0.1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1554480" cy="594360"/>
          </a:xfrm>
          <a:prstGeom prst="rect">
            <a:avLst/>
          </a:prstGeom>
          <a:solidFill>
            <a:srgbClr val="BAE6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"SENT IN"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1st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73152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___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93392" y="1371600"/>
            <a:ext cx="1645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93392" y="1371600"/>
            <a:ext cx="164592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993392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#1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84832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192.168.1.1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Dst: 10.0.0.1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39112" y="2514600"/>
            <a:ext cx="1554480" cy="594360"/>
          </a:xfrm>
          <a:prstGeom prst="rect">
            <a:avLst/>
          </a:prstGeom>
          <a:solidFill>
            <a:srgbClr val="BAE6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93392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2nd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50592" y="3474720"/>
            <a:ext cx="73152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___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58184" y="1371600"/>
            <a:ext cx="1645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58184" y="1371600"/>
            <a:ext cx="16459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758184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#5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9624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9624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192.168.1.1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Dst: 10.0.0.1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03904" y="2514600"/>
            <a:ext cx="1554480" cy="594360"/>
          </a:xfrm>
          <a:prstGeom prst="rect">
            <a:avLst/>
          </a:prstGeom>
          <a:solidFill>
            <a:srgbClr val="BAE6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"PACKETS"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58184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3rd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15384" y="3474720"/>
            <a:ext cx="73152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58184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___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22976" y="1371600"/>
            <a:ext cx="1645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22976" y="1371600"/>
            <a:ext cx="16459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522976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#2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14416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14416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192.168.1.1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Dst: 10.0.0.1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68696" y="2514600"/>
            <a:ext cx="1554480" cy="594360"/>
          </a:xfrm>
          <a:prstGeom prst="rect">
            <a:avLst/>
          </a:prstGeom>
          <a:solidFill>
            <a:srgbClr val="BAE6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SENT"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22976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4th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0176" y="3474720"/>
            <a:ext cx="73152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22976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___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287768" y="1371600"/>
            <a:ext cx="1645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87768" y="1371600"/>
            <a:ext cx="164592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7287768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#4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7920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79208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192.168.1.1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Dst: 10.0.0.1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33488" y="2514600"/>
            <a:ext cx="1554480" cy="594360"/>
          </a:xfrm>
          <a:prstGeom prst="rect">
            <a:avLst/>
          </a:prstGeom>
          <a:solidFill>
            <a:srgbClr val="BAE6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79208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PACKETS"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87768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5th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44968" y="3474720"/>
            <a:ext cx="73152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___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4023360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Level 1: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sequence number in the header to order the packets.  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Level 2: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Packet #3 was lost?   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Level 3: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useful that packets can arrive in a different order to when they were sent?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2  |  Anatomy of a Packet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50292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822960"/>
            <a:ext cx="3429000" cy="685800"/>
          </a:xfrm>
          <a:prstGeom prst="rect">
            <a:avLst/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822960"/>
            <a:ext cx="10972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868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1170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packet came from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600200"/>
            <a:ext cx="3429000" cy="685800"/>
          </a:xfrm>
          <a:prstGeom prst="rect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1600200"/>
            <a:ext cx="109728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19476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packet is going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377440"/>
            <a:ext cx="3429000" cy="685800"/>
          </a:xfrm>
          <a:prstGeom prst="rect">
            <a:avLst/>
          </a:prstGeom>
          <a:solidFill>
            <a:srgbClr val="132337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377440"/>
            <a:ext cx="109728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0" y="2724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Packet's position for reassembly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154680"/>
            <a:ext cx="3429000" cy="685800"/>
          </a:xfrm>
          <a:prstGeom prst="rect">
            <a:avLst/>
          </a:prstGeom>
          <a:solidFill>
            <a:srgbClr val="13233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154680"/>
            <a:ext cx="109728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(Time to Live)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0" y="3502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packets looping forever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3931920"/>
            <a:ext cx="3429000" cy="685800"/>
          </a:xfrm>
          <a:prstGeom prst="rect">
            <a:avLst/>
          </a:prstGeom>
          <a:solidFill>
            <a:srgbClr val="132337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0" y="3931920"/>
            <a:ext cx="109728" cy="6858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Checksum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0" y="42793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for the header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28600" y="3429000"/>
            <a:ext cx="5029200" cy="73152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34747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 =  The actual data (the message being sent)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IPv4 header is up to 24 bytes and contains all the routing and control information needed for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 ACTIVITY 2  |  Label the Packet Header!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bank below to fill in the labels for each part of the packet.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97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109728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097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8412480" cy="914400"/>
          </a:xfrm>
          <a:prstGeom prst="rect">
            <a:avLst/>
          </a:prstGeom>
          <a:solidFill>
            <a:srgbClr val="BAE6FD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_______________________  (The actual message data)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Word Bank: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Address     •     Destination IP Address     •     Sequence Number     •     Header Checksum     •     Payload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690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Level 1: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bank to match the letters A–E.  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Level 2: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Destination IP is essential in every packet.   </a:t>
            </a:r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Level 3: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adds extra bytes to every packet. Is this overhead worth it? Justify your answer.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3  |  Reassembly at the Destination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874520"/>
            <a:ext cx="205740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Packets Arrive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packets reach the destination device, possibly via different routes and in any order.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252728"/>
            <a:ext cx="155448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777240"/>
            <a:ext cx="1005840" cy="100584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41448" y="1874520"/>
            <a:ext cx="205740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32888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Sequence Numbers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23774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reads sequence numbers from each packet's header to find the correct order.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8848" y="1252728"/>
            <a:ext cx="155448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8656" y="777240"/>
            <a:ext cx="1005840" cy="100584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654296" y="1874520"/>
            <a:ext cx="205740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45736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Missing Packets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23774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sequence number is missing, the device requests a retransmission of the lost packet.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1696" y="1252728"/>
            <a:ext cx="155448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777240"/>
            <a:ext cx="1005840" cy="100584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867144" y="1874520"/>
            <a:ext cx="2057400" cy="1920240"/>
          </a:xfrm>
          <a:prstGeom prst="rect">
            <a:avLst/>
          </a:prstGeom>
          <a:solidFill>
            <a:srgbClr val="13233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58584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Reassemble the Message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58584" y="237744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are placed in correct sequence order and the original data is reconstructed.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886200"/>
            <a:ext cx="8686800" cy="1005840"/>
          </a:xfrm>
          <a:prstGeom prst="rect">
            <a:avLst/>
          </a:prstGeom>
          <a:solidFill>
            <a:srgbClr val="1A0A2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Error Handling: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packet is missing or corrupted → the destination device requests retransmission of that specific packet only. This is far more efficient than re-sending the entire message, which is what would be required in circuit switching.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ACTIVITY 3  |  What Went Wrong?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of 6 packets was sent. Study what arrived at the destination and answer the questions below.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received at destination (in arrival order):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1261872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12618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898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#1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389888"/>
            <a:ext cx="1261872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1389888"/>
            <a:ext cx="12618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13898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#3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7830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389888"/>
            <a:ext cx="1261872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389888"/>
            <a:ext cx="126187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13898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#4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17830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1389888"/>
            <a:ext cx="1261872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1389888"/>
            <a:ext cx="12618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3898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#6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17830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389888"/>
            <a:ext cx="1261872" cy="1005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1389888"/>
            <a:ext cx="126187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13898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#2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17830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389888"/>
            <a:ext cx="1554480" cy="1005840"/>
          </a:xfrm>
          <a:prstGeom prst="rect">
            <a:avLst/>
          </a:prstGeom>
          <a:solidFill>
            <a:srgbClr val="FEF3C7"/>
          </a:solidFill>
          <a:ln w="31750">
            <a:solidFill>
              <a:srgbClr val="F59E0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315200" y="13898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#5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MISSING!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2560320"/>
            <a:ext cx="8686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2633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2944368"/>
            <a:ext cx="8321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packet(s) need to be retransmitted? Give reasons.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destination device know packet #5 is missing?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retransmission, in what order should the packets be reassembled?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L1: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Q1 only. 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L2: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Q1 &amp; Q2.   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L3: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Qs + suggest how the protocol can reduce errors proactively.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4  |  The Role of Switches &amp; Routers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4160520"/>
          </a:xfrm>
          <a:prstGeom prst="rect">
            <a:avLst/>
          </a:prstGeom>
          <a:solidFill>
            <a:srgbClr val="132337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 SWITCH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98448"/>
            <a:ext cx="365760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926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within: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Area Network (LAN)
</a:t>
            </a:r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Addresses
</a:t>
            </a:r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MAC addresses of connected devices, stores in a table, and forwards packets directly to the right port.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777240"/>
            <a:ext cx="3977640" cy="4160520"/>
          </a:xfrm>
          <a:prstGeom prst="rect">
            <a:avLst/>
          </a:prstGeom>
          <a:solidFill>
            <a:srgbClr val="132337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777240"/>
            <a:ext cx="39776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777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ROUTER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74920" y="1298448"/>
            <a:ext cx="3703320" cy="1554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2926080"/>
            <a:ext cx="3703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across: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Networks (LAN → Internet)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
</a:t>
            </a:r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destination IP, checks routing table, and forwards each packet along the best available path.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24528" y="228600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422452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ACTIVITY 4  |  Switch or Router? Sort the Cards!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statement into the correct column. Write S (Switch) or R (Router) next to 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 SWITCH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83480" y="1097280"/>
            <a:ext cx="3931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ROUTER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" y="1600200"/>
            <a:ext cx="3931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600200"/>
            <a:ext cx="3931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9164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MAC addresses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183794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69164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IP addresses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183794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2316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devices within a LAN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256946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242316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 LAN to the Internet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58200" y="256946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15468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routing 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330098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315468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packets to the correct port within a network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330098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88620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best path between different networks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03320" y="403250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3886200"/>
            <a:ext cx="374904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device addresses in an internal table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58200" y="403250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L1: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4 easier statements. 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L2: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8.   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L3: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of your own statements to each column AND explain why a network needs BOTH a switch AND a router.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CHALLENGE TASK  |  Design a Packet Journey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8686800" cy="1188720"/>
          </a:xfrm>
          <a:prstGeom prst="rect">
            <a:avLst/>
          </a:prstGeom>
          <a:solidFill>
            <a:srgbClr val="13233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86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 Scenario: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sending a 2MB video file from your laptop at home to a friend's computer across the world. The file is broken into 1,500 packets. Describe and annotate the complete journey of these packets from source to destination.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2148840"/>
            <a:ext cx="8686800" cy="804672"/>
          </a:xfrm>
          <a:prstGeom prst="rect">
            <a:avLst/>
          </a:prstGeom>
          <a:solidFill>
            <a:srgbClr val="132337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2148840"/>
            <a:ext cx="109728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L1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the Journey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96312"/>
            <a:ext cx="8275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4–5 sentences explaining how one packet travels from your laptop to your friend's computer. Include: segmentation, header info, routing, and reassembly.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044952"/>
            <a:ext cx="8686800" cy="804672"/>
          </a:xfrm>
          <a:prstGeom prst="rect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044952"/>
            <a:ext cx="10972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L2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Annotated Diagram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8275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annotate a network diagram showing: the source device, at least 3 router hops, switches in the LANs at both ends, and the destination device. Label the role of each device.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941064"/>
            <a:ext cx="8686800" cy="804672"/>
          </a:xfrm>
          <a:prstGeom prst="rect">
            <a:avLst/>
          </a:prstGeom>
          <a:solidFill>
            <a:srgbClr val="13233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941064"/>
            <a:ext cx="10972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995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L3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288536"/>
            <a:ext cx="8275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advantages of packet switching for this video file transfer compared to circuit switching. Consider: network efficiency, fault tolerance, cost, and real-time data challenges. Write a structured argument (min. 200 words).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LESSON SUMMARY  |  What Have We Learned?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9768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877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Switching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into packets, each transmitted independently across the network.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9768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2296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8778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170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(source/dest IP, sequence no., TTL, checksum) + Payload (the actual data).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828800"/>
            <a:ext cx="429768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82880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1883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Reassembly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762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 allow destination to reorder packets and request retransmission of lost 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429768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82880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1883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1762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packets within a LAN using MAC addresses and a stored address 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87168" y="2834640"/>
            <a:ext cx="4297680" cy="86868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78608" y="283464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18688" y="28895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18688" y="3182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packets between networks using IP addresses and routing tables.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8686800" cy="1005840"/>
          </a:xfrm>
          <a:prstGeom prst="rect">
            <a:avLst/>
          </a:prstGeom>
          <a:solidFill>
            <a:srgbClr val="1A0A2E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995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🎫  EXIT TICKET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32511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sticky note, write:  </a:t>
            </a:r>
            <a:pPr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One thing you understood well today  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One thing you are still unsure about   </a:t>
            </a:r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In one sentence: what is packet switching?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Switching - A2.3.3</dc:title>
  <dc:subject>PptxGenJS Presentation</dc:subject>
  <dc:creator>PptxGenJS</dc:creator>
  <cp:lastModifiedBy>PptxGenJS</cp:lastModifiedBy>
  <cp:revision>1</cp:revision>
  <dcterms:created xsi:type="dcterms:W3CDTF">2026-03-31T18:23:37Z</dcterms:created>
  <dcterms:modified xsi:type="dcterms:W3CDTF">2026-03-31T18:23:37Z</dcterms:modified>
</cp:coreProperties>
</file>