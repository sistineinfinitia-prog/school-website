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roxima Nova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ProximaNova-bold.fntdata"/><Relationship Id="rId10" Type="http://schemas.openxmlformats.org/officeDocument/2006/relationships/slide" Target="slides/slide5.xml"/><Relationship Id="rId21" Type="http://schemas.openxmlformats.org/officeDocument/2006/relationships/font" Target="fonts/ProximaNova-regular.fntdata"/><Relationship Id="rId13" Type="http://schemas.openxmlformats.org/officeDocument/2006/relationships/slide" Target="slides/slide8.xml"/><Relationship Id="rId24" Type="http://schemas.openxmlformats.org/officeDocument/2006/relationships/font" Target="fonts/ProximaNova-boldItalic.fntdata"/><Relationship Id="rId12" Type="http://schemas.openxmlformats.org/officeDocument/2006/relationships/slide" Target="slides/slide7.xml"/><Relationship Id="rId23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7c4c1b2b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7c4c1b2b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7c4c1b2b9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7c4c1b2b9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7c4c1b2b9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7c4c1b2b9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7c4c1b2b9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7c4c1b2b9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7c4c1b2b9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7c4c1b2b9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7c4c1b2b9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7c4c1b2b9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7c4c1b2b9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7c4c1b2b9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7c4c1b2b9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7c4c1b2b9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7c4c1b2b9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7c4c1b2b9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7c4c1b2b9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7c4c1b2b9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7c4c1b2b9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7c4c1b2b9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7c4c1b2b9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7c4c1b2b9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7c4c1b2b9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7c4c1b2b9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7c4c1b2b9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7c4c1b2b9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4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121212"/>
                </a:solidFill>
                <a:highlight>
                  <a:srgbClr val="FFFFFF"/>
                </a:highlight>
                <a:latin typeface="Trebuchet MS"/>
                <a:ea typeface="Trebuchet MS"/>
                <a:cs typeface="Trebuchet MS"/>
                <a:sym typeface="Trebuchet MS"/>
              </a:rPr>
              <a:t>A 3.2.1 Database Schemas</a:t>
            </a:r>
            <a:endParaRPr b="1" sz="2300">
              <a:solidFill>
                <a:srgbClr val="121212"/>
              </a:solidFill>
              <a:highlight>
                <a:srgbClr val="FFFFFF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2098692" y="1950900"/>
            <a:ext cx="6331500" cy="12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21212"/>
                </a:solidFill>
                <a:highlight>
                  <a:srgbClr val="FFFFFF"/>
                </a:highlight>
              </a:rPr>
              <a:t>Every database relies on a schema, a structure defining data organization and relationships. We'll explore conceptual, logical, and physical schemas, and how they abstractly define data structure at different levels.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the end of this chapter, you will be able to: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what a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 schema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and explain its purpose in database design.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Differentiate between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conceptual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logical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schemas.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Describe how schemas define the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structure, organisation, and relationships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data.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Explain the role of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levels of abstraction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simplifying database design and management.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Illustrate examples of schemas in real-world database systems.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466525" y="699800"/>
            <a:ext cx="3000000" cy="156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ATL Skill (Thinking):</a:t>
            </a:r>
            <a:r>
              <a:rPr lang="en" sz="1800"/>
              <a:t> Transfer – connecting real-world examples to abstract database concepts.</a:t>
            </a:r>
            <a:endParaRPr sz="1800"/>
          </a:p>
        </p:txBody>
      </p:sp>
      <p:sp>
        <p:nvSpPr>
          <p:cNvPr id="72" name="Google Shape;72;p15"/>
          <p:cNvSpPr txBox="1"/>
          <p:nvPr/>
        </p:nvSpPr>
        <p:spPr>
          <a:xfrm>
            <a:off x="5540050" y="699800"/>
            <a:ext cx="3000000" cy="35094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TOK -</a:t>
            </a:r>
            <a:r>
              <a:rPr b="1" lang="en" sz="2400"/>
              <a:t>Knowledge and Perspective</a:t>
            </a:r>
            <a:r>
              <a:rPr lang="en" sz="2400"/>
              <a:t> → Different schemas (conceptual, logical, physical) represent different perspectives of the same knowledge system.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 schema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the blueprint of a database.</a:t>
            </a:r>
            <a:b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defines how data is </a:t>
            </a: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structured, organized, and related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Just like an architect’s plan for a building, a schema guides database design.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Starter activity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4951200" cy="30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Imagine your phone gallery has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10,000 photos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need to find a picture from your last birthday quickly.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would you organize the photos so they are easy to find?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5586700" y="1344150"/>
            <a:ext cx="3000000" cy="33000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Student Task (Think–Pair–Share – 3 mins):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 sz="1300"/>
              <a:t>Think (1 min):</a:t>
            </a:r>
            <a:r>
              <a:rPr lang="en" sz="1300"/>
              <a:t> Write down 2–3 ways you would organize your photos (e.g., by date, album, tags, folders).</a:t>
            </a:r>
            <a:br>
              <a:rPr lang="en" sz="1300"/>
            </a:b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 sz="1300"/>
              <a:t>Pair (1 min):</a:t>
            </a:r>
            <a:r>
              <a:rPr lang="en" sz="1300"/>
              <a:t> Share with a partner – do you organize differently? Why?</a:t>
            </a:r>
            <a:br>
              <a:rPr lang="en" sz="1300"/>
            </a:b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en" sz="1300"/>
              <a:t>Share (1 min):</a:t>
            </a:r>
            <a:r>
              <a:rPr lang="en" sz="1300"/>
              <a:t> Few volunteers share with the class.</a:t>
            </a:r>
            <a:endParaRPr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888" y="76200"/>
            <a:ext cx="8446224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121212"/>
                </a:solidFill>
                <a:latin typeface="Trebuchet MS"/>
                <a:ea typeface="Trebuchet MS"/>
                <a:cs typeface="Trebuchet MS"/>
                <a:sym typeface="Trebuchet MS"/>
              </a:rPr>
              <a:t>Levels of Abstraction</a:t>
            </a:r>
            <a:endParaRPr b="1" sz="2900">
              <a:solidFill>
                <a:srgbClr val="12121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2050" y="948525"/>
            <a:ext cx="710900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Conceptual Schema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The conceptual schema is the high-level, abstract view of the entire database.</a:t>
            </a:r>
            <a:endParaRPr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It focuses on what data should be stored, not how it will be stored.</a:t>
            </a:r>
            <a:endParaRPr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It identifies the main entities, attributes, and relationships.</a:t>
            </a:r>
            <a:endParaRPr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It is often represented using Entity-Relationship (ER) diagrams.</a:t>
            </a:r>
            <a:endParaRPr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: For a school database, the conceptual schema might include entities like "Student", "Teacher", "Course", and relationships like "Student enrolls in Course".</a:t>
            </a:r>
            <a:endParaRPr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2121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Logical Schema</a:t>
            </a:r>
            <a:endParaRPr sz="2500">
              <a:highlight>
                <a:schemeClr val="lt1"/>
              </a:highlight>
            </a:endParaRPr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121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The logical schema provides a more detailed view of the conceptual schema.</a:t>
            </a:r>
            <a:endParaRPr>
              <a:solidFill>
                <a:srgbClr val="12121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121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It defines how the data will be stored but is independent of the specific database management system (DBMS).</a:t>
            </a:r>
            <a:endParaRPr>
              <a:solidFill>
                <a:srgbClr val="12121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121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It includes specific data types, constraints, and table structures.</a:t>
            </a:r>
            <a:endParaRPr>
              <a:solidFill>
                <a:srgbClr val="12121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2121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">
                <a:solidFill>
                  <a:srgbClr val="12121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 It might define that the “Student ID” is an integer and is the primary key in the student table.</a:t>
            </a:r>
            <a:endParaRPr>
              <a:solidFill>
                <a:srgbClr val="12121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2121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Physical Schema</a:t>
            </a:r>
            <a:endParaRPr sz="2500">
              <a:highlight>
                <a:schemeClr val="lt1"/>
              </a:highlight>
            </a:endParaRPr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121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The physical schema is the lowest level of abstraction.</a:t>
            </a:r>
            <a:endParaRPr>
              <a:solidFill>
                <a:srgbClr val="12121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121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It details how the data is physically stored on storage devices.</a:t>
            </a:r>
            <a:endParaRPr>
              <a:solidFill>
                <a:srgbClr val="12121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2121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It involves decisions about storage allocation, indexing methods, file organisation, and other hardware/software considerations.</a:t>
            </a:r>
            <a:endParaRPr>
              <a:solidFill>
                <a:srgbClr val="12121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2121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">
                <a:solidFill>
                  <a:srgbClr val="12121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 The physical schema might specify that the "Student" table is stored in a particular file system, with a B-tree index on the "StudentID" column for efficient searching.</a:t>
            </a:r>
            <a:endParaRPr>
              <a:solidFill>
                <a:srgbClr val="12121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Abstract Definitions of Data Structure and Organisation</a:t>
            </a:r>
            <a:endParaRPr b="1" sz="2650"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03287" lvl="0" marL="6985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ct val="100000"/>
              <a:buFont typeface="Arial"/>
              <a:buChar char="●"/>
            </a:pPr>
            <a:r>
              <a:rPr b="1" lang="en" sz="1518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Conceptual Level:</a:t>
            </a:r>
            <a:endParaRPr b="1" sz="1518"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3287" lvl="1" marL="13970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ct val="100000"/>
              <a:buFont typeface="Arial"/>
              <a:buChar char="○"/>
            </a:pPr>
            <a:r>
              <a:rPr lang="en" sz="1518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Entities and relationships are defined in an abstract way.</a:t>
            </a:r>
            <a:endParaRPr sz="1518"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3287" lvl="1" marL="13970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ct val="100000"/>
              <a:buFont typeface="Arial"/>
              <a:buChar char="○"/>
            </a:pPr>
            <a:r>
              <a:rPr lang="en" sz="1518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Focus is on the overall data requirements and how different data elements relate to each other in a broad sense.</a:t>
            </a:r>
            <a:endParaRPr sz="1518"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3287" lvl="0" marL="6985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ct val="100000"/>
              <a:buFont typeface="Arial"/>
              <a:buChar char="●"/>
            </a:pPr>
            <a:r>
              <a:rPr b="1" lang="en" sz="1518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Logical Level:</a:t>
            </a:r>
            <a:endParaRPr b="1" sz="1518"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3287" lvl="1" marL="13970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ct val="100000"/>
              <a:buFont typeface="Arial"/>
              <a:buChar char="○"/>
            </a:pPr>
            <a:r>
              <a:rPr lang="en" sz="1518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Data types (e.g., string, integer, date) are assigned.</a:t>
            </a:r>
            <a:endParaRPr sz="1518"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3287" lvl="1" marL="13970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ct val="100000"/>
              <a:buFont typeface="Arial"/>
              <a:buChar char="○"/>
            </a:pPr>
            <a:r>
              <a:rPr lang="en" sz="1518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Relationships are defined using primary and foreign keys.</a:t>
            </a:r>
            <a:endParaRPr sz="1518"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3287" lvl="1" marL="13970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ct val="100000"/>
              <a:buFont typeface="Arial"/>
              <a:buChar char="○"/>
            </a:pPr>
            <a:r>
              <a:rPr lang="en" sz="1518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The organisation is more specific, often using a relational model of tables, columns, and relationships.</a:t>
            </a:r>
            <a:endParaRPr sz="1518"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3287" lvl="0" marL="6985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ct val="100000"/>
              <a:buFont typeface="Arial"/>
              <a:buChar char="●"/>
            </a:pPr>
            <a:r>
              <a:rPr b="1" lang="en" sz="1518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Physical Level:</a:t>
            </a:r>
            <a:endParaRPr b="1" sz="1518"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3287" lvl="1" marL="13970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ct val="100000"/>
              <a:buFont typeface="Arial"/>
              <a:buChar char="○"/>
            </a:pPr>
            <a:r>
              <a:rPr lang="en" sz="1518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Data structure involves files, blocks, and storage structures.</a:t>
            </a:r>
            <a:endParaRPr sz="1518"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3287" lvl="1" marL="13970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ct val="100000"/>
              <a:buFont typeface="Arial"/>
              <a:buChar char="○"/>
            </a:pPr>
            <a:r>
              <a:rPr lang="en" sz="1518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Organization includes indexes, partitions, and physical storage locations.</a:t>
            </a:r>
            <a:endParaRPr sz="1518"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Importance of Schemas in Database Design</a:t>
            </a:r>
            <a:endParaRPr b="1" sz="2900"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Data Modeling:</a:t>
            </a:r>
            <a:r>
              <a:rPr lang="en" sz="19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 Schemas are fundamental to data modeling, allowing us to create a blueprint of the database before implementation.</a:t>
            </a:r>
            <a:endParaRPr sz="1900"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Database Development: </a:t>
            </a:r>
            <a:r>
              <a:rPr lang="en" sz="19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They guide the creation of the database, ensuring that the database structure aligns with the requirements.</a:t>
            </a:r>
            <a:endParaRPr sz="1900"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Data Management: </a:t>
            </a:r>
            <a:r>
              <a:rPr lang="en" sz="19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Schemas are critical for efficient data management, including insertion, retrieval, update, and deletion of data.</a:t>
            </a:r>
            <a:endParaRPr sz="1900"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Communication: </a:t>
            </a:r>
            <a:r>
              <a:rPr lang="en" sz="19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They provide a common language for stakeholders (e.g., developers, users, analysts) to discuss and understand the database structure.</a:t>
            </a:r>
            <a:endParaRPr sz="1900"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lang="en" sz="2620">
                <a:latin typeface="Arial"/>
                <a:ea typeface="Arial"/>
                <a:cs typeface="Arial"/>
                <a:sym typeface="Arial"/>
              </a:rPr>
              <a:t>hallenge</a:t>
            </a:r>
            <a:endParaRPr b="1" sz="262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2700"/>
              <a:buFont typeface="Arial"/>
              <a:buChar char="●"/>
            </a:pPr>
            <a:r>
              <a:rPr lang="en" sz="27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Describe the purpose of a database schema.</a:t>
            </a:r>
            <a:endParaRPr sz="2700"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2700"/>
              <a:buFont typeface="Arial"/>
              <a:buChar char="●"/>
            </a:pPr>
            <a:r>
              <a:rPr lang="en" sz="27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Explain the differences between conceptual, logical, and physical schemas.</a:t>
            </a:r>
            <a:endParaRPr sz="2700"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2700"/>
              <a:buFont typeface="Arial"/>
              <a:buChar char="●"/>
            </a:pPr>
            <a:r>
              <a:rPr lang="en" sz="270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Why are database schemas important in the database design process?</a:t>
            </a:r>
            <a:endParaRPr sz="2700">
              <a:solidFill>
                <a:srgbClr val="12121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IB EXAM STYLE QUESTIONS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Section A – Short-Response (Knowledge &amp; Understanding)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the term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 schema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[2]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Outline the difference between a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conceptual schema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a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logical schema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[4]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one advantage of separating database design into different levels of abstraction. [2]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Explain how a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 schema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affects database performance. [3]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reference to an example, distinguish between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logical schema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 schema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[4]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Section B – Extended Response (Application &amp; Analysis)</a:t>
            </a:r>
            <a:endParaRPr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189400" y="915425"/>
            <a:ext cx="8643000" cy="36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6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school is designing a database to manage students, courses, and teachers.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(a) Describe the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conceptual schema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could be used. [6]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(b) Explain how this would be represented in a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logical schema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[6]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(c) Discuss the factors that may influence the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 schema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design in this case. [6]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6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a real-world example (e.g., online shopping, banking, or social media), analyze how the three levels of schema (conceptual, logical, physical) work together to support database design. [8]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6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what extent does the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level of abstraction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chosen by a database designer affect the accuracy and efficiency of data retrieval? [10]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