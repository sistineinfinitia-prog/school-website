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87c58d6de3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87c58d6de3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7c58d6de3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87c58d6de3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87c58d6de3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87c58d6de3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7c58d6de3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7c58d6de3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7c58d6de3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87c58d6de3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7c58d6de3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7c58d6de3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7c58d6de3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7c58d6de3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7c58d6de3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7c58d6de3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7c58d6de3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7c58d6de3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87c58d6de3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87c58d6de3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7c58d6de3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7c58d6de3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7c58d6de3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7c58d6de3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7c58d6de3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87c58d6de3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lnSpc>
                <a:spcPct val="145000"/>
              </a:lnSpc>
              <a:spcBef>
                <a:spcPts val="1500"/>
              </a:spcBef>
              <a:spcAft>
                <a:spcPts val="0"/>
              </a:spcAft>
              <a:buClr>
                <a:schemeClr val="dk1"/>
              </a:buClr>
              <a:buSzPct val="47826"/>
              <a:buFont typeface="Arial"/>
              <a:buNone/>
            </a:pPr>
            <a:r>
              <a:rPr b="1" lang="en" sz="2300">
                <a:solidFill>
                  <a:srgbClr val="121212"/>
                </a:solidFill>
                <a:highlight>
                  <a:srgbClr val="FFFFFF"/>
                </a:highlight>
                <a:latin typeface="Trebuchet MS"/>
                <a:ea typeface="Trebuchet MS"/>
                <a:cs typeface="Trebuchet MS"/>
                <a:sym typeface="Trebuchet MS"/>
              </a:rPr>
              <a:t>A 3.2.4 Constructing tables</a:t>
            </a:r>
            <a:endParaRPr b="1" sz="2300">
              <a:solidFill>
                <a:srgbClr val="121212"/>
              </a:solidFill>
              <a:highlight>
                <a:srgbClr val="FFFFFF"/>
              </a:highlight>
              <a:latin typeface="Trebuchet MS"/>
              <a:ea typeface="Trebuchet MS"/>
              <a:cs typeface="Trebuchet MS"/>
              <a:sym typeface="Trebuchet MS"/>
            </a:endParaRPr>
          </a:p>
          <a:p>
            <a:pPr indent="0" lvl="0" marL="0" rtl="0" algn="l">
              <a:spcBef>
                <a:spcPts val="400"/>
              </a:spcBef>
              <a:spcAft>
                <a:spcPts val="0"/>
              </a:spcAft>
              <a:buNone/>
            </a:pPr>
            <a:r>
              <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200">
                <a:solidFill>
                  <a:srgbClr val="121212"/>
                </a:solidFill>
                <a:highlight>
                  <a:srgbClr val="EAF0F5"/>
                </a:highlight>
              </a:rPr>
              <a:t>In relational databases, data is organised into tables. How these tables are structured and how they relate to each other is fundamental to the database's effectiveness. This section explores the principles of table construction and the crucial role of keys in defining relationships.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Objective:</a:t>
            </a:r>
            <a:endParaRPr/>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000000"/>
                </a:solidFill>
                <a:latin typeface="Arial"/>
                <a:ea typeface="Arial"/>
                <a:cs typeface="Arial"/>
                <a:sym typeface="Arial"/>
              </a:rPr>
              <a:t>Understand how data is organised into tables in a relational database.</a:t>
            </a:r>
            <a:br>
              <a:rPr lang="en" sz="2300">
                <a:solidFill>
                  <a:srgbClr val="000000"/>
                </a:solidFill>
                <a:latin typeface="Arial"/>
                <a:ea typeface="Arial"/>
                <a:cs typeface="Arial"/>
                <a:sym typeface="Arial"/>
              </a:rPr>
            </a:br>
            <a:endParaRPr sz="2300">
              <a:solidFill>
                <a:srgbClr val="000000"/>
              </a:solidFill>
              <a:latin typeface="Arial"/>
              <a:ea typeface="Arial"/>
              <a:cs typeface="Arial"/>
              <a:sym typeface="Arial"/>
            </a:endParaRPr>
          </a:p>
          <a:p>
            <a:pPr indent="0" lvl="0" marL="0" rtl="0" algn="l">
              <a:spcBef>
                <a:spcPts val="1200"/>
              </a:spcBef>
              <a:spcAft>
                <a:spcPts val="0"/>
              </a:spcAft>
              <a:buNone/>
            </a:pPr>
            <a:r>
              <a:rPr lang="en" sz="2300">
                <a:solidFill>
                  <a:srgbClr val="000000"/>
                </a:solidFill>
                <a:latin typeface="Arial"/>
                <a:ea typeface="Arial"/>
                <a:cs typeface="Arial"/>
                <a:sym typeface="Arial"/>
              </a:rPr>
              <a:t>Learn the principles of </a:t>
            </a:r>
            <a:r>
              <a:rPr b="1" lang="en" sz="2300">
                <a:solidFill>
                  <a:srgbClr val="000000"/>
                </a:solidFill>
                <a:latin typeface="Arial"/>
                <a:ea typeface="Arial"/>
                <a:cs typeface="Arial"/>
                <a:sym typeface="Arial"/>
              </a:rPr>
              <a:t>table construction</a:t>
            </a:r>
            <a:r>
              <a:rPr lang="en" sz="2300">
                <a:solidFill>
                  <a:srgbClr val="000000"/>
                </a:solidFill>
                <a:latin typeface="Arial"/>
                <a:ea typeface="Arial"/>
                <a:cs typeface="Arial"/>
                <a:sym typeface="Arial"/>
              </a:rPr>
              <a:t> and the role of </a:t>
            </a:r>
            <a:r>
              <a:rPr b="1" lang="en" sz="2300">
                <a:solidFill>
                  <a:srgbClr val="000000"/>
                </a:solidFill>
                <a:latin typeface="Arial"/>
                <a:ea typeface="Arial"/>
                <a:cs typeface="Arial"/>
                <a:sym typeface="Arial"/>
              </a:rPr>
              <a:t>primary and foreign keys</a:t>
            </a:r>
            <a:r>
              <a:rPr lang="en" sz="2300">
                <a:solidFill>
                  <a:srgbClr val="000000"/>
                </a:solidFill>
                <a:latin typeface="Arial"/>
                <a:ea typeface="Arial"/>
                <a:cs typeface="Arial"/>
                <a:sym typeface="Arial"/>
              </a:rPr>
              <a:t> in defining relationships.</a:t>
            </a:r>
            <a:endParaRPr sz="2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nvSpPr>
        <p:spPr>
          <a:xfrm>
            <a:off x="186600" y="548175"/>
            <a:ext cx="5099700" cy="38181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t>IB Approaches to Learning (ATL) Skill:</a:t>
            </a:r>
            <a:endParaRPr b="1" sz="1100"/>
          </a:p>
          <a:p>
            <a:pPr indent="-298450" lvl="0" marL="457200" rtl="0" algn="l">
              <a:lnSpc>
                <a:spcPct val="115000"/>
              </a:lnSpc>
              <a:spcBef>
                <a:spcPts val="1200"/>
              </a:spcBef>
              <a:spcAft>
                <a:spcPts val="0"/>
              </a:spcAft>
              <a:buSzPts val="1100"/>
              <a:buChar char="●"/>
            </a:pPr>
            <a:r>
              <a:rPr b="1" lang="en" sz="1100"/>
              <a:t>Thinking Skills → Critical Thinking:</a:t>
            </a:r>
            <a:br>
              <a:rPr b="1" lang="en" sz="1100"/>
            </a:br>
            <a:endParaRPr b="1" sz="1100"/>
          </a:p>
          <a:p>
            <a:pPr indent="-298450" lvl="1" marL="914400" rtl="0" algn="l">
              <a:lnSpc>
                <a:spcPct val="115000"/>
              </a:lnSpc>
              <a:spcBef>
                <a:spcPts val="0"/>
              </a:spcBef>
              <a:spcAft>
                <a:spcPts val="0"/>
              </a:spcAft>
              <a:buSzPts val="1100"/>
              <a:buChar char="○"/>
            </a:pPr>
            <a:r>
              <a:rPr lang="en" sz="1100"/>
              <a:t>Students analyse how tables and keys structure data to make meaning.</a:t>
            </a:r>
            <a:br>
              <a:rPr lang="en" sz="1100"/>
            </a:br>
            <a:endParaRPr sz="1100"/>
          </a:p>
          <a:p>
            <a:pPr indent="-298450" lvl="1" marL="914400" rtl="0" algn="l">
              <a:lnSpc>
                <a:spcPct val="115000"/>
              </a:lnSpc>
              <a:spcBef>
                <a:spcPts val="0"/>
              </a:spcBef>
              <a:spcAft>
                <a:spcPts val="0"/>
              </a:spcAft>
              <a:buSzPts val="1100"/>
              <a:buChar char="○"/>
            </a:pPr>
            <a:r>
              <a:rPr lang="en" sz="1100"/>
              <a:t>Evaluate the effectiveness of different table designs for retrieving information.</a:t>
            </a:r>
            <a:br>
              <a:rPr lang="en" sz="1100"/>
            </a:br>
            <a:endParaRPr sz="1100"/>
          </a:p>
          <a:p>
            <a:pPr indent="-298450" lvl="0" marL="457200" rtl="0" algn="l">
              <a:lnSpc>
                <a:spcPct val="115000"/>
              </a:lnSpc>
              <a:spcBef>
                <a:spcPts val="0"/>
              </a:spcBef>
              <a:spcAft>
                <a:spcPts val="0"/>
              </a:spcAft>
              <a:buSzPts val="1100"/>
              <a:buChar char="●"/>
            </a:pPr>
            <a:r>
              <a:rPr b="1" lang="en" sz="1100"/>
              <a:t>Communication Skills → Collaboration:</a:t>
            </a:r>
            <a:br>
              <a:rPr b="1" lang="en" sz="1100"/>
            </a:br>
            <a:endParaRPr b="1" sz="1100"/>
          </a:p>
          <a:p>
            <a:pPr indent="-298450" lvl="1" marL="914400" rtl="0" algn="l">
              <a:lnSpc>
                <a:spcPct val="115000"/>
              </a:lnSpc>
              <a:spcBef>
                <a:spcPts val="0"/>
              </a:spcBef>
              <a:spcAft>
                <a:spcPts val="0"/>
              </a:spcAft>
              <a:buSzPts val="1100"/>
              <a:buChar char="○"/>
            </a:pPr>
            <a:r>
              <a:rPr lang="en" sz="1100"/>
              <a:t>Working in pairs to design tables and define relationships encourages discussion and justification of design choices.</a:t>
            </a:r>
            <a:br>
              <a:rPr lang="en" sz="1100"/>
            </a:br>
            <a:endParaRPr sz="1100"/>
          </a:p>
          <a:p>
            <a:pPr indent="-298450" lvl="0" marL="457200" rtl="0" algn="l">
              <a:lnSpc>
                <a:spcPct val="115000"/>
              </a:lnSpc>
              <a:spcBef>
                <a:spcPts val="0"/>
              </a:spcBef>
              <a:spcAft>
                <a:spcPts val="0"/>
              </a:spcAft>
              <a:buSzPts val="1100"/>
              <a:buChar char="●"/>
            </a:pPr>
            <a:r>
              <a:rPr b="1" lang="en" sz="1100"/>
              <a:t>Self-Management → Organization:</a:t>
            </a:r>
            <a:br>
              <a:rPr b="1" lang="en" sz="1100"/>
            </a:br>
            <a:endParaRPr b="1" sz="1100"/>
          </a:p>
          <a:p>
            <a:pPr indent="-298450" lvl="1" marL="914400" rtl="0" algn="l">
              <a:lnSpc>
                <a:spcPct val="115000"/>
              </a:lnSpc>
              <a:spcBef>
                <a:spcPts val="0"/>
              </a:spcBef>
              <a:spcAft>
                <a:spcPts val="0"/>
              </a:spcAft>
              <a:buSzPts val="1100"/>
              <a:buChar char="○"/>
            </a:pPr>
            <a:r>
              <a:rPr lang="en" sz="1100"/>
              <a:t>Organising data into tables mirrors how students organise knowledge, promoting structured thinking.</a:t>
            </a:r>
            <a:endParaRPr sz="1100"/>
          </a:p>
        </p:txBody>
      </p:sp>
      <p:sp>
        <p:nvSpPr>
          <p:cNvPr id="98" name="Google Shape;98;p15"/>
          <p:cNvSpPr txBox="1"/>
          <p:nvPr/>
        </p:nvSpPr>
        <p:spPr>
          <a:xfrm>
            <a:off x="5715000" y="548175"/>
            <a:ext cx="3000000" cy="3140100"/>
          </a:xfrm>
          <a:prstGeom prst="rect">
            <a:avLst/>
          </a:prstGeom>
          <a:solidFill>
            <a:srgbClr val="A4C2F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t>Knowledge Question (TOK-style):</a:t>
            </a:r>
            <a:endParaRPr b="1" sz="2400"/>
          </a:p>
          <a:p>
            <a:pPr indent="0" lvl="0" marL="0" rtl="0" algn="l">
              <a:spcBef>
                <a:spcPts val="0"/>
              </a:spcBef>
              <a:spcAft>
                <a:spcPts val="0"/>
              </a:spcAft>
              <a:buNone/>
            </a:pPr>
            <a:r>
              <a:rPr i="1" lang="en" sz="2400"/>
              <a:t>How does the way we structure information influence what we can know and understand?</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STARTER</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b="1" lang="en" sz="2400">
                <a:solidFill>
                  <a:srgbClr val="000000"/>
                </a:solidFill>
                <a:latin typeface="Arial"/>
                <a:ea typeface="Arial"/>
                <a:cs typeface="Arial"/>
                <a:sym typeface="Arial"/>
              </a:rPr>
              <a:t>Activity:</a:t>
            </a:r>
            <a:r>
              <a:rPr lang="en" sz="2400">
                <a:solidFill>
                  <a:srgbClr val="000000"/>
                </a:solidFill>
                <a:latin typeface="Arial"/>
                <a:ea typeface="Arial"/>
                <a:cs typeface="Arial"/>
                <a:sym typeface="Arial"/>
              </a:rPr>
              <a:t> </a:t>
            </a:r>
            <a:r>
              <a:rPr i="1" lang="en" sz="2400">
                <a:solidFill>
                  <a:srgbClr val="000000"/>
                </a:solidFill>
                <a:latin typeface="Arial"/>
                <a:ea typeface="Arial"/>
                <a:cs typeface="Arial"/>
                <a:sym typeface="Arial"/>
              </a:rPr>
              <a:t>Organising Your Backpack</a:t>
            </a:r>
            <a:endParaRPr i="1" sz="2400">
              <a:solidFill>
                <a:srgbClr val="000000"/>
              </a:solidFill>
              <a:latin typeface="Arial"/>
              <a:ea typeface="Arial"/>
              <a:cs typeface="Arial"/>
              <a:sym typeface="Arial"/>
            </a:endParaRPr>
          </a:p>
          <a:p>
            <a:pPr indent="-346710" lvl="0" marL="457200" rtl="0" algn="l">
              <a:spcBef>
                <a:spcPts val="1200"/>
              </a:spcBef>
              <a:spcAft>
                <a:spcPts val="0"/>
              </a:spcAft>
              <a:buClr>
                <a:srgbClr val="000000"/>
              </a:buClr>
              <a:buSzPct val="100000"/>
              <a:buFont typeface="Arial"/>
              <a:buChar char="●"/>
            </a:pPr>
            <a:r>
              <a:rPr lang="en" sz="2400">
                <a:solidFill>
                  <a:srgbClr val="000000"/>
                </a:solidFill>
                <a:latin typeface="Arial"/>
                <a:ea typeface="Arial"/>
                <a:cs typeface="Arial"/>
                <a:sym typeface="Arial"/>
              </a:rPr>
              <a:t>Prompt: “Imagine you are organising items in your school bag into categories (books, stationery, gadgets, snacks). How would you structure this list so you can find things quickly?”</a:t>
            </a:r>
            <a:br>
              <a:rPr lang="en" sz="2400">
                <a:solidFill>
                  <a:srgbClr val="000000"/>
                </a:solidFill>
                <a:latin typeface="Arial"/>
                <a:ea typeface="Arial"/>
                <a:cs typeface="Arial"/>
                <a:sym typeface="Arial"/>
              </a:rPr>
            </a:br>
            <a:endParaRPr sz="2400">
              <a:solidFill>
                <a:srgbClr val="000000"/>
              </a:solidFill>
              <a:latin typeface="Arial"/>
              <a:ea typeface="Arial"/>
              <a:cs typeface="Arial"/>
              <a:sym typeface="Arial"/>
            </a:endParaRPr>
          </a:p>
          <a:p>
            <a:pPr indent="-346710" lvl="0" marL="457200" rtl="0" algn="l">
              <a:spcBef>
                <a:spcPts val="0"/>
              </a:spcBef>
              <a:spcAft>
                <a:spcPts val="0"/>
              </a:spcAft>
              <a:buClr>
                <a:srgbClr val="000000"/>
              </a:buClr>
              <a:buSzPct val="100000"/>
              <a:buFont typeface="Arial"/>
              <a:buChar char="●"/>
            </a:pPr>
            <a:r>
              <a:rPr lang="en" sz="2400">
                <a:solidFill>
                  <a:srgbClr val="000000"/>
                </a:solidFill>
                <a:latin typeface="Arial"/>
                <a:ea typeface="Arial"/>
                <a:cs typeface="Arial"/>
                <a:sym typeface="Arial"/>
              </a:rPr>
              <a:t>Students do a </a:t>
            </a:r>
            <a:r>
              <a:rPr b="1" lang="en" sz="2400">
                <a:solidFill>
                  <a:srgbClr val="000000"/>
                </a:solidFill>
                <a:latin typeface="Arial"/>
                <a:ea typeface="Arial"/>
                <a:cs typeface="Arial"/>
                <a:sym typeface="Arial"/>
              </a:rPr>
              <a:t>1-min brainstorm</a:t>
            </a:r>
            <a:r>
              <a:rPr lang="en" sz="2400">
                <a:solidFill>
                  <a:srgbClr val="000000"/>
                </a:solidFill>
                <a:latin typeface="Arial"/>
                <a:ea typeface="Arial"/>
                <a:cs typeface="Arial"/>
                <a:sym typeface="Arial"/>
              </a:rPr>
              <a:t>, then </a:t>
            </a:r>
            <a:r>
              <a:rPr b="1" lang="en" sz="2400">
                <a:solidFill>
                  <a:srgbClr val="000000"/>
                </a:solidFill>
                <a:latin typeface="Arial"/>
                <a:ea typeface="Arial"/>
                <a:cs typeface="Arial"/>
                <a:sym typeface="Arial"/>
              </a:rPr>
              <a:t>Think–Pair–Share</a:t>
            </a:r>
            <a:r>
              <a:rPr lang="en" sz="2400">
                <a:solidFill>
                  <a:srgbClr val="000000"/>
                </a:solidFill>
                <a:latin typeface="Arial"/>
                <a:ea typeface="Arial"/>
                <a:cs typeface="Arial"/>
                <a:sym typeface="Arial"/>
              </a:rPr>
              <a:t> their categories.</a:t>
            </a:r>
            <a:br>
              <a:rPr lang="en" sz="2400">
                <a:solidFill>
                  <a:srgbClr val="000000"/>
                </a:solidFill>
                <a:latin typeface="Arial"/>
                <a:ea typeface="Arial"/>
                <a:cs typeface="Arial"/>
                <a:sym typeface="Arial"/>
              </a:rPr>
            </a:br>
            <a:endParaRPr sz="2400">
              <a:solidFill>
                <a:srgbClr val="000000"/>
              </a:solidFill>
              <a:latin typeface="Arial"/>
              <a:ea typeface="Arial"/>
              <a:cs typeface="Arial"/>
              <a:sym typeface="Arial"/>
            </a:endParaRPr>
          </a:p>
          <a:p>
            <a:pPr indent="-346710" lvl="0" marL="457200" rtl="0" algn="l">
              <a:spcBef>
                <a:spcPts val="0"/>
              </a:spcBef>
              <a:spcAft>
                <a:spcPts val="0"/>
              </a:spcAft>
              <a:buClr>
                <a:srgbClr val="000000"/>
              </a:buClr>
              <a:buSzPct val="100000"/>
              <a:buFont typeface="Arial"/>
              <a:buChar char="●"/>
            </a:pPr>
            <a:r>
              <a:rPr lang="en" sz="2400">
                <a:solidFill>
                  <a:srgbClr val="000000"/>
                </a:solidFill>
                <a:latin typeface="Arial"/>
                <a:ea typeface="Arial"/>
                <a:cs typeface="Arial"/>
                <a:sym typeface="Arial"/>
              </a:rPr>
              <a:t>Teacher connects idea → </a:t>
            </a:r>
            <a:r>
              <a:rPr i="1" lang="en" sz="2400">
                <a:solidFill>
                  <a:srgbClr val="000000"/>
                </a:solidFill>
                <a:latin typeface="Arial"/>
                <a:ea typeface="Arial"/>
                <a:cs typeface="Arial"/>
                <a:sym typeface="Arial"/>
              </a:rPr>
              <a:t>“Just like you grouped your items, in a relational database we structure data into </a:t>
            </a:r>
            <a:r>
              <a:rPr b="1" i="1" lang="en" sz="2400">
                <a:solidFill>
                  <a:srgbClr val="000000"/>
                </a:solidFill>
                <a:latin typeface="Arial"/>
                <a:ea typeface="Arial"/>
                <a:cs typeface="Arial"/>
                <a:sym typeface="Arial"/>
              </a:rPr>
              <a:t>tables</a:t>
            </a:r>
            <a:r>
              <a:rPr i="1" lang="en" sz="2400">
                <a:solidFill>
                  <a:srgbClr val="000000"/>
                </a:solidFill>
                <a:latin typeface="Arial"/>
                <a:ea typeface="Arial"/>
                <a:cs typeface="Arial"/>
                <a:sym typeface="Arial"/>
              </a:rPr>
              <a:t>. Today, we’ll learn how.”</a:t>
            </a:r>
            <a:endParaRPr i="1" sz="24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45000"/>
              </a:lnSpc>
              <a:spcBef>
                <a:spcPts val="300"/>
              </a:spcBef>
              <a:spcAft>
                <a:spcPts val="0"/>
              </a:spcAft>
              <a:buNone/>
            </a:pPr>
            <a:r>
              <a:rPr b="1" lang="en" sz="2900">
                <a:solidFill>
                  <a:srgbClr val="121212"/>
                </a:solidFill>
                <a:latin typeface="Trebuchet MS"/>
                <a:ea typeface="Trebuchet MS"/>
                <a:cs typeface="Trebuchet MS"/>
                <a:sym typeface="Trebuchet MS"/>
              </a:rPr>
              <a:t>Constructing Tables for Relational Databases</a:t>
            </a:r>
            <a:endParaRPr b="1" sz="2900">
              <a:solidFill>
                <a:srgbClr val="121212"/>
              </a:solidFill>
              <a:latin typeface="Trebuchet MS"/>
              <a:ea typeface="Trebuchet MS"/>
              <a:cs typeface="Trebuchet MS"/>
              <a:sym typeface="Trebuchet MS"/>
            </a:endParaRPr>
          </a:p>
          <a:p>
            <a:pPr indent="0" lvl="0" marL="0" rtl="0" algn="l">
              <a:spcBef>
                <a:spcPts val="900"/>
              </a:spcBef>
              <a:spcAft>
                <a:spcPts val="0"/>
              </a:spcAft>
              <a:buNone/>
            </a:pPr>
            <a:r>
              <a:t/>
            </a:r>
            <a:endParaRPr/>
          </a:p>
        </p:txBody>
      </p:sp>
      <p:sp>
        <p:nvSpPr>
          <p:cNvPr id="110" name="Google Shape;110;p17"/>
          <p:cNvSpPr txBox="1"/>
          <p:nvPr>
            <p:ph idx="1" type="body"/>
          </p:nvPr>
        </p:nvSpPr>
        <p:spPr>
          <a:xfrm>
            <a:off x="311700" y="1229875"/>
            <a:ext cx="61176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400">
                <a:solidFill>
                  <a:srgbClr val="121212"/>
                </a:solidFill>
                <a:highlight>
                  <a:srgbClr val="FAF9EB"/>
                </a:highlight>
                <a:latin typeface="Arial"/>
                <a:ea typeface="Arial"/>
                <a:cs typeface="Arial"/>
                <a:sym typeface="Arial"/>
              </a:rPr>
              <a:t>A table in a relational database is composed of rows (also called records) and columns (also called fields). Each column stores a specific type of data (as we discussed in A.3.2.3), and each row represents a single instance of the entity the table describes.</a:t>
            </a:r>
            <a:endParaRPr sz="1400">
              <a:solidFill>
                <a:srgbClr val="121212"/>
              </a:solidFill>
              <a:highlight>
                <a:srgbClr val="FAF9EB"/>
              </a:highlight>
              <a:latin typeface="Arial"/>
              <a:ea typeface="Arial"/>
              <a:cs typeface="Arial"/>
              <a:sym typeface="Arial"/>
            </a:endParaRPr>
          </a:p>
          <a:p>
            <a:pPr indent="0" lvl="0" marL="0" rtl="0" algn="l">
              <a:lnSpc>
                <a:spcPct val="145000"/>
              </a:lnSpc>
              <a:spcBef>
                <a:spcPts val="1600"/>
              </a:spcBef>
              <a:spcAft>
                <a:spcPts val="0"/>
              </a:spcAft>
              <a:buNone/>
            </a:pPr>
            <a:r>
              <a:rPr b="1" lang="en" sz="1400">
                <a:solidFill>
                  <a:srgbClr val="121212"/>
                </a:solidFill>
                <a:latin typeface="Arial"/>
                <a:ea typeface="Arial"/>
                <a:cs typeface="Arial"/>
                <a:sym typeface="Arial"/>
              </a:rPr>
              <a:t>Key Considerations for Table Construction:</a:t>
            </a:r>
            <a:endParaRPr b="1" sz="1400">
              <a:solidFill>
                <a:srgbClr val="121212"/>
              </a:solidFill>
              <a:latin typeface="Arial"/>
              <a:ea typeface="Arial"/>
              <a:cs typeface="Arial"/>
              <a:sym typeface="Arial"/>
            </a:endParaRPr>
          </a:p>
          <a:p>
            <a:pPr indent="0" lvl="0" marL="0" rtl="0" algn="l">
              <a:spcBef>
                <a:spcPts val="700"/>
              </a:spcBef>
              <a:spcAft>
                <a:spcPts val="0"/>
              </a:spcAft>
              <a:buNone/>
            </a:pPr>
            <a:r>
              <a:rPr b="1" lang="en" sz="1400">
                <a:solidFill>
                  <a:srgbClr val="121212"/>
                </a:solidFill>
                <a:latin typeface="Arial"/>
                <a:ea typeface="Arial"/>
                <a:cs typeface="Arial"/>
                <a:sym typeface="Arial"/>
              </a:rPr>
              <a:t>Entity Focus:</a:t>
            </a:r>
            <a:r>
              <a:rPr lang="en" sz="1400">
                <a:solidFill>
                  <a:srgbClr val="121212"/>
                </a:solidFill>
                <a:latin typeface="Arial"/>
                <a:ea typeface="Arial"/>
                <a:cs typeface="Arial"/>
                <a:sym typeface="Arial"/>
              </a:rPr>
              <a:t> Each table should represent a single, well-defined entity (e.g., "Customers," "Orders," "Products"). For example:</a:t>
            </a:r>
            <a:endParaRPr sz="1400">
              <a:solidFill>
                <a:srgbClr val="121212"/>
              </a:solidFill>
              <a:latin typeface="Arial"/>
              <a:ea typeface="Arial"/>
              <a:cs typeface="Arial"/>
              <a:sym typeface="Arial"/>
            </a:endParaRPr>
          </a:p>
          <a:p>
            <a:pPr indent="0" lvl="0" marL="0" rtl="0" algn="l">
              <a:spcBef>
                <a:spcPts val="800"/>
              </a:spcBef>
              <a:spcAft>
                <a:spcPts val="0"/>
              </a:spcAft>
              <a:buNone/>
            </a:pPr>
            <a:r>
              <a:rPr b="1" lang="en" sz="1200">
                <a:solidFill>
                  <a:srgbClr val="121212"/>
                </a:solidFill>
                <a:latin typeface="Arial"/>
                <a:ea typeface="Arial"/>
                <a:cs typeface="Arial"/>
                <a:sym typeface="Arial"/>
              </a:rPr>
              <a:t>Atomic Columns:</a:t>
            </a:r>
            <a:r>
              <a:rPr lang="en" sz="1200">
                <a:solidFill>
                  <a:srgbClr val="121212"/>
                </a:solidFill>
                <a:latin typeface="Arial"/>
                <a:ea typeface="Arial"/>
                <a:cs typeface="Arial"/>
                <a:sym typeface="Arial"/>
              </a:rPr>
              <a:t> Columns should store atomic (indivisible) data. For example</a:t>
            </a:r>
            <a:r>
              <a:rPr b="1" i="1" lang="en" sz="1200">
                <a:solidFill>
                  <a:srgbClr val="121212"/>
                </a:solidFill>
                <a:latin typeface="Arial"/>
                <a:ea typeface="Arial"/>
                <a:cs typeface="Arial"/>
                <a:sym typeface="Arial"/>
              </a:rPr>
              <a:t>:</a:t>
            </a:r>
            <a:endParaRPr b="1" i="1" sz="1200">
              <a:solidFill>
                <a:srgbClr val="121212"/>
              </a:solidFill>
              <a:latin typeface="Arial"/>
              <a:ea typeface="Arial"/>
              <a:cs typeface="Arial"/>
              <a:sym typeface="Arial"/>
            </a:endParaRPr>
          </a:p>
          <a:p>
            <a:pPr indent="-299085" lvl="0" marL="698500" rtl="0" algn="l">
              <a:lnSpc>
                <a:spcPct val="145000"/>
              </a:lnSpc>
              <a:spcBef>
                <a:spcPts val="800"/>
              </a:spcBef>
              <a:spcAft>
                <a:spcPts val="0"/>
              </a:spcAft>
              <a:buClr>
                <a:srgbClr val="121212"/>
              </a:buClr>
              <a:buSzPct val="100000"/>
              <a:buFont typeface="Arial"/>
              <a:buChar char="●"/>
            </a:pPr>
            <a:r>
              <a:rPr b="1" lang="en" sz="1200">
                <a:solidFill>
                  <a:srgbClr val="121212"/>
                </a:solidFill>
                <a:latin typeface="Arial"/>
                <a:ea typeface="Arial"/>
                <a:cs typeface="Arial"/>
                <a:sym typeface="Arial"/>
              </a:rPr>
              <a:t>Instead of:</a:t>
            </a:r>
            <a:r>
              <a:rPr lang="en" sz="1200">
                <a:solidFill>
                  <a:srgbClr val="121212"/>
                </a:solidFill>
                <a:latin typeface="Arial"/>
                <a:ea typeface="Arial"/>
                <a:cs typeface="Arial"/>
                <a:sym typeface="Arial"/>
              </a:rPr>
              <a:t> </a:t>
            </a:r>
            <a:r>
              <a:rPr lang="en" sz="900">
                <a:solidFill>
                  <a:srgbClr val="DD1144"/>
                </a:solidFill>
                <a:highlight>
                  <a:srgbClr val="F7F7F9"/>
                </a:highlight>
                <a:latin typeface="Courier New"/>
                <a:ea typeface="Courier New"/>
                <a:cs typeface="Courier New"/>
                <a:sym typeface="Courier New"/>
              </a:rPr>
              <a:t>Name (VARCHAR)</a:t>
            </a:r>
            <a:endParaRPr sz="900">
              <a:solidFill>
                <a:srgbClr val="DD1144"/>
              </a:solidFill>
              <a:highlight>
                <a:srgbClr val="F7F7F9"/>
              </a:highlight>
              <a:latin typeface="Courier New"/>
              <a:ea typeface="Courier New"/>
              <a:cs typeface="Courier New"/>
              <a:sym typeface="Courier New"/>
            </a:endParaRPr>
          </a:p>
          <a:p>
            <a:pPr indent="-299085" lvl="0" marL="698500" rtl="0" algn="l">
              <a:lnSpc>
                <a:spcPct val="145000"/>
              </a:lnSpc>
              <a:spcBef>
                <a:spcPts val="0"/>
              </a:spcBef>
              <a:spcAft>
                <a:spcPts val="0"/>
              </a:spcAft>
              <a:buClr>
                <a:srgbClr val="121212"/>
              </a:buClr>
              <a:buSzPct val="100000"/>
              <a:buFont typeface="Arial"/>
              <a:buChar char="●"/>
            </a:pPr>
            <a:r>
              <a:rPr b="1" lang="en" sz="1200">
                <a:solidFill>
                  <a:srgbClr val="121212"/>
                </a:solidFill>
                <a:latin typeface="Arial"/>
                <a:ea typeface="Arial"/>
                <a:cs typeface="Arial"/>
                <a:sym typeface="Arial"/>
              </a:rPr>
              <a:t>Use:</a:t>
            </a:r>
            <a:r>
              <a:rPr lang="en" sz="1200">
                <a:solidFill>
                  <a:srgbClr val="121212"/>
                </a:solidFill>
                <a:latin typeface="Arial"/>
                <a:ea typeface="Arial"/>
                <a:cs typeface="Arial"/>
                <a:sym typeface="Arial"/>
              </a:rPr>
              <a:t> </a:t>
            </a:r>
            <a:r>
              <a:rPr lang="en" sz="900">
                <a:solidFill>
                  <a:srgbClr val="DD1144"/>
                </a:solidFill>
                <a:highlight>
                  <a:srgbClr val="F7F7F9"/>
                </a:highlight>
                <a:latin typeface="Courier New"/>
                <a:ea typeface="Courier New"/>
                <a:cs typeface="Courier New"/>
                <a:sym typeface="Courier New"/>
              </a:rPr>
              <a:t>FirstName (VARCHAR)</a:t>
            </a:r>
            <a:r>
              <a:rPr lang="en" sz="1200">
                <a:solidFill>
                  <a:srgbClr val="121212"/>
                </a:solidFill>
                <a:latin typeface="Arial"/>
                <a:ea typeface="Arial"/>
                <a:cs typeface="Arial"/>
                <a:sym typeface="Arial"/>
              </a:rPr>
              <a:t>, </a:t>
            </a:r>
            <a:r>
              <a:rPr lang="en" sz="900">
                <a:solidFill>
                  <a:srgbClr val="DD1144"/>
                </a:solidFill>
                <a:highlight>
                  <a:srgbClr val="F7F7F9"/>
                </a:highlight>
                <a:latin typeface="Courier New"/>
                <a:ea typeface="Courier New"/>
                <a:cs typeface="Courier New"/>
                <a:sym typeface="Courier New"/>
              </a:rPr>
              <a:t>LastName (VARCHAR)</a:t>
            </a:r>
            <a:endParaRPr sz="900">
              <a:solidFill>
                <a:srgbClr val="DD1144"/>
              </a:solidFill>
              <a:highlight>
                <a:srgbClr val="F7F7F9"/>
              </a:highlight>
              <a:latin typeface="Courier New"/>
              <a:ea typeface="Courier New"/>
              <a:cs typeface="Courier New"/>
              <a:sym typeface="Courier New"/>
            </a:endParaRPr>
          </a:p>
          <a:p>
            <a:pPr indent="0" lvl="0" marL="0" rtl="0" algn="l">
              <a:spcBef>
                <a:spcPts val="800"/>
              </a:spcBef>
              <a:spcAft>
                <a:spcPts val="0"/>
              </a:spcAft>
              <a:buNone/>
            </a:pPr>
            <a:r>
              <a:t/>
            </a:r>
            <a:endParaRPr sz="1400">
              <a:solidFill>
                <a:srgbClr val="121212"/>
              </a:solidFill>
              <a:latin typeface="Arial"/>
              <a:ea typeface="Arial"/>
              <a:cs typeface="Arial"/>
              <a:sym typeface="Arial"/>
            </a:endParaRPr>
          </a:p>
          <a:p>
            <a:pPr indent="0" lvl="0" marL="0" rtl="0" algn="l">
              <a:spcBef>
                <a:spcPts val="8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sz="1200">
              <a:solidFill>
                <a:srgbClr val="121212"/>
              </a:solidFill>
              <a:highlight>
                <a:srgbClr val="FAF9EB"/>
              </a:highlight>
              <a:latin typeface="Arial"/>
              <a:ea typeface="Arial"/>
              <a:cs typeface="Arial"/>
              <a:sym typeface="Arial"/>
            </a:endParaRPr>
          </a:p>
        </p:txBody>
      </p:sp>
      <p:pic>
        <p:nvPicPr>
          <p:cNvPr id="111" name="Google Shape;111;p17"/>
          <p:cNvPicPr preferRelativeResize="0"/>
          <p:nvPr/>
        </p:nvPicPr>
        <p:blipFill>
          <a:blip r:embed="rId3">
            <a:alphaModFix/>
          </a:blip>
          <a:stretch>
            <a:fillRect/>
          </a:stretch>
        </p:blipFill>
        <p:spPr>
          <a:xfrm>
            <a:off x="6581700" y="1170200"/>
            <a:ext cx="2409825" cy="2295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18"/>
          <p:cNvPicPr preferRelativeResize="0"/>
          <p:nvPr/>
        </p:nvPicPr>
        <p:blipFill>
          <a:blip r:embed="rId3">
            <a:alphaModFix/>
          </a:blip>
          <a:stretch>
            <a:fillRect/>
          </a:stretch>
        </p:blipFill>
        <p:spPr>
          <a:xfrm>
            <a:off x="476250" y="701438"/>
            <a:ext cx="8191500" cy="2924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45000"/>
              </a:lnSpc>
              <a:spcBef>
                <a:spcPts val="300"/>
              </a:spcBef>
              <a:spcAft>
                <a:spcPts val="0"/>
              </a:spcAft>
              <a:buNone/>
            </a:pPr>
            <a:r>
              <a:rPr b="1" lang="en" sz="2900">
                <a:solidFill>
                  <a:srgbClr val="121212"/>
                </a:solidFill>
                <a:latin typeface="Trebuchet MS"/>
                <a:ea typeface="Trebuchet MS"/>
                <a:cs typeface="Trebuchet MS"/>
                <a:sym typeface="Trebuchet MS"/>
              </a:rPr>
              <a:t>The Relationship Between Tables</a:t>
            </a:r>
            <a:endParaRPr b="1" sz="2900">
              <a:solidFill>
                <a:srgbClr val="121212"/>
              </a:solidFill>
              <a:latin typeface="Trebuchet MS"/>
              <a:ea typeface="Trebuchet MS"/>
              <a:cs typeface="Trebuchet MS"/>
              <a:sym typeface="Trebuchet MS"/>
            </a:endParaRPr>
          </a:p>
          <a:p>
            <a:pPr indent="0" lvl="0" marL="0" rtl="0" algn="l">
              <a:spcBef>
                <a:spcPts val="900"/>
              </a:spcBef>
              <a:spcAft>
                <a:spcPts val="0"/>
              </a:spcAft>
              <a:buNone/>
            </a:pPr>
            <a:r>
              <a:t/>
            </a:r>
            <a:endParaRPr/>
          </a:p>
        </p:txBody>
      </p:sp>
      <p:sp>
        <p:nvSpPr>
          <p:cNvPr id="122" name="Google Shape;122;p19"/>
          <p:cNvSpPr txBox="1"/>
          <p:nvPr>
            <p:ph idx="1" type="body"/>
          </p:nvPr>
        </p:nvSpPr>
        <p:spPr>
          <a:xfrm>
            <a:off x="311700" y="1229875"/>
            <a:ext cx="67824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121212"/>
                </a:solidFill>
                <a:latin typeface="Arial"/>
                <a:ea typeface="Arial"/>
                <a:cs typeface="Arial"/>
                <a:sym typeface="Arial"/>
              </a:rPr>
              <a:t>Relational databases derive their power from the relationships between tables. These relationships are established and managed using keys:</a:t>
            </a:r>
            <a:endParaRPr sz="1400">
              <a:solidFill>
                <a:srgbClr val="121212"/>
              </a:solidFill>
              <a:latin typeface="Arial"/>
              <a:ea typeface="Arial"/>
              <a:cs typeface="Arial"/>
              <a:sym typeface="Arial"/>
            </a:endParaRPr>
          </a:p>
          <a:p>
            <a:pPr indent="0" lvl="0" marL="0" rtl="0" algn="l">
              <a:spcBef>
                <a:spcPts val="800"/>
              </a:spcBef>
              <a:spcAft>
                <a:spcPts val="0"/>
              </a:spcAft>
              <a:buNone/>
            </a:pPr>
            <a:r>
              <a:rPr b="1" lang="en" sz="1400">
                <a:solidFill>
                  <a:srgbClr val="121212"/>
                </a:solidFill>
                <a:latin typeface="Arial"/>
                <a:ea typeface="Arial"/>
                <a:cs typeface="Arial"/>
                <a:sym typeface="Arial"/>
              </a:rPr>
              <a:t>Primary Key:</a:t>
            </a:r>
            <a:endParaRPr b="1" sz="1400">
              <a:solidFill>
                <a:srgbClr val="121212"/>
              </a:solidFill>
              <a:latin typeface="Arial"/>
              <a:ea typeface="Arial"/>
              <a:cs typeface="Arial"/>
              <a:sym typeface="Arial"/>
            </a:endParaRPr>
          </a:p>
          <a:p>
            <a:pPr indent="-317500" lvl="0" marL="698500" rtl="0" algn="l">
              <a:lnSpc>
                <a:spcPct val="145000"/>
              </a:lnSpc>
              <a:spcBef>
                <a:spcPts val="800"/>
              </a:spcBef>
              <a:spcAft>
                <a:spcPts val="0"/>
              </a:spcAft>
              <a:buClr>
                <a:srgbClr val="121212"/>
              </a:buClr>
              <a:buSzPts val="1400"/>
              <a:buFont typeface="Arial"/>
              <a:buChar char="●"/>
            </a:pPr>
            <a:r>
              <a:rPr lang="en" sz="1400">
                <a:solidFill>
                  <a:srgbClr val="121212"/>
                </a:solidFill>
                <a:latin typeface="Arial"/>
                <a:ea typeface="Arial"/>
                <a:cs typeface="Arial"/>
                <a:sym typeface="Arial"/>
              </a:rPr>
              <a:t>A primary key is a column (or a set of columns) that uniquely identifies each row in a table.</a:t>
            </a:r>
            <a:endParaRPr sz="1400">
              <a:solidFill>
                <a:srgbClr val="121212"/>
              </a:solidFill>
              <a:latin typeface="Arial"/>
              <a:ea typeface="Arial"/>
              <a:cs typeface="Arial"/>
              <a:sym typeface="Arial"/>
            </a:endParaRPr>
          </a:p>
          <a:p>
            <a:pPr indent="-317500" lvl="0" marL="698500" rtl="0" algn="l">
              <a:lnSpc>
                <a:spcPct val="145000"/>
              </a:lnSpc>
              <a:spcBef>
                <a:spcPts val="0"/>
              </a:spcBef>
              <a:spcAft>
                <a:spcPts val="0"/>
              </a:spcAft>
              <a:buClr>
                <a:srgbClr val="121212"/>
              </a:buClr>
              <a:buSzPts val="1400"/>
              <a:buFont typeface="Arial"/>
              <a:buChar char="●"/>
            </a:pPr>
            <a:r>
              <a:rPr lang="en" sz="1400">
                <a:solidFill>
                  <a:srgbClr val="121212"/>
                </a:solidFill>
                <a:latin typeface="Arial"/>
                <a:ea typeface="Arial"/>
                <a:cs typeface="Arial"/>
                <a:sym typeface="Arial"/>
              </a:rPr>
              <a:t>It must contain unique values.</a:t>
            </a:r>
            <a:endParaRPr sz="1400">
              <a:solidFill>
                <a:srgbClr val="121212"/>
              </a:solidFill>
              <a:latin typeface="Arial"/>
              <a:ea typeface="Arial"/>
              <a:cs typeface="Arial"/>
              <a:sym typeface="Arial"/>
            </a:endParaRPr>
          </a:p>
          <a:p>
            <a:pPr indent="-317500" lvl="0" marL="698500" rtl="0" algn="l">
              <a:lnSpc>
                <a:spcPct val="145000"/>
              </a:lnSpc>
              <a:spcBef>
                <a:spcPts val="0"/>
              </a:spcBef>
              <a:spcAft>
                <a:spcPts val="0"/>
              </a:spcAft>
              <a:buClr>
                <a:srgbClr val="121212"/>
              </a:buClr>
              <a:buSzPts val="1400"/>
              <a:buFont typeface="Arial"/>
              <a:buChar char="●"/>
            </a:pPr>
            <a:r>
              <a:rPr lang="en" sz="1400">
                <a:solidFill>
                  <a:srgbClr val="121212"/>
                </a:solidFill>
                <a:latin typeface="Arial"/>
                <a:ea typeface="Arial"/>
                <a:cs typeface="Arial"/>
                <a:sym typeface="Arial"/>
              </a:rPr>
              <a:t>It cannot contain NULL (empty) values.</a:t>
            </a:r>
            <a:endParaRPr sz="1400">
              <a:solidFill>
                <a:srgbClr val="121212"/>
              </a:solidFill>
              <a:latin typeface="Arial"/>
              <a:ea typeface="Arial"/>
              <a:cs typeface="Arial"/>
              <a:sym typeface="Arial"/>
            </a:endParaRPr>
          </a:p>
          <a:p>
            <a:pPr indent="-317500" lvl="0" marL="698500" rtl="0" algn="l">
              <a:lnSpc>
                <a:spcPct val="145000"/>
              </a:lnSpc>
              <a:spcBef>
                <a:spcPts val="0"/>
              </a:spcBef>
              <a:spcAft>
                <a:spcPts val="0"/>
              </a:spcAft>
              <a:buClr>
                <a:srgbClr val="121212"/>
              </a:buClr>
              <a:buSzPts val="1400"/>
              <a:buFont typeface="Arial"/>
              <a:buChar char="●"/>
            </a:pPr>
            <a:r>
              <a:rPr lang="en" sz="1400">
                <a:solidFill>
                  <a:srgbClr val="121212"/>
                </a:solidFill>
                <a:latin typeface="Arial"/>
                <a:ea typeface="Arial"/>
                <a:cs typeface="Arial"/>
                <a:sym typeface="Arial"/>
              </a:rPr>
              <a:t>Example: In a "Customers" table, "CustomerID" is often the primary key.</a:t>
            </a:r>
            <a:endParaRPr sz="1400">
              <a:solidFill>
                <a:srgbClr val="121212"/>
              </a:solidFill>
              <a:latin typeface="Arial"/>
              <a:ea typeface="Arial"/>
              <a:cs typeface="Arial"/>
              <a:sym typeface="Arial"/>
            </a:endParaRPr>
          </a:p>
          <a:p>
            <a:pPr indent="0" lvl="0" marL="0" rtl="0" algn="l">
              <a:spcBef>
                <a:spcPts val="800"/>
              </a:spcBef>
              <a:spcAft>
                <a:spcPts val="1200"/>
              </a:spcAft>
              <a:buNone/>
            </a:pPr>
            <a:r>
              <a:t/>
            </a:r>
            <a:endParaRPr/>
          </a:p>
        </p:txBody>
      </p:sp>
      <p:pic>
        <p:nvPicPr>
          <p:cNvPr id="123" name="Google Shape;123;p19"/>
          <p:cNvPicPr preferRelativeResize="0"/>
          <p:nvPr/>
        </p:nvPicPr>
        <p:blipFill>
          <a:blip r:embed="rId3">
            <a:alphaModFix/>
          </a:blip>
          <a:stretch>
            <a:fillRect/>
          </a:stretch>
        </p:blipFill>
        <p:spPr>
          <a:xfrm>
            <a:off x="6873275" y="855275"/>
            <a:ext cx="1745100" cy="218945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solidFill>
                  <a:srgbClr val="121212"/>
                </a:solidFill>
                <a:highlight>
                  <a:schemeClr val="lt1"/>
                </a:highlight>
                <a:latin typeface="Arial"/>
                <a:ea typeface="Arial"/>
                <a:cs typeface="Arial"/>
                <a:sym typeface="Arial"/>
              </a:rPr>
              <a:t>Foreign Key:</a:t>
            </a:r>
            <a:endParaRPr sz="2500">
              <a:highlight>
                <a:schemeClr val="lt1"/>
              </a:highlight>
            </a:endParaRPr>
          </a:p>
        </p:txBody>
      </p:sp>
      <p:sp>
        <p:nvSpPr>
          <p:cNvPr id="129" name="Google Shape;129;p20"/>
          <p:cNvSpPr txBox="1"/>
          <p:nvPr>
            <p:ph idx="1" type="body"/>
          </p:nvPr>
        </p:nvSpPr>
        <p:spPr>
          <a:xfrm>
            <a:off x="311700" y="1229875"/>
            <a:ext cx="5965800" cy="3339000"/>
          </a:xfrm>
          <a:prstGeom prst="rect">
            <a:avLst/>
          </a:prstGeom>
        </p:spPr>
        <p:txBody>
          <a:bodyPr anchorCtr="0" anchor="t" bIns="91425" lIns="91425" spcFirstLastPara="1" rIns="91425" wrap="square" tIns="91425">
            <a:normAutofit/>
          </a:bodyPr>
          <a:lstStyle/>
          <a:p>
            <a:pPr indent="-330200" lvl="0" marL="698500" rtl="0" algn="l">
              <a:lnSpc>
                <a:spcPct val="145000"/>
              </a:lnSpc>
              <a:spcBef>
                <a:spcPts val="0"/>
              </a:spcBef>
              <a:spcAft>
                <a:spcPts val="0"/>
              </a:spcAft>
              <a:buClr>
                <a:srgbClr val="121212"/>
              </a:buClr>
              <a:buSzPts val="1600"/>
              <a:buFont typeface="Arial"/>
              <a:buChar char="●"/>
            </a:pPr>
            <a:r>
              <a:rPr lang="en" sz="1600">
                <a:solidFill>
                  <a:srgbClr val="121212"/>
                </a:solidFill>
                <a:latin typeface="Arial"/>
                <a:ea typeface="Arial"/>
                <a:cs typeface="Arial"/>
                <a:sym typeface="Arial"/>
              </a:rPr>
              <a:t>A foreign key is a column (or set of columns) in one table that refers to the primary key in another table.</a:t>
            </a:r>
            <a:endParaRPr sz="1600">
              <a:solidFill>
                <a:srgbClr val="121212"/>
              </a:solidFill>
              <a:latin typeface="Arial"/>
              <a:ea typeface="Arial"/>
              <a:cs typeface="Arial"/>
              <a:sym typeface="Arial"/>
            </a:endParaRPr>
          </a:p>
          <a:p>
            <a:pPr indent="-330200" lvl="0" marL="698500" rtl="0" algn="l">
              <a:lnSpc>
                <a:spcPct val="145000"/>
              </a:lnSpc>
              <a:spcBef>
                <a:spcPts val="0"/>
              </a:spcBef>
              <a:spcAft>
                <a:spcPts val="0"/>
              </a:spcAft>
              <a:buClr>
                <a:srgbClr val="121212"/>
              </a:buClr>
              <a:buSzPts val="1600"/>
              <a:buFont typeface="Arial"/>
              <a:buChar char="●"/>
            </a:pPr>
            <a:r>
              <a:rPr lang="en" sz="1600">
                <a:solidFill>
                  <a:srgbClr val="121212"/>
                </a:solidFill>
                <a:latin typeface="Arial"/>
                <a:ea typeface="Arial"/>
                <a:cs typeface="Arial"/>
                <a:sym typeface="Arial"/>
              </a:rPr>
              <a:t>It establishes a link between the two tables.</a:t>
            </a:r>
            <a:endParaRPr sz="1600">
              <a:solidFill>
                <a:srgbClr val="121212"/>
              </a:solidFill>
              <a:latin typeface="Arial"/>
              <a:ea typeface="Arial"/>
              <a:cs typeface="Arial"/>
              <a:sym typeface="Arial"/>
            </a:endParaRPr>
          </a:p>
          <a:p>
            <a:pPr indent="-330200" lvl="0" marL="698500" rtl="0" algn="l">
              <a:lnSpc>
                <a:spcPct val="145000"/>
              </a:lnSpc>
              <a:spcBef>
                <a:spcPts val="0"/>
              </a:spcBef>
              <a:spcAft>
                <a:spcPts val="0"/>
              </a:spcAft>
              <a:buClr>
                <a:srgbClr val="121212"/>
              </a:buClr>
              <a:buSzPts val="1600"/>
              <a:buFont typeface="Arial"/>
              <a:buChar char="●"/>
            </a:pPr>
            <a:r>
              <a:rPr lang="en" sz="1600">
                <a:solidFill>
                  <a:srgbClr val="121212"/>
                </a:solidFill>
                <a:latin typeface="Arial"/>
                <a:ea typeface="Arial"/>
                <a:cs typeface="Arial"/>
                <a:sym typeface="Arial"/>
              </a:rPr>
              <a:t>Example: In an "Orders" table, "CustomerID" would be a foreign key, linking each order to the customer who placed it in the "Customers" table.</a:t>
            </a:r>
            <a:br>
              <a:rPr lang="en" sz="1600">
                <a:solidFill>
                  <a:srgbClr val="121212"/>
                </a:solidFill>
                <a:latin typeface="Arial"/>
                <a:ea typeface="Arial"/>
                <a:cs typeface="Arial"/>
                <a:sym typeface="Arial"/>
              </a:rPr>
            </a:br>
            <a:r>
              <a:rPr lang="en" sz="1600">
                <a:solidFill>
                  <a:srgbClr val="121212"/>
                </a:solidFill>
                <a:latin typeface="Arial"/>
                <a:ea typeface="Arial"/>
                <a:cs typeface="Arial"/>
                <a:sym typeface="Arial"/>
              </a:rPr>
              <a:t> </a:t>
            </a:r>
            <a:endParaRPr sz="1600">
              <a:solidFill>
                <a:srgbClr val="121212"/>
              </a:solidFill>
              <a:latin typeface="Arial"/>
              <a:ea typeface="Arial"/>
              <a:cs typeface="Arial"/>
              <a:sym typeface="Arial"/>
            </a:endParaRPr>
          </a:p>
          <a:p>
            <a:pPr indent="0" lvl="0" marL="0" rtl="0" algn="l">
              <a:spcBef>
                <a:spcPts val="800"/>
              </a:spcBef>
              <a:spcAft>
                <a:spcPts val="1200"/>
              </a:spcAft>
              <a:buNone/>
            </a:pPr>
            <a:r>
              <a:t/>
            </a:r>
            <a:endParaRPr/>
          </a:p>
        </p:txBody>
      </p:sp>
      <p:pic>
        <p:nvPicPr>
          <p:cNvPr id="130" name="Google Shape;130;p20"/>
          <p:cNvPicPr preferRelativeResize="0"/>
          <p:nvPr/>
        </p:nvPicPr>
        <p:blipFill>
          <a:blip r:embed="rId3">
            <a:alphaModFix/>
          </a:blip>
          <a:stretch>
            <a:fillRect/>
          </a:stretch>
        </p:blipFill>
        <p:spPr>
          <a:xfrm>
            <a:off x="6277500" y="1076900"/>
            <a:ext cx="2561700" cy="201079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rgbClr val="121212"/>
                </a:solidFill>
                <a:highlight>
                  <a:schemeClr val="lt1"/>
                </a:highlight>
                <a:latin typeface="Arial"/>
                <a:ea typeface="Arial"/>
                <a:cs typeface="Arial"/>
                <a:sym typeface="Arial"/>
              </a:rPr>
              <a:t>Composite Key:</a:t>
            </a:r>
            <a:endParaRPr sz="2400">
              <a:highlight>
                <a:schemeClr val="lt1"/>
              </a:highlight>
            </a:endParaRPr>
          </a:p>
        </p:txBody>
      </p:sp>
      <p:sp>
        <p:nvSpPr>
          <p:cNvPr id="136" name="Google Shape;136;p21"/>
          <p:cNvSpPr txBox="1"/>
          <p:nvPr>
            <p:ph idx="1" type="body"/>
          </p:nvPr>
        </p:nvSpPr>
        <p:spPr>
          <a:xfrm>
            <a:off x="311700" y="1229875"/>
            <a:ext cx="6397500" cy="3339000"/>
          </a:xfrm>
          <a:prstGeom prst="rect">
            <a:avLst/>
          </a:prstGeom>
        </p:spPr>
        <p:txBody>
          <a:bodyPr anchorCtr="0" anchor="t" bIns="91425" lIns="91425" spcFirstLastPara="1" rIns="91425" wrap="square" tIns="91425">
            <a:normAutofit lnSpcReduction="10000"/>
          </a:bodyPr>
          <a:lstStyle/>
          <a:p>
            <a:pPr indent="-330200" lvl="0" marL="698500" rtl="0" algn="l">
              <a:lnSpc>
                <a:spcPct val="145000"/>
              </a:lnSpc>
              <a:spcBef>
                <a:spcPts val="0"/>
              </a:spcBef>
              <a:spcAft>
                <a:spcPts val="0"/>
              </a:spcAft>
              <a:buClr>
                <a:srgbClr val="121212"/>
              </a:buClr>
              <a:buSzPts val="1600"/>
              <a:buFont typeface="Arial"/>
              <a:buChar char="●"/>
            </a:pPr>
            <a:r>
              <a:rPr lang="en" sz="1600">
                <a:solidFill>
                  <a:srgbClr val="121212"/>
                </a:solidFill>
                <a:latin typeface="Arial"/>
                <a:ea typeface="Arial"/>
                <a:cs typeface="Arial"/>
                <a:sym typeface="Arial"/>
              </a:rPr>
              <a:t>A composite key is a primary key that consists of two or more columns.</a:t>
            </a:r>
            <a:endParaRPr sz="1600">
              <a:solidFill>
                <a:srgbClr val="121212"/>
              </a:solidFill>
              <a:latin typeface="Arial"/>
              <a:ea typeface="Arial"/>
              <a:cs typeface="Arial"/>
              <a:sym typeface="Arial"/>
            </a:endParaRPr>
          </a:p>
          <a:p>
            <a:pPr indent="-330200" lvl="0" marL="698500" rtl="0" algn="l">
              <a:lnSpc>
                <a:spcPct val="145000"/>
              </a:lnSpc>
              <a:spcBef>
                <a:spcPts val="0"/>
              </a:spcBef>
              <a:spcAft>
                <a:spcPts val="0"/>
              </a:spcAft>
              <a:buClr>
                <a:srgbClr val="121212"/>
              </a:buClr>
              <a:buSzPts val="1600"/>
              <a:buFont typeface="Arial"/>
              <a:buChar char="●"/>
            </a:pPr>
            <a:r>
              <a:rPr lang="en" sz="1600">
                <a:solidFill>
                  <a:srgbClr val="121212"/>
                </a:solidFill>
                <a:latin typeface="Arial"/>
                <a:ea typeface="Arial"/>
                <a:cs typeface="Arial"/>
                <a:sym typeface="Arial"/>
              </a:rPr>
              <a:t>It's used when a single column cannot uniquely identify a row.</a:t>
            </a:r>
            <a:endParaRPr sz="1600">
              <a:solidFill>
                <a:srgbClr val="121212"/>
              </a:solidFill>
              <a:latin typeface="Arial"/>
              <a:ea typeface="Arial"/>
              <a:cs typeface="Arial"/>
              <a:sym typeface="Arial"/>
            </a:endParaRPr>
          </a:p>
          <a:p>
            <a:pPr indent="-330200" lvl="0" marL="698500" rtl="0" algn="l">
              <a:lnSpc>
                <a:spcPct val="145000"/>
              </a:lnSpc>
              <a:spcBef>
                <a:spcPts val="0"/>
              </a:spcBef>
              <a:spcAft>
                <a:spcPts val="0"/>
              </a:spcAft>
              <a:buClr>
                <a:srgbClr val="121212"/>
              </a:buClr>
              <a:buSzPts val="1600"/>
              <a:buFont typeface="Arial"/>
              <a:buChar char="●"/>
            </a:pPr>
            <a:r>
              <a:rPr lang="en" sz="1600">
                <a:solidFill>
                  <a:srgbClr val="121212"/>
                </a:solidFill>
                <a:latin typeface="Arial"/>
                <a:ea typeface="Arial"/>
                <a:cs typeface="Arial"/>
                <a:sym typeface="Arial"/>
              </a:rPr>
              <a:t>Example: In a table tracking student enrollment in courses, the composite key might be ("StudentID," "CourseID") since a student can enroll in multiple courses, and a course has multiple students.</a:t>
            </a:r>
            <a:endParaRPr sz="1600">
              <a:solidFill>
                <a:srgbClr val="121212"/>
              </a:solidFill>
              <a:latin typeface="Arial"/>
              <a:ea typeface="Arial"/>
              <a:cs typeface="Arial"/>
              <a:sym typeface="Arial"/>
            </a:endParaRPr>
          </a:p>
          <a:p>
            <a:pPr indent="0" lvl="0" marL="0" rtl="0" algn="l">
              <a:spcBef>
                <a:spcPts val="800"/>
              </a:spcBef>
              <a:spcAft>
                <a:spcPts val="1200"/>
              </a:spcAft>
              <a:buNone/>
            </a:pPr>
            <a:r>
              <a:t/>
            </a:r>
            <a:endParaRPr/>
          </a:p>
        </p:txBody>
      </p:sp>
      <p:pic>
        <p:nvPicPr>
          <p:cNvPr id="137" name="Google Shape;137;p21"/>
          <p:cNvPicPr preferRelativeResize="0"/>
          <p:nvPr/>
        </p:nvPicPr>
        <p:blipFill>
          <a:blip r:embed="rId3">
            <a:alphaModFix/>
          </a:blip>
          <a:stretch>
            <a:fillRect/>
          </a:stretch>
        </p:blipFill>
        <p:spPr>
          <a:xfrm>
            <a:off x="6565650" y="1951672"/>
            <a:ext cx="2447650" cy="151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rgbClr val="121212"/>
                </a:solidFill>
                <a:highlight>
                  <a:schemeClr val="lt1"/>
                </a:highlight>
                <a:latin typeface="Arial"/>
                <a:ea typeface="Arial"/>
                <a:cs typeface="Arial"/>
                <a:sym typeface="Arial"/>
              </a:rPr>
              <a:t>Concatenated Key</a:t>
            </a:r>
            <a:endParaRPr sz="2400">
              <a:highlight>
                <a:schemeClr val="lt1"/>
              </a:highlight>
            </a:endParaRPr>
          </a:p>
        </p:txBody>
      </p:sp>
      <p:sp>
        <p:nvSpPr>
          <p:cNvPr id="143" name="Google Shape;143;p22"/>
          <p:cNvSpPr txBox="1"/>
          <p:nvPr>
            <p:ph idx="1" type="body"/>
          </p:nvPr>
        </p:nvSpPr>
        <p:spPr>
          <a:xfrm>
            <a:off x="311700" y="1229875"/>
            <a:ext cx="7692000" cy="33390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853"/>
              <a:buNone/>
            </a:pPr>
            <a:r>
              <a:rPr lang="en" sz="1600">
                <a:solidFill>
                  <a:srgbClr val="121212"/>
                </a:solidFill>
                <a:latin typeface="Arial"/>
                <a:ea typeface="Arial"/>
                <a:cs typeface="Arial"/>
                <a:sym typeface="Arial"/>
              </a:rPr>
              <a:t>In some contexts, "concatenated key" might refer to the </a:t>
            </a:r>
            <a:r>
              <a:rPr i="1" lang="en" sz="1600">
                <a:solidFill>
                  <a:srgbClr val="121212"/>
                </a:solidFill>
                <a:latin typeface="Arial"/>
                <a:ea typeface="Arial"/>
                <a:cs typeface="Arial"/>
                <a:sym typeface="Arial"/>
              </a:rPr>
              <a:t>value</a:t>
            </a:r>
            <a:r>
              <a:rPr lang="en" sz="1600">
                <a:solidFill>
                  <a:srgbClr val="121212"/>
                </a:solidFill>
                <a:latin typeface="Arial"/>
                <a:ea typeface="Arial"/>
                <a:cs typeface="Arial"/>
                <a:sym typeface="Arial"/>
              </a:rPr>
              <a:t> formed by combining multiple columns (not strictly a key </a:t>
            </a:r>
            <a:r>
              <a:rPr i="1" lang="en" sz="1600">
                <a:solidFill>
                  <a:srgbClr val="121212"/>
                </a:solidFill>
                <a:latin typeface="Arial"/>
                <a:ea typeface="Arial"/>
                <a:cs typeface="Arial"/>
                <a:sym typeface="Arial"/>
              </a:rPr>
              <a:t>type</a:t>
            </a:r>
            <a:r>
              <a:rPr lang="en" sz="1600">
                <a:solidFill>
                  <a:srgbClr val="121212"/>
                </a:solidFill>
                <a:latin typeface="Arial"/>
                <a:ea typeface="Arial"/>
                <a:cs typeface="Arial"/>
                <a:sym typeface="Arial"/>
              </a:rPr>
              <a:t> like the others).</a:t>
            </a:r>
            <a:endParaRPr sz="1600">
              <a:solidFill>
                <a:srgbClr val="121212"/>
              </a:solidFill>
              <a:latin typeface="Arial"/>
              <a:ea typeface="Arial"/>
              <a:cs typeface="Arial"/>
              <a:sym typeface="Arial"/>
            </a:endParaRPr>
          </a:p>
          <a:p>
            <a:pPr indent="0" lvl="0" marL="0" rtl="0" algn="l">
              <a:lnSpc>
                <a:spcPct val="95000"/>
              </a:lnSpc>
              <a:spcBef>
                <a:spcPts val="800"/>
              </a:spcBef>
              <a:spcAft>
                <a:spcPts val="0"/>
              </a:spcAft>
              <a:buSzPts val="853"/>
              <a:buNone/>
            </a:pPr>
            <a:r>
              <a:rPr lang="en" sz="1600">
                <a:solidFill>
                  <a:srgbClr val="121212"/>
                </a:solidFill>
                <a:latin typeface="Arial"/>
                <a:ea typeface="Arial"/>
                <a:cs typeface="Arial"/>
                <a:sym typeface="Arial"/>
              </a:rPr>
              <a:t>More accurately, if those concatenated values are used as a key, it is a composite key.</a:t>
            </a:r>
            <a:endParaRPr sz="1600">
              <a:solidFill>
                <a:srgbClr val="121212"/>
              </a:solidFill>
              <a:latin typeface="Arial"/>
              <a:ea typeface="Arial"/>
              <a:cs typeface="Arial"/>
              <a:sym typeface="Arial"/>
            </a:endParaRPr>
          </a:p>
          <a:p>
            <a:pPr indent="0" lvl="0" marL="0" rtl="0" algn="l">
              <a:lnSpc>
                <a:spcPct val="95000"/>
              </a:lnSpc>
              <a:spcBef>
                <a:spcPts val="800"/>
              </a:spcBef>
              <a:spcAft>
                <a:spcPts val="0"/>
              </a:spcAft>
              <a:buSzPts val="853"/>
              <a:buNone/>
            </a:pPr>
            <a:r>
              <a:rPr lang="en" sz="1600">
                <a:solidFill>
                  <a:srgbClr val="121212"/>
                </a:solidFill>
                <a:latin typeface="Arial"/>
                <a:ea typeface="Arial"/>
                <a:cs typeface="Arial"/>
                <a:sym typeface="Arial"/>
              </a:rPr>
              <a:t>Example: If you combine "FirstName" and "LastName" to search for a record, you're using a concatenated </a:t>
            </a:r>
            <a:r>
              <a:rPr i="1" lang="en" sz="1600">
                <a:solidFill>
                  <a:srgbClr val="121212"/>
                </a:solidFill>
                <a:latin typeface="Arial"/>
                <a:ea typeface="Arial"/>
                <a:cs typeface="Arial"/>
                <a:sym typeface="Arial"/>
              </a:rPr>
              <a:t>value</a:t>
            </a:r>
            <a:r>
              <a:rPr lang="en" sz="1600">
                <a:solidFill>
                  <a:srgbClr val="121212"/>
                </a:solidFill>
                <a:latin typeface="Arial"/>
                <a:ea typeface="Arial"/>
                <a:cs typeface="Arial"/>
                <a:sym typeface="Arial"/>
              </a:rPr>
              <a:t>, but if those two columns </a:t>
            </a:r>
            <a:r>
              <a:rPr i="1" lang="en" sz="1600">
                <a:solidFill>
                  <a:srgbClr val="121212"/>
                </a:solidFill>
                <a:latin typeface="Arial"/>
                <a:ea typeface="Arial"/>
                <a:cs typeface="Arial"/>
                <a:sym typeface="Arial"/>
              </a:rPr>
              <a:t>together</a:t>
            </a:r>
            <a:r>
              <a:rPr lang="en" sz="1600">
                <a:solidFill>
                  <a:srgbClr val="121212"/>
                </a:solidFill>
                <a:latin typeface="Arial"/>
                <a:ea typeface="Arial"/>
                <a:cs typeface="Arial"/>
                <a:sym typeface="Arial"/>
              </a:rPr>
              <a:t> are the table's unique identifier, it's a composite key.</a:t>
            </a:r>
            <a:endParaRPr sz="1600">
              <a:solidFill>
                <a:srgbClr val="121212"/>
              </a:solidFill>
              <a:latin typeface="Arial"/>
              <a:ea typeface="Arial"/>
              <a:cs typeface="Arial"/>
              <a:sym typeface="Arial"/>
            </a:endParaRPr>
          </a:p>
          <a:p>
            <a:pPr indent="0" lvl="0" marL="0" rtl="0" algn="l">
              <a:lnSpc>
                <a:spcPct val="95000"/>
              </a:lnSpc>
              <a:spcBef>
                <a:spcPts val="800"/>
              </a:spcBef>
              <a:spcAft>
                <a:spcPts val="1200"/>
              </a:spcAft>
              <a:buSzPts val="853"/>
              <a:buNone/>
            </a:pPr>
            <a:r>
              <a:t/>
            </a:r>
            <a:endParaRPr sz="16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lnSpc>
                <a:spcPct val="145000"/>
              </a:lnSpc>
              <a:spcBef>
                <a:spcPts val="300"/>
              </a:spcBef>
              <a:spcAft>
                <a:spcPts val="0"/>
              </a:spcAft>
              <a:buNone/>
            </a:pPr>
            <a:r>
              <a:rPr b="1" lang="en" sz="2100">
                <a:solidFill>
                  <a:srgbClr val="121212"/>
                </a:solidFill>
                <a:latin typeface="Arial"/>
                <a:ea typeface="Arial"/>
                <a:cs typeface="Arial"/>
                <a:sym typeface="Arial"/>
              </a:rPr>
              <a:t>The Importance of Well-Defined Tables in Ensuring Data Integrity</a:t>
            </a:r>
            <a:endParaRPr b="1" sz="2100">
              <a:solidFill>
                <a:srgbClr val="121212"/>
              </a:solidFill>
              <a:latin typeface="Arial"/>
              <a:ea typeface="Arial"/>
              <a:cs typeface="Arial"/>
              <a:sym typeface="Arial"/>
            </a:endParaRPr>
          </a:p>
          <a:p>
            <a:pPr indent="0" lvl="0" marL="0" rtl="0" algn="l">
              <a:spcBef>
                <a:spcPts val="900"/>
              </a:spcBef>
              <a:spcAft>
                <a:spcPts val="0"/>
              </a:spcAft>
              <a:buNone/>
            </a:pPr>
            <a:r>
              <a:t/>
            </a:r>
            <a:endParaRPr sz="2667"/>
          </a:p>
        </p:txBody>
      </p:sp>
      <p:sp>
        <p:nvSpPr>
          <p:cNvPr id="149" name="Google Shape;149;p23"/>
          <p:cNvSpPr txBox="1"/>
          <p:nvPr>
            <p:ph idx="1" type="body"/>
          </p:nvPr>
        </p:nvSpPr>
        <p:spPr>
          <a:xfrm>
            <a:off x="311700" y="1229875"/>
            <a:ext cx="8832300" cy="3339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400">
                <a:solidFill>
                  <a:srgbClr val="121212"/>
                </a:solidFill>
                <a:latin typeface="Arial"/>
                <a:ea typeface="Arial"/>
                <a:cs typeface="Arial"/>
                <a:sym typeface="Arial"/>
              </a:rPr>
              <a:t>Well-defined tables are crucial for maintaining data integrity, which refers to the accuracy and consistency of data stored in the database.</a:t>
            </a:r>
            <a:endParaRPr sz="1400">
              <a:solidFill>
                <a:srgbClr val="121212"/>
              </a:solidFill>
              <a:latin typeface="Arial"/>
              <a:ea typeface="Arial"/>
              <a:cs typeface="Arial"/>
              <a:sym typeface="Arial"/>
            </a:endParaRPr>
          </a:p>
          <a:p>
            <a:pPr indent="-304165" lvl="0" marL="698500" rtl="0" algn="l">
              <a:lnSpc>
                <a:spcPct val="145000"/>
              </a:lnSpc>
              <a:spcBef>
                <a:spcPts val="800"/>
              </a:spcBef>
              <a:spcAft>
                <a:spcPts val="0"/>
              </a:spcAft>
              <a:buClr>
                <a:srgbClr val="121212"/>
              </a:buClr>
              <a:buSzPct val="100000"/>
              <a:buFont typeface="Arial"/>
              <a:buChar char="●"/>
            </a:pPr>
            <a:r>
              <a:rPr b="1" lang="en" sz="1400">
                <a:solidFill>
                  <a:srgbClr val="121212"/>
                </a:solidFill>
                <a:latin typeface="Arial"/>
                <a:ea typeface="Arial"/>
                <a:cs typeface="Arial"/>
                <a:sym typeface="Arial"/>
              </a:rPr>
              <a:t>Benefits of Well-Defined Tables:</a:t>
            </a:r>
            <a:endParaRPr b="1" sz="1400">
              <a:solidFill>
                <a:srgbClr val="121212"/>
              </a:solidFill>
              <a:latin typeface="Arial"/>
              <a:ea typeface="Arial"/>
              <a:cs typeface="Arial"/>
              <a:sym typeface="Arial"/>
            </a:endParaRPr>
          </a:p>
          <a:p>
            <a:pPr indent="-304165" lvl="1" marL="1397000" rtl="0" algn="l">
              <a:lnSpc>
                <a:spcPct val="145000"/>
              </a:lnSpc>
              <a:spcBef>
                <a:spcPts val="0"/>
              </a:spcBef>
              <a:spcAft>
                <a:spcPts val="0"/>
              </a:spcAft>
              <a:buClr>
                <a:srgbClr val="121212"/>
              </a:buClr>
              <a:buSzPct val="100000"/>
              <a:buFont typeface="Arial"/>
              <a:buChar char="○"/>
            </a:pPr>
            <a:r>
              <a:rPr b="1" lang="en">
                <a:solidFill>
                  <a:srgbClr val="121212"/>
                </a:solidFill>
                <a:latin typeface="Arial"/>
                <a:ea typeface="Arial"/>
                <a:cs typeface="Arial"/>
                <a:sym typeface="Arial"/>
              </a:rPr>
              <a:t>Reduced Redundancy:</a:t>
            </a:r>
            <a:r>
              <a:rPr lang="en">
                <a:solidFill>
                  <a:srgbClr val="121212"/>
                </a:solidFill>
                <a:latin typeface="Arial"/>
                <a:ea typeface="Arial"/>
                <a:cs typeface="Arial"/>
                <a:sym typeface="Arial"/>
              </a:rPr>
              <a:t> Proper table design minimizes data duplication, saving storage space and preventing inconsistencies.</a:t>
            </a:r>
            <a:endParaRPr>
              <a:solidFill>
                <a:srgbClr val="121212"/>
              </a:solidFill>
              <a:latin typeface="Arial"/>
              <a:ea typeface="Arial"/>
              <a:cs typeface="Arial"/>
              <a:sym typeface="Arial"/>
            </a:endParaRPr>
          </a:p>
          <a:p>
            <a:pPr indent="-304165" lvl="1" marL="1397000" rtl="0" algn="l">
              <a:lnSpc>
                <a:spcPct val="145000"/>
              </a:lnSpc>
              <a:spcBef>
                <a:spcPts val="0"/>
              </a:spcBef>
              <a:spcAft>
                <a:spcPts val="0"/>
              </a:spcAft>
              <a:buClr>
                <a:srgbClr val="121212"/>
              </a:buClr>
              <a:buSzPct val="100000"/>
              <a:buFont typeface="Arial"/>
              <a:buChar char="○"/>
            </a:pPr>
            <a:r>
              <a:rPr b="1" lang="en">
                <a:solidFill>
                  <a:srgbClr val="121212"/>
                </a:solidFill>
                <a:latin typeface="Arial"/>
                <a:ea typeface="Arial"/>
                <a:cs typeface="Arial"/>
                <a:sym typeface="Arial"/>
              </a:rPr>
              <a:t>Data Accuracy:</a:t>
            </a:r>
            <a:r>
              <a:rPr lang="en">
                <a:solidFill>
                  <a:srgbClr val="121212"/>
                </a:solidFill>
                <a:latin typeface="Arial"/>
                <a:ea typeface="Arial"/>
                <a:cs typeface="Arial"/>
                <a:sym typeface="Arial"/>
              </a:rPr>
              <a:t> Constraints (like primary key uniqueness and data types) enforce rules about the data that can be entered, reducing errors.</a:t>
            </a:r>
            <a:endParaRPr>
              <a:solidFill>
                <a:srgbClr val="121212"/>
              </a:solidFill>
              <a:latin typeface="Arial"/>
              <a:ea typeface="Arial"/>
              <a:cs typeface="Arial"/>
              <a:sym typeface="Arial"/>
            </a:endParaRPr>
          </a:p>
          <a:p>
            <a:pPr indent="-304165" lvl="1" marL="1397000" rtl="0" algn="l">
              <a:lnSpc>
                <a:spcPct val="145000"/>
              </a:lnSpc>
              <a:spcBef>
                <a:spcPts val="0"/>
              </a:spcBef>
              <a:spcAft>
                <a:spcPts val="0"/>
              </a:spcAft>
              <a:buClr>
                <a:srgbClr val="121212"/>
              </a:buClr>
              <a:buSzPct val="100000"/>
              <a:buFont typeface="Arial"/>
              <a:buChar char="○"/>
            </a:pPr>
            <a:r>
              <a:rPr b="1" lang="en">
                <a:solidFill>
                  <a:srgbClr val="121212"/>
                </a:solidFill>
                <a:latin typeface="Arial"/>
                <a:ea typeface="Arial"/>
                <a:cs typeface="Arial"/>
                <a:sym typeface="Arial"/>
              </a:rPr>
              <a:t>Consistency:</a:t>
            </a:r>
            <a:r>
              <a:rPr lang="en">
                <a:solidFill>
                  <a:srgbClr val="121212"/>
                </a:solidFill>
                <a:latin typeface="Arial"/>
                <a:ea typeface="Arial"/>
                <a:cs typeface="Arial"/>
                <a:sym typeface="Arial"/>
              </a:rPr>
              <a:t> Relationships defined by keys ensure that data across tables is consistent. For example, a foreign key ensures that you can't have an order referring to a non-existent customer.</a:t>
            </a:r>
            <a:endParaRPr>
              <a:solidFill>
                <a:srgbClr val="121212"/>
              </a:solidFill>
              <a:latin typeface="Arial"/>
              <a:ea typeface="Arial"/>
              <a:cs typeface="Arial"/>
              <a:sym typeface="Arial"/>
            </a:endParaRPr>
          </a:p>
          <a:p>
            <a:pPr indent="-304165" lvl="1" marL="1397000" rtl="0" algn="l">
              <a:lnSpc>
                <a:spcPct val="145000"/>
              </a:lnSpc>
              <a:spcBef>
                <a:spcPts val="0"/>
              </a:spcBef>
              <a:spcAft>
                <a:spcPts val="0"/>
              </a:spcAft>
              <a:buClr>
                <a:srgbClr val="121212"/>
              </a:buClr>
              <a:buSzPct val="100000"/>
              <a:buFont typeface="Arial"/>
              <a:buChar char="○"/>
            </a:pPr>
            <a:r>
              <a:rPr b="1" lang="en">
                <a:solidFill>
                  <a:srgbClr val="121212"/>
                </a:solidFill>
                <a:latin typeface="Arial"/>
                <a:ea typeface="Arial"/>
                <a:cs typeface="Arial"/>
                <a:sym typeface="Arial"/>
              </a:rPr>
              <a:t>Efficient Retrieval:</a:t>
            </a:r>
            <a:r>
              <a:rPr lang="en">
                <a:solidFill>
                  <a:srgbClr val="121212"/>
                </a:solidFill>
                <a:latin typeface="Arial"/>
                <a:ea typeface="Arial"/>
                <a:cs typeface="Arial"/>
                <a:sym typeface="Arial"/>
              </a:rPr>
              <a:t> Well-structured tables make it easier and faster to retrieve the needed information.</a:t>
            </a:r>
            <a:endParaRPr>
              <a:solidFill>
                <a:srgbClr val="121212"/>
              </a:solidFill>
              <a:latin typeface="Arial"/>
              <a:ea typeface="Arial"/>
              <a:cs typeface="Arial"/>
              <a:sym typeface="Arial"/>
            </a:endParaRPr>
          </a:p>
          <a:p>
            <a:pPr indent="-304165" lvl="1" marL="1397000" rtl="0" algn="l">
              <a:lnSpc>
                <a:spcPct val="145000"/>
              </a:lnSpc>
              <a:spcBef>
                <a:spcPts val="0"/>
              </a:spcBef>
              <a:spcAft>
                <a:spcPts val="0"/>
              </a:spcAft>
              <a:buClr>
                <a:srgbClr val="121212"/>
              </a:buClr>
              <a:buSzPct val="100000"/>
              <a:buFont typeface="Arial"/>
              <a:buChar char="○"/>
            </a:pPr>
            <a:r>
              <a:rPr b="1" lang="en">
                <a:solidFill>
                  <a:srgbClr val="121212"/>
                </a:solidFill>
                <a:latin typeface="Arial"/>
                <a:ea typeface="Arial"/>
                <a:cs typeface="Arial"/>
                <a:sym typeface="Arial"/>
              </a:rPr>
              <a:t>Ease of Maintenance:</a:t>
            </a:r>
            <a:r>
              <a:rPr lang="en">
                <a:solidFill>
                  <a:srgbClr val="121212"/>
                </a:solidFill>
                <a:latin typeface="Arial"/>
                <a:ea typeface="Arial"/>
                <a:cs typeface="Arial"/>
                <a:sym typeface="Arial"/>
              </a:rPr>
              <a:t> Changes to the database schema are easier to manage when tables are well-defined.</a:t>
            </a:r>
            <a:endParaRPr>
              <a:solidFill>
                <a:srgbClr val="121212"/>
              </a:solidFill>
              <a:latin typeface="Arial"/>
              <a:ea typeface="Arial"/>
              <a:cs typeface="Arial"/>
              <a:sym typeface="Arial"/>
            </a:endParaRPr>
          </a:p>
          <a:p>
            <a:pPr indent="0" lvl="0" marL="0" rtl="0" algn="l">
              <a:spcBef>
                <a:spcPts val="8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a:t>
            </a:r>
            <a:endParaRPr/>
          </a:p>
        </p:txBody>
      </p:sp>
      <p:sp>
        <p:nvSpPr>
          <p:cNvPr id="155" name="Google Shape;155;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121212"/>
                </a:solidFill>
                <a:latin typeface="Arial"/>
                <a:ea typeface="Arial"/>
                <a:cs typeface="Arial"/>
                <a:sym typeface="Arial"/>
              </a:rPr>
              <a:t>What is the purpose of a primary key in a relational database table?</a:t>
            </a:r>
            <a:endParaRPr>
              <a:solidFill>
                <a:srgbClr val="121212"/>
              </a:solidFill>
              <a:latin typeface="Arial"/>
              <a:ea typeface="Arial"/>
              <a:cs typeface="Arial"/>
              <a:sym typeface="Arial"/>
            </a:endParaRPr>
          </a:p>
          <a:p>
            <a:pPr indent="0" lvl="0" marL="0" rtl="0" algn="l">
              <a:spcBef>
                <a:spcPts val="800"/>
              </a:spcBef>
              <a:spcAft>
                <a:spcPts val="0"/>
              </a:spcAft>
              <a:buNone/>
            </a:pPr>
            <a:br>
              <a:rPr lang="en">
                <a:solidFill>
                  <a:srgbClr val="121212"/>
                </a:solidFill>
                <a:latin typeface="Arial"/>
                <a:ea typeface="Arial"/>
                <a:cs typeface="Arial"/>
                <a:sym typeface="Arial"/>
              </a:rPr>
            </a:br>
            <a:r>
              <a:rPr lang="en">
                <a:solidFill>
                  <a:srgbClr val="121212"/>
                </a:solidFill>
                <a:latin typeface="Arial"/>
                <a:ea typeface="Arial"/>
                <a:cs typeface="Arial"/>
                <a:sym typeface="Arial"/>
              </a:rPr>
              <a:t>Explain how a foreign key is used to create a relationship between two tables.</a:t>
            </a:r>
            <a:endParaRPr>
              <a:solidFill>
                <a:srgbClr val="121212"/>
              </a:solidFill>
              <a:latin typeface="Arial"/>
              <a:ea typeface="Arial"/>
              <a:cs typeface="Arial"/>
              <a:sym typeface="Arial"/>
            </a:endParaRPr>
          </a:p>
          <a:p>
            <a:pPr indent="0" lvl="0" marL="0" rtl="0" algn="l">
              <a:spcBef>
                <a:spcPts val="800"/>
              </a:spcBef>
              <a:spcAft>
                <a:spcPts val="0"/>
              </a:spcAft>
              <a:buNone/>
            </a:pPr>
            <a:br>
              <a:rPr lang="en">
                <a:solidFill>
                  <a:srgbClr val="121212"/>
                </a:solidFill>
                <a:latin typeface="Arial"/>
                <a:ea typeface="Arial"/>
                <a:cs typeface="Arial"/>
                <a:sym typeface="Arial"/>
              </a:rPr>
            </a:br>
            <a:r>
              <a:rPr lang="en">
                <a:solidFill>
                  <a:srgbClr val="121212"/>
                </a:solidFill>
                <a:latin typeface="Arial"/>
                <a:ea typeface="Arial"/>
                <a:cs typeface="Arial"/>
                <a:sym typeface="Arial"/>
              </a:rPr>
              <a:t>When would you use a composite key instead of a single-column primary key?</a:t>
            </a:r>
            <a:endParaRPr>
              <a:solidFill>
                <a:srgbClr val="121212"/>
              </a:solidFill>
              <a:latin typeface="Arial"/>
              <a:ea typeface="Arial"/>
              <a:cs typeface="Arial"/>
              <a:sym typeface="Arial"/>
            </a:endParaRPr>
          </a:p>
          <a:p>
            <a:pPr indent="0" lvl="0" marL="0" rtl="0" algn="l">
              <a:spcBef>
                <a:spcPts val="800"/>
              </a:spcBef>
              <a:spcAft>
                <a:spcPts val="0"/>
              </a:spcAft>
              <a:buNone/>
            </a:pPr>
            <a:br>
              <a:rPr lang="en">
                <a:solidFill>
                  <a:srgbClr val="121212"/>
                </a:solidFill>
                <a:latin typeface="Arial"/>
                <a:ea typeface="Arial"/>
                <a:cs typeface="Arial"/>
                <a:sym typeface="Arial"/>
              </a:rPr>
            </a:br>
            <a:r>
              <a:rPr lang="en">
                <a:solidFill>
                  <a:srgbClr val="121212"/>
                </a:solidFill>
                <a:latin typeface="Arial"/>
                <a:ea typeface="Arial"/>
                <a:cs typeface="Arial"/>
                <a:sym typeface="Arial"/>
              </a:rPr>
              <a:t>Describe two ways that well-defined tables contribute to data integrity.</a:t>
            </a:r>
            <a:endParaRPr>
              <a:solidFill>
                <a:srgbClr val="121212"/>
              </a:solidFill>
              <a:latin typeface="Arial"/>
              <a:ea typeface="Arial"/>
              <a:cs typeface="Arial"/>
              <a:sym typeface="Arial"/>
            </a:endParaRPr>
          </a:p>
          <a:p>
            <a:pPr indent="0" lvl="0" marL="0" rtl="0" algn="l">
              <a:spcBef>
                <a:spcPts val="8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IB EXAM STYLE QUESTIONS</a:t>
            </a:r>
            <a:endParaRPr/>
          </a:p>
        </p:txBody>
      </p:sp>
      <p:sp>
        <p:nvSpPr>
          <p:cNvPr id="161" name="Google Shape;161;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20000"/>
          </a:bodyPr>
          <a:lstStyle/>
          <a:p>
            <a:pPr indent="0" lvl="0" marL="0" rtl="0" algn="l">
              <a:spcBef>
                <a:spcPts val="1800"/>
              </a:spcBef>
              <a:spcAft>
                <a:spcPts val="0"/>
              </a:spcAft>
              <a:buNone/>
            </a:pPr>
            <a:r>
              <a:rPr b="1" lang="en" sz="1642">
                <a:solidFill>
                  <a:srgbClr val="000000"/>
                </a:solidFill>
                <a:latin typeface="Arial"/>
                <a:ea typeface="Arial"/>
                <a:cs typeface="Arial"/>
                <a:sym typeface="Arial"/>
              </a:rPr>
              <a:t>Section A – Short-Answer Questions (Knowledge &amp; Understanding)</a:t>
            </a:r>
            <a:endParaRPr b="1" sz="1642">
              <a:solidFill>
                <a:srgbClr val="000000"/>
              </a:solidFill>
              <a:latin typeface="Arial"/>
              <a:ea typeface="Arial"/>
              <a:cs typeface="Arial"/>
              <a:sym typeface="Arial"/>
            </a:endParaRPr>
          </a:p>
          <a:p>
            <a:pPr indent="-332857" lvl="0" marL="457200" rtl="0" algn="l">
              <a:spcBef>
                <a:spcPts val="1200"/>
              </a:spcBef>
              <a:spcAft>
                <a:spcPts val="0"/>
              </a:spcAft>
              <a:buClr>
                <a:srgbClr val="000000"/>
              </a:buClr>
              <a:buSzPts val="1642"/>
              <a:buFont typeface="Arial"/>
              <a:buAutoNum type="arabicPeriod"/>
            </a:pPr>
            <a:r>
              <a:rPr lang="en" sz="1642">
                <a:solidFill>
                  <a:srgbClr val="000000"/>
                </a:solidFill>
                <a:latin typeface="Arial"/>
                <a:ea typeface="Arial"/>
                <a:cs typeface="Arial"/>
                <a:sym typeface="Arial"/>
              </a:rPr>
              <a:t>Define a </a:t>
            </a:r>
            <a:r>
              <a:rPr b="1" lang="en" sz="1642">
                <a:solidFill>
                  <a:srgbClr val="000000"/>
                </a:solidFill>
                <a:latin typeface="Arial"/>
                <a:ea typeface="Arial"/>
                <a:cs typeface="Arial"/>
                <a:sym typeface="Arial"/>
              </a:rPr>
              <a:t>primary key</a:t>
            </a:r>
            <a:r>
              <a:rPr lang="en" sz="1642">
                <a:solidFill>
                  <a:srgbClr val="000000"/>
                </a:solidFill>
                <a:latin typeface="Arial"/>
                <a:ea typeface="Arial"/>
                <a:cs typeface="Arial"/>
                <a:sym typeface="Arial"/>
              </a:rPr>
              <a:t> in a relational database. [2]</a:t>
            </a:r>
            <a:br>
              <a:rPr lang="en" sz="1642">
                <a:solidFill>
                  <a:srgbClr val="000000"/>
                </a:solidFill>
                <a:latin typeface="Arial"/>
                <a:ea typeface="Arial"/>
                <a:cs typeface="Arial"/>
                <a:sym typeface="Arial"/>
              </a:rPr>
            </a:br>
            <a:endParaRPr sz="1642">
              <a:solidFill>
                <a:srgbClr val="000000"/>
              </a:solidFill>
              <a:latin typeface="Arial"/>
              <a:ea typeface="Arial"/>
              <a:cs typeface="Arial"/>
              <a:sym typeface="Arial"/>
            </a:endParaRPr>
          </a:p>
          <a:p>
            <a:pPr indent="-332857" lvl="0" marL="457200" rtl="0" algn="l">
              <a:spcBef>
                <a:spcPts val="0"/>
              </a:spcBef>
              <a:spcAft>
                <a:spcPts val="0"/>
              </a:spcAft>
              <a:buClr>
                <a:srgbClr val="000000"/>
              </a:buClr>
              <a:buSzPts val="1642"/>
              <a:buFont typeface="Arial"/>
              <a:buAutoNum type="arabicPeriod"/>
            </a:pPr>
            <a:r>
              <a:rPr lang="en" sz="1642">
                <a:solidFill>
                  <a:srgbClr val="000000"/>
                </a:solidFill>
                <a:latin typeface="Arial"/>
                <a:ea typeface="Arial"/>
                <a:cs typeface="Arial"/>
                <a:sym typeface="Arial"/>
              </a:rPr>
              <a:t>Explain the purpose of a </a:t>
            </a:r>
            <a:r>
              <a:rPr b="1" lang="en" sz="1642">
                <a:solidFill>
                  <a:srgbClr val="000000"/>
                </a:solidFill>
                <a:latin typeface="Arial"/>
                <a:ea typeface="Arial"/>
                <a:cs typeface="Arial"/>
                <a:sym typeface="Arial"/>
              </a:rPr>
              <a:t>foreign key</a:t>
            </a:r>
            <a:r>
              <a:rPr lang="en" sz="1642">
                <a:solidFill>
                  <a:srgbClr val="000000"/>
                </a:solidFill>
                <a:latin typeface="Arial"/>
                <a:ea typeface="Arial"/>
                <a:cs typeface="Arial"/>
                <a:sym typeface="Arial"/>
              </a:rPr>
              <a:t>. [3]</a:t>
            </a:r>
            <a:br>
              <a:rPr lang="en" sz="1642">
                <a:solidFill>
                  <a:srgbClr val="000000"/>
                </a:solidFill>
                <a:latin typeface="Arial"/>
                <a:ea typeface="Arial"/>
                <a:cs typeface="Arial"/>
                <a:sym typeface="Arial"/>
              </a:rPr>
            </a:br>
            <a:endParaRPr sz="1642">
              <a:solidFill>
                <a:srgbClr val="000000"/>
              </a:solidFill>
              <a:latin typeface="Arial"/>
              <a:ea typeface="Arial"/>
              <a:cs typeface="Arial"/>
              <a:sym typeface="Arial"/>
            </a:endParaRPr>
          </a:p>
          <a:p>
            <a:pPr indent="-332857" lvl="0" marL="457200" rtl="0" algn="l">
              <a:spcBef>
                <a:spcPts val="0"/>
              </a:spcBef>
              <a:spcAft>
                <a:spcPts val="0"/>
              </a:spcAft>
              <a:buClr>
                <a:srgbClr val="000000"/>
              </a:buClr>
              <a:buSzPts val="1642"/>
              <a:buFont typeface="Arial"/>
              <a:buAutoNum type="arabicPeriod"/>
            </a:pPr>
            <a:r>
              <a:rPr lang="en" sz="1642">
                <a:solidFill>
                  <a:srgbClr val="000000"/>
                </a:solidFill>
                <a:latin typeface="Arial"/>
                <a:ea typeface="Arial"/>
                <a:cs typeface="Arial"/>
                <a:sym typeface="Arial"/>
              </a:rPr>
              <a:t>Describe what a </a:t>
            </a:r>
            <a:r>
              <a:rPr b="1" lang="en" sz="1642">
                <a:solidFill>
                  <a:srgbClr val="000000"/>
                </a:solidFill>
                <a:latin typeface="Arial"/>
                <a:ea typeface="Arial"/>
                <a:cs typeface="Arial"/>
                <a:sym typeface="Arial"/>
              </a:rPr>
              <a:t>table</a:t>
            </a:r>
            <a:r>
              <a:rPr lang="en" sz="1642">
                <a:solidFill>
                  <a:srgbClr val="000000"/>
                </a:solidFill>
                <a:latin typeface="Arial"/>
                <a:ea typeface="Arial"/>
                <a:cs typeface="Arial"/>
                <a:sym typeface="Arial"/>
              </a:rPr>
              <a:t> represents in a relational database. [2]</a:t>
            </a:r>
            <a:br>
              <a:rPr lang="en" sz="1642">
                <a:solidFill>
                  <a:srgbClr val="000000"/>
                </a:solidFill>
                <a:latin typeface="Arial"/>
                <a:ea typeface="Arial"/>
                <a:cs typeface="Arial"/>
                <a:sym typeface="Arial"/>
              </a:rPr>
            </a:br>
            <a:endParaRPr sz="1642">
              <a:solidFill>
                <a:srgbClr val="000000"/>
              </a:solidFill>
              <a:latin typeface="Arial"/>
              <a:ea typeface="Arial"/>
              <a:cs typeface="Arial"/>
              <a:sym typeface="Arial"/>
            </a:endParaRPr>
          </a:p>
          <a:p>
            <a:pPr indent="-332857" lvl="0" marL="457200" rtl="0" algn="l">
              <a:spcBef>
                <a:spcPts val="0"/>
              </a:spcBef>
              <a:spcAft>
                <a:spcPts val="0"/>
              </a:spcAft>
              <a:buClr>
                <a:srgbClr val="000000"/>
              </a:buClr>
              <a:buSzPts val="1642"/>
              <a:buFont typeface="Arial"/>
              <a:buAutoNum type="arabicPeriod"/>
            </a:pPr>
            <a:r>
              <a:rPr lang="en" sz="1642">
                <a:solidFill>
                  <a:srgbClr val="000000"/>
                </a:solidFill>
                <a:latin typeface="Arial"/>
                <a:ea typeface="Arial"/>
                <a:cs typeface="Arial"/>
                <a:sym typeface="Arial"/>
              </a:rPr>
              <a:t>Identify two advantages of using </a:t>
            </a:r>
            <a:r>
              <a:rPr b="1" lang="en" sz="1642">
                <a:solidFill>
                  <a:srgbClr val="000000"/>
                </a:solidFill>
                <a:latin typeface="Arial"/>
                <a:ea typeface="Arial"/>
                <a:cs typeface="Arial"/>
                <a:sym typeface="Arial"/>
              </a:rPr>
              <a:t>tables</a:t>
            </a:r>
            <a:r>
              <a:rPr lang="en" sz="1642">
                <a:solidFill>
                  <a:srgbClr val="000000"/>
                </a:solidFill>
                <a:latin typeface="Arial"/>
                <a:ea typeface="Arial"/>
                <a:cs typeface="Arial"/>
                <a:sym typeface="Arial"/>
              </a:rPr>
              <a:t> to organise data. [2]</a:t>
            </a:r>
            <a:br>
              <a:rPr lang="en" sz="1642">
                <a:solidFill>
                  <a:srgbClr val="000000"/>
                </a:solidFill>
                <a:latin typeface="Arial"/>
                <a:ea typeface="Arial"/>
                <a:cs typeface="Arial"/>
                <a:sym typeface="Arial"/>
              </a:rPr>
            </a:br>
            <a:endParaRPr sz="1642">
              <a:solidFill>
                <a:srgbClr val="000000"/>
              </a:solidFill>
              <a:latin typeface="Arial"/>
              <a:ea typeface="Arial"/>
              <a:cs typeface="Arial"/>
              <a:sym typeface="Arial"/>
            </a:endParaRPr>
          </a:p>
          <a:p>
            <a:pPr indent="-332857" lvl="0" marL="457200" rtl="0" algn="l">
              <a:spcBef>
                <a:spcPts val="0"/>
              </a:spcBef>
              <a:spcAft>
                <a:spcPts val="0"/>
              </a:spcAft>
              <a:buClr>
                <a:srgbClr val="000000"/>
              </a:buClr>
              <a:buSzPts val="1642"/>
              <a:buFont typeface="Arial"/>
              <a:buAutoNum type="arabicPeriod"/>
            </a:pPr>
            <a:r>
              <a:rPr lang="en" sz="1642">
                <a:solidFill>
                  <a:srgbClr val="000000"/>
                </a:solidFill>
                <a:latin typeface="Arial"/>
                <a:ea typeface="Arial"/>
                <a:cs typeface="Arial"/>
                <a:sym typeface="Arial"/>
              </a:rPr>
              <a:t>Outline one principle of </a:t>
            </a:r>
            <a:r>
              <a:rPr b="1" lang="en" sz="1642">
                <a:solidFill>
                  <a:srgbClr val="000000"/>
                </a:solidFill>
                <a:latin typeface="Arial"/>
                <a:ea typeface="Arial"/>
                <a:cs typeface="Arial"/>
                <a:sym typeface="Arial"/>
              </a:rPr>
              <a:t>table construction</a:t>
            </a:r>
            <a:r>
              <a:rPr lang="en" sz="1642">
                <a:solidFill>
                  <a:srgbClr val="000000"/>
                </a:solidFill>
                <a:latin typeface="Arial"/>
                <a:ea typeface="Arial"/>
                <a:cs typeface="Arial"/>
                <a:sym typeface="Arial"/>
              </a:rPr>
              <a:t> that helps reduce data redundancy. [2]</a:t>
            </a:r>
            <a:endParaRPr sz="1642">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Section B – Extended-Response Questions (Application &amp; Analysis)</a:t>
            </a:r>
            <a:endParaRPr sz="2400"/>
          </a:p>
        </p:txBody>
      </p:sp>
      <p:sp>
        <p:nvSpPr>
          <p:cNvPr id="167" name="Google Shape;167;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 sz="3250">
                <a:solidFill>
                  <a:srgbClr val="000000"/>
                </a:solidFill>
                <a:latin typeface="Arial"/>
                <a:ea typeface="Arial"/>
                <a:cs typeface="Arial"/>
                <a:sym typeface="Arial"/>
              </a:rPr>
              <a:t>A school wants to store information about </a:t>
            </a:r>
            <a:r>
              <a:rPr b="1" lang="en" sz="3250">
                <a:solidFill>
                  <a:srgbClr val="000000"/>
                </a:solidFill>
                <a:latin typeface="Arial"/>
                <a:ea typeface="Arial"/>
                <a:cs typeface="Arial"/>
                <a:sym typeface="Arial"/>
              </a:rPr>
              <a:t>Students</a:t>
            </a:r>
            <a:r>
              <a:rPr lang="en" sz="3250">
                <a:solidFill>
                  <a:srgbClr val="000000"/>
                </a:solidFill>
                <a:latin typeface="Arial"/>
                <a:ea typeface="Arial"/>
                <a:cs typeface="Arial"/>
                <a:sym typeface="Arial"/>
              </a:rPr>
              <a:t>, </a:t>
            </a:r>
            <a:r>
              <a:rPr b="1" lang="en" sz="3250">
                <a:solidFill>
                  <a:srgbClr val="000000"/>
                </a:solidFill>
                <a:latin typeface="Arial"/>
                <a:ea typeface="Arial"/>
                <a:cs typeface="Arial"/>
                <a:sym typeface="Arial"/>
              </a:rPr>
              <a:t>Courses</a:t>
            </a:r>
            <a:r>
              <a:rPr lang="en" sz="3250">
                <a:solidFill>
                  <a:srgbClr val="000000"/>
                </a:solidFill>
                <a:latin typeface="Arial"/>
                <a:ea typeface="Arial"/>
                <a:cs typeface="Arial"/>
                <a:sym typeface="Arial"/>
              </a:rPr>
              <a:t>, and </a:t>
            </a:r>
            <a:r>
              <a:rPr b="1" lang="en" sz="3250">
                <a:solidFill>
                  <a:srgbClr val="000000"/>
                </a:solidFill>
                <a:latin typeface="Arial"/>
                <a:ea typeface="Arial"/>
                <a:cs typeface="Arial"/>
                <a:sym typeface="Arial"/>
              </a:rPr>
              <a:t>Enrollments</a:t>
            </a:r>
            <a:r>
              <a:rPr lang="en" sz="3250">
                <a:solidFill>
                  <a:srgbClr val="000000"/>
                </a:solidFill>
                <a:latin typeface="Arial"/>
                <a:ea typeface="Arial"/>
                <a:cs typeface="Arial"/>
                <a:sym typeface="Arial"/>
              </a:rPr>
              <a:t>.</a:t>
            </a:r>
            <a:br>
              <a:rPr lang="en" sz="3250">
                <a:solidFill>
                  <a:srgbClr val="000000"/>
                </a:solidFill>
                <a:latin typeface="Arial"/>
                <a:ea typeface="Arial"/>
                <a:cs typeface="Arial"/>
                <a:sym typeface="Arial"/>
              </a:rPr>
            </a:br>
            <a:endParaRPr sz="325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ct val="100000"/>
              <a:buFont typeface="Arial"/>
              <a:buChar char="●"/>
            </a:pPr>
            <a:r>
              <a:rPr lang="en" sz="3250">
                <a:solidFill>
                  <a:srgbClr val="000000"/>
                </a:solidFill>
                <a:latin typeface="Arial"/>
                <a:ea typeface="Arial"/>
                <a:cs typeface="Arial"/>
                <a:sym typeface="Arial"/>
              </a:rPr>
              <a:t>(a) Design the </a:t>
            </a:r>
            <a:r>
              <a:rPr b="1" lang="en" sz="3250">
                <a:solidFill>
                  <a:srgbClr val="000000"/>
                </a:solidFill>
                <a:latin typeface="Arial"/>
                <a:ea typeface="Arial"/>
                <a:cs typeface="Arial"/>
                <a:sym typeface="Arial"/>
              </a:rPr>
              <a:t>tables</a:t>
            </a:r>
            <a:r>
              <a:rPr lang="en" sz="3250">
                <a:solidFill>
                  <a:srgbClr val="000000"/>
                </a:solidFill>
                <a:latin typeface="Arial"/>
                <a:ea typeface="Arial"/>
                <a:cs typeface="Arial"/>
                <a:sym typeface="Arial"/>
              </a:rPr>
              <a:t> including at least three attributes for each. [6]</a:t>
            </a:r>
            <a:br>
              <a:rPr lang="en" sz="3250">
                <a:solidFill>
                  <a:srgbClr val="000000"/>
                </a:solidFill>
                <a:latin typeface="Arial"/>
                <a:ea typeface="Arial"/>
                <a:cs typeface="Arial"/>
                <a:sym typeface="Arial"/>
              </a:rPr>
            </a:br>
            <a:endParaRPr sz="3250">
              <a:solidFill>
                <a:srgbClr val="000000"/>
              </a:solidFill>
              <a:latin typeface="Arial"/>
              <a:ea typeface="Arial"/>
              <a:cs typeface="Arial"/>
              <a:sym typeface="Arial"/>
            </a:endParaRPr>
          </a:p>
          <a:p>
            <a:pPr indent="-311150" lvl="0" marL="457200" rtl="0" algn="l">
              <a:spcBef>
                <a:spcPts val="0"/>
              </a:spcBef>
              <a:spcAft>
                <a:spcPts val="0"/>
              </a:spcAft>
              <a:buClr>
                <a:srgbClr val="000000"/>
              </a:buClr>
              <a:buSzPct val="100000"/>
              <a:buFont typeface="Arial"/>
              <a:buChar char="●"/>
            </a:pPr>
            <a:r>
              <a:rPr lang="en" sz="3250">
                <a:solidFill>
                  <a:srgbClr val="000000"/>
                </a:solidFill>
                <a:latin typeface="Arial"/>
                <a:ea typeface="Arial"/>
                <a:cs typeface="Arial"/>
                <a:sym typeface="Arial"/>
              </a:rPr>
              <a:t>(b) Identify the </a:t>
            </a:r>
            <a:r>
              <a:rPr b="1" lang="en" sz="3250">
                <a:solidFill>
                  <a:srgbClr val="000000"/>
                </a:solidFill>
                <a:latin typeface="Arial"/>
                <a:ea typeface="Arial"/>
                <a:cs typeface="Arial"/>
                <a:sym typeface="Arial"/>
              </a:rPr>
              <a:t>primary key</a:t>
            </a:r>
            <a:r>
              <a:rPr lang="en" sz="3250">
                <a:solidFill>
                  <a:srgbClr val="000000"/>
                </a:solidFill>
                <a:latin typeface="Arial"/>
                <a:ea typeface="Arial"/>
                <a:cs typeface="Arial"/>
                <a:sym typeface="Arial"/>
              </a:rPr>
              <a:t> for each table and explain your choice. [6]</a:t>
            </a:r>
            <a:br>
              <a:rPr lang="en" sz="3250">
                <a:solidFill>
                  <a:srgbClr val="000000"/>
                </a:solidFill>
                <a:latin typeface="Arial"/>
                <a:ea typeface="Arial"/>
                <a:cs typeface="Arial"/>
                <a:sym typeface="Arial"/>
              </a:rPr>
            </a:br>
            <a:endParaRPr sz="3250">
              <a:solidFill>
                <a:srgbClr val="000000"/>
              </a:solidFill>
              <a:latin typeface="Arial"/>
              <a:ea typeface="Arial"/>
              <a:cs typeface="Arial"/>
              <a:sym typeface="Arial"/>
            </a:endParaRPr>
          </a:p>
          <a:p>
            <a:pPr indent="-311150" lvl="0" marL="457200" rtl="0" algn="l">
              <a:spcBef>
                <a:spcPts val="0"/>
              </a:spcBef>
              <a:spcAft>
                <a:spcPts val="0"/>
              </a:spcAft>
              <a:buClr>
                <a:srgbClr val="000000"/>
              </a:buClr>
              <a:buSzPct val="100000"/>
              <a:buFont typeface="Arial"/>
              <a:buChar char="●"/>
            </a:pPr>
            <a:r>
              <a:rPr lang="en" sz="3250">
                <a:solidFill>
                  <a:srgbClr val="000000"/>
                </a:solidFill>
                <a:latin typeface="Arial"/>
                <a:ea typeface="Arial"/>
                <a:cs typeface="Arial"/>
                <a:sym typeface="Arial"/>
              </a:rPr>
              <a:t>(c) Suggest </a:t>
            </a:r>
            <a:r>
              <a:rPr b="1" lang="en" sz="3250">
                <a:solidFill>
                  <a:srgbClr val="000000"/>
                </a:solidFill>
                <a:latin typeface="Arial"/>
                <a:ea typeface="Arial"/>
                <a:cs typeface="Arial"/>
                <a:sym typeface="Arial"/>
              </a:rPr>
              <a:t>foreign keys</a:t>
            </a:r>
            <a:r>
              <a:rPr lang="en" sz="3250">
                <a:solidFill>
                  <a:srgbClr val="000000"/>
                </a:solidFill>
                <a:latin typeface="Arial"/>
                <a:ea typeface="Arial"/>
                <a:cs typeface="Arial"/>
                <a:sym typeface="Arial"/>
              </a:rPr>
              <a:t> and describe the relationships between the tables. [6]</a:t>
            </a:r>
            <a:br>
              <a:rPr lang="en" sz="3250">
                <a:solidFill>
                  <a:srgbClr val="000000"/>
                </a:solidFill>
                <a:latin typeface="Arial"/>
                <a:ea typeface="Arial"/>
                <a:cs typeface="Arial"/>
                <a:sym typeface="Arial"/>
              </a:rPr>
            </a:br>
            <a:endParaRPr sz="3250">
              <a:solidFill>
                <a:srgbClr val="000000"/>
              </a:solidFill>
              <a:latin typeface="Arial"/>
              <a:ea typeface="Arial"/>
              <a:cs typeface="Arial"/>
              <a:sym typeface="Arial"/>
            </a:endParaRPr>
          </a:p>
          <a:p>
            <a:pPr indent="0" lvl="0" marL="0" rtl="0" algn="l">
              <a:spcBef>
                <a:spcPts val="1200"/>
              </a:spcBef>
              <a:spcAft>
                <a:spcPts val="0"/>
              </a:spcAft>
              <a:buNone/>
            </a:pPr>
            <a:r>
              <a:rPr lang="en" sz="3250">
                <a:solidFill>
                  <a:srgbClr val="000000"/>
                </a:solidFill>
                <a:latin typeface="Arial"/>
                <a:ea typeface="Arial"/>
                <a:cs typeface="Arial"/>
                <a:sym typeface="Arial"/>
              </a:rPr>
              <a:t>Consider an online bookstore database. Analyse how </a:t>
            </a:r>
            <a:r>
              <a:rPr b="1" lang="en" sz="3250">
                <a:solidFill>
                  <a:srgbClr val="000000"/>
                </a:solidFill>
                <a:latin typeface="Arial"/>
                <a:ea typeface="Arial"/>
                <a:cs typeface="Arial"/>
                <a:sym typeface="Arial"/>
              </a:rPr>
              <a:t>primary and foreign keys</a:t>
            </a:r>
            <a:r>
              <a:rPr lang="en" sz="3250">
                <a:solidFill>
                  <a:srgbClr val="000000"/>
                </a:solidFill>
                <a:latin typeface="Arial"/>
                <a:ea typeface="Arial"/>
                <a:cs typeface="Arial"/>
                <a:sym typeface="Arial"/>
              </a:rPr>
              <a:t> support accurate and efficient data retrieval. [8]</a:t>
            </a:r>
            <a:br>
              <a:rPr lang="en" sz="3250">
                <a:solidFill>
                  <a:srgbClr val="000000"/>
                </a:solidFill>
                <a:latin typeface="Arial"/>
                <a:ea typeface="Arial"/>
                <a:cs typeface="Arial"/>
                <a:sym typeface="Arial"/>
              </a:rPr>
            </a:br>
            <a:endParaRPr sz="3250">
              <a:solidFill>
                <a:srgbClr val="000000"/>
              </a:solidFill>
              <a:latin typeface="Arial"/>
              <a:ea typeface="Arial"/>
              <a:cs typeface="Arial"/>
              <a:sym typeface="Arial"/>
            </a:endParaRPr>
          </a:p>
          <a:p>
            <a:pPr indent="0" lvl="0" marL="0" rtl="0" algn="l">
              <a:spcBef>
                <a:spcPts val="0"/>
              </a:spcBef>
              <a:spcAft>
                <a:spcPts val="0"/>
              </a:spcAft>
              <a:buNone/>
            </a:pPr>
            <a:r>
              <a:rPr lang="en" sz="3250">
                <a:solidFill>
                  <a:srgbClr val="000000"/>
                </a:solidFill>
                <a:latin typeface="Arial"/>
                <a:ea typeface="Arial"/>
                <a:cs typeface="Arial"/>
                <a:sym typeface="Arial"/>
              </a:rPr>
              <a:t>To what extent does the </a:t>
            </a:r>
            <a:r>
              <a:rPr b="1" lang="en" sz="3250">
                <a:solidFill>
                  <a:srgbClr val="000000"/>
                </a:solidFill>
                <a:latin typeface="Arial"/>
                <a:ea typeface="Arial"/>
                <a:cs typeface="Arial"/>
                <a:sym typeface="Arial"/>
              </a:rPr>
              <a:t>way a database is structured into tables</a:t>
            </a:r>
            <a:r>
              <a:rPr lang="en" sz="3250">
                <a:solidFill>
                  <a:srgbClr val="000000"/>
                </a:solidFill>
                <a:latin typeface="Arial"/>
                <a:ea typeface="Arial"/>
                <a:cs typeface="Arial"/>
                <a:sym typeface="Arial"/>
              </a:rPr>
              <a:t> affect the knowledge that can be extracted from it? Provide examples to support your answer. [10]</a:t>
            </a:r>
            <a:endParaRPr sz="325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