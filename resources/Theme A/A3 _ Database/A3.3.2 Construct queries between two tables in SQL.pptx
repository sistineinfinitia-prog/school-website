
<file path=[Content_Types].xml><?xml version="1.0" encoding="utf-8"?>
<Types xmlns="http://schemas.openxmlformats.org/package/2006/content-types">
  <Default ContentType="application/x-fontdata" Extension="fntdata"/>
  <Default ContentType="application/xml" Extension="xml"/>
  <Default ContentType="image/png" Extension="png"/>
  <Default ContentType="application/vnd.openxmlformats-officedocument.obfuscatedFont" Extension="odttf"/>
  <Default ContentType="application/vnd.openxmlformats-package.relationships+xml" Extension="rels"/>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9.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8.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tableStyles+xml" PartName="/ppt/tableStyles.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1.xml"/>
  <Override ContentType="application/vnd.openxmlformats-officedocument.presentationml.slideLayout+xml" PartName="/ppt/slideLayouts/slideLayout1.xml"/>
  <Override ContentType="application/vnd.openxmlformats-officedocument.presentationml.slideLayout+xml" PartName="/ppt/slideLayouts/slideLayout10.xml"/>
  <Override ContentType="application/vnd.openxmlformats-officedocument.presentationml.slideLayout+xml" PartName="/ppt/slideLayouts/slideLayout7.xml"/>
  <Override ContentType="application/vnd.openxmlformats-officedocument.presentationml.slideLayout+xml" PartName="/ppt/slideLayouts/slideLayout6.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Master+xml" PartName="/ppt/slideMasters/slideMaster1.xml"/>
  <Override ContentType="application/vnd.openxmlformats-officedocument.presentationml.slide+xml" PartName="/ppt/slides/slide4.xml"/>
  <Override ContentType="application/vnd.openxmlformats-officedocument.presentationml.slide+xml" PartName="/ppt/slides/slide11.xml"/>
  <Override ContentType="application/vnd.openxmlformats-officedocument.presentationml.slide+xml" PartName="/ppt/slides/slide1.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2.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8.xml"/>
  <Override ContentType="application/vnd.openxmlformats-officedocument.presentationml.notesMaster+xml" PartName="/ppt/notesMasters/notesMaster1.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5"/>
  </p:sldMasterIdLst>
  <p:notesMasterIdLst>
    <p:notesMasterId r:id="rId6"/>
  </p:notesMasterIdLst>
  <p:sldIdLst>
    <p:sldId id="256" r:id="rId7"/>
    <p:sldId id="257" r:id="rId8"/>
    <p:sldId id="258" r:id="rId9"/>
    <p:sldId id="259" r:id="rId10"/>
    <p:sldId id="260" r:id="rId11"/>
    <p:sldId id="261" r:id="rId12"/>
    <p:sldId id="262" r:id="rId13"/>
    <p:sldId id="263" r:id="rId14"/>
    <p:sldId id="264" r:id="rId15"/>
    <p:sldId id="265" r:id="rId16"/>
    <p:sldId id="266" r:id="rId17"/>
    <p:sldId id="267" r:id="rId18"/>
    <p:sldId id="268" r:id="rId19"/>
  </p:sldIdLst>
  <p:sldSz cy="5143500" cx="9144000"/>
  <p:notesSz cx="6858000" cy="9144000"/>
  <p:embeddedFontLst>
    <p:embeddedFont>
      <p:font typeface="Nunito"/>
      <p:regular r:id="rId20"/>
      <p:bold r:id="rId21"/>
      <p:italic r:id="rId22"/>
      <p:boldItalic r:id="rId23"/>
    </p:embeddedFont>
    <p:embeddedFont>
      <p:font typeface="Lexend"/>
      <p:regular r:id="rId24"/>
      <p:bold r:id="rId25"/>
    </p:embeddedFont>
    <p:embeddedFont>
      <p:font typeface="Roboto Mono"/>
      <p:regular r:id="rId26"/>
      <p:bold r:id="rId27"/>
      <p:italic r:id="rId28"/>
      <p:boldItalic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tableStyles.xml><?xml version="1.0" encoding="utf-8"?>
<a:tblStyleLst xmlns:a="http://schemas.openxmlformats.org/drawingml/2006/main" xmlns:r="http://schemas.openxmlformats.org/officeDocument/2006/relationships" def="{720F8D36-AFF3-4BA0-8962-BB51D68083F7}">
  <a:tblStyle styleId="{720F8D36-AFF3-4BA0-8962-BB51D68083F7}" styleName="Table_0">
    <a:wholeTbl>
      <a:tcTxStyle>
        <a:font>
          <a:latin typeface="Arial"/>
          <a:ea typeface="Arial"/>
          <a:cs typeface="Arial"/>
        </a:font>
        <a:srgbClr val="000000"/>
      </a:tcTxStyle>
    </a:wholeTbl>
    <a:band1H>
      <a:tcTxStyle/>
    </a:band1H>
    <a:band2H>
      <a:tcTxStyle/>
    </a:band2H>
    <a:band1V>
      <a:tcTxStyle/>
    </a:band1V>
    <a:band2V>
      <a:tcTxStyle/>
    </a:band2V>
    <a:lastCol>
      <a:tcTxStyle/>
    </a:lastCol>
    <a:firstCol>
      <a:tcTxStyle/>
    </a:firstCol>
    <a:lastRow>
      <a:tcTxStyle/>
    </a:lastRow>
    <a:seCell>
      <a:tcTxStyle/>
    </a:seCell>
    <a:swCell>
      <a:tcTxStyle/>
    </a:swCell>
    <a:firstRow>
      <a:tcTxStyle/>
    </a:firstRow>
    <a:neCell>
      <a:tcTxStyle/>
    </a:neCell>
    <a:nwCell>
      <a:tcTxStyle/>
    </a:nwCell>
  </a:tblStyle>
</a:tblStyleLst>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font" Target="fonts/Nunito-regular.fntdata"/><Relationship Id="rId22" Type="http://schemas.openxmlformats.org/officeDocument/2006/relationships/font" Target="fonts/Nunito-italic.fntdata"/><Relationship Id="rId21" Type="http://schemas.openxmlformats.org/officeDocument/2006/relationships/font" Target="fonts/Nunito-bold.fntdata"/><Relationship Id="rId24" Type="http://schemas.openxmlformats.org/officeDocument/2006/relationships/font" Target="fonts/Lexend-regular.fntdata"/><Relationship Id="rId23" Type="http://schemas.openxmlformats.org/officeDocument/2006/relationships/font" Target="fonts/Nunito-boldItalic.fntdata"/><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tableStyles" Target="tableStyles.xml"/><Relationship Id="rId9" Type="http://schemas.openxmlformats.org/officeDocument/2006/relationships/slide" Target="slides/slide3.xml"/><Relationship Id="rId26" Type="http://schemas.openxmlformats.org/officeDocument/2006/relationships/font" Target="fonts/RobotoMono-regular.fntdata"/><Relationship Id="rId25" Type="http://schemas.openxmlformats.org/officeDocument/2006/relationships/font" Target="fonts/Lexend-bold.fntdata"/><Relationship Id="rId28" Type="http://schemas.openxmlformats.org/officeDocument/2006/relationships/font" Target="fonts/RobotoMono-italic.fntdata"/><Relationship Id="rId27" Type="http://schemas.openxmlformats.org/officeDocument/2006/relationships/font" Target="fonts/RobotoMono-bold.fntdata"/><Relationship Id="rId5" Type="http://schemas.openxmlformats.org/officeDocument/2006/relationships/slideMaster" Target="slideMasters/slideMaster1.xml"/><Relationship Id="rId6" Type="http://schemas.openxmlformats.org/officeDocument/2006/relationships/notesMaster" Target="notesMasters/notesMaster1.xml"/><Relationship Id="rId29" Type="http://schemas.openxmlformats.org/officeDocument/2006/relationships/font" Target="fonts/RobotoMono-boldItalic.fntdata"/><Relationship Id="rId7" Type="http://schemas.openxmlformats.org/officeDocument/2006/relationships/slide" Target="slides/slide1.xml"/><Relationship Id="rId8" Type="http://schemas.openxmlformats.org/officeDocument/2006/relationships/slide" Target="slides/slide2.xml"/><Relationship Id="rId11" Type="http://schemas.openxmlformats.org/officeDocument/2006/relationships/slide" Target="slides/slide5.xml"/><Relationship Id="rId10" Type="http://schemas.openxmlformats.org/officeDocument/2006/relationships/slide" Target="slides/slide4.xml"/><Relationship Id="rId13" Type="http://schemas.openxmlformats.org/officeDocument/2006/relationships/slide" Target="slides/slide7.xml"/><Relationship Id="rId12" Type="http://schemas.openxmlformats.org/officeDocument/2006/relationships/slide" Target="slides/slide6.xml"/><Relationship Id="rId15" Type="http://schemas.openxmlformats.org/officeDocument/2006/relationships/slide" Target="slides/slide9.xml"/><Relationship Id="rId14" Type="http://schemas.openxmlformats.org/officeDocument/2006/relationships/slide" Target="slides/slide8.xml"/><Relationship Id="rId17" Type="http://schemas.openxmlformats.org/officeDocument/2006/relationships/slide" Target="slides/slide11.xml"/><Relationship Id="rId16" Type="http://schemas.openxmlformats.org/officeDocument/2006/relationships/slide" Target="slides/slide10.xml"/><Relationship Id="rId19" Type="http://schemas.openxmlformats.org/officeDocument/2006/relationships/slide" Target="slides/slide13.xml"/><Relationship Id="rId18" Type="http://schemas.openxmlformats.org/officeDocument/2006/relationships/slide" Target="slides/slide1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6" name="Shape 56"/>
        <p:cNvGrpSpPr/>
        <p:nvPr/>
      </p:nvGrpSpPr>
      <p:grpSpPr>
        <a:xfrm>
          <a:off x="0" y="0"/>
          <a:ext cx="0" cy="0"/>
          <a:chOff x="0" y="0"/>
          <a:chExt cx="0" cy="0"/>
        </a:xfrm>
      </p:grpSpPr>
      <p:sp>
        <p:nvSpPr>
          <p:cNvPr id="57" name="Google Shape;57;g39f888da11b_0_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8" name="Google Shape;58;g39f888da11b_0_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3" name="Shape 73"/>
        <p:cNvGrpSpPr/>
        <p:nvPr/>
      </p:nvGrpSpPr>
      <p:grpSpPr>
        <a:xfrm>
          <a:off x="0" y="0"/>
          <a:ext cx="0" cy="0"/>
          <a:chOff x="0" y="0"/>
          <a:chExt cx="0" cy="0"/>
        </a:xfrm>
      </p:grpSpPr>
      <p:sp>
        <p:nvSpPr>
          <p:cNvPr id="74" name="Google Shape;74;g39f888da11b_0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5" name="Google Shape;75;g39f888da11b_0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1" name="Shape 81"/>
        <p:cNvGrpSpPr/>
        <p:nvPr/>
      </p:nvGrpSpPr>
      <p:grpSpPr>
        <a:xfrm>
          <a:off x="0" y="0"/>
          <a:ext cx="0" cy="0"/>
          <a:chOff x="0" y="0"/>
          <a:chExt cx="0" cy="0"/>
        </a:xfrm>
      </p:grpSpPr>
      <p:sp>
        <p:nvSpPr>
          <p:cNvPr id="82" name="Google Shape;82;g39f888da11b_0_88: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3" name="Google Shape;83;g39f888da11b_0_88: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6" name="Shape 86"/>
        <p:cNvGrpSpPr/>
        <p:nvPr/>
      </p:nvGrpSpPr>
      <p:grpSpPr>
        <a:xfrm>
          <a:off x="0" y="0"/>
          <a:ext cx="0" cy="0"/>
          <a:chOff x="0" y="0"/>
          <a:chExt cx="0" cy="0"/>
        </a:xfrm>
      </p:grpSpPr>
      <p:sp>
        <p:nvSpPr>
          <p:cNvPr id="87" name="Google Shape;87;g39f888da11b_0_7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8" name="Google Shape;88;g39f888da11b_0_7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2" name="Shape 92"/>
        <p:cNvGrpSpPr/>
        <p:nvPr/>
      </p:nvGrpSpPr>
      <p:grpSpPr>
        <a:xfrm>
          <a:off x="0" y="0"/>
          <a:ext cx="0" cy="0"/>
          <a:chOff x="0" y="0"/>
          <a:chExt cx="0" cy="0"/>
        </a:xfrm>
      </p:grpSpPr>
      <p:sp>
        <p:nvSpPr>
          <p:cNvPr id="93" name="Google Shape;93;g39f888da11b_0_8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4" name="Google Shape;94;g39f888da11b_0_8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7" name="Shape 97"/>
        <p:cNvGrpSpPr/>
        <p:nvPr/>
      </p:nvGrpSpPr>
      <p:grpSpPr>
        <a:xfrm>
          <a:off x="0" y="0"/>
          <a:ext cx="0" cy="0"/>
          <a:chOff x="0" y="0"/>
          <a:chExt cx="0" cy="0"/>
        </a:xfrm>
      </p:grpSpPr>
      <p:sp>
        <p:nvSpPr>
          <p:cNvPr id="98" name="Google Shape;98;g39f888da11b_0_9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99" name="Google Shape;99;g39f888da11b_0_9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3" name="Shape 103"/>
        <p:cNvGrpSpPr/>
        <p:nvPr/>
      </p:nvGrpSpPr>
      <p:grpSpPr>
        <a:xfrm>
          <a:off x="0" y="0"/>
          <a:ext cx="0" cy="0"/>
          <a:chOff x="0" y="0"/>
          <a:chExt cx="0" cy="0"/>
        </a:xfrm>
      </p:grpSpPr>
      <p:sp>
        <p:nvSpPr>
          <p:cNvPr id="104" name="Google Shape;104;g39f888da11b_0_94: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05" name="Google Shape;105;g39f888da11b_0_94: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8" name="Shape 108"/>
        <p:cNvGrpSpPr/>
        <p:nvPr/>
      </p:nvGrpSpPr>
      <p:grpSpPr>
        <a:xfrm>
          <a:off x="0" y="0"/>
          <a:ext cx="0" cy="0"/>
          <a:chOff x="0" y="0"/>
          <a:chExt cx="0" cy="0"/>
        </a:xfrm>
      </p:grpSpPr>
      <p:sp>
        <p:nvSpPr>
          <p:cNvPr id="109" name="Google Shape;109;g39f888da11b_0_9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0" name="Google Shape;110;g39f888da11b_0_9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g39f888da11b_0_100: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16" name="Google Shape;116;g39f888da11b_0_100: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0" name="Shape 120"/>
        <p:cNvGrpSpPr/>
        <p:nvPr/>
      </p:nvGrpSpPr>
      <p:grpSpPr>
        <a:xfrm>
          <a:off x="0" y="0"/>
          <a:ext cx="0" cy="0"/>
          <a:chOff x="0" y="0"/>
          <a:chExt cx="0" cy="0"/>
        </a:xfrm>
      </p:grpSpPr>
      <p:sp>
        <p:nvSpPr>
          <p:cNvPr id="121" name="Google Shape;121;g39f888da11b_0_152: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22" name="Google Shape;122;g39f888da11b_0_152: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8" name="Shape 128"/>
        <p:cNvGrpSpPr/>
        <p:nvPr/>
      </p:nvGrpSpPr>
      <p:grpSpPr>
        <a:xfrm>
          <a:off x="0" y="0"/>
          <a:ext cx="0" cy="0"/>
          <a:chOff x="0" y="0"/>
          <a:chExt cx="0" cy="0"/>
        </a:xfrm>
      </p:grpSpPr>
      <p:sp>
        <p:nvSpPr>
          <p:cNvPr id="129" name="Google Shape;129;g39f888da11b_0_106: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0" name="Google Shape;130;g39f888da11b_0_106: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3" name="Shape 133"/>
        <p:cNvGrpSpPr/>
        <p:nvPr/>
      </p:nvGrpSpPr>
      <p:grpSpPr>
        <a:xfrm>
          <a:off x="0" y="0"/>
          <a:ext cx="0" cy="0"/>
          <a:chOff x="0" y="0"/>
          <a:chExt cx="0" cy="0"/>
        </a:xfrm>
      </p:grpSpPr>
      <p:sp>
        <p:nvSpPr>
          <p:cNvPr id="134" name="Google Shape;134;g39f888da11b_0_10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135" name="Google Shape;135;g39f888da11b_0_10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11" Type="http://schemas.openxmlformats.org/officeDocument/2006/relationships/slideLayout" Target="../slideLayouts/slideLayout11.xml"/><Relationship Id="rId10" Type="http://schemas.openxmlformats.org/officeDocument/2006/relationships/slideLayout" Target="../slideLayouts/slideLayout10.xml"/><Relationship Id="rId12" Type="http://schemas.openxmlformats.org/officeDocument/2006/relationships/theme" Target="../theme/theme2.xml"/><Relationship Id="rId9" Type="http://schemas.openxmlformats.org/officeDocument/2006/relationships/slideLayout" Target="../slideLayouts/slideLayout9.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 Id="rId3" Type="http://schemas.openxmlformats.org/officeDocument/2006/relationships/image" Target="../media/image4.png"/><Relationship Id="rId4" Type="http://schemas.openxmlformats.org/officeDocument/2006/relationships/image" Target="../media/image3.png"/><Relationship Id="rId5" Type="http://schemas.openxmlformats.org/officeDocument/2006/relationships/image" Target="../media/image2.png"/><Relationship Id="rId6" Type="http://schemas.openxmlformats.org/officeDocument/2006/relationships/image" Target="../media/image1.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hyperlink" Target="https://www.geeksforgeeks.org/sql/sql-inner-join/" TargetMode="External"/><Relationship Id="rId4" Type="http://schemas.openxmlformats.org/officeDocument/2006/relationships/image" Target="../media/image8.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6.xml"/><Relationship Id="rId3"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7.xml"/><Relationship Id="rId3" Type="http://schemas.openxmlformats.org/officeDocument/2006/relationships/hyperlink" Target="https://www.geeksforgeeks.org/sql/sql-left-join/" TargetMode="External"/><Relationship Id="rId4" Type="http://schemas.openxmlformats.org/officeDocument/2006/relationships/image" Target="../media/image10.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8.xml"/><Relationship Id="rId3"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9.xml"/><Relationship Id="rId3" Type="http://schemas.openxmlformats.org/officeDocument/2006/relationships/hyperlink" Target="https://www.geeksforgeeks.org/sql/sql-right-join/" TargetMode="External"/><Relationship Id="rId4" Type="http://schemas.openxmlformats.org/officeDocument/2006/relationships/image" Target="../media/image7.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0.xml"/><Relationship Id="rId3" Type="http://schemas.openxmlformats.org/officeDocument/2006/relationships/image" Target="../media/image5.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13.xml"/></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311700" y="581925"/>
            <a:ext cx="8520600" cy="2215200"/>
          </a:xfrm>
          <a:prstGeom prst="rect">
            <a:avLst/>
          </a:prstGeom>
          <a:solidFill>
            <a:srgbClr val="FF9900"/>
          </a:solidFill>
        </p:spPr>
        <p:txBody>
          <a:bodyPr anchorCtr="0" anchor="b" bIns="91425" lIns="91425" spcFirstLastPara="1" rIns="91425" wrap="square" tIns="91425">
            <a:normAutofit fontScale="90000"/>
          </a:bodyPr>
          <a:lstStyle/>
          <a:p>
            <a:pPr indent="0" lvl="0" marL="0" rtl="0" algn="ctr">
              <a:spcBef>
                <a:spcPts val="0"/>
              </a:spcBef>
              <a:spcAft>
                <a:spcPts val="0"/>
              </a:spcAft>
              <a:buClr>
                <a:schemeClr val="dk1"/>
              </a:buClr>
              <a:buSzPts val="990"/>
              <a:buFont typeface="Arial"/>
              <a:buNone/>
            </a:pPr>
            <a:r>
              <a:rPr lang="en"/>
              <a:t>A3.3.2 Construct queries between two</a:t>
            </a:r>
            <a:endParaRPr/>
          </a:p>
          <a:p>
            <a:pPr indent="0" lvl="0" marL="0" rtl="0" algn="ctr">
              <a:spcBef>
                <a:spcPts val="0"/>
              </a:spcBef>
              <a:spcAft>
                <a:spcPts val="0"/>
              </a:spcAft>
              <a:buNone/>
            </a:pPr>
            <a:r>
              <a:rPr lang="en"/>
              <a:t>tables in SQL</a:t>
            </a:r>
            <a:endParaRPr/>
          </a:p>
        </p:txBody>
      </p:sp>
      <p:sp>
        <p:nvSpPr>
          <p:cNvPr id="55" name="Google Shape;55;p13"/>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p>
            <a:pPr indent="0" lvl="0" marL="0" rtl="0" algn="ctr">
              <a:spcBef>
                <a:spcPts val="0"/>
              </a:spcBef>
              <a:spcAft>
                <a:spcPts val="0"/>
              </a:spcAft>
              <a:buNone/>
            </a:pPr>
            <a:r>
              <a:rPr lang="en"/>
              <a:t>Lesson</a:t>
            </a:r>
            <a:r>
              <a:rPr lang="en"/>
              <a:t> 1 </a:t>
            </a:r>
            <a:endParaRPr/>
          </a:p>
        </p:txBody>
      </p:sp>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9" name="Shape 59"/>
        <p:cNvGrpSpPr/>
        <p:nvPr/>
      </p:nvGrpSpPr>
      <p:grpSpPr>
        <a:xfrm>
          <a:off x="0" y="0"/>
          <a:ext cx="0" cy="0"/>
          <a:chOff x="0" y="0"/>
          <a:chExt cx="0" cy="0"/>
        </a:xfrm>
      </p:grpSpPr>
      <p:pic>
        <p:nvPicPr>
          <p:cNvPr descr="Logo, company name&#10;&#10;Description automatically generated" id="60" name="Google Shape;60;p14"/>
          <p:cNvPicPr preferRelativeResize="0"/>
          <p:nvPr/>
        </p:nvPicPr>
        <p:blipFill rotWithShape="1">
          <a:blip r:embed="rId3">
            <a:alphaModFix/>
          </a:blip>
          <a:srcRect b="0" l="0" r="0" t="0"/>
          <a:stretch/>
        </p:blipFill>
        <p:spPr>
          <a:xfrm>
            <a:off x="128427" y="88361"/>
            <a:ext cx="1368278" cy="1368278"/>
          </a:xfrm>
          <a:prstGeom prst="rect">
            <a:avLst/>
          </a:prstGeom>
          <a:noFill/>
          <a:ln>
            <a:noFill/>
          </a:ln>
        </p:spPr>
      </p:pic>
      <p:pic>
        <p:nvPicPr>
          <p:cNvPr id="61" name="Google Shape;61;p14"/>
          <p:cNvPicPr preferRelativeResize="0"/>
          <p:nvPr/>
        </p:nvPicPr>
        <p:blipFill rotWithShape="1">
          <a:blip r:embed="rId4">
            <a:alphaModFix/>
          </a:blip>
          <a:srcRect b="0" l="0" r="0" t="0"/>
          <a:stretch/>
        </p:blipFill>
        <p:spPr>
          <a:xfrm>
            <a:off x="8343825" y="0"/>
            <a:ext cx="800197" cy="1381055"/>
          </a:xfrm>
          <a:prstGeom prst="rect">
            <a:avLst/>
          </a:prstGeom>
          <a:noFill/>
          <a:ln>
            <a:noFill/>
          </a:ln>
        </p:spPr>
      </p:pic>
      <p:pic>
        <p:nvPicPr>
          <p:cNvPr id="62" name="Google Shape;62;p14"/>
          <p:cNvPicPr preferRelativeResize="0"/>
          <p:nvPr/>
        </p:nvPicPr>
        <p:blipFill rotWithShape="1">
          <a:blip r:embed="rId5">
            <a:alphaModFix/>
          </a:blip>
          <a:srcRect b="0" l="0" r="0" t="0"/>
          <a:stretch/>
        </p:blipFill>
        <p:spPr>
          <a:xfrm>
            <a:off x="8343828" y="1381056"/>
            <a:ext cx="800197" cy="1496989"/>
          </a:xfrm>
          <a:prstGeom prst="rect">
            <a:avLst/>
          </a:prstGeom>
          <a:noFill/>
          <a:ln>
            <a:noFill/>
          </a:ln>
        </p:spPr>
      </p:pic>
      <p:sp>
        <p:nvSpPr>
          <p:cNvPr id="63" name="Google Shape;63;p14"/>
          <p:cNvSpPr txBox="1"/>
          <p:nvPr/>
        </p:nvSpPr>
        <p:spPr>
          <a:xfrm>
            <a:off x="856050" y="466200"/>
            <a:ext cx="7431900" cy="614100"/>
          </a:xfrm>
          <a:prstGeom prst="rect">
            <a:avLst/>
          </a:prstGeom>
          <a:noFill/>
          <a:ln>
            <a:noFill/>
          </a:ln>
        </p:spPr>
        <p:txBody>
          <a:bodyPr anchorCtr="0" anchor="t" bIns="91425" lIns="91425" spcFirstLastPara="1" rIns="91425" wrap="square" tIns="91425">
            <a:spAutoFit/>
          </a:bodyPr>
          <a:lstStyle/>
          <a:p>
            <a:pPr indent="0" lvl="0" marL="0" marR="0" rtl="0" algn="ctr">
              <a:lnSpc>
                <a:spcPct val="90000"/>
              </a:lnSpc>
              <a:spcBef>
                <a:spcPts val="1000"/>
              </a:spcBef>
              <a:spcAft>
                <a:spcPts val="0"/>
              </a:spcAft>
              <a:buClr>
                <a:srgbClr val="000000"/>
              </a:buClr>
              <a:buSzPts val="3100"/>
              <a:buFont typeface="Arial"/>
              <a:buNone/>
            </a:pPr>
            <a:r>
              <a:rPr b="1" i="0" lang="en" sz="3100" u="sng" cap="none" strike="noStrike">
                <a:solidFill>
                  <a:srgbClr val="000000"/>
                </a:solidFill>
                <a:latin typeface="Arial"/>
                <a:ea typeface="Arial"/>
                <a:cs typeface="Arial"/>
                <a:sym typeface="Arial"/>
              </a:rPr>
              <a:t>Do Now Activity (</a:t>
            </a:r>
            <a:r>
              <a:rPr b="1" lang="en" sz="3100" u="sng"/>
              <a:t>5 mins)</a:t>
            </a:r>
            <a:endParaRPr b="1" i="0" sz="3100" u="sng" cap="none" strike="noStrike">
              <a:solidFill>
                <a:srgbClr val="000000"/>
              </a:solidFill>
              <a:latin typeface="Arial"/>
              <a:ea typeface="Arial"/>
              <a:cs typeface="Arial"/>
              <a:sym typeface="Arial"/>
            </a:endParaRPr>
          </a:p>
        </p:txBody>
      </p:sp>
      <p:sp>
        <p:nvSpPr>
          <p:cNvPr id="64" name="Google Shape;64;p14"/>
          <p:cNvSpPr txBox="1"/>
          <p:nvPr/>
        </p:nvSpPr>
        <p:spPr>
          <a:xfrm>
            <a:off x="291100" y="1375800"/>
            <a:ext cx="7431900" cy="392400"/>
          </a:xfrm>
          <a:prstGeom prst="rect">
            <a:avLst/>
          </a:prstGeom>
          <a:noFill/>
          <a:ln>
            <a:noFill/>
          </a:ln>
        </p:spPr>
        <p:txBody>
          <a:bodyPr anchorCtr="0" anchor="t" bIns="91425" lIns="91425" spcFirstLastPara="1" rIns="91425" wrap="square" tIns="91425">
            <a:spAutoFit/>
          </a:bodyPr>
          <a:lstStyle/>
          <a:p>
            <a:pPr indent="0" lvl="0" marL="0" marR="0" rtl="0" algn="l">
              <a:lnSpc>
                <a:spcPct val="90000"/>
              </a:lnSpc>
              <a:spcBef>
                <a:spcPts val="1000"/>
              </a:spcBef>
              <a:spcAft>
                <a:spcPts val="0"/>
              </a:spcAft>
              <a:buClr>
                <a:srgbClr val="000000"/>
              </a:buClr>
              <a:buSzPts val="1500"/>
              <a:buFont typeface="Arial"/>
              <a:buNone/>
            </a:pPr>
            <a:r>
              <a:t/>
            </a:r>
            <a:endParaRPr b="0" i="0" sz="1500" u="none" cap="none" strike="noStrike">
              <a:solidFill>
                <a:srgbClr val="000000"/>
              </a:solidFill>
              <a:latin typeface="Arial"/>
              <a:ea typeface="Arial"/>
              <a:cs typeface="Arial"/>
              <a:sym typeface="Arial"/>
            </a:endParaRPr>
          </a:p>
        </p:txBody>
      </p:sp>
      <p:sp>
        <p:nvSpPr>
          <p:cNvPr id="65" name="Google Shape;65;p14"/>
          <p:cNvSpPr/>
          <p:nvPr/>
        </p:nvSpPr>
        <p:spPr>
          <a:xfrm>
            <a:off x="1134925" y="1413900"/>
            <a:ext cx="4506600" cy="2503800"/>
          </a:xfrm>
          <a:prstGeom prst="rect">
            <a:avLst/>
          </a:prstGeom>
          <a:solidFill>
            <a:srgbClr val="B6D7A8"/>
          </a:solidFill>
          <a:ln cap="flat" cmpd="sng" w="9525">
            <a:solidFill>
              <a:srgbClr val="2C3C43"/>
            </a:solidFill>
            <a:prstDash val="solid"/>
            <a:round/>
            <a:headEnd len="sm" w="sm" type="none"/>
            <a:tailEnd len="sm" w="sm" type="none"/>
          </a:ln>
        </p:spPr>
        <p:txBody>
          <a:bodyPr anchorCtr="0" anchor="ctr" bIns="91425" lIns="91425" spcFirstLastPara="1" rIns="91425" wrap="square" tIns="91425">
            <a:noAutofit/>
          </a:bodyPr>
          <a:lstStyle/>
          <a:p>
            <a:pPr indent="-317500" lvl="0" marL="457200" rtl="0" algn="l">
              <a:spcBef>
                <a:spcPts val="0"/>
              </a:spcBef>
              <a:spcAft>
                <a:spcPts val="0"/>
              </a:spcAft>
              <a:buClr>
                <a:srgbClr val="FF0000"/>
              </a:buClr>
              <a:buSzPts val="1400"/>
              <a:buAutoNum type="arabicPeriod"/>
            </a:pPr>
            <a:r>
              <a:rPr lang="en">
                <a:solidFill>
                  <a:srgbClr val="FF0000"/>
                </a:solidFill>
              </a:rPr>
              <a:t>What SQL keyword do you use to specify the columns you want to retrieve (e.g., </a:t>
            </a:r>
            <a:r>
              <a:rPr lang="en">
                <a:solidFill>
                  <a:srgbClr val="FF0000"/>
                </a:solidFill>
                <a:latin typeface="Roboto Mono"/>
                <a:ea typeface="Roboto Mono"/>
                <a:cs typeface="Roboto Mono"/>
                <a:sym typeface="Roboto Mono"/>
              </a:rPr>
              <a:t>FirstName</a:t>
            </a:r>
            <a:r>
              <a:rPr lang="en">
                <a:solidFill>
                  <a:srgbClr val="FF0000"/>
                </a:solidFill>
              </a:rPr>
              <a:t>, </a:t>
            </a:r>
            <a:r>
              <a:rPr lang="en">
                <a:solidFill>
                  <a:srgbClr val="FF0000"/>
                </a:solidFill>
                <a:latin typeface="Roboto Mono"/>
                <a:ea typeface="Roboto Mono"/>
                <a:cs typeface="Roboto Mono"/>
                <a:sym typeface="Roboto Mono"/>
              </a:rPr>
              <a:t>Email</a:t>
            </a:r>
            <a:r>
              <a:rPr lang="en">
                <a:solidFill>
                  <a:srgbClr val="FF0000"/>
                </a:solidFill>
              </a:rPr>
              <a:t>)?</a:t>
            </a:r>
            <a:endParaRPr>
              <a:solidFill>
                <a:srgbClr val="FF0000"/>
              </a:solidFill>
            </a:endParaRPr>
          </a:p>
          <a:p>
            <a:pPr indent="-317500" lvl="0" marL="457200" rtl="0" algn="l">
              <a:spcBef>
                <a:spcPts val="0"/>
              </a:spcBef>
              <a:spcAft>
                <a:spcPts val="0"/>
              </a:spcAft>
              <a:buClr>
                <a:srgbClr val="FF0000"/>
              </a:buClr>
              <a:buSzPts val="1400"/>
              <a:buAutoNum type="arabicPeriod"/>
            </a:pPr>
            <a:r>
              <a:rPr lang="en">
                <a:solidFill>
                  <a:srgbClr val="FF0000"/>
                </a:solidFill>
              </a:rPr>
              <a:t>What SQL keyword do you use to specify the table you want to get data from?</a:t>
            </a:r>
            <a:endParaRPr>
              <a:solidFill>
                <a:srgbClr val="FF0000"/>
              </a:solidFill>
            </a:endParaRPr>
          </a:p>
          <a:p>
            <a:pPr indent="-317500" lvl="0" marL="457200" rtl="0" algn="l">
              <a:spcBef>
                <a:spcPts val="0"/>
              </a:spcBef>
              <a:spcAft>
                <a:spcPts val="0"/>
              </a:spcAft>
              <a:buClr>
                <a:srgbClr val="FF0000"/>
              </a:buClr>
              <a:buSzPts val="1400"/>
              <a:buAutoNum type="arabicPeriod"/>
            </a:pPr>
            <a:r>
              <a:rPr lang="en">
                <a:solidFill>
                  <a:srgbClr val="FF0000"/>
                </a:solidFill>
              </a:rPr>
              <a:t>Write the complete SQL query to select </a:t>
            </a:r>
            <a:r>
              <a:rPr i="1" lang="en">
                <a:solidFill>
                  <a:srgbClr val="FF0000"/>
                </a:solidFill>
              </a:rPr>
              <a:t>only</a:t>
            </a:r>
            <a:r>
              <a:rPr lang="en">
                <a:solidFill>
                  <a:srgbClr val="FF0000"/>
                </a:solidFill>
              </a:rPr>
              <a:t> the </a:t>
            </a:r>
            <a:r>
              <a:rPr lang="en">
                <a:solidFill>
                  <a:srgbClr val="FF0000"/>
                </a:solidFill>
                <a:latin typeface="Roboto Mono"/>
                <a:ea typeface="Roboto Mono"/>
                <a:cs typeface="Roboto Mono"/>
                <a:sym typeface="Roboto Mono"/>
              </a:rPr>
              <a:t>ProductName</a:t>
            </a:r>
            <a:r>
              <a:rPr lang="en">
                <a:solidFill>
                  <a:srgbClr val="FF0000"/>
                </a:solidFill>
              </a:rPr>
              <a:t> and </a:t>
            </a:r>
            <a:r>
              <a:rPr lang="en">
                <a:solidFill>
                  <a:srgbClr val="FF0000"/>
                </a:solidFill>
                <a:latin typeface="Roboto Mono"/>
                <a:ea typeface="Roboto Mono"/>
                <a:cs typeface="Roboto Mono"/>
                <a:sym typeface="Roboto Mono"/>
              </a:rPr>
              <a:t>Price</a:t>
            </a:r>
            <a:r>
              <a:rPr lang="en">
                <a:solidFill>
                  <a:srgbClr val="FF0000"/>
                </a:solidFill>
              </a:rPr>
              <a:t> from a single table named </a:t>
            </a:r>
            <a:r>
              <a:rPr lang="en">
                <a:solidFill>
                  <a:srgbClr val="FF0000"/>
                </a:solidFill>
                <a:latin typeface="Roboto Mono"/>
                <a:ea typeface="Roboto Mono"/>
                <a:cs typeface="Roboto Mono"/>
                <a:sym typeface="Roboto Mono"/>
              </a:rPr>
              <a:t>Products</a:t>
            </a:r>
            <a:r>
              <a:rPr lang="en">
                <a:solidFill>
                  <a:srgbClr val="FF0000"/>
                </a:solidFill>
              </a:rPr>
              <a:t>.</a:t>
            </a:r>
            <a:endParaRPr>
              <a:solidFill>
                <a:srgbClr val="FF0000"/>
              </a:solidFill>
            </a:endParaRPr>
          </a:p>
          <a:p>
            <a:pPr indent="0" lvl="0" marL="457200" rtl="0" algn="l">
              <a:spcBef>
                <a:spcPts val="0"/>
              </a:spcBef>
              <a:spcAft>
                <a:spcPts val="0"/>
              </a:spcAft>
              <a:buClr>
                <a:schemeClr val="dk1"/>
              </a:buClr>
              <a:buSzPts val="1100"/>
              <a:buFont typeface="Arial"/>
              <a:buNone/>
            </a:pPr>
            <a:r>
              <a:t/>
            </a:r>
            <a:endParaRPr sz="900">
              <a:latin typeface="Lexend"/>
              <a:ea typeface="Lexend"/>
              <a:cs typeface="Lexend"/>
              <a:sym typeface="Lexend"/>
            </a:endParaRPr>
          </a:p>
          <a:p>
            <a:pPr indent="0" lvl="0" marL="0" marR="0" rtl="0" algn="ctr">
              <a:lnSpc>
                <a:spcPct val="100000"/>
              </a:lnSpc>
              <a:spcBef>
                <a:spcPts val="0"/>
              </a:spcBef>
              <a:spcAft>
                <a:spcPts val="0"/>
              </a:spcAft>
              <a:buClr>
                <a:srgbClr val="000000"/>
              </a:buClr>
              <a:buSzPts val="1400"/>
              <a:buFont typeface="Arial"/>
              <a:buNone/>
            </a:pPr>
            <a:r>
              <a:t/>
            </a:r>
            <a:endParaRPr i="0" sz="700" u="none" cap="none" strike="noStrike">
              <a:solidFill>
                <a:srgbClr val="000000"/>
              </a:solidFill>
              <a:latin typeface="Lexend"/>
              <a:ea typeface="Lexend"/>
              <a:cs typeface="Lexend"/>
              <a:sym typeface="Lexend"/>
            </a:endParaRPr>
          </a:p>
        </p:txBody>
      </p:sp>
      <p:sp>
        <p:nvSpPr>
          <p:cNvPr id="66" name="Google Shape;66;p14"/>
          <p:cNvSpPr/>
          <p:nvPr/>
        </p:nvSpPr>
        <p:spPr>
          <a:xfrm>
            <a:off x="5641525" y="1413900"/>
            <a:ext cx="2363700" cy="2503800"/>
          </a:xfrm>
          <a:prstGeom prst="rect">
            <a:avLst/>
          </a:prstGeom>
          <a:solidFill>
            <a:srgbClr val="EBEBEB"/>
          </a:solidFill>
          <a:ln cap="flat" cmpd="sng" w="9525">
            <a:solidFill>
              <a:srgbClr val="2C3C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400"/>
              <a:buFont typeface="Arial"/>
              <a:buNone/>
            </a:pPr>
            <a:r>
              <a:rPr b="1" lang="en" sz="1500">
                <a:latin typeface="Trebuchet MS"/>
                <a:ea typeface="Trebuchet MS"/>
                <a:cs typeface="Trebuchet MS"/>
                <a:sym typeface="Trebuchet MS"/>
              </a:rPr>
              <a:t>TOK </a:t>
            </a:r>
            <a:endParaRPr b="1" sz="1500">
              <a:latin typeface="Trebuchet MS"/>
              <a:ea typeface="Trebuchet MS"/>
              <a:cs typeface="Trebuchet MS"/>
              <a:sym typeface="Trebuchet MS"/>
            </a:endParaRPr>
          </a:p>
          <a:p>
            <a:pPr indent="0" lvl="0" marL="0" marR="0" rtl="0" algn="ctr">
              <a:lnSpc>
                <a:spcPct val="100000"/>
              </a:lnSpc>
              <a:spcBef>
                <a:spcPts val="0"/>
              </a:spcBef>
              <a:spcAft>
                <a:spcPts val="0"/>
              </a:spcAft>
              <a:buClr>
                <a:srgbClr val="000000"/>
              </a:buClr>
              <a:buSzPts val="1400"/>
              <a:buFont typeface="Arial"/>
              <a:buNone/>
            </a:pPr>
            <a:r>
              <a:t/>
            </a:r>
            <a:endParaRPr b="1" sz="1500">
              <a:latin typeface="Trebuchet MS"/>
              <a:ea typeface="Trebuchet MS"/>
              <a:cs typeface="Trebuchet MS"/>
              <a:sym typeface="Trebuchet MS"/>
            </a:endParaRPr>
          </a:p>
          <a:p>
            <a:pPr indent="0" lvl="0" marL="0" rtl="0" algn="ctr">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Social media sites use databases</a:t>
            </a:r>
            <a:endParaRPr sz="9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to store masses of data points</a:t>
            </a:r>
            <a:endParaRPr sz="9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identifying users’ likes and dislikes.</a:t>
            </a:r>
            <a:endParaRPr sz="9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Online shops use databases</a:t>
            </a:r>
            <a:endParaRPr sz="9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to store numerous data points</a:t>
            </a:r>
            <a:endParaRPr sz="9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identifying consumer likes and</a:t>
            </a:r>
            <a:endParaRPr sz="9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dislikes. To access this data and</a:t>
            </a:r>
            <a:endParaRPr sz="9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make it useful, companies need to</a:t>
            </a:r>
            <a:endParaRPr sz="9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manipulate the data using specialist</a:t>
            </a:r>
            <a:endParaRPr sz="9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language.</a:t>
            </a:r>
            <a:endParaRPr sz="9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To what extend to a shared code</a:t>
            </a:r>
            <a:endParaRPr sz="9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and language, such as those in the</a:t>
            </a:r>
            <a:endParaRPr sz="9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SQL language, help or hinder the</a:t>
            </a:r>
            <a:endParaRPr sz="9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pursuit of knowledge on a global</a:t>
            </a:r>
            <a:endParaRPr sz="900">
              <a:solidFill>
                <a:schemeClr val="dk1"/>
              </a:solidFill>
              <a:latin typeface="Calibri"/>
              <a:ea typeface="Calibri"/>
              <a:cs typeface="Calibri"/>
              <a:sym typeface="Calibri"/>
            </a:endParaRPr>
          </a:p>
          <a:p>
            <a:pPr indent="0" lvl="0" marL="0" rtl="0" algn="ctr">
              <a:spcBef>
                <a:spcPts val="0"/>
              </a:spcBef>
              <a:spcAft>
                <a:spcPts val="0"/>
              </a:spcAft>
              <a:buClr>
                <a:schemeClr val="dk1"/>
              </a:buClr>
              <a:buSzPts val="1100"/>
              <a:buFont typeface="Arial"/>
              <a:buNone/>
            </a:pPr>
            <a:r>
              <a:rPr lang="en" sz="900">
                <a:solidFill>
                  <a:schemeClr val="dk1"/>
                </a:solidFill>
                <a:latin typeface="Calibri"/>
                <a:ea typeface="Calibri"/>
                <a:cs typeface="Calibri"/>
                <a:sym typeface="Calibri"/>
              </a:rPr>
              <a:t>level?</a:t>
            </a:r>
            <a:endParaRPr sz="900">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sz="1600">
              <a:solidFill>
                <a:schemeClr val="dk1"/>
              </a:solidFill>
              <a:latin typeface="Calibri"/>
              <a:ea typeface="Calibri"/>
              <a:cs typeface="Calibri"/>
              <a:sym typeface="Calibri"/>
            </a:endParaRPr>
          </a:p>
          <a:p>
            <a:pPr indent="0" lvl="0" marL="0" marR="0" rtl="0" algn="ctr">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Trebuchet MS"/>
              <a:ea typeface="Trebuchet MS"/>
              <a:cs typeface="Trebuchet MS"/>
              <a:sym typeface="Trebuchet MS"/>
            </a:endParaRPr>
          </a:p>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000000"/>
              </a:solidFill>
              <a:latin typeface="Trebuchet MS"/>
              <a:ea typeface="Trebuchet MS"/>
              <a:cs typeface="Trebuchet MS"/>
              <a:sym typeface="Trebuchet MS"/>
            </a:endParaRPr>
          </a:p>
        </p:txBody>
      </p:sp>
      <p:pic>
        <p:nvPicPr>
          <p:cNvPr id="67" name="Google Shape;67;p14"/>
          <p:cNvPicPr preferRelativeResize="0"/>
          <p:nvPr/>
        </p:nvPicPr>
        <p:blipFill>
          <a:blip r:embed="rId6">
            <a:alphaModFix/>
          </a:blip>
          <a:stretch>
            <a:fillRect/>
          </a:stretch>
        </p:blipFill>
        <p:spPr>
          <a:xfrm>
            <a:off x="8343826" y="2878053"/>
            <a:ext cx="800185" cy="1194448"/>
          </a:xfrm>
          <a:prstGeom prst="rect">
            <a:avLst/>
          </a:prstGeom>
          <a:noFill/>
          <a:ln>
            <a:noFill/>
          </a:ln>
        </p:spPr>
      </p:pic>
      <p:sp>
        <p:nvSpPr>
          <p:cNvPr id="68" name="Google Shape;68;p14"/>
          <p:cNvSpPr/>
          <p:nvPr/>
        </p:nvSpPr>
        <p:spPr>
          <a:xfrm>
            <a:off x="0" y="4152200"/>
            <a:ext cx="9144000" cy="954000"/>
          </a:xfrm>
          <a:prstGeom prst="rect">
            <a:avLst/>
          </a:prstGeom>
          <a:solidFill>
            <a:srgbClr val="90C226"/>
          </a:solidFill>
          <a:ln cap="flat" cmpd="sng" w="25400">
            <a:solidFill>
              <a:srgbClr val="698D1B"/>
            </a:solidFill>
            <a:prstDash val="solid"/>
            <a:round/>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69" name="Google Shape;69;p14"/>
          <p:cNvSpPr txBox="1"/>
          <p:nvPr/>
        </p:nvSpPr>
        <p:spPr>
          <a:xfrm>
            <a:off x="128425" y="4313151"/>
            <a:ext cx="37551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70" name="Google Shape;70;p14"/>
          <p:cNvSpPr txBox="1"/>
          <p:nvPr/>
        </p:nvSpPr>
        <p:spPr>
          <a:xfrm>
            <a:off x="4282610" y="4168994"/>
            <a:ext cx="3755100" cy="307800"/>
          </a:xfrm>
          <a:prstGeom prst="rect">
            <a:avLst/>
          </a:prstGeom>
          <a:noFill/>
          <a:ln>
            <a:noFill/>
          </a:ln>
        </p:spPr>
        <p:txBody>
          <a:bodyPr anchorCtr="0" anchor="t" bIns="45700" lIns="91425" spcFirstLastPara="1" rIns="91425" wrap="square" tIns="45700">
            <a:spAutoFit/>
          </a:bodyPr>
          <a:lstStyle/>
          <a:p>
            <a:pPr indent="0" lvl="0" marL="0" marR="0" rtl="0" algn="l">
              <a:lnSpc>
                <a:spcPct val="100000"/>
              </a:lnSpc>
              <a:spcBef>
                <a:spcPts val="0"/>
              </a:spcBef>
              <a:spcAft>
                <a:spcPts val="0"/>
              </a:spcAft>
              <a:buClr>
                <a:srgbClr val="000000"/>
              </a:buClr>
              <a:buSzPts val="1400"/>
              <a:buFont typeface="Arial"/>
              <a:buNone/>
            </a:pPr>
            <a:r>
              <a:t/>
            </a:r>
            <a:endParaRPr b="0" i="0" sz="1400" u="none" cap="none" strike="noStrike">
              <a:solidFill>
                <a:srgbClr val="FFFFFF"/>
              </a:solidFill>
              <a:latin typeface="Arial"/>
              <a:ea typeface="Arial"/>
              <a:cs typeface="Arial"/>
              <a:sym typeface="Arial"/>
            </a:endParaRPr>
          </a:p>
        </p:txBody>
      </p:sp>
      <p:sp>
        <p:nvSpPr>
          <p:cNvPr id="71" name="Google Shape;71;p14"/>
          <p:cNvSpPr/>
          <p:nvPr/>
        </p:nvSpPr>
        <p:spPr>
          <a:xfrm>
            <a:off x="128425" y="4240825"/>
            <a:ext cx="5484300" cy="788400"/>
          </a:xfrm>
          <a:prstGeom prst="rect">
            <a:avLst/>
          </a:prstGeom>
          <a:solidFill>
            <a:srgbClr val="EBEBEB"/>
          </a:solidFill>
          <a:ln cap="flat" cmpd="sng" w="9525">
            <a:solidFill>
              <a:srgbClr val="2C3C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l">
              <a:lnSpc>
                <a:spcPct val="100000"/>
              </a:lnSpc>
              <a:spcBef>
                <a:spcPts val="0"/>
              </a:spcBef>
              <a:spcAft>
                <a:spcPts val="0"/>
              </a:spcAft>
              <a:buClr>
                <a:srgbClr val="000000"/>
              </a:buClr>
              <a:buSzPts val="1400"/>
              <a:buFont typeface="Arial"/>
              <a:buNone/>
            </a:pPr>
            <a:r>
              <a:t/>
            </a:r>
            <a:endParaRPr b="1" i="0" sz="14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400"/>
              <a:buFont typeface="Arial"/>
              <a:buNone/>
            </a:pPr>
            <a:r>
              <a:rPr b="1" i="0" lang="en" sz="1400" u="none" cap="none" strike="noStrike">
                <a:solidFill>
                  <a:srgbClr val="000000"/>
                </a:solidFill>
                <a:latin typeface="Arial"/>
                <a:ea typeface="Arial"/>
                <a:cs typeface="Arial"/>
                <a:sym typeface="Arial"/>
              </a:rPr>
              <a:t>Learning Intention:</a:t>
            </a:r>
            <a:r>
              <a:rPr b="1" lang="en">
                <a:solidFill>
                  <a:schemeClr val="dk1"/>
                </a:solidFill>
              </a:rPr>
              <a:t>  </a:t>
            </a:r>
            <a:r>
              <a:rPr lang="en" sz="1300">
                <a:solidFill>
                  <a:schemeClr val="dk1"/>
                </a:solidFill>
              </a:rPr>
              <a:t>To learn how to retrieve and combine data from two separate, related tables using SQL </a:t>
            </a:r>
            <a:r>
              <a:rPr lang="en" sz="1300">
                <a:solidFill>
                  <a:srgbClr val="188038"/>
                </a:solidFill>
              </a:rPr>
              <a:t>JOIN</a:t>
            </a:r>
            <a:r>
              <a:rPr lang="en" sz="1300">
                <a:solidFill>
                  <a:schemeClr val="dk1"/>
                </a:solidFill>
              </a:rPr>
              <a:t> queries.</a:t>
            </a:r>
            <a:endParaRPr i="0" sz="1600" u="none" cap="none" strike="noStrike">
              <a:solidFill>
                <a:srgbClr val="000000"/>
              </a:solidFill>
            </a:endParaRPr>
          </a:p>
          <a:p>
            <a:pPr indent="0" lvl="0" marL="0" marR="0" rtl="0" algn="l">
              <a:lnSpc>
                <a:spcPct val="100000"/>
              </a:lnSpc>
              <a:spcBef>
                <a:spcPts val="0"/>
              </a:spcBef>
              <a:spcAft>
                <a:spcPts val="0"/>
              </a:spcAft>
              <a:buClr>
                <a:srgbClr val="000000"/>
              </a:buClr>
              <a:buSzPts val="1500"/>
              <a:buFont typeface="Arial"/>
              <a:buNone/>
            </a:pPr>
            <a:r>
              <a:t/>
            </a:r>
            <a:endParaRPr b="1" i="0" sz="1500" u="none" cap="none" strike="noStrike">
              <a:solidFill>
                <a:srgbClr val="000000"/>
              </a:solidFill>
              <a:latin typeface="Arial"/>
              <a:ea typeface="Arial"/>
              <a:cs typeface="Arial"/>
              <a:sym typeface="Arial"/>
            </a:endParaRPr>
          </a:p>
        </p:txBody>
      </p:sp>
      <p:sp>
        <p:nvSpPr>
          <p:cNvPr id="72" name="Google Shape;72;p14"/>
          <p:cNvSpPr/>
          <p:nvPr/>
        </p:nvSpPr>
        <p:spPr>
          <a:xfrm>
            <a:off x="5612725" y="4158100"/>
            <a:ext cx="3531300" cy="954000"/>
          </a:xfrm>
          <a:prstGeom prst="rect">
            <a:avLst/>
          </a:prstGeom>
          <a:noFill/>
          <a:ln cap="flat" cmpd="sng" w="9525">
            <a:solidFill>
              <a:srgbClr val="2C3C43"/>
            </a:solidFill>
            <a:prstDash val="solid"/>
            <a:round/>
            <a:headEnd len="sm" w="sm" type="none"/>
            <a:tailEnd len="sm" w="sm" type="none"/>
          </a:ln>
        </p:spPr>
        <p:txBody>
          <a:bodyPr anchorCtr="0" anchor="ctr" bIns="91425" lIns="91425" spcFirstLastPara="1" rIns="91425" wrap="square" tIns="91425">
            <a:noAutofit/>
          </a:bodyPr>
          <a:lstStyle/>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t/>
            </a:r>
            <a:endParaRPr b="0" i="0" sz="1100" u="none" cap="none" strike="noStrike">
              <a:solidFill>
                <a:srgbClr val="000000"/>
              </a:solidFill>
              <a:latin typeface="Arial"/>
              <a:ea typeface="Arial"/>
              <a:cs typeface="Arial"/>
              <a:sym typeface="Arial"/>
            </a:endParaRPr>
          </a:p>
          <a:p>
            <a:pPr indent="0" lvl="0" marL="0" marR="0" rtl="0" algn="l">
              <a:lnSpc>
                <a:spcPct val="100000"/>
              </a:lnSpc>
              <a:spcBef>
                <a:spcPts val="0"/>
              </a:spcBef>
              <a:spcAft>
                <a:spcPts val="0"/>
              </a:spcAft>
              <a:buClr>
                <a:srgbClr val="000000"/>
              </a:buClr>
              <a:buSzPts val="1300"/>
              <a:buFont typeface="Arial"/>
              <a:buNone/>
            </a:pPr>
            <a:r>
              <a:rPr b="1" i="0" lang="en" sz="1100" u="none" cap="none" strike="noStrike">
                <a:solidFill>
                  <a:srgbClr val="000000"/>
                </a:solidFill>
                <a:latin typeface="Arial"/>
                <a:ea typeface="Arial"/>
                <a:cs typeface="Arial"/>
                <a:sym typeface="Arial"/>
              </a:rPr>
              <a:t>Success Criteria</a:t>
            </a:r>
            <a:r>
              <a:rPr b="0" i="0" lang="en" sz="1100" u="none" cap="none" strike="noStrike">
                <a:solidFill>
                  <a:srgbClr val="000000"/>
                </a:solidFill>
                <a:latin typeface="Arial"/>
                <a:ea typeface="Arial"/>
                <a:cs typeface="Arial"/>
                <a:sym typeface="Arial"/>
              </a:rPr>
              <a:t>: </a:t>
            </a:r>
            <a:endParaRPr b="0" i="0" sz="1100" u="none" cap="none" strike="noStrike">
              <a:solidFill>
                <a:srgbClr val="000000"/>
              </a:solidFill>
              <a:latin typeface="Arial"/>
              <a:ea typeface="Arial"/>
              <a:cs typeface="Arial"/>
              <a:sym typeface="Arial"/>
            </a:endParaRPr>
          </a:p>
          <a:p>
            <a:pPr indent="-304800" lvl="0" marL="457200" rtl="0" algn="l">
              <a:spcBef>
                <a:spcPts val="0"/>
              </a:spcBef>
              <a:spcAft>
                <a:spcPts val="0"/>
              </a:spcAft>
              <a:buSzPts val="1200"/>
              <a:buChar char="-"/>
            </a:pPr>
            <a:r>
              <a:rPr lang="en" sz="1000"/>
              <a:t>I can identify the Primary Key and Foreign Key that link two tables.</a:t>
            </a:r>
            <a:endParaRPr sz="1000"/>
          </a:p>
          <a:p>
            <a:pPr indent="-304800" lvl="0" marL="457200" rtl="0" algn="l">
              <a:spcBef>
                <a:spcPts val="0"/>
              </a:spcBef>
              <a:spcAft>
                <a:spcPts val="0"/>
              </a:spcAft>
              <a:buSzPts val="1200"/>
              <a:buChar char="-"/>
            </a:pPr>
            <a:r>
              <a:rPr lang="en" sz="900"/>
              <a:t>I can write a SELECT statement that uses an INNER JOIN... [and] use the ON keyword.</a:t>
            </a:r>
            <a:br>
              <a:rPr b="0" i="0" lang="en" sz="900" u="none" cap="none" strike="noStrike">
                <a:solidFill>
                  <a:srgbClr val="000000"/>
                </a:solidFill>
                <a:latin typeface="Arial"/>
                <a:ea typeface="Arial"/>
                <a:cs typeface="Arial"/>
                <a:sym typeface="Arial"/>
              </a:rPr>
            </a:br>
            <a:endParaRPr b="0" i="0" sz="9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100"/>
              <a:buFont typeface="Arial"/>
              <a:buNone/>
            </a:pPr>
            <a:r>
              <a:t/>
            </a:r>
            <a:endParaRPr b="0" i="0" sz="1300" u="none" cap="none" strike="noStrike">
              <a:solidFill>
                <a:srgbClr val="000000"/>
              </a:solidFill>
              <a:latin typeface="Arial"/>
              <a:ea typeface="Arial"/>
              <a:cs typeface="Arial"/>
              <a:sym typeface="Arial"/>
            </a:endParaRPr>
          </a:p>
          <a:p>
            <a:pPr indent="0" lvl="0" marL="0" marR="0" rtl="0" algn="ctr">
              <a:lnSpc>
                <a:spcPct val="100000"/>
              </a:lnSpc>
              <a:spcBef>
                <a:spcPts val="0"/>
              </a:spcBef>
              <a:spcAft>
                <a:spcPts val="0"/>
              </a:spcAft>
              <a:buClr>
                <a:srgbClr val="000000"/>
              </a:buClr>
              <a:buSzPts val="1600"/>
              <a:buFont typeface="Arial"/>
              <a:buNone/>
            </a:pPr>
            <a:r>
              <a:t/>
            </a:r>
            <a:endParaRPr b="0" i="0" sz="1600" u="none" cap="none" strike="noStrike">
              <a:solidFill>
                <a:srgbClr val="000000"/>
              </a:solidFill>
              <a:latin typeface="Trebuchet MS"/>
              <a:ea typeface="Trebuchet MS"/>
              <a:cs typeface="Trebuchet MS"/>
              <a:sym typeface="Trebuchet MS"/>
            </a:endParaRPr>
          </a:p>
        </p:txBody>
      </p:sp>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6" name="Shape 76"/>
        <p:cNvGrpSpPr/>
        <p:nvPr/>
      </p:nvGrpSpPr>
      <p:grpSpPr>
        <a:xfrm>
          <a:off x="0" y="0"/>
          <a:ext cx="0" cy="0"/>
          <a:chOff x="0" y="0"/>
          <a:chExt cx="0" cy="0"/>
        </a:xfrm>
      </p:grpSpPr>
      <p:sp>
        <p:nvSpPr>
          <p:cNvPr id="77" name="Google Shape;77;p15"/>
          <p:cNvSpPr txBox="1"/>
          <p:nvPr>
            <p:ph type="title"/>
          </p:nvPr>
        </p:nvSpPr>
        <p:spPr>
          <a:xfrm>
            <a:off x="311700" y="420400"/>
            <a:ext cx="8520600" cy="572700"/>
          </a:xfrm>
          <a:prstGeom prst="rect">
            <a:avLst/>
          </a:prstGeom>
          <a:solidFill>
            <a:srgbClr val="FF9900"/>
          </a:solidFill>
        </p:spPr>
        <p:txBody>
          <a:bodyPr anchorCtr="0" anchor="t" bIns="91425" lIns="91425" spcFirstLastPara="1" rIns="91425" wrap="square" tIns="91425">
            <a:normAutofit fontScale="90000"/>
          </a:bodyPr>
          <a:lstStyle/>
          <a:p>
            <a:pPr indent="0" lvl="0" marL="0" rtl="0" algn="l">
              <a:spcBef>
                <a:spcPts val="0"/>
              </a:spcBef>
              <a:spcAft>
                <a:spcPts val="0"/>
              </a:spcAft>
              <a:buNone/>
            </a:pPr>
            <a:r>
              <a:rPr lang="en"/>
              <a:t>Query </a:t>
            </a:r>
            <a:endParaRPr/>
          </a:p>
        </p:txBody>
      </p:sp>
      <p:pic>
        <p:nvPicPr>
          <p:cNvPr id="78" name="Google Shape;78;p15"/>
          <p:cNvPicPr preferRelativeResize="0"/>
          <p:nvPr/>
        </p:nvPicPr>
        <p:blipFill>
          <a:blip r:embed="rId3">
            <a:alphaModFix/>
          </a:blip>
          <a:stretch>
            <a:fillRect/>
          </a:stretch>
        </p:blipFill>
        <p:spPr>
          <a:xfrm>
            <a:off x="6478225" y="1837550"/>
            <a:ext cx="2522351" cy="1238125"/>
          </a:xfrm>
          <a:prstGeom prst="rect">
            <a:avLst/>
          </a:prstGeom>
          <a:noFill/>
          <a:ln>
            <a:noFill/>
          </a:ln>
        </p:spPr>
      </p:pic>
      <p:sp>
        <p:nvSpPr>
          <p:cNvPr id="79" name="Google Shape;79;p15"/>
          <p:cNvSpPr txBox="1"/>
          <p:nvPr/>
        </p:nvSpPr>
        <p:spPr>
          <a:xfrm>
            <a:off x="229700" y="1616075"/>
            <a:ext cx="3000000" cy="2219700"/>
          </a:xfrm>
          <a:prstGeom prst="rect">
            <a:avLst/>
          </a:prstGeom>
          <a:solidFill>
            <a:srgbClr val="D9EAD3"/>
          </a:solidFill>
          <a:ln>
            <a:noFill/>
          </a:ln>
        </p:spPr>
        <p:txBody>
          <a:bodyPr anchorCtr="0" anchor="t" bIns="91425" lIns="91425" spcFirstLastPara="1" rIns="91425" wrap="square" tIns="91425">
            <a:spAutoFit/>
          </a:bodyPr>
          <a:lstStyle/>
          <a:p>
            <a:pPr indent="0" lvl="0" marL="0" rtl="0" algn="l">
              <a:lnSpc>
                <a:spcPct val="115000"/>
              </a:lnSpc>
              <a:spcBef>
                <a:spcPts val="1200"/>
              </a:spcBef>
              <a:spcAft>
                <a:spcPts val="0"/>
              </a:spcAft>
              <a:buNone/>
            </a:pPr>
            <a:r>
              <a:rPr lang="en" sz="1100">
                <a:solidFill>
                  <a:schemeClr val="dk1"/>
                </a:solidFill>
              </a:rPr>
              <a:t>In SQL, a </a:t>
            </a:r>
            <a:r>
              <a:rPr b="1" lang="en" sz="1100">
                <a:solidFill>
                  <a:schemeClr val="dk1"/>
                </a:solidFill>
              </a:rPr>
              <a:t>query</a:t>
            </a:r>
            <a:r>
              <a:rPr lang="en" sz="1100">
                <a:solidFill>
                  <a:schemeClr val="dk1"/>
                </a:solidFill>
              </a:rPr>
              <a:t> is a command you send to a database to either retrieve information or perform an action.</a:t>
            </a: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Think of it as </a:t>
            </a:r>
            <a:r>
              <a:rPr b="1" lang="en" sz="1100">
                <a:solidFill>
                  <a:schemeClr val="dk1"/>
                </a:solidFill>
              </a:rPr>
              <a:t>asking the database a specific question</a:t>
            </a:r>
            <a:r>
              <a:rPr lang="en" sz="1100">
                <a:solidFill>
                  <a:schemeClr val="dk1"/>
                </a:solidFill>
              </a:rPr>
              <a:t>. SQL (Structured Query Language) is the language you use to write that question.</a:t>
            </a:r>
            <a:endParaRPr sz="1100">
              <a:solidFill>
                <a:schemeClr val="dk1"/>
              </a:solidFill>
            </a:endParaRPr>
          </a:p>
          <a:p>
            <a:pPr indent="0" lvl="0" marL="0" rtl="0" algn="l">
              <a:lnSpc>
                <a:spcPct val="115000"/>
              </a:lnSpc>
              <a:spcBef>
                <a:spcPts val="1200"/>
              </a:spcBef>
              <a:spcAft>
                <a:spcPts val="1200"/>
              </a:spcAft>
              <a:buNone/>
            </a:pPr>
            <a:r>
              <a:rPr lang="en" sz="1100">
                <a:solidFill>
                  <a:schemeClr val="dk1"/>
                </a:solidFill>
              </a:rPr>
              <a:t>The most common type of query is a </a:t>
            </a:r>
            <a:r>
              <a:rPr lang="en" sz="1100">
                <a:solidFill>
                  <a:srgbClr val="188038"/>
                </a:solidFill>
                <a:latin typeface="Roboto Mono"/>
                <a:ea typeface="Roboto Mono"/>
                <a:cs typeface="Roboto Mono"/>
                <a:sym typeface="Roboto Mono"/>
              </a:rPr>
              <a:t>SELECT</a:t>
            </a:r>
            <a:r>
              <a:rPr lang="en" sz="1100">
                <a:solidFill>
                  <a:schemeClr val="dk1"/>
                </a:solidFill>
              </a:rPr>
              <a:t> statement, which is used to </a:t>
            </a:r>
            <a:r>
              <a:rPr b="1" lang="en" sz="1100">
                <a:solidFill>
                  <a:schemeClr val="dk1"/>
                </a:solidFill>
              </a:rPr>
              <a:t>retrieve data</a:t>
            </a:r>
            <a:r>
              <a:rPr lang="en" sz="1100">
                <a:solidFill>
                  <a:schemeClr val="dk1"/>
                </a:solidFill>
              </a:rPr>
              <a:t>.</a:t>
            </a:r>
            <a:endParaRPr sz="1100">
              <a:solidFill>
                <a:schemeClr val="dk1"/>
              </a:solidFill>
            </a:endParaRPr>
          </a:p>
        </p:txBody>
      </p:sp>
      <p:sp>
        <p:nvSpPr>
          <p:cNvPr id="80" name="Google Shape;80;p15"/>
          <p:cNvSpPr txBox="1"/>
          <p:nvPr/>
        </p:nvSpPr>
        <p:spPr>
          <a:xfrm>
            <a:off x="3478225" y="1616075"/>
            <a:ext cx="3000000" cy="2255100"/>
          </a:xfrm>
          <a:prstGeom prst="rect">
            <a:avLst/>
          </a:prstGeom>
          <a:solidFill>
            <a:srgbClr val="A4C2F4"/>
          </a:solid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a:solidFill>
                  <a:schemeClr val="dk1"/>
                </a:solidFill>
              </a:rPr>
              <a:t>How a Basic Query Works</a:t>
            </a:r>
            <a:endParaRPr b="1" sz="1300">
              <a:solidFill>
                <a:schemeClr val="dk1"/>
              </a:solidFill>
            </a:endParaRPr>
          </a:p>
          <a:p>
            <a:pPr indent="0" lvl="0" marL="0" rtl="0" algn="l">
              <a:lnSpc>
                <a:spcPct val="115000"/>
              </a:lnSpc>
              <a:spcBef>
                <a:spcPts val="1200"/>
              </a:spcBef>
              <a:spcAft>
                <a:spcPts val="0"/>
              </a:spcAft>
              <a:buNone/>
            </a:pPr>
            <a:r>
              <a:rPr lang="en" sz="1100">
                <a:solidFill>
                  <a:schemeClr val="dk1"/>
                </a:solidFill>
              </a:rPr>
              <a:t>A query is built with a few key commands:</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rgbClr val="188038"/>
                </a:solidFill>
                <a:latin typeface="Roboto Mono"/>
                <a:ea typeface="Roboto Mono"/>
                <a:cs typeface="Roboto Mono"/>
                <a:sym typeface="Roboto Mono"/>
              </a:rPr>
              <a:t>SELECT</a:t>
            </a:r>
            <a:r>
              <a:rPr lang="en" sz="1100">
                <a:solidFill>
                  <a:schemeClr val="dk1"/>
                </a:solidFill>
              </a:rPr>
              <a:t>: Tells the database </a:t>
            </a:r>
            <a:r>
              <a:rPr i="1" lang="en" sz="1100">
                <a:solidFill>
                  <a:schemeClr val="dk1"/>
                </a:solidFill>
              </a:rPr>
              <a:t>what</a:t>
            </a:r>
            <a:r>
              <a:rPr lang="en" sz="1100">
                <a:solidFill>
                  <a:schemeClr val="dk1"/>
                </a:solidFill>
              </a:rPr>
              <a:t> columns (data) you want to see.</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rgbClr val="188038"/>
                </a:solidFill>
                <a:latin typeface="Roboto Mono"/>
                <a:ea typeface="Roboto Mono"/>
                <a:cs typeface="Roboto Mono"/>
                <a:sym typeface="Roboto Mono"/>
              </a:rPr>
              <a:t>FROM</a:t>
            </a:r>
            <a:r>
              <a:rPr lang="en" sz="1100">
                <a:solidFill>
                  <a:schemeClr val="dk1"/>
                </a:solidFill>
              </a:rPr>
              <a:t>: Tells the database </a:t>
            </a:r>
            <a:r>
              <a:rPr i="1" lang="en" sz="1100">
                <a:solidFill>
                  <a:schemeClr val="dk1"/>
                </a:solidFill>
              </a:rPr>
              <a:t>which</a:t>
            </a:r>
            <a:r>
              <a:rPr lang="en" sz="1100">
                <a:solidFill>
                  <a:schemeClr val="dk1"/>
                </a:solidFill>
              </a:rPr>
              <a:t> table to look in.</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rgbClr val="188038"/>
                </a:solidFill>
                <a:latin typeface="Roboto Mono"/>
                <a:ea typeface="Roboto Mono"/>
                <a:cs typeface="Roboto Mono"/>
                <a:sym typeface="Roboto Mono"/>
              </a:rPr>
              <a:t>WHERE</a:t>
            </a:r>
            <a:r>
              <a:rPr lang="en" sz="1100">
                <a:solidFill>
                  <a:schemeClr val="dk1"/>
                </a:solidFill>
              </a:rPr>
              <a:t>: (Optional) Filters your results to only show rows that match a specific condition.</a:t>
            </a:r>
            <a:endParaRPr sz="1100">
              <a:solidFill>
                <a:schemeClr val="dk1"/>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4" name="Shape 84"/>
        <p:cNvGrpSpPr/>
        <p:nvPr/>
      </p:nvGrpSpPr>
      <p:grpSpPr>
        <a:xfrm>
          <a:off x="0" y="0"/>
          <a:ext cx="0" cy="0"/>
          <a:chOff x="0" y="0"/>
          <a:chExt cx="0" cy="0"/>
        </a:xfrm>
      </p:grpSpPr>
      <p:sp>
        <p:nvSpPr>
          <p:cNvPr id="85" name="Google Shape;85;p16"/>
          <p:cNvSpPr txBox="1"/>
          <p:nvPr/>
        </p:nvSpPr>
        <p:spPr>
          <a:xfrm>
            <a:off x="369150" y="172250"/>
            <a:ext cx="7317300" cy="4634700"/>
          </a:xfrm>
          <a:prstGeom prst="rect">
            <a:avLst/>
          </a:prstGeom>
          <a:solidFill>
            <a:srgbClr val="EFEFEF"/>
          </a:solid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a:solidFill>
                  <a:schemeClr val="dk1"/>
                </a:solidFill>
              </a:rPr>
              <a:t>Example</a:t>
            </a:r>
            <a:endParaRPr b="1" sz="1300">
              <a:solidFill>
                <a:schemeClr val="dk1"/>
              </a:solidFill>
            </a:endParaRPr>
          </a:p>
          <a:p>
            <a:pPr indent="0" lvl="0" marL="0" rtl="0" algn="l">
              <a:lnSpc>
                <a:spcPct val="115000"/>
              </a:lnSpc>
              <a:spcBef>
                <a:spcPts val="1200"/>
              </a:spcBef>
              <a:spcAft>
                <a:spcPts val="0"/>
              </a:spcAft>
              <a:buNone/>
            </a:pPr>
            <a:r>
              <a:rPr lang="en" sz="1100">
                <a:solidFill>
                  <a:schemeClr val="dk1"/>
                </a:solidFill>
              </a:rPr>
              <a:t>Imagine you have a table named </a:t>
            </a:r>
            <a:r>
              <a:rPr lang="en" sz="1100">
                <a:solidFill>
                  <a:srgbClr val="188038"/>
                </a:solidFill>
                <a:latin typeface="Roboto Mono"/>
                <a:ea typeface="Roboto Mono"/>
                <a:cs typeface="Roboto Mono"/>
                <a:sym typeface="Roboto Mono"/>
              </a:rPr>
              <a:t>Users</a:t>
            </a:r>
            <a:r>
              <a:rPr lang="en" sz="1100">
                <a:solidFill>
                  <a:schemeClr val="dk1"/>
                </a:solidFill>
              </a:rPr>
              <a:t> that looks like this:</a:t>
            </a:r>
            <a:endParaRPr sz="1100">
              <a:solidFill>
                <a:schemeClr val="dk1"/>
              </a:solidFill>
            </a:endParaRPr>
          </a:p>
          <a:p>
            <a:pPr indent="0" lvl="0" marL="0" rtl="0" algn="l">
              <a:lnSpc>
                <a:spcPct val="115000"/>
              </a:lnSpc>
              <a:spcBef>
                <a:spcPts val="1200"/>
              </a:spcBef>
              <a:spcAft>
                <a:spcPts val="0"/>
              </a:spcAft>
              <a:buNone/>
            </a:pPr>
            <a:r>
              <a:rPr b="1" lang="en" sz="1100">
                <a:solidFill>
                  <a:schemeClr val="dk1"/>
                </a:solidFill>
              </a:rPr>
              <a:t>Your Question:</a:t>
            </a:r>
            <a:r>
              <a:rPr lang="en" sz="1100">
                <a:solidFill>
                  <a:schemeClr val="dk1"/>
                </a:solidFill>
              </a:rPr>
              <a:t> "Can I get the first names and last names of all users who live in 'New York'?"</a:t>
            </a:r>
            <a:endParaRPr sz="1100">
              <a:solidFill>
                <a:schemeClr val="dk1"/>
              </a:solidFill>
            </a:endParaRPr>
          </a:p>
          <a:p>
            <a:pPr indent="0" lvl="0" marL="0" rtl="0" algn="l">
              <a:lnSpc>
                <a:spcPct val="115000"/>
              </a:lnSpc>
              <a:spcBef>
                <a:spcPts val="1200"/>
              </a:spcBef>
              <a:spcAft>
                <a:spcPts val="0"/>
              </a:spcAft>
              <a:buNone/>
            </a:pPr>
            <a:r>
              <a:rPr b="1" lang="en" sz="1100">
                <a:solidFill>
                  <a:schemeClr val="dk1"/>
                </a:solidFill>
              </a:rPr>
              <a:t>Your SQL Query:</a:t>
            </a:r>
            <a:endParaRPr b="1" sz="1100">
              <a:solidFill>
                <a:schemeClr val="dk1"/>
              </a:solidFill>
            </a:endParaRPr>
          </a:p>
          <a:p>
            <a:pPr indent="0" lvl="0" marL="0" rtl="0" algn="l">
              <a:lnSpc>
                <a:spcPct val="115000"/>
              </a:lnSpc>
              <a:spcBef>
                <a:spcPts val="1200"/>
              </a:spcBef>
              <a:spcAft>
                <a:spcPts val="0"/>
              </a:spcAft>
              <a:buNone/>
            </a:pPr>
            <a:r>
              <a:rPr lang="en" sz="1100">
                <a:solidFill>
                  <a:schemeClr val="dk1"/>
                </a:solidFill>
              </a:rPr>
              <a:t>SQL</a:t>
            </a:r>
            <a:endParaRPr sz="1100">
              <a:solidFill>
                <a:schemeClr val="dk1"/>
              </a:solidFill>
            </a:endParaRPr>
          </a:p>
          <a:p>
            <a:pPr indent="0" lvl="0" marL="0" rtl="0" algn="l">
              <a:spcBef>
                <a:spcPts val="0"/>
              </a:spcBef>
              <a:spcAft>
                <a:spcPts val="0"/>
              </a:spcAft>
              <a:buNone/>
            </a:pPr>
            <a:r>
              <a:rPr lang="en" sz="1100">
                <a:solidFill>
                  <a:schemeClr val="dk1"/>
                </a:solidFill>
              </a:rPr>
              <a:t>SELECT FirstName, LastName</a:t>
            </a:r>
            <a:endParaRPr sz="1100">
              <a:solidFill>
                <a:schemeClr val="dk1"/>
              </a:solidFill>
            </a:endParaRPr>
          </a:p>
          <a:p>
            <a:pPr indent="0" lvl="0" marL="0" rtl="0" algn="l">
              <a:spcBef>
                <a:spcPts val="0"/>
              </a:spcBef>
              <a:spcAft>
                <a:spcPts val="0"/>
              </a:spcAft>
              <a:buNone/>
            </a:pPr>
            <a:r>
              <a:rPr lang="en" sz="1100">
                <a:solidFill>
                  <a:schemeClr val="dk1"/>
                </a:solidFill>
              </a:rPr>
              <a:t>FROM Users</a:t>
            </a:r>
            <a:endParaRPr sz="1100">
              <a:solidFill>
                <a:schemeClr val="dk1"/>
              </a:solidFill>
            </a:endParaRPr>
          </a:p>
          <a:p>
            <a:pPr indent="0" lvl="0" marL="0" rtl="0" algn="l">
              <a:spcBef>
                <a:spcPts val="0"/>
              </a:spcBef>
              <a:spcAft>
                <a:spcPts val="0"/>
              </a:spcAft>
              <a:buNone/>
            </a:pPr>
            <a:r>
              <a:rPr lang="en" sz="1100">
                <a:solidFill>
                  <a:schemeClr val="dk1"/>
                </a:solidFill>
              </a:rPr>
              <a:t>WHERE City = 'New York';</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rgbClr val="188038"/>
                </a:solidFill>
                <a:latin typeface="Roboto Mono"/>
                <a:ea typeface="Roboto Mono"/>
                <a:cs typeface="Roboto Mono"/>
                <a:sym typeface="Roboto Mono"/>
              </a:rPr>
              <a:t>SELECT FirstName, LastName</a:t>
            </a:r>
            <a:r>
              <a:rPr lang="en" sz="1100">
                <a:solidFill>
                  <a:schemeClr val="dk1"/>
                </a:solidFill>
              </a:rPr>
              <a:t>... (Here's </a:t>
            </a:r>
            <a:r>
              <a:rPr i="1" lang="en" sz="1100">
                <a:solidFill>
                  <a:schemeClr val="dk1"/>
                </a:solidFill>
              </a:rPr>
              <a:t>what</a:t>
            </a:r>
            <a:r>
              <a:rPr lang="en" sz="1100">
                <a:solidFill>
                  <a:schemeClr val="dk1"/>
                </a:solidFill>
              </a:rPr>
              <a:t> I want)</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rgbClr val="188038"/>
                </a:solidFill>
                <a:latin typeface="Roboto Mono"/>
                <a:ea typeface="Roboto Mono"/>
                <a:cs typeface="Roboto Mono"/>
                <a:sym typeface="Roboto Mono"/>
              </a:rPr>
              <a:t>FROM Users</a:t>
            </a:r>
            <a:r>
              <a:rPr lang="en" sz="1100">
                <a:solidFill>
                  <a:schemeClr val="dk1"/>
                </a:solidFill>
              </a:rPr>
              <a:t>... (Here's </a:t>
            </a:r>
            <a:r>
              <a:rPr i="1" lang="en" sz="1100">
                <a:solidFill>
                  <a:schemeClr val="dk1"/>
                </a:solidFill>
              </a:rPr>
              <a:t>where</a:t>
            </a:r>
            <a:r>
              <a:rPr lang="en" sz="1100">
                <a:solidFill>
                  <a:schemeClr val="dk1"/>
                </a:solidFill>
              </a:rPr>
              <a:t> to look)</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rgbClr val="188038"/>
                </a:solidFill>
                <a:latin typeface="Roboto Mono"/>
                <a:ea typeface="Roboto Mono"/>
                <a:cs typeface="Roboto Mono"/>
                <a:sym typeface="Roboto Mono"/>
              </a:rPr>
              <a:t>WHERE City = 'New York'</a:t>
            </a:r>
            <a:r>
              <a:rPr lang="en" sz="1100">
                <a:solidFill>
                  <a:schemeClr val="dk1"/>
                </a:solidFill>
              </a:rPr>
              <a:t>... (Here's the </a:t>
            </a:r>
            <a:r>
              <a:rPr i="1" lang="en" sz="1100">
                <a:solidFill>
                  <a:schemeClr val="dk1"/>
                </a:solidFill>
              </a:rPr>
              <a:t>filter</a:t>
            </a:r>
            <a:r>
              <a:rPr lang="en" sz="1100">
                <a:solidFill>
                  <a:schemeClr val="dk1"/>
                </a:solidFill>
              </a:rPr>
              <a:t> to apply)</a:t>
            </a: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This query would return only the rows for John Doe and Jane Smith.</a:t>
            </a: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While retrieving data with </a:t>
            </a:r>
            <a:r>
              <a:rPr lang="en" sz="1100">
                <a:solidFill>
                  <a:srgbClr val="188038"/>
                </a:solidFill>
                <a:latin typeface="Roboto Mono"/>
                <a:ea typeface="Roboto Mono"/>
                <a:cs typeface="Roboto Mono"/>
                <a:sym typeface="Roboto Mono"/>
              </a:rPr>
              <a:t>SELECT</a:t>
            </a:r>
            <a:r>
              <a:rPr lang="en" sz="1100">
                <a:solidFill>
                  <a:schemeClr val="dk1"/>
                </a:solidFill>
              </a:rPr>
              <a:t> is the most common use, queries can also be used to:</a:t>
            </a:r>
            <a:endParaRPr sz="1100">
              <a:solidFill>
                <a:schemeClr val="dk1"/>
              </a:solidFill>
            </a:endParaRPr>
          </a:p>
          <a:p>
            <a:pPr indent="-298450" lvl="0" marL="457200" rtl="0" algn="l">
              <a:lnSpc>
                <a:spcPct val="115000"/>
              </a:lnSpc>
              <a:spcBef>
                <a:spcPts val="1200"/>
              </a:spcBef>
              <a:spcAft>
                <a:spcPts val="0"/>
              </a:spcAft>
              <a:buClr>
                <a:schemeClr val="dk1"/>
              </a:buClr>
              <a:buSzPts val="1100"/>
              <a:buChar char="●"/>
            </a:pPr>
            <a:r>
              <a:rPr b="1" lang="en" sz="1100">
                <a:solidFill>
                  <a:srgbClr val="188038"/>
                </a:solidFill>
                <a:latin typeface="Roboto Mono"/>
                <a:ea typeface="Roboto Mono"/>
                <a:cs typeface="Roboto Mono"/>
                <a:sym typeface="Roboto Mono"/>
              </a:rPr>
              <a:t>INSERT</a:t>
            </a:r>
            <a:r>
              <a:rPr lang="en" sz="1100">
                <a:solidFill>
                  <a:schemeClr val="dk1"/>
                </a:solidFill>
              </a:rPr>
              <a:t>: Add new data.</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rgbClr val="188038"/>
                </a:solidFill>
                <a:latin typeface="Roboto Mono"/>
                <a:ea typeface="Roboto Mono"/>
                <a:cs typeface="Roboto Mono"/>
                <a:sym typeface="Roboto Mono"/>
              </a:rPr>
              <a:t>UPDATE</a:t>
            </a:r>
            <a:r>
              <a:rPr lang="en" sz="1100">
                <a:solidFill>
                  <a:schemeClr val="dk1"/>
                </a:solidFill>
              </a:rPr>
              <a:t>: Change existing data.</a:t>
            </a:r>
            <a:endParaRPr sz="1100">
              <a:solidFill>
                <a:schemeClr val="dk1"/>
              </a:solidFill>
            </a:endParaRPr>
          </a:p>
          <a:p>
            <a:pPr indent="-298450" lvl="0" marL="457200" rtl="0" algn="l">
              <a:lnSpc>
                <a:spcPct val="115000"/>
              </a:lnSpc>
              <a:spcBef>
                <a:spcPts val="0"/>
              </a:spcBef>
              <a:spcAft>
                <a:spcPts val="0"/>
              </a:spcAft>
              <a:buClr>
                <a:schemeClr val="dk1"/>
              </a:buClr>
              <a:buSzPts val="1100"/>
              <a:buChar char="●"/>
            </a:pPr>
            <a:r>
              <a:rPr b="1" lang="en" sz="1100">
                <a:solidFill>
                  <a:srgbClr val="188038"/>
                </a:solidFill>
                <a:latin typeface="Roboto Mono"/>
                <a:ea typeface="Roboto Mono"/>
                <a:cs typeface="Roboto Mono"/>
                <a:sym typeface="Roboto Mono"/>
              </a:rPr>
              <a:t>DELETE</a:t>
            </a:r>
            <a:r>
              <a:rPr lang="en" sz="1100">
                <a:solidFill>
                  <a:schemeClr val="dk1"/>
                </a:solidFill>
              </a:rPr>
              <a:t>: Remove data.</a:t>
            </a:r>
            <a:endParaRPr sz="1100">
              <a:solidFill>
                <a:schemeClr val="dk1"/>
              </a:solidFill>
            </a:endParaRPr>
          </a:p>
        </p:txBody>
      </p:sp>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9" name="Shape 89"/>
        <p:cNvGrpSpPr/>
        <p:nvPr/>
      </p:nvGrpSpPr>
      <p:grpSpPr>
        <a:xfrm>
          <a:off x="0" y="0"/>
          <a:ext cx="0" cy="0"/>
          <a:chOff x="0" y="0"/>
          <a:chExt cx="0" cy="0"/>
        </a:xfrm>
      </p:grpSpPr>
      <p:sp>
        <p:nvSpPr>
          <p:cNvPr id="90" name="Google Shape;90;p17"/>
          <p:cNvSpPr txBox="1"/>
          <p:nvPr/>
        </p:nvSpPr>
        <p:spPr>
          <a:xfrm>
            <a:off x="234425" y="1071750"/>
            <a:ext cx="6000000" cy="3000000"/>
          </a:xfrm>
          <a:prstGeom prst="rect">
            <a:avLst/>
          </a:prstGeom>
          <a:noFill/>
          <a:ln>
            <a:noFill/>
          </a:ln>
        </p:spPr>
        <p:txBody>
          <a:bodyPr anchorCtr="0" anchor="ctr" bIns="91425" lIns="91425" spcFirstLastPara="1" rIns="91425" wrap="square" tIns="91425">
            <a:noAutofit/>
          </a:bodyPr>
          <a:lstStyle/>
          <a:p>
            <a:pPr indent="0" lvl="0" marL="0" rtl="0" algn="l">
              <a:lnSpc>
                <a:spcPct val="115000"/>
              </a:lnSpc>
              <a:spcBef>
                <a:spcPts val="0"/>
              </a:spcBef>
              <a:spcAft>
                <a:spcPts val="0"/>
              </a:spcAft>
              <a:buNone/>
            </a:pPr>
            <a:r>
              <a:rPr b="1" lang="en" sz="1800">
                <a:solidFill>
                  <a:srgbClr val="273239"/>
                </a:solidFill>
                <a:highlight>
                  <a:srgbClr val="FFFFFF"/>
                </a:highlight>
                <a:latin typeface="Nunito"/>
                <a:ea typeface="Nunito"/>
                <a:cs typeface="Nunito"/>
                <a:sym typeface="Nunito"/>
              </a:rPr>
              <a:t> SQL INNER JOIN</a:t>
            </a:r>
            <a:endParaRPr b="1" sz="1800">
              <a:solidFill>
                <a:srgbClr val="273239"/>
              </a:solidFill>
              <a:highlight>
                <a:srgbClr val="FFFFFF"/>
              </a:highlight>
              <a:latin typeface="Nunito"/>
              <a:ea typeface="Nunito"/>
              <a:cs typeface="Nunito"/>
              <a:sym typeface="Nunito"/>
            </a:endParaRPr>
          </a:p>
          <a:p>
            <a:pPr indent="0" lvl="0" marL="0" rtl="0" algn="just">
              <a:lnSpc>
                <a:spcPct val="115000"/>
              </a:lnSpc>
              <a:spcBef>
                <a:spcPts val="0"/>
              </a:spcBef>
              <a:spcAft>
                <a:spcPts val="0"/>
              </a:spcAft>
              <a:buNone/>
            </a:pPr>
            <a:r>
              <a:rPr lang="en" sz="1350">
                <a:solidFill>
                  <a:srgbClr val="273239"/>
                </a:solidFill>
                <a:highlight>
                  <a:srgbClr val="FFFFFF"/>
                </a:highlight>
                <a:latin typeface="Nunito"/>
                <a:ea typeface="Nunito"/>
                <a:cs typeface="Nunito"/>
                <a:sym typeface="Nunito"/>
              </a:rPr>
              <a:t>The </a:t>
            </a:r>
            <a:r>
              <a:rPr lang="en" sz="1350" u="sng">
                <a:solidFill>
                  <a:srgbClr val="357960"/>
                </a:solidFill>
                <a:highlight>
                  <a:srgbClr val="FFFFFF"/>
                </a:highlight>
                <a:latin typeface="Nunito"/>
                <a:ea typeface="Nunito"/>
                <a:cs typeface="Nunito"/>
                <a:sym typeface="Nunito"/>
                <a:hlinkClick r:id="rId3">
                  <a:extLst>
                    <a:ext uri="{A12FA001-AC4F-418D-AE19-62706E023703}">
                      <ahyp:hlinkClr val="tx"/>
                    </a:ext>
                  </a:extLst>
                </a:hlinkClick>
              </a:rPr>
              <a:t>INNER JOIN</a:t>
            </a:r>
            <a:r>
              <a:rPr lang="en" sz="1350">
                <a:solidFill>
                  <a:srgbClr val="273239"/>
                </a:solidFill>
                <a:highlight>
                  <a:srgbClr val="FFFFFF"/>
                </a:highlight>
                <a:latin typeface="Nunito"/>
                <a:ea typeface="Nunito"/>
                <a:cs typeface="Nunito"/>
                <a:sym typeface="Nunito"/>
              </a:rPr>
              <a:t> keyword sele</a:t>
            </a:r>
            <a:r>
              <a:rPr b="1" lang="en" sz="1350">
                <a:solidFill>
                  <a:srgbClr val="273239"/>
                </a:solidFill>
                <a:highlight>
                  <a:srgbClr val="FFFFFF"/>
                </a:highlight>
                <a:latin typeface="Nunito"/>
                <a:ea typeface="Nunito"/>
                <a:cs typeface="Nunito"/>
                <a:sym typeface="Nunito"/>
              </a:rPr>
              <a:t>c</a:t>
            </a:r>
            <a:r>
              <a:rPr lang="en" sz="1350">
                <a:solidFill>
                  <a:srgbClr val="273239"/>
                </a:solidFill>
                <a:highlight>
                  <a:srgbClr val="FFFFFF"/>
                </a:highlight>
                <a:latin typeface="Nunito"/>
                <a:ea typeface="Nunito"/>
                <a:cs typeface="Nunito"/>
                <a:sym typeface="Nunito"/>
              </a:rPr>
              <a:t>ts all rows from both the tables as long as the condition is satisfied. This keyword will create the result set by combining all rows from both the tables where the condition satisfies i.e value of the common field will be the same. </a:t>
            </a:r>
            <a:endParaRPr sz="1350">
              <a:solidFill>
                <a:srgbClr val="273239"/>
              </a:solidFill>
              <a:highlight>
                <a:srgbClr val="FFFFFF"/>
              </a:highlight>
              <a:latin typeface="Nunito"/>
              <a:ea typeface="Nunito"/>
              <a:cs typeface="Nunito"/>
              <a:sym typeface="Nunito"/>
            </a:endParaRPr>
          </a:p>
          <a:p>
            <a:pPr indent="0" lvl="0" marL="0" rtl="0" algn="l">
              <a:lnSpc>
                <a:spcPct val="115000"/>
              </a:lnSpc>
              <a:spcBef>
                <a:spcPts val="800"/>
              </a:spcBef>
              <a:spcAft>
                <a:spcPts val="0"/>
              </a:spcAft>
              <a:buNone/>
            </a:pPr>
            <a:r>
              <a:rPr b="1" lang="en" sz="1350">
                <a:solidFill>
                  <a:srgbClr val="273239"/>
                </a:solidFill>
                <a:highlight>
                  <a:srgbClr val="FFFFFF"/>
                </a:highlight>
                <a:latin typeface="Nunito"/>
                <a:ea typeface="Nunito"/>
                <a:cs typeface="Nunito"/>
                <a:sym typeface="Nunito"/>
              </a:rPr>
              <a:t>Syntax:</a:t>
            </a:r>
            <a:endParaRPr b="1" sz="1350">
              <a:solidFill>
                <a:srgbClr val="273239"/>
              </a:solidFill>
              <a:highlight>
                <a:srgbClr val="FFFFFF"/>
              </a:highlight>
              <a:latin typeface="Nunito"/>
              <a:ea typeface="Nunito"/>
              <a:cs typeface="Nunito"/>
              <a:sym typeface="Nunito"/>
            </a:endParaRPr>
          </a:p>
          <a:p>
            <a:pPr indent="0" lvl="0" marL="0" rtl="0" algn="l">
              <a:spcBef>
                <a:spcPts val="800"/>
              </a:spcBef>
              <a:spcAft>
                <a:spcPts val="0"/>
              </a:spcAft>
              <a:buNone/>
            </a:pPr>
            <a:r>
              <a:rPr lang="en" sz="1200">
                <a:highlight>
                  <a:srgbClr val="E0E0E0"/>
                </a:highlight>
                <a:latin typeface="Courier New"/>
                <a:ea typeface="Courier New"/>
                <a:cs typeface="Courier New"/>
                <a:sym typeface="Courier New"/>
              </a:rPr>
              <a:t>SELECT table1.column1,table1.column2,table2.column1,.... FROM table1  INNER JOIN</a:t>
            </a:r>
            <a:endParaRPr sz="1200">
              <a:highlight>
                <a:srgbClr val="E0E0E0"/>
              </a:highlight>
              <a:latin typeface="Courier New"/>
              <a:ea typeface="Courier New"/>
              <a:cs typeface="Courier New"/>
              <a:sym typeface="Courier New"/>
            </a:endParaRPr>
          </a:p>
          <a:p>
            <a:pPr indent="0" lvl="0" marL="190500" marR="190500" rtl="0" algn="l">
              <a:lnSpc>
                <a:spcPct val="115000"/>
              </a:lnSpc>
              <a:spcBef>
                <a:spcPts val="0"/>
              </a:spcBef>
              <a:spcAft>
                <a:spcPts val="0"/>
              </a:spcAft>
              <a:buNone/>
            </a:pPr>
            <a:r>
              <a:rPr lang="en" sz="1200">
                <a:highlight>
                  <a:srgbClr val="E0E0E0"/>
                </a:highlight>
                <a:latin typeface="Courier New"/>
                <a:ea typeface="Courier New"/>
                <a:cs typeface="Courier New"/>
                <a:sym typeface="Courier New"/>
              </a:rPr>
              <a:t> table2 ON  table1.matching_column = table2.matching_column;</a:t>
            </a:r>
            <a:endParaRPr sz="1200">
              <a:highlight>
                <a:srgbClr val="E0E0E0"/>
              </a:highlight>
              <a:latin typeface="Courier New"/>
              <a:ea typeface="Courier New"/>
              <a:cs typeface="Courier New"/>
              <a:sym typeface="Courier New"/>
            </a:endParaRPr>
          </a:p>
          <a:p>
            <a:pPr indent="0" lvl="0" marL="0" rtl="0" algn="l">
              <a:lnSpc>
                <a:spcPct val="115000"/>
              </a:lnSpc>
              <a:spcBef>
                <a:spcPts val="800"/>
              </a:spcBef>
              <a:spcAft>
                <a:spcPts val="0"/>
              </a:spcAft>
              <a:buNone/>
            </a:pPr>
            <a:r>
              <a:rPr b="1" lang="en" sz="1350">
                <a:solidFill>
                  <a:srgbClr val="273239"/>
                </a:solidFill>
                <a:highlight>
                  <a:srgbClr val="FFFFFF"/>
                </a:highlight>
                <a:latin typeface="Nunito"/>
                <a:ea typeface="Nunito"/>
                <a:cs typeface="Nunito"/>
                <a:sym typeface="Nunito"/>
              </a:rPr>
              <a:t>Note</a:t>
            </a:r>
            <a:r>
              <a:rPr lang="en" sz="1350">
                <a:solidFill>
                  <a:srgbClr val="273239"/>
                </a:solidFill>
                <a:highlight>
                  <a:srgbClr val="FFFFFF"/>
                </a:highlight>
                <a:latin typeface="Nunito"/>
                <a:ea typeface="Nunito"/>
                <a:cs typeface="Nunito"/>
                <a:sym typeface="Nunito"/>
              </a:rPr>
              <a:t>: We can also write JOIN instead of INNER JOIN. JOIN is same as INNER JOIN. </a:t>
            </a:r>
            <a:endParaRPr sz="1350">
              <a:solidFill>
                <a:srgbClr val="273239"/>
              </a:solidFill>
              <a:highlight>
                <a:srgbClr val="FFFFFF"/>
              </a:highlight>
              <a:latin typeface="Nunito"/>
              <a:ea typeface="Nunito"/>
              <a:cs typeface="Nunito"/>
              <a:sym typeface="Nunito"/>
            </a:endParaRPr>
          </a:p>
          <a:p>
            <a:pPr indent="0" lvl="0" marL="0" rtl="0" algn="l">
              <a:lnSpc>
                <a:spcPct val="115000"/>
              </a:lnSpc>
              <a:spcBef>
                <a:spcPts val="800"/>
              </a:spcBef>
              <a:spcAft>
                <a:spcPts val="0"/>
              </a:spcAft>
              <a:buNone/>
            </a:pPr>
            <a:r>
              <a:t/>
            </a:r>
            <a:endParaRPr sz="1100"/>
          </a:p>
        </p:txBody>
      </p:sp>
      <p:pic>
        <p:nvPicPr>
          <p:cNvPr id="91" name="Google Shape;91;p17"/>
          <p:cNvPicPr preferRelativeResize="0"/>
          <p:nvPr/>
        </p:nvPicPr>
        <p:blipFill rotWithShape="1">
          <a:blip r:embed="rId4">
            <a:alphaModFix/>
          </a:blip>
          <a:srcRect b="0" l="24076" r="0" t="7553"/>
          <a:stretch/>
        </p:blipFill>
        <p:spPr>
          <a:xfrm>
            <a:off x="5438700" y="2087975"/>
            <a:ext cx="3647800" cy="2410200"/>
          </a:xfrm>
          <a:prstGeom prst="rect">
            <a:avLst/>
          </a:prstGeom>
          <a:noFill/>
          <a:ln>
            <a:noFill/>
          </a:ln>
        </p:spPr>
      </p:pic>
    </p:spTree>
  </p:cSld>
  <p:clrMapOvr>
    <a:masterClrMapping/>
  </p:clrMapOvr>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5" name="Shape 95"/>
        <p:cNvGrpSpPr/>
        <p:nvPr/>
      </p:nvGrpSpPr>
      <p:grpSpPr>
        <a:xfrm>
          <a:off x="0" y="0"/>
          <a:ext cx="0" cy="0"/>
          <a:chOff x="0" y="0"/>
          <a:chExt cx="0" cy="0"/>
        </a:xfrm>
      </p:grpSpPr>
      <p:pic>
        <p:nvPicPr>
          <p:cNvPr id="96" name="Google Shape;96;p18"/>
          <p:cNvPicPr preferRelativeResize="0"/>
          <p:nvPr/>
        </p:nvPicPr>
        <p:blipFill>
          <a:blip r:embed="rId3">
            <a:alphaModFix/>
          </a:blip>
          <a:stretch>
            <a:fillRect/>
          </a:stretch>
        </p:blipFill>
        <p:spPr>
          <a:xfrm>
            <a:off x="2227850" y="37550"/>
            <a:ext cx="3238066" cy="4838700"/>
          </a:xfrm>
          <a:prstGeom prst="rect">
            <a:avLst/>
          </a:prstGeom>
          <a:noFill/>
          <a:ln>
            <a:noFill/>
          </a:ln>
        </p:spPr>
      </p:pic>
    </p:spTree>
  </p:cSld>
  <p:clrMapOvr>
    <a:masterClrMapping/>
  </p:clrMapOvr>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0" name="Shape 100"/>
        <p:cNvGrpSpPr/>
        <p:nvPr/>
      </p:nvGrpSpPr>
      <p:grpSpPr>
        <a:xfrm>
          <a:off x="0" y="0"/>
          <a:ext cx="0" cy="0"/>
          <a:chOff x="0" y="0"/>
          <a:chExt cx="0" cy="0"/>
        </a:xfrm>
      </p:grpSpPr>
      <p:sp>
        <p:nvSpPr>
          <p:cNvPr id="101" name="Google Shape;101;p19"/>
          <p:cNvSpPr txBox="1"/>
          <p:nvPr/>
        </p:nvSpPr>
        <p:spPr>
          <a:xfrm>
            <a:off x="360950" y="598850"/>
            <a:ext cx="4490100" cy="4050600"/>
          </a:xfrm>
          <a:prstGeom prst="rect">
            <a:avLst/>
          </a:prstGeom>
          <a:solidFill>
            <a:srgbClr val="EAD1DC"/>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800">
                <a:solidFill>
                  <a:srgbClr val="273239"/>
                </a:solidFill>
                <a:highlight>
                  <a:srgbClr val="FFFFFF"/>
                </a:highlight>
                <a:latin typeface="Nunito"/>
                <a:ea typeface="Nunito"/>
                <a:cs typeface="Nunito"/>
                <a:sym typeface="Nunito"/>
              </a:rPr>
              <a:t> SQL LEFT JOIN</a:t>
            </a:r>
            <a:endParaRPr b="1" sz="1800">
              <a:solidFill>
                <a:srgbClr val="273239"/>
              </a:solidFill>
              <a:highlight>
                <a:srgbClr val="FFFFFF"/>
              </a:highlight>
              <a:latin typeface="Nunito"/>
              <a:ea typeface="Nunito"/>
              <a:cs typeface="Nunito"/>
              <a:sym typeface="Nunito"/>
            </a:endParaRPr>
          </a:p>
          <a:p>
            <a:pPr indent="0" lvl="0" marL="0" rtl="0" algn="just">
              <a:lnSpc>
                <a:spcPct val="115000"/>
              </a:lnSpc>
              <a:spcBef>
                <a:spcPts val="0"/>
              </a:spcBef>
              <a:spcAft>
                <a:spcPts val="0"/>
              </a:spcAft>
              <a:buNone/>
            </a:pPr>
            <a:r>
              <a:rPr lang="en" sz="1350">
                <a:solidFill>
                  <a:srgbClr val="273239"/>
                </a:solidFill>
                <a:highlight>
                  <a:srgbClr val="FFFFFF"/>
                </a:highlight>
                <a:latin typeface="Nunito"/>
                <a:ea typeface="Nunito"/>
                <a:cs typeface="Nunito"/>
                <a:sym typeface="Nunito"/>
              </a:rPr>
              <a:t>A LEFT JOIN returns all rows from the left table, along with matching rows from the right table. If there is no match, NULL values are returned for columns from the right table.</a:t>
            </a:r>
            <a:r>
              <a:rPr lang="en" sz="1350" u="sng">
                <a:solidFill>
                  <a:srgbClr val="357960"/>
                </a:solidFill>
                <a:highlight>
                  <a:srgbClr val="FFFFFF"/>
                </a:highlight>
                <a:latin typeface="Nunito"/>
                <a:ea typeface="Nunito"/>
                <a:cs typeface="Nunito"/>
                <a:sym typeface="Nunito"/>
                <a:hlinkClick r:id="rId3">
                  <a:extLst>
                    <a:ext uri="{A12FA001-AC4F-418D-AE19-62706E023703}">
                      <ahyp:hlinkClr val="tx"/>
                    </a:ext>
                  </a:extLst>
                </a:hlinkClick>
              </a:rPr>
              <a:t> LEFT JOIN </a:t>
            </a:r>
            <a:r>
              <a:rPr lang="en" sz="1350">
                <a:solidFill>
                  <a:srgbClr val="273239"/>
                </a:solidFill>
                <a:highlight>
                  <a:srgbClr val="FFFFFF"/>
                </a:highlight>
                <a:latin typeface="Nunito"/>
                <a:ea typeface="Nunito"/>
                <a:cs typeface="Nunito"/>
                <a:sym typeface="Nunito"/>
              </a:rPr>
              <a:t>is also known as LEFT OUTER JOIN.</a:t>
            </a:r>
            <a:endParaRPr sz="1350">
              <a:solidFill>
                <a:srgbClr val="273239"/>
              </a:solidFill>
              <a:highlight>
                <a:srgbClr val="FFFFFF"/>
              </a:highlight>
              <a:latin typeface="Nunito"/>
              <a:ea typeface="Nunito"/>
              <a:cs typeface="Nunito"/>
              <a:sym typeface="Nunito"/>
            </a:endParaRPr>
          </a:p>
          <a:p>
            <a:pPr indent="0" lvl="0" marL="0" rtl="0" algn="just">
              <a:lnSpc>
                <a:spcPct val="115000"/>
              </a:lnSpc>
              <a:spcBef>
                <a:spcPts val="800"/>
              </a:spcBef>
              <a:spcAft>
                <a:spcPts val="0"/>
              </a:spcAft>
              <a:buNone/>
            </a:pPr>
            <a:r>
              <a:rPr b="1" lang="en" sz="1350">
                <a:solidFill>
                  <a:srgbClr val="273239"/>
                </a:solidFill>
                <a:highlight>
                  <a:srgbClr val="FFFFFF"/>
                </a:highlight>
                <a:latin typeface="Nunito"/>
                <a:ea typeface="Nunito"/>
                <a:cs typeface="Nunito"/>
                <a:sym typeface="Nunito"/>
              </a:rPr>
              <a:t>Syntax</a:t>
            </a:r>
            <a:endParaRPr b="1" sz="1350">
              <a:solidFill>
                <a:srgbClr val="273239"/>
              </a:solidFill>
              <a:highlight>
                <a:srgbClr val="FFFFFF"/>
              </a:highlight>
              <a:latin typeface="Nunito"/>
              <a:ea typeface="Nunito"/>
              <a:cs typeface="Nunito"/>
              <a:sym typeface="Nunito"/>
            </a:endParaRPr>
          </a:p>
          <a:p>
            <a:pPr indent="0" lvl="0" marL="0" rtl="0" algn="l">
              <a:spcBef>
                <a:spcPts val="800"/>
              </a:spcBef>
              <a:spcAft>
                <a:spcPts val="0"/>
              </a:spcAft>
              <a:buNone/>
            </a:pPr>
            <a:r>
              <a:rPr lang="en" sz="1200">
                <a:highlight>
                  <a:srgbClr val="E0E0E0"/>
                </a:highlight>
                <a:latin typeface="Courier New"/>
                <a:ea typeface="Courier New"/>
                <a:cs typeface="Courier New"/>
                <a:sym typeface="Courier New"/>
              </a:rPr>
              <a:t>SELECT table1.column1,table1.column2,table2.column1,....</a:t>
            </a:r>
            <a:endParaRPr sz="1200">
              <a:highlight>
                <a:srgbClr val="E0E0E0"/>
              </a:highlight>
              <a:latin typeface="Courier New"/>
              <a:ea typeface="Courier New"/>
              <a:cs typeface="Courier New"/>
              <a:sym typeface="Courier New"/>
            </a:endParaRPr>
          </a:p>
          <a:p>
            <a:pPr indent="0" lvl="0" marL="0" rtl="0" algn="l">
              <a:spcBef>
                <a:spcPts val="0"/>
              </a:spcBef>
              <a:spcAft>
                <a:spcPts val="0"/>
              </a:spcAft>
              <a:buNone/>
            </a:pPr>
            <a:r>
              <a:rPr lang="en" sz="1200">
                <a:highlight>
                  <a:srgbClr val="E0E0E0"/>
                </a:highlight>
                <a:latin typeface="Courier New"/>
                <a:ea typeface="Courier New"/>
                <a:cs typeface="Courier New"/>
                <a:sym typeface="Courier New"/>
              </a:rPr>
              <a:t>FROM table1 </a:t>
            </a:r>
            <a:endParaRPr sz="1200">
              <a:highlight>
                <a:srgbClr val="E0E0E0"/>
              </a:highlight>
              <a:latin typeface="Courier New"/>
              <a:ea typeface="Courier New"/>
              <a:cs typeface="Courier New"/>
              <a:sym typeface="Courier New"/>
            </a:endParaRPr>
          </a:p>
          <a:p>
            <a:pPr indent="0" lvl="0" marL="0" rtl="0" algn="l">
              <a:spcBef>
                <a:spcPts val="0"/>
              </a:spcBef>
              <a:spcAft>
                <a:spcPts val="0"/>
              </a:spcAft>
              <a:buNone/>
            </a:pPr>
            <a:r>
              <a:rPr lang="en" sz="1200">
                <a:highlight>
                  <a:srgbClr val="E0E0E0"/>
                </a:highlight>
                <a:latin typeface="Courier New"/>
                <a:ea typeface="Courier New"/>
                <a:cs typeface="Courier New"/>
                <a:sym typeface="Courier New"/>
              </a:rPr>
              <a:t>LEFT JOIN table2</a:t>
            </a:r>
            <a:endParaRPr sz="1200">
              <a:highlight>
                <a:srgbClr val="E0E0E0"/>
              </a:highlight>
              <a:latin typeface="Courier New"/>
              <a:ea typeface="Courier New"/>
              <a:cs typeface="Courier New"/>
              <a:sym typeface="Courier New"/>
            </a:endParaRPr>
          </a:p>
          <a:p>
            <a:pPr indent="0" lvl="0" marL="190500" marR="190500" rtl="0" algn="l">
              <a:lnSpc>
                <a:spcPct val="115000"/>
              </a:lnSpc>
              <a:spcBef>
                <a:spcPts val="0"/>
              </a:spcBef>
              <a:spcAft>
                <a:spcPts val="0"/>
              </a:spcAft>
              <a:buNone/>
            </a:pPr>
            <a:r>
              <a:rPr lang="en" sz="1200">
                <a:highlight>
                  <a:srgbClr val="E0E0E0"/>
                </a:highlight>
                <a:latin typeface="Courier New"/>
                <a:ea typeface="Courier New"/>
                <a:cs typeface="Courier New"/>
                <a:sym typeface="Courier New"/>
              </a:rPr>
              <a:t>ON table1.matching_column = table2.matching_column;</a:t>
            </a:r>
            <a:endParaRPr sz="1200">
              <a:highlight>
                <a:srgbClr val="E0E0E0"/>
              </a:highlight>
              <a:latin typeface="Courier New"/>
              <a:ea typeface="Courier New"/>
              <a:cs typeface="Courier New"/>
              <a:sym typeface="Courier New"/>
            </a:endParaRPr>
          </a:p>
          <a:p>
            <a:pPr indent="0" lvl="0" marL="228600" marR="228600" rtl="0" algn="l">
              <a:lnSpc>
                <a:spcPct val="120000"/>
              </a:lnSpc>
              <a:spcBef>
                <a:spcPts val="800"/>
              </a:spcBef>
              <a:spcAft>
                <a:spcPts val="2600"/>
              </a:spcAft>
              <a:buNone/>
            </a:pPr>
            <a:r>
              <a:rPr b="1" i="1" lang="en" sz="1350">
                <a:solidFill>
                  <a:srgbClr val="273239"/>
                </a:solidFill>
                <a:highlight>
                  <a:srgbClr val="F9F9F9"/>
                </a:highlight>
                <a:latin typeface="Nunito"/>
                <a:ea typeface="Nunito"/>
                <a:cs typeface="Nunito"/>
                <a:sym typeface="Nunito"/>
              </a:rPr>
              <a:t>Note</a:t>
            </a:r>
            <a:r>
              <a:rPr i="1" lang="en" sz="1350">
                <a:solidFill>
                  <a:srgbClr val="273239"/>
                </a:solidFill>
                <a:highlight>
                  <a:srgbClr val="F9F9F9"/>
                </a:highlight>
                <a:latin typeface="Nunito"/>
                <a:ea typeface="Nunito"/>
                <a:cs typeface="Nunito"/>
                <a:sym typeface="Nunito"/>
              </a:rPr>
              <a:t>: We can also use LEFT OUTER JOIN instead of LEFT JOIN, both are the same.</a:t>
            </a:r>
            <a:endParaRPr b="1" sz="1800">
              <a:solidFill>
                <a:srgbClr val="273239"/>
              </a:solidFill>
              <a:highlight>
                <a:srgbClr val="FFFFFF"/>
              </a:highlight>
              <a:latin typeface="Nunito"/>
              <a:ea typeface="Nunito"/>
              <a:cs typeface="Nunito"/>
              <a:sym typeface="Nunito"/>
            </a:endParaRPr>
          </a:p>
        </p:txBody>
      </p:sp>
      <p:pic>
        <p:nvPicPr>
          <p:cNvPr id="102" name="Google Shape;102;p19"/>
          <p:cNvPicPr preferRelativeResize="0"/>
          <p:nvPr/>
        </p:nvPicPr>
        <p:blipFill>
          <a:blip r:embed="rId4">
            <a:alphaModFix/>
          </a:blip>
          <a:stretch>
            <a:fillRect/>
          </a:stretch>
        </p:blipFill>
        <p:spPr>
          <a:xfrm>
            <a:off x="4924375" y="1581497"/>
            <a:ext cx="4099175" cy="2800650"/>
          </a:xfrm>
          <a:prstGeom prst="rect">
            <a:avLst/>
          </a:prstGeom>
          <a:noFill/>
          <a:ln>
            <a:noFill/>
          </a:ln>
        </p:spPr>
      </p:pic>
    </p:spTree>
  </p:cSld>
  <p:clrMapOvr>
    <a:masterClrMapping/>
  </p:clrMapOvr>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6" name="Shape 106"/>
        <p:cNvGrpSpPr/>
        <p:nvPr/>
      </p:nvGrpSpPr>
      <p:grpSpPr>
        <a:xfrm>
          <a:off x="0" y="0"/>
          <a:ext cx="0" cy="0"/>
          <a:chOff x="0" y="0"/>
          <a:chExt cx="0" cy="0"/>
        </a:xfrm>
      </p:grpSpPr>
      <p:pic>
        <p:nvPicPr>
          <p:cNvPr id="107" name="Google Shape;107;p20"/>
          <p:cNvPicPr preferRelativeResize="0"/>
          <p:nvPr/>
        </p:nvPicPr>
        <p:blipFill>
          <a:blip r:embed="rId3">
            <a:alphaModFix/>
          </a:blip>
          <a:stretch>
            <a:fillRect/>
          </a:stretch>
        </p:blipFill>
        <p:spPr>
          <a:xfrm>
            <a:off x="1784875" y="304800"/>
            <a:ext cx="3519054" cy="4838699"/>
          </a:xfrm>
          <a:prstGeom prst="rect">
            <a:avLst/>
          </a:prstGeom>
          <a:noFill/>
          <a:ln>
            <a:noFill/>
          </a:ln>
        </p:spPr>
      </p:pic>
    </p:spTree>
  </p:cSld>
  <p:clrMapOvr>
    <a:masterClrMapping/>
  </p:clrMapOvr>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1" name="Shape 111"/>
        <p:cNvGrpSpPr/>
        <p:nvPr/>
      </p:nvGrpSpPr>
      <p:grpSpPr>
        <a:xfrm>
          <a:off x="0" y="0"/>
          <a:ext cx="0" cy="0"/>
          <a:chOff x="0" y="0"/>
          <a:chExt cx="0" cy="0"/>
        </a:xfrm>
      </p:grpSpPr>
      <p:sp>
        <p:nvSpPr>
          <p:cNvPr id="112" name="Google Shape;112;p21"/>
          <p:cNvSpPr txBox="1"/>
          <p:nvPr/>
        </p:nvSpPr>
        <p:spPr>
          <a:xfrm>
            <a:off x="0" y="0"/>
            <a:ext cx="5783100" cy="5026200"/>
          </a:xfrm>
          <a:prstGeom prst="rect">
            <a:avLst/>
          </a:prstGeom>
          <a:solidFill>
            <a:srgbClr val="D5A6BD"/>
          </a:solidFill>
          <a:ln>
            <a:noFill/>
          </a:ln>
        </p:spPr>
        <p:txBody>
          <a:bodyPr anchorCtr="0" anchor="t" bIns="91425" lIns="91425" spcFirstLastPara="1" rIns="91425" wrap="square" tIns="91425">
            <a:spAutoFit/>
          </a:bodyPr>
          <a:lstStyle/>
          <a:p>
            <a:pPr indent="0" lvl="0" marL="0" rtl="0" algn="l">
              <a:lnSpc>
                <a:spcPct val="115000"/>
              </a:lnSpc>
              <a:spcBef>
                <a:spcPts val="0"/>
              </a:spcBef>
              <a:spcAft>
                <a:spcPts val="0"/>
              </a:spcAft>
              <a:buNone/>
            </a:pPr>
            <a:r>
              <a:rPr b="1" lang="en" sz="1800">
                <a:solidFill>
                  <a:srgbClr val="273239"/>
                </a:solidFill>
                <a:highlight>
                  <a:srgbClr val="FFFFFF"/>
                </a:highlight>
                <a:latin typeface="Nunito"/>
                <a:ea typeface="Nunito"/>
                <a:cs typeface="Nunito"/>
                <a:sym typeface="Nunito"/>
              </a:rPr>
              <a:t>SQL RIGHT JOIN</a:t>
            </a:r>
            <a:endParaRPr b="1" sz="1800">
              <a:solidFill>
                <a:srgbClr val="273239"/>
              </a:solidFill>
              <a:highlight>
                <a:srgbClr val="FFFFFF"/>
              </a:highlight>
              <a:latin typeface="Nunito"/>
              <a:ea typeface="Nunito"/>
              <a:cs typeface="Nunito"/>
              <a:sym typeface="Nunito"/>
            </a:endParaRPr>
          </a:p>
          <a:p>
            <a:pPr indent="0" lvl="0" marL="0" rtl="0" algn="just">
              <a:lnSpc>
                <a:spcPct val="115000"/>
              </a:lnSpc>
              <a:spcBef>
                <a:spcPts val="0"/>
              </a:spcBef>
              <a:spcAft>
                <a:spcPts val="0"/>
              </a:spcAft>
              <a:buNone/>
            </a:pPr>
            <a:r>
              <a:rPr b="1" lang="en" sz="1350" u="sng">
                <a:solidFill>
                  <a:srgbClr val="357960"/>
                </a:solidFill>
                <a:highlight>
                  <a:srgbClr val="FFFFFF"/>
                </a:highlight>
                <a:latin typeface="Nunito"/>
                <a:ea typeface="Nunito"/>
                <a:cs typeface="Nunito"/>
                <a:sym typeface="Nunito"/>
                <a:hlinkClick r:id="rId3">
                  <a:extLst>
                    <a:ext uri="{A12FA001-AC4F-418D-AE19-62706E023703}">
                      <ahyp:hlinkClr val="tx"/>
                    </a:ext>
                  </a:extLst>
                </a:hlinkClick>
              </a:rPr>
              <a:t>RIGHT JOIN</a:t>
            </a:r>
            <a:r>
              <a:rPr lang="en" sz="1350">
                <a:solidFill>
                  <a:srgbClr val="273239"/>
                </a:solidFill>
                <a:highlight>
                  <a:srgbClr val="FFFFFF"/>
                </a:highlight>
                <a:latin typeface="Nunito"/>
                <a:ea typeface="Nunito"/>
                <a:cs typeface="Nunito"/>
                <a:sym typeface="Nunito"/>
              </a:rPr>
              <a:t> returns all the rows of the table on the right side of the join and matching rows for the table on the left side of the join. It is very similar to LEFT JOIN for the rows for which there is no matching row on the left side, the result-set will contain null. RIGHT JOIN is also known as RIGHT OUTER JOIN. </a:t>
            </a:r>
            <a:endParaRPr sz="1350">
              <a:solidFill>
                <a:srgbClr val="273239"/>
              </a:solidFill>
              <a:highlight>
                <a:srgbClr val="FFFFFF"/>
              </a:highlight>
              <a:latin typeface="Nunito"/>
              <a:ea typeface="Nunito"/>
              <a:cs typeface="Nunito"/>
              <a:sym typeface="Nunito"/>
            </a:endParaRPr>
          </a:p>
          <a:p>
            <a:pPr indent="0" lvl="0" marL="0" rtl="0" algn="l">
              <a:lnSpc>
                <a:spcPct val="115000"/>
              </a:lnSpc>
              <a:spcBef>
                <a:spcPts val="800"/>
              </a:spcBef>
              <a:spcAft>
                <a:spcPts val="0"/>
              </a:spcAft>
              <a:buNone/>
            </a:pPr>
            <a:r>
              <a:rPr b="1" lang="en" sz="1350">
                <a:solidFill>
                  <a:srgbClr val="273239"/>
                </a:solidFill>
                <a:highlight>
                  <a:srgbClr val="FFFFFF"/>
                </a:highlight>
                <a:latin typeface="Nunito"/>
                <a:ea typeface="Nunito"/>
                <a:cs typeface="Nunito"/>
                <a:sym typeface="Nunito"/>
              </a:rPr>
              <a:t>Syntax</a:t>
            </a:r>
            <a:endParaRPr b="1" sz="1350">
              <a:solidFill>
                <a:srgbClr val="273239"/>
              </a:solidFill>
              <a:highlight>
                <a:srgbClr val="FFFFFF"/>
              </a:highlight>
              <a:latin typeface="Nunito"/>
              <a:ea typeface="Nunito"/>
              <a:cs typeface="Nunito"/>
              <a:sym typeface="Nunito"/>
            </a:endParaRPr>
          </a:p>
          <a:p>
            <a:pPr indent="0" lvl="0" marL="0" rtl="0" algn="l">
              <a:spcBef>
                <a:spcPts val="800"/>
              </a:spcBef>
              <a:spcAft>
                <a:spcPts val="0"/>
              </a:spcAft>
              <a:buNone/>
            </a:pPr>
            <a:r>
              <a:rPr lang="en" sz="1200">
                <a:solidFill>
                  <a:schemeClr val="dk1"/>
                </a:solidFill>
                <a:highlight>
                  <a:srgbClr val="E0E0E0"/>
                </a:highlight>
                <a:latin typeface="Courier New"/>
                <a:ea typeface="Courier New"/>
                <a:cs typeface="Courier New"/>
                <a:sym typeface="Courier New"/>
              </a:rPr>
              <a:t>SELECT table1.column1,table1.column2,table2.column1,....</a:t>
            </a:r>
            <a:endParaRPr sz="1200">
              <a:solidFill>
                <a:schemeClr val="dk1"/>
              </a:solidFill>
              <a:highlight>
                <a:srgbClr val="E0E0E0"/>
              </a:highlight>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highlight>
                  <a:srgbClr val="E0E0E0"/>
                </a:highlight>
                <a:latin typeface="Courier New"/>
                <a:ea typeface="Courier New"/>
                <a:cs typeface="Courier New"/>
                <a:sym typeface="Courier New"/>
              </a:rPr>
              <a:t>FROM table1 </a:t>
            </a:r>
            <a:endParaRPr sz="1200">
              <a:solidFill>
                <a:schemeClr val="dk1"/>
              </a:solidFill>
              <a:highlight>
                <a:srgbClr val="E0E0E0"/>
              </a:highlight>
              <a:latin typeface="Courier New"/>
              <a:ea typeface="Courier New"/>
              <a:cs typeface="Courier New"/>
              <a:sym typeface="Courier New"/>
            </a:endParaRPr>
          </a:p>
          <a:p>
            <a:pPr indent="0" lvl="0" marL="0" rtl="0" algn="l">
              <a:spcBef>
                <a:spcPts val="0"/>
              </a:spcBef>
              <a:spcAft>
                <a:spcPts val="0"/>
              </a:spcAft>
              <a:buNone/>
            </a:pPr>
            <a:r>
              <a:rPr lang="en" sz="1200">
                <a:solidFill>
                  <a:schemeClr val="dk1"/>
                </a:solidFill>
                <a:highlight>
                  <a:srgbClr val="E0E0E0"/>
                </a:highlight>
                <a:latin typeface="Courier New"/>
                <a:ea typeface="Courier New"/>
                <a:cs typeface="Courier New"/>
                <a:sym typeface="Courier New"/>
              </a:rPr>
              <a:t>RIGHT JOIN table2</a:t>
            </a:r>
            <a:endParaRPr sz="1200">
              <a:solidFill>
                <a:schemeClr val="dk1"/>
              </a:solidFill>
              <a:highlight>
                <a:srgbClr val="E0E0E0"/>
              </a:highlight>
              <a:latin typeface="Courier New"/>
              <a:ea typeface="Courier New"/>
              <a:cs typeface="Courier New"/>
              <a:sym typeface="Courier New"/>
            </a:endParaRPr>
          </a:p>
          <a:p>
            <a:pPr indent="0" lvl="0" marL="190500" marR="190500" rtl="0" algn="l">
              <a:lnSpc>
                <a:spcPct val="115000"/>
              </a:lnSpc>
              <a:spcBef>
                <a:spcPts val="0"/>
              </a:spcBef>
              <a:spcAft>
                <a:spcPts val="0"/>
              </a:spcAft>
              <a:buNone/>
            </a:pPr>
            <a:r>
              <a:rPr lang="en" sz="1200">
                <a:solidFill>
                  <a:schemeClr val="dk1"/>
                </a:solidFill>
                <a:highlight>
                  <a:srgbClr val="E0E0E0"/>
                </a:highlight>
                <a:latin typeface="Courier New"/>
                <a:ea typeface="Courier New"/>
                <a:cs typeface="Courier New"/>
                <a:sym typeface="Courier New"/>
              </a:rPr>
              <a:t>ON table1.matching_column = table2.matching_column;</a:t>
            </a:r>
            <a:endParaRPr sz="1200">
              <a:solidFill>
                <a:schemeClr val="dk1"/>
              </a:solidFill>
              <a:highlight>
                <a:srgbClr val="E0E0E0"/>
              </a:highlight>
              <a:latin typeface="Courier New"/>
              <a:ea typeface="Courier New"/>
              <a:cs typeface="Courier New"/>
              <a:sym typeface="Courier New"/>
            </a:endParaRPr>
          </a:p>
          <a:p>
            <a:pPr indent="0" lvl="0" marL="0" rtl="0" algn="l">
              <a:lnSpc>
                <a:spcPct val="115000"/>
              </a:lnSpc>
              <a:spcBef>
                <a:spcPts val="800"/>
              </a:spcBef>
              <a:spcAft>
                <a:spcPts val="0"/>
              </a:spcAft>
              <a:buNone/>
            </a:pPr>
            <a:r>
              <a:rPr b="1" lang="en" sz="1350">
                <a:solidFill>
                  <a:srgbClr val="273239"/>
                </a:solidFill>
                <a:highlight>
                  <a:srgbClr val="FFFFFF"/>
                </a:highlight>
                <a:latin typeface="Nunito"/>
                <a:ea typeface="Nunito"/>
                <a:cs typeface="Nunito"/>
                <a:sym typeface="Nunito"/>
              </a:rPr>
              <a:t>Key Terms</a:t>
            </a:r>
            <a:endParaRPr b="1"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80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table1</a:t>
            </a:r>
            <a:r>
              <a:rPr lang="en" sz="1350">
                <a:solidFill>
                  <a:srgbClr val="273239"/>
                </a:solidFill>
                <a:highlight>
                  <a:srgbClr val="FFFFFF"/>
                </a:highlight>
                <a:latin typeface="Nunito"/>
                <a:ea typeface="Nunito"/>
                <a:cs typeface="Nunito"/>
                <a:sym typeface="Nunito"/>
              </a:rPr>
              <a:t>: First table.</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table2</a:t>
            </a:r>
            <a:r>
              <a:rPr lang="en" sz="1350">
                <a:solidFill>
                  <a:srgbClr val="273239"/>
                </a:solidFill>
                <a:highlight>
                  <a:srgbClr val="FFFFFF"/>
                </a:highlight>
                <a:latin typeface="Nunito"/>
                <a:ea typeface="Nunito"/>
                <a:cs typeface="Nunito"/>
                <a:sym typeface="Nunito"/>
              </a:rPr>
              <a:t>: Second table</a:t>
            </a:r>
            <a:endParaRPr sz="1350">
              <a:solidFill>
                <a:srgbClr val="273239"/>
              </a:solidFill>
              <a:highlight>
                <a:srgbClr val="FFFFFF"/>
              </a:highlight>
              <a:latin typeface="Nunito"/>
              <a:ea typeface="Nunito"/>
              <a:cs typeface="Nunito"/>
              <a:sym typeface="Nunito"/>
            </a:endParaRPr>
          </a:p>
          <a:p>
            <a:pPr indent="-314325" lvl="0" marL="685800" rtl="0" algn="l">
              <a:lnSpc>
                <a:spcPct val="158000"/>
              </a:lnSpc>
              <a:spcBef>
                <a:spcPts val="0"/>
              </a:spcBef>
              <a:spcAft>
                <a:spcPts val="0"/>
              </a:spcAft>
              <a:buClr>
                <a:srgbClr val="273239"/>
              </a:buClr>
              <a:buSzPts val="1350"/>
              <a:buFont typeface="Nunito"/>
              <a:buChar char="●"/>
            </a:pPr>
            <a:r>
              <a:rPr b="1" lang="en" sz="1350">
                <a:solidFill>
                  <a:srgbClr val="273239"/>
                </a:solidFill>
                <a:highlight>
                  <a:srgbClr val="FFFFFF"/>
                </a:highlight>
                <a:latin typeface="Nunito"/>
                <a:ea typeface="Nunito"/>
                <a:cs typeface="Nunito"/>
                <a:sym typeface="Nunito"/>
              </a:rPr>
              <a:t>matching_column</a:t>
            </a:r>
            <a:r>
              <a:rPr lang="en" sz="1350">
                <a:solidFill>
                  <a:srgbClr val="273239"/>
                </a:solidFill>
                <a:highlight>
                  <a:srgbClr val="FFFFFF"/>
                </a:highlight>
                <a:latin typeface="Nunito"/>
                <a:ea typeface="Nunito"/>
                <a:cs typeface="Nunito"/>
                <a:sym typeface="Nunito"/>
              </a:rPr>
              <a:t>: Column common to both the tables.</a:t>
            </a:r>
            <a:endParaRPr sz="1350">
              <a:solidFill>
                <a:srgbClr val="273239"/>
              </a:solidFill>
              <a:highlight>
                <a:srgbClr val="FFFFFF"/>
              </a:highlight>
              <a:latin typeface="Nunito"/>
              <a:ea typeface="Nunito"/>
              <a:cs typeface="Nunito"/>
              <a:sym typeface="Nunito"/>
            </a:endParaRPr>
          </a:p>
          <a:p>
            <a:pPr indent="0" lvl="0" marL="228600" marR="228600" rtl="0" algn="l">
              <a:lnSpc>
                <a:spcPct val="120000"/>
              </a:lnSpc>
              <a:spcBef>
                <a:spcPts val="1800"/>
              </a:spcBef>
              <a:spcAft>
                <a:spcPts val="2600"/>
              </a:spcAft>
              <a:buNone/>
            </a:pPr>
            <a:r>
              <a:rPr b="1" i="1" lang="en" sz="1350">
                <a:solidFill>
                  <a:srgbClr val="273239"/>
                </a:solidFill>
                <a:highlight>
                  <a:srgbClr val="F9F9F9"/>
                </a:highlight>
                <a:latin typeface="Nunito"/>
                <a:ea typeface="Nunito"/>
                <a:cs typeface="Nunito"/>
                <a:sym typeface="Nunito"/>
              </a:rPr>
              <a:t>Note</a:t>
            </a:r>
            <a:r>
              <a:rPr i="1" lang="en" sz="1350">
                <a:solidFill>
                  <a:srgbClr val="273239"/>
                </a:solidFill>
                <a:highlight>
                  <a:srgbClr val="F9F9F9"/>
                </a:highlight>
                <a:latin typeface="Nunito"/>
                <a:ea typeface="Nunito"/>
                <a:cs typeface="Nunito"/>
                <a:sym typeface="Nunito"/>
              </a:rPr>
              <a:t>: We can also use RIGHT OUTER JOIN instead of RIGHT JOIN, both are the same</a:t>
            </a:r>
            <a:endParaRPr i="1" sz="1350">
              <a:solidFill>
                <a:srgbClr val="273239"/>
              </a:solidFill>
              <a:highlight>
                <a:srgbClr val="F9F9F9"/>
              </a:highlight>
              <a:latin typeface="Nunito"/>
              <a:ea typeface="Nunito"/>
              <a:cs typeface="Nunito"/>
              <a:sym typeface="Nunito"/>
            </a:endParaRPr>
          </a:p>
        </p:txBody>
      </p:sp>
      <p:pic>
        <p:nvPicPr>
          <p:cNvPr id="113" name="Google Shape;113;p21"/>
          <p:cNvPicPr preferRelativeResize="0"/>
          <p:nvPr/>
        </p:nvPicPr>
        <p:blipFill>
          <a:blip r:embed="rId4">
            <a:alphaModFix/>
          </a:blip>
          <a:stretch>
            <a:fillRect/>
          </a:stretch>
        </p:blipFill>
        <p:spPr>
          <a:xfrm>
            <a:off x="5902700" y="1030150"/>
            <a:ext cx="3056101" cy="2225246"/>
          </a:xfrm>
          <a:prstGeom prst="rect">
            <a:avLst/>
          </a:prstGeom>
          <a:noFill/>
          <a:ln>
            <a:noFill/>
          </a:ln>
        </p:spPr>
      </p:pic>
    </p:spTree>
  </p:cSld>
  <p:clrMapOvr>
    <a:masterClrMapping/>
  </p:clrMapOvr>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sp>
        <p:nvSpPr>
          <p:cNvPr id="118" name="Google Shape;118;p22"/>
          <p:cNvSpPr txBox="1"/>
          <p:nvPr/>
        </p:nvSpPr>
        <p:spPr>
          <a:xfrm>
            <a:off x="434775" y="294725"/>
            <a:ext cx="2961300" cy="2163300"/>
          </a:xfrm>
          <a:prstGeom prst="rect">
            <a:avLst/>
          </a:prstGeom>
          <a:solidFill>
            <a:srgbClr val="F6B26B"/>
          </a:solidFill>
          <a:ln>
            <a:noFill/>
          </a:ln>
        </p:spPr>
        <p:txBody>
          <a:bodyPr anchorCtr="0" anchor="t" bIns="91425" lIns="91425" spcFirstLastPara="1" rIns="91425" wrap="square" tIns="91425">
            <a:spAutoFit/>
          </a:bodyPr>
          <a:lstStyle/>
          <a:p>
            <a:pPr indent="0" lvl="0" marL="0" rtl="0" algn="l">
              <a:lnSpc>
                <a:spcPct val="115000"/>
              </a:lnSpc>
              <a:spcBef>
                <a:spcPts val="1800"/>
              </a:spcBef>
              <a:spcAft>
                <a:spcPts val="0"/>
              </a:spcAft>
              <a:buNone/>
            </a:pPr>
            <a:r>
              <a:rPr b="1" lang="en" sz="1500">
                <a:solidFill>
                  <a:srgbClr val="273239"/>
                </a:solidFill>
                <a:highlight>
                  <a:srgbClr val="FFFFFF"/>
                </a:highlight>
                <a:latin typeface="Nunito"/>
                <a:ea typeface="Nunito"/>
                <a:cs typeface="Nunito"/>
                <a:sym typeface="Nunito"/>
              </a:rPr>
              <a:t>RIGHT JOIN Example</a:t>
            </a:r>
            <a:endParaRPr b="1" sz="1500">
              <a:solidFill>
                <a:srgbClr val="273239"/>
              </a:solidFill>
              <a:highlight>
                <a:srgbClr val="FFFFFF"/>
              </a:highlight>
              <a:latin typeface="Nunito"/>
              <a:ea typeface="Nunito"/>
              <a:cs typeface="Nunito"/>
              <a:sym typeface="Nunito"/>
            </a:endParaRPr>
          </a:p>
          <a:p>
            <a:pPr indent="0" lvl="0" marL="0" rtl="0" algn="just">
              <a:lnSpc>
                <a:spcPct val="115000"/>
              </a:lnSpc>
              <a:spcBef>
                <a:spcPts val="1800"/>
              </a:spcBef>
              <a:spcAft>
                <a:spcPts val="0"/>
              </a:spcAft>
              <a:buNone/>
            </a:pPr>
            <a:r>
              <a:rPr lang="en" sz="1350">
                <a:solidFill>
                  <a:srgbClr val="273239"/>
                </a:solidFill>
                <a:highlight>
                  <a:srgbClr val="FFFFFF"/>
                </a:highlight>
                <a:latin typeface="Nunito"/>
                <a:ea typeface="Nunito"/>
                <a:cs typeface="Nunito"/>
                <a:sym typeface="Nunito"/>
              </a:rPr>
              <a:t>In this example, the RIGHT JOIN retrieves all rows from the StudentCourse table and the matching rows from the Student table based on the </a:t>
            </a:r>
            <a:r>
              <a:rPr lang="en" sz="1100">
                <a:solidFill>
                  <a:srgbClr val="273239"/>
                </a:solidFill>
                <a:highlight>
                  <a:srgbClr val="FFFFFF"/>
                </a:highlight>
                <a:latin typeface="Roboto Mono"/>
                <a:ea typeface="Roboto Mono"/>
                <a:cs typeface="Roboto Mono"/>
                <a:sym typeface="Roboto Mono"/>
              </a:rPr>
              <a:t>ROLL_NO</a:t>
            </a:r>
            <a:r>
              <a:rPr lang="en" sz="1350">
                <a:solidFill>
                  <a:srgbClr val="273239"/>
                </a:solidFill>
                <a:highlight>
                  <a:srgbClr val="FFFFFF"/>
                </a:highlight>
                <a:latin typeface="Nunito"/>
                <a:ea typeface="Nunito"/>
                <a:cs typeface="Nunito"/>
                <a:sym typeface="Nunito"/>
              </a:rPr>
              <a:t> column.</a:t>
            </a:r>
            <a:endParaRPr sz="1350">
              <a:solidFill>
                <a:srgbClr val="273239"/>
              </a:solidFill>
              <a:highlight>
                <a:srgbClr val="FFFFFF"/>
              </a:highlight>
              <a:latin typeface="Nunito"/>
              <a:ea typeface="Nunito"/>
              <a:cs typeface="Nunito"/>
              <a:sym typeface="Nunito"/>
            </a:endParaRPr>
          </a:p>
          <a:p>
            <a:pPr indent="0" lvl="0" marL="190500" marR="190500" rtl="0" algn="l">
              <a:lnSpc>
                <a:spcPct val="115000"/>
              </a:lnSpc>
              <a:spcBef>
                <a:spcPts val="800"/>
              </a:spcBef>
              <a:spcAft>
                <a:spcPts val="800"/>
              </a:spcAft>
              <a:buNone/>
            </a:pPr>
            <a:r>
              <a:t/>
            </a:r>
            <a:endParaRPr sz="1200">
              <a:solidFill>
                <a:schemeClr val="dk1"/>
              </a:solidFill>
              <a:highlight>
                <a:srgbClr val="E0E0E0"/>
              </a:highlight>
              <a:latin typeface="Courier New"/>
              <a:ea typeface="Courier New"/>
              <a:cs typeface="Courier New"/>
              <a:sym typeface="Courier New"/>
            </a:endParaRPr>
          </a:p>
        </p:txBody>
      </p:sp>
      <p:pic>
        <p:nvPicPr>
          <p:cNvPr id="119" name="Google Shape;119;p22"/>
          <p:cNvPicPr preferRelativeResize="0"/>
          <p:nvPr/>
        </p:nvPicPr>
        <p:blipFill>
          <a:blip r:embed="rId3">
            <a:alphaModFix/>
          </a:blip>
          <a:stretch>
            <a:fillRect/>
          </a:stretch>
        </p:blipFill>
        <p:spPr>
          <a:xfrm>
            <a:off x="3548475" y="152400"/>
            <a:ext cx="3555152" cy="4838700"/>
          </a:xfrm>
          <a:prstGeom prst="rect">
            <a:avLst/>
          </a:prstGeom>
          <a:noFill/>
          <a:ln>
            <a:noFill/>
          </a:ln>
        </p:spPr>
      </p:pic>
    </p:spTree>
  </p:cSld>
  <p:clrMapOvr>
    <a:masterClrMapping/>
  </p:clrMapOvr>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3" name="Shape 123"/>
        <p:cNvGrpSpPr/>
        <p:nvPr/>
      </p:nvGrpSpPr>
      <p:grpSpPr>
        <a:xfrm>
          <a:off x="0" y="0"/>
          <a:ext cx="0" cy="0"/>
          <a:chOff x="0" y="0"/>
          <a:chExt cx="0" cy="0"/>
        </a:xfrm>
      </p:grpSpPr>
      <p:graphicFrame>
        <p:nvGraphicFramePr>
          <p:cNvPr id="124" name="Google Shape;124;p23"/>
          <p:cNvGraphicFramePr/>
          <p:nvPr/>
        </p:nvGraphicFramePr>
        <p:xfrm>
          <a:off x="209825" y="1005550"/>
          <a:ext cx="3000000" cy="3000000"/>
        </p:xfrm>
        <a:graphic>
          <a:graphicData uri="http://schemas.openxmlformats.org/drawingml/2006/table">
            <a:tbl>
              <a:tblPr>
                <a:noFill/>
                <a:tableStyleId>{720F8D36-AFF3-4BA0-8962-BB51D68083F7}</a:tableStyleId>
              </a:tblPr>
              <a:tblGrid>
                <a:gridCol w="1332200"/>
                <a:gridCol w="908325"/>
                <a:gridCol w="871975"/>
                <a:gridCol w="1344300"/>
              </a:tblGrid>
              <a:tr h="694050">
                <a:tc>
                  <a:txBody>
                    <a:bodyPr/>
                    <a:lstStyle/>
                    <a:p>
                      <a:pPr indent="0" lvl="0" marL="0" rtl="0" algn="ctr">
                        <a:lnSpc>
                          <a:spcPct val="115000"/>
                        </a:lnSpc>
                        <a:spcBef>
                          <a:spcPts val="0"/>
                        </a:spcBef>
                        <a:spcAft>
                          <a:spcPts val="0"/>
                        </a:spcAft>
                        <a:buNone/>
                      </a:pPr>
                      <a:r>
                        <a:rPr b="1" lang="en" sz="1100"/>
                        <a:t>StudentID (PK)</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FirstName</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LastName</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AdvisorID (FK)</a:t>
                      </a:r>
                      <a:endParaRPr b="1" sz="1100"/>
                    </a:p>
                  </a:txBody>
                  <a:tcPr marT="91425" marB="91425" marR="91425" marL="91425"/>
                </a:tc>
              </a:tr>
              <a:tr h="757350">
                <a:tc>
                  <a:txBody>
                    <a:bodyPr/>
                    <a:lstStyle/>
                    <a:p>
                      <a:pPr indent="0" lvl="0" marL="0" rtl="0" algn="l">
                        <a:spcBef>
                          <a:spcPts val="0"/>
                        </a:spcBef>
                        <a:spcAft>
                          <a:spcPts val="0"/>
                        </a:spcAft>
                        <a:buNone/>
                      </a:pPr>
                      <a:r>
                        <a:rPr lang="en"/>
                        <a:t>101</a:t>
                      </a:r>
                      <a:endParaRPr/>
                    </a:p>
                  </a:txBody>
                  <a:tcPr marT="91425" marB="91425" marR="91425" marL="91425"/>
                </a:tc>
                <a:tc>
                  <a:txBody>
                    <a:bodyPr/>
                    <a:lstStyle/>
                    <a:p>
                      <a:pPr indent="0" lvl="0" marL="0" rtl="0" algn="l">
                        <a:spcBef>
                          <a:spcPts val="0"/>
                        </a:spcBef>
                        <a:spcAft>
                          <a:spcPts val="0"/>
                        </a:spcAft>
                        <a:buNone/>
                      </a:pPr>
                      <a:r>
                        <a:rPr lang="en"/>
                        <a:t>Ananya</a:t>
                      </a:r>
                      <a:endParaRPr/>
                    </a:p>
                  </a:txBody>
                  <a:tcPr marT="91425" marB="91425" marR="91425" marL="91425"/>
                </a:tc>
                <a:tc>
                  <a:txBody>
                    <a:bodyPr/>
                    <a:lstStyle/>
                    <a:p>
                      <a:pPr indent="0" lvl="0" marL="0" rtl="0" algn="l">
                        <a:spcBef>
                          <a:spcPts val="0"/>
                        </a:spcBef>
                        <a:spcAft>
                          <a:spcPts val="0"/>
                        </a:spcAft>
                        <a:buNone/>
                      </a:pPr>
                      <a:r>
                        <a:rPr lang="en"/>
                        <a:t>Sharma</a:t>
                      </a:r>
                      <a:endParaRPr/>
                    </a:p>
                  </a:txBody>
                  <a:tcPr marT="91425" marB="91425" marR="91425" marL="91425"/>
                </a:tc>
                <a:tc>
                  <a:txBody>
                    <a:bodyPr/>
                    <a:lstStyle/>
                    <a:p>
                      <a:pPr indent="0" lvl="0" marL="0" rtl="0" algn="l">
                        <a:spcBef>
                          <a:spcPts val="0"/>
                        </a:spcBef>
                        <a:spcAft>
                          <a:spcPts val="0"/>
                        </a:spcAft>
                        <a:buNone/>
                      </a:pPr>
                      <a:r>
                        <a:rPr lang="en"/>
                        <a:t>20</a:t>
                      </a:r>
                      <a:endParaRPr/>
                    </a:p>
                  </a:txBody>
                  <a:tcPr marT="91425" marB="91425" marR="91425" marL="91425"/>
                </a:tc>
              </a:tr>
              <a:tr h="483000">
                <a:tc>
                  <a:txBody>
                    <a:bodyPr/>
                    <a:lstStyle/>
                    <a:p>
                      <a:pPr indent="0" lvl="0" marL="0" rtl="0" algn="l">
                        <a:spcBef>
                          <a:spcPts val="0"/>
                        </a:spcBef>
                        <a:spcAft>
                          <a:spcPts val="0"/>
                        </a:spcAft>
                        <a:buNone/>
                      </a:pPr>
                      <a:r>
                        <a:rPr lang="en"/>
                        <a:t>102</a:t>
                      </a:r>
                      <a:endParaRPr/>
                    </a:p>
                  </a:txBody>
                  <a:tcPr marT="91425" marB="91425" marR="91425" marL="91425"/>
                </a:tc>
                <a:tc>
                  <a:txBody>
                    <a:bodyPr/>
                    <a:lstStyle/>
                    <a:p>
                      <a:pPr indent="0" lvl="0" marL="0" rtl="0" algn="l">
                        <a:spcBef>
                          <a:spcPts val="0"/>
                        </a:spcBef>
                        <a:spcAft>
                          <a:spcPts val="0"/>
                        </a:spcAft>
                        <a:buNone/>
                      </a:pPr>
                      <a:r>
                        <a:rPr lang="en"/>
                        <a:t>Ben</a:t>
                      </a:r>
                      <a:endParaRPr/>
                    </a:p>
                  </a:txBody>
                  <a:tcPr marT="91425" marB="91425" marR="91425" marL="91425"/>
                </a:tc>
                <a:tc>
                  <a:txBody>
                    <a:bodyPr/>
                    <a:lstStyle/>
                    <a:p>
                      <a:pPr indent="0" lvl="0" marL="0" rtl="0" algn="l">
                        <a:spcBef>
                          <a:spcPts val="0"/>
                        </a:spcBef>
                        <a:spcAft>
                          <a:spcPts val="0"/>
                        </a:spcAft>
                        <a:buNone/>
                      </a:pPr>
                      <a:r>
                        <a:rPr lang="en"/>
                        <a:t>Carter</a:t>
                      </a:r>
                      <a:endParaRPr/>
                    </a:p>
                  </a:txBody>
                  <a:tcPr marT="91425" marB="91425" marR="91425" marL="91425"/>
                </a:tc>
                <a:tc>
                  <a:txBody>
                    <a:bodyPr/>
                    <a:lstStyle/>
                    <a:p>
                      <a:pPr indent="0" lvl="0" marL="0" rtl="0" algn="l">
                        <a:spcBef>
                          <a:spcPts val="0"/>
                        </a:spcBef>
                        <a:spcAft>
                          <a:spcPts val="0"/>
                        </a:spcAft>
                        <a:buNone/>
                      </a:pPr>
                      <a:r>
                        <a:rPr lang="en"/>
                        <a:t>10</a:t>
                      </a:r>
                      <a:endParaRPr/>
                    </a:p>
                  </a:txBody>
                  <a:tcPr marT="91425" marB="91425" marR="91425" marL="91425"/>
                </a:tc>
              </a:tr>
              <a:tr h="483000">
                <a:tc>
                  <a:txBody>
                    <a:bodyPr/>
                    <a:lstStyle/>
                    <a:p>
                      <a:pPr indent="0" lvl="0" marL="0" rtl="0" algn="l">
                        <a:spcBef>
                          <a:spcPts val="0"/>
                        </a:spcBef>
                        <a:spcAft>
                          <a:spcPts val="0"/>
                        </a:spcAft>
                        <a:buNone/>
                      </a:pPr>
                      <a:r>
                        <a:rPr lang="en"/>
                        <a:t>103</a:t>
                      </a:r>
                      <a:endParaRPr/>
                    </a:p>
                  </a:txBody>
                  <a:tcPr marT="91425" marB="91425" marR="91425" marL="91425"/>
                </a:tc>
                <a:tc>
                  <a:txBody>
                    <a:bodyPr/>
                    <a:lstStyle/>
                    <a:p>
                      <a:pPr indent="0" lvl="0" marL="0" rtl="0" algn="l">
                        <a:spcBef>
                          <a:spcPts val="0"/>
                        </a:spcBef>
                        <a:spcAft>
                          <a:spcPts val="0"/>
                        </a:spcAft>
                        <a:buNone/>
                      </a:pPr>
                      <a:r>
                        <a:rPr lang="en"/>
                        <a:t>Chloe</a:t>
                      </a:r>
                      <a:endParaRPr/>
                    </a:p>
                  </a:txBody>
                  <a:tcPr marT="91425" marB="91425" marR="91425" marL="91425"/>
                </a:tc>
                <a:tc>
                  <a:txBody>
                    <a:bodyPr/>
                    <a:lstStyle/>
                    <a:p>
                      <a:pPr indent="0" lvl="0" marL="0" rtl="0" algn="l">
                        <a:spcBef>
                          <a:spcPts val="0"/>
                        </a:spcBef>
                        <a:spcAft>
                          <a:spcPts val="0"/>
                        </a:spcAft>
                        <a:buNone/>
                      </a:pPr>
                      <a:r>
                        <a:rPr lang="en"/>
                        <a:t>Davis</a:t>
                      </a:r>
                      <a:endParaRPr/>
                    </a:p>
                  </a:txBody>
                  <a:tcPr marT="91425" marB="91425" marR="91425" marL="91425"/>
                </a:tc>
                <a:tc>
                  <a:txBody>
                    <a:bodyPr/>
                    <a:lstStyle/>
                    <a:p>
                      <a:pPr indent="0" lvl="0" marL="0" rtl="0" algn="l">
                        <a:spcBef>
                          <a:spcPts val="0"/>
                        </a:spcBef>
                        <a:spcAft>
                          <a:spcPts val="0"/>
                        </a:spcAft>
                        <a:buNone/>
                      </a:pPr>
                      <a:r>
                        <a:rPr lang="en"/>
                        <a:t>20</a:t>
                      </a:r>
                      <a:endParaRPr/>
                    </a:p>
                  </a:txBody>
                  <a:tcPr marT="91425" marB="91425" marR="91425" marL="91425"/>
                </a:tc>
              </a:tr>
              <a:tr h="483000">
                <a:tc>
                  <a:txBody>
                    <a:bodyPr/>
                    <a:lstStyle/>
                    <a:p>
                      <a:pPr indent="0" lvl="0" marL="0" rtl="0" algn="l">
                        <a:spcBef>
                          <a:spcPts val="0"/>
                        </a:spcBef>
                        <a:spcAft>
                          <a:spcPts val="0"/>
                        </a:spcAft>
                        <a:buNone/>
                      </a:pPr>
                      <a:r>
                        <a:rPr lang="en"/>
                        <a:t>104</a:t>
                      </a:r>
                      <a:endParaRPr/>
                    </a:p>
                  </a:txBody>
                  <a:tcPr marT="91425" marB="91425" marR="91425" marL="91425"/>
                </a:tc>
                <a:tc>
                  <a:txBody>
                    <a:bodyPr/>
                    <a:lstStyle/>
                    <a:p>
                      <a:pPr indent="0" lvl="0" marL="0" rtl="0" algn="l">
                        <a:spcBef>
                          <a:spcPts val="0"/>
                        </a:spcBef>
                        <a:spcAft>
                          <a:spcPts val="0"/>
                        </a:spcAft>
                        <a:buNone/>
                      </a:pPr>
                      <a:r>
                        <a:rPr lang="en"/>
                        <a:t>David</a:t>
                      </a:r>
                      <a:endParaRPr/>
                    </a:p>
                  </a:txBody>
                  <a:tcPr marT="91425" marB="91425" marR="91425" marL="91425"/>
                </a:tc>
                <a:tc>
                  <a:txBody>
                    <a:bodyPr/>
                    <a:lstStyle/>
                    <a:p>
                      <a:pPr indent="0" lvl="0" marL="0" rtl="0" algn="l">
                        <a:spcBef>
                          <a:spcPts val="0"/>
                        </a:spcBef>
                        <a:spcAft>
                          <a:spcPts val="0"/>
                        </a:spcAft>
                        <a:buNone/>
                      </a:pPr>
                      <a:r>
                        <a:rPr lang="en"/>
                        <a:t>Kim</a:t>
                      </a:r>
                      <a:endParaRPr/>
                    </a:p>
                  </a:txBody>
                  <a:tcPr marT="91425" marB="91425" marR="91425" marL="91425"/>
                </a:tc>
                <a:tc>
                  <a:txBody>
                    <a:bodyPr/>
                    <a:lstStyle/>
                    <a:p>
                      <a:pPr indent="0" lvl="0" marL="0" rtl="0" algn="l">
                        <a:spcBef>
                          <a:spcPts val="0"/>
                        </a:spcBef>
                        <a:spcAft>
                          <a:spcPts val="0"/>
                        </a:spcAft>
                        <a:buNone/>
                      </a:pPr>
                      <a:r>
                        <a:rPr lang="en"/>
                        <a:t>30</a:t>
                      </a:r>
                      <a:endParaRPr/>
                    </a:p>
                  </a:txBody>
                  <a:tcPr marT="91425" marB="91425" marR="91425" marL="91425"/>
                </a:tc>
              </a:tr>
              <a:tr h="483000">
                <a:tc>
                  <a:txBody>
                    <a:bodyPr/>
                    <a:lstStyle/>
                    <a:p>
                      <a:pPr indent="0" lvl="0" marL="0" rtl="0" algn="l">
                        <a:spcBef>
                          <a:spcPts val="0"/>
                        </a:spcBef>
                        <a:spcAft>
                          <a:spcPts val="0"/>
                        </a:spcAft>
                        <a:buNone/>
                      </a:pPr>
                      <a:r>
                        <a:rPr lang="en"/>
                        <a:t>105</a:t>
                      </a:r>
                      <a:endParaRPr/>
                    </a:p>
                  </a:txBody>
                  <a:tcPr marT="91425" marB="91425" marR="91425" marL="91425"/>
                </a:tc>
                <a:tc>
                  <a:txBody>
                    <a:bodyPr/>
                    <a:lstStyle/>
                    <a:p>
                      <a:pPr indent="0" lvl="0" marL="0" rtl="0" algn="l">
                        <a:spcBef>
                          <a:spcPts val="0"/>
                        </a:spcBef>
                        <a:spcAft>
                          <a:spcPts val="0"/>
                        </a:spcAft>
                        <a:buNone/>
                      </a:pPr>
                      <a:r>
                        <a:rPr lang="en"/>
                        <a:t>Emily</a:t>
                      </a:r>
                      <a:endParaRPr/>
                    </a:p>
                  </a:txBody>
                  <a:tcPr marT="91425" marB="91425" marR="91425" marL="91425"/>
                </a:tc>
                <a:tc>
                  <a:txBody>
                    <a:bodyPr/>
                    <a:lstStyle/>
                    <a:p>
                      <a:pPr indent="0" lvl="0" marL="0" rtl="0" algn="l">
                        <a:spcBef>
                          <a:spcPts val="0"/>
                        </a:spcBef>
                        <a:spcAft>
                          <a:spcPts val="0"/>
                        </a:spcAft>
                        <a:buNone/>
                      </a:pPr>
                      <a:r>
                        <a:rPr lang="en"/>
                        <a:t>Fan</a:t>
                      </a:r>
                      <a:endParaRPr/>
                    </a:p>
                  </a:txBody>
                  <a:tcPr marT="91425" marB="91425" marR="91425" marL="91425"/>
                </a:tc>
                <a:tc>
                  <a:txBody>
                    <a:bodyPr/>
                    <a:lstStyle/>
                    <a:p>
                      <a:pPr indent="0" lvl="0" marL="0" rtl="0" algn="l">
                        <a:spcBef>
                          <a:spcPts val="0"/>
                        </a:spcBef>
                        <a:spcAft>
                          <a:spcPts val="0"/>
                        </a:spcAft>
                        <a:buNone/>
                      </a:pPr>
                      <a:r>
                        <a:rPr lang="en"/>
                        <a:t>NULL</a:t>
                      </a:r>
                      <a:endParaRPr/>
                    </a:p>
                  </a:txBody>
                  <a:tcPr marT="91425" marB="91425" marR="91425" marL="91425"/>
                </a:tc>
              </a:tr>
            </a:tbl>
          </a:graphicData>
        </a:graphic>
      </p:graphicFrame>
      <p:graphicFrame>
        <p:nvGraphicFramePr>
          <p:cNvPr id="125" name="Google Shape;125;p23"/>
          <p:cNvGraphicFramePr/>
          <p:nvPr/>
        </p:nvGraphicFramePr>
        <p:xfrm>
          <a:off x="4779125" y="1005550"/>
          <a:ext cx="3000000" cy="3000000"/>
        </p:xfrm>
        <a:graphic>
          <a:graphicData uri="http://schemas.openxmlformats.org/drawingml/2006/table">
            <a:tbl>
              <a:tblPr>
                <a:noFill/>
                <a:tableStyleId>{720F8D36-AFF3-4BA0-8962-BB51D68083F7}</a:tableStyleId>
              </a:tblPr>
              <a:tblGrid>
                <a:gridCol w="1534375"/>
                <a:gridCol w="1398475"/>
                <a:gridCol w="1103525"/>
              </a:tblGrid>
              <a:tr h="559500">
                <a:tc>
                  <a:txBody>
                    <a:bodyPr/>
                    <a:lstStyle/>
                    <a:p>
                      <a:pPr indent="0" lvl="0" marL="0" rtl="0" algn="ctr">
                        <a:lnSpc>
                          <a:spcPct val="115000"/>
                        </a:lnSpc>
                        <a:spcBef>
                          <a:spcPts val="0"/>
                        </a:spcBef>
                        <a:spcAft>
                          <a:spcPts val="0"/>
                        </a:spcAft>
                        <a:buNone/>
                      </a:pPr>
                      <a:r>
                        <a:rPr b="1" lang="en" sz="1100"/>
                        <a:t>AdvisorID (PK)</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AdvisorName</a:t>
                      </a:r>
                      <a:endParaRPr b="1" sz="1100"/>
                    </a:p>
                  </a:txBody>
                  <a:tcPr marT="91425" marB="91425" marR="91425" marL="91425"/>
                </a:tc>
                <a:tc>
                  <a:txBody>
                    <a:bodyPr/>
                    <a:lstStyle/>
                    <a:p>
                      <a:pPr indent="0" lvl="0" marL="0" rtl="0" algn="ctr">
                        <a:lnSpc>
                          <a:spcPct val="115000"/>
                        </a:lnSpc>
                        <a:spcBef>
                          <a:spcPts val="0"/>
                        </a:spcBef>
                        <a:spcAft>
                          <a:spcPts val="0"/>
                        </a:spcAft>
                        <a:buNone/>
                      </a:pPr>
                      <a:r>
                        <a:rPr b="1" lang="en" sz="1100"/>
                        <a:t>Department</a:t>
                      </a:r>
                      <a:endParaRPr b="1" sz="1100"/>
                    </a:p>
                  </a:txBody>
                  <a:tcPr marT="91425" marB="91425" marR="91425" marL="91425"/>
                </a:tc>
              </a:tr>
              <a:tr h="389375">
                <a:tc>
                  <a:txBody>
                    <a:bodyPr/>
                    <a:lstStyle/>
                    <a:p>
                      <a:pPr indent="0" lvl="0" marL="0" rtl="0" algn="l">
                        <a:spcBef>
                          <a:spcPts val="0"/>
                        </a:spcBef>
                        <a:spcAft>
                          <a:spcPts val="0"/>
                        </a:spcAft>
                        <a:buNone/>
                      </a:pPr>
                      <a:r>
                        <a:rPr lang="en"/>
                        <a:t>10</a:t>
                      </a:r>
                      <a:endParaRPr/>
                    </a:p>
                  </a:txBody>
                  <a:tcPr marT="91425" marB="91425" marR="91425" marL="91425"/>
                </a:tc>
                <a:tc>
                  <a:txBody>
                    <a:bodyPr/>
                    <a:lstStyle/>
                    <a:p>
                      <a:pPr indent="0" lvl="0" marL="0" rtl="0" algn="l">
                        <a:spcBef>
                          <a:spcPts val="0"/>
                        </a:spcBef>
                        <a:spcAft>
                          <a:spcPts val="0"/>
                        </a:spcAft>
                        <a:buNone/>
                      </a:pPr>
                      <a:r>
                        <a:rPr lang="en"/>
                        <a:t>Mr. Krum</a:t>
                      </a:r>
                      <a:endParaRPr/>
                    </a:p>
                  </a:txBody>
                  <a:tcPr marT="91425" marB="91425" marR="91425" marL="91425"/>
                </a:tc>
                <a:tc>
                  <a:txBody>
                    <a:bodyPr/>
                    <a:lstStyle/>
                    <a:p>
                      <a:pPr indent="0" lvl="0" marL="0" rtl="0" algn="l">
                        <a:spcBef>
                          <a:spcPts val="0"/>
                        </a:spcBef>
                        <a:spcAft>
                          <a:spcPts val="0"/>
                        </a:spcAft>
                        <a:buNone/>
                      </a:pPr>
                      <a:r>
                        <a:rPr lang="en"/>
                        <a:t>History</a:t>
                      </a:r>
                      <a:endParaRPr/>
                    </a:p>
                  </a:txBody>
                  <a:tcPr marT="91425" marB="91425" marR="91425" marL="91425"/>
                </a:tc>
              </a:tr>
              <a:tr h="389375">
                <a:tc>
                  <a:txBody>
                    <a:bodyPr/>
                    <a:lstStyle/>
                    <a:p>
                      <a:pPr indent="0" lvl="0" marL="0" rtl="0" algn="l">
                        <a:spcBef>
                          <a:spcPts val="0"/>
                        </a:spcBef>
                        <a:spcAft>
                          <a:spcPts val="0"/>
                        </a:spcAft>
                        <a:buNone/>
                      </a:pPr>
                      <a:r>
                        <a:rPr lang="en"/>
                        <a:t>20</a:t>
                      </a:r>
                      <a:endParaRPr/>
                    </a:p>
                  </a:txBody>
                  <a:tcPr marT="91425" marB="91425" marR="91425" marL="91425"/>
                </a:tc>
                <a:tc>
                  <a:txBody>
                    <a:bodyPr/>
                    <a:lstStyle/>
                    <a:p>
                      <a:pPr indent="0" lvl="0" marL="0" rtl="0" algn="l">
                        <a:spcBef>
                          <a:spcPts val="0"/>
                        </a:spcBef>
                        <a:spcAft>
                          <a:spcPts val="0"/>
                        </a:spcAft>
                        <a:buNone/>
                      </a:pPr>
                      <a:r>
                        <a:rPr lang="en"/>
                        <a:t>Ms. Pince</a:t>
                      </a:r>
                      <a:endParaRPr/>
                    </a:p>
                  </a:txBody>
                  <a:tcPr marT="91425" marB="91425" marR="91425" marL="91425"/>
                </a:tc>
                <a:tc>
                  <a:txBody>
                    <a:bodyPr/>
                    <a:lstStyle/>
                    <a:p>
                      <a:pPr indent="0" lvl="0" marL="0" rtl="0" algn="l">
                        <a:spcBef>
                          <a:spcPts val="0"/>
                        </a:spcBef>
                        <a:spcAft>
                          <a:spcPts val="0"/>
                        </a:spcAft>
                        <a:buNone/>
                      </a:pPr>
                      <a:r>
                        <a:rPr lang="en"/>
                        <a:t>Science</a:t>
                      </a:r>
                      <a:endParaRPr/>
                    </a:p>
                  </a:txBody>
                  <a:tcPr marT="91425" marB="91425" marR="91425" marL="91425"/>
                </a:tc>
              </a:tr>
              <a:tr h="389375">
                <a:tc>
                  <a:txBody>
                    <a:bodyPr/>
                    <a:lstStyle/>
                    <a:p>
                      <a:pPr indent="0" lvl="0" marL="0" rtl="0" algn="l">
                        <a:spcBef>
                          <a:spcPts val="0"/>
                        </a:spcBef>
                        <a:spcAft>
                          <a:spcPts val="0"/>
                        </a:spcAft>
                        <a:buNone/>
                      </a:pPr>
                      <a:r>
                        <a:rPr lang="en"/>
                        <a:t>30</a:t>
                      </a:r>
                      <a:endParaRPr/>
                    </a:p>
                  </a:txBody>
                  <a:tcPr marT="91425" marB="91425" marR="91425" marL="91425"/>
                </a:tc>
                <a:tc>
                  <a:txBody>
                    <a:bodyPr/>
                    <a:lstStyle/>
                    <a:p>
                      <a:pPr indent="0" lvl="0" marL="0" rtl="0" algn="l">
                        <a:spcBef>
                          <a:spcPts val="0"/>
                        </a:spcBef>
                        <a:spcAft>
                          <a:spcPts val="0"/>
                        </a:spcAft>
                        <a:buNone/>
                      </a:pPr>
                      <a:r>
                        <a:rPr lang="en"/>
                        <a:t>Dr. Flitwick</a:t>
                      </a:r>
                      <a:endParaRPr/>
                    </a:p>
                  </a:txBody>
                  <a:tcPr marT="91425" marB="91425" marR="91425" marL="91425"/>
                </a:tc>
                <a:tc>
                  <a:txBody>
                    <a:bodyPr/>
                    <a:lstStyle/>
                    <a:p>
                      <a:pPr indent="0" lvl="0" marL="0" rtl="0" algn="l">
                        <a:spcBef>
                          <a:spcPts val="0"/>
                        </a:spcBef>
                        <a:spcAft>
                          <a:spcPts val="0"/>
                        </a:spcAft>
                        <a:buNone/>
                      </a:pPr>
                      <a:r>
                        <a:rPr lang="en"/>
                        <a:t>English</a:t>
                      </a:r>
                      <a:endParaRPr/>
                    </a:p>
                  </a:txBody>
                  <a:tcPr marT="91425" marB="91425" marR="91425" marL="91425"/>
                </a:tc>
              </a:tr>
              <a:tr h="389375">
                <a:tc>
                  <a:txBody>
                    <a:bodyPr/>
                    <a:lstStyle/>
                    <a:p>
                      <a:pPr indent="0" lvl="0" marL="0" rtl="0" algn="l">
                        <a:spcBef>
                          <a:spcPts val="0"/>
                        </a:spcBef>
                        <a:spcAft>
                          <a:spcPts val="0"/>
                        </a:spcAft>
                        <a:buNone/>
                      </a:pPr>
                      <a:r>
                        <a:rPr lang="en"/>
                        <a:t>40</a:t>
                      </a:r>
                      <a:endParaRPr/>
                    </a:p>
                  </a:txBody>
                  <a:tcPr marT="91425" marB="91425" marR="91425" marL="91425"/>
                </a:tc>
                <a:tc>
                  <a:txBody>
                    <a:bodyPr/>
                    <a:lstStyle/>
                    <a:p>
                      <a:pPr indent="0" lvl="0" marL="0" rtl="0" algn="l">
                        <a:spcBef>
                          <a:spcPts val="0"/>
                        </a:spcBef>
                        <a:spcAft>
                          <a:spcPts val="0"/>
                        </a:spcAft>
                        <a:buNone/>
                      </a:pPr>
                      <a:r>
                        <a:rPr lang="en"/>
                        <a:t>Prof. Sprout</a:t>
                      </a:r>
                      <a:endParaRPr/>
                    </a:p>
                  </a:txBody>
                  <a:tcPr marT="91425" marB="91425" marR="91425" marL="91425"/>
                </a:tc>
                <a:tc>
                  <a:txBody>
                    <a:bodyPr/>
                    <a:lstStyle/>
                    <a:p>
                      <a:pPr indent="0" lvl="0" marL="0" rtl="0" algn="l">
                        <a:spcBef>
                          <a:spcPts val="0"/>
                        </a:spcBef>
                        <a:spcAft>
                          <a:spcPts val="0"/>
                        </a:spcAft>
                        <a:buNone/>
                      </a:pPr>
                      <a:r>
                        <a:rPr lang="en"/>
                        <a:t>Biology</a:t>
                      </a:r>
                      <a:endParaRPr/>
                    </a:p>
                  </a:txBody>
                  <a:tcPr marT="91425" marB="91425" marR="91425" marL="91425"/>
                </a:tc>
              </a:tr>
            </a:tbl>
          </a:graphicData>
        </a:graphic>
      </p:graphicFrame>
      <p:sp>
        <p:nvSpPr>
          <p:cNvPr id="126" name="Google Shape;126;p23"/>
          <p:cNvSpPr txBox="1"/>
          <p:nvPr/>
        </p:nvSpPr>
        <p:spPr>
          <a:xfrm>
            <a:off x="1230375" y="557225"/>
            <a:ext cx="1993500" cy="44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Table 1 </a:t>
            </a:r>
            <a:endParaRPr sz="1800">
              <a:solidFill>
                <a:schemeClr val="dk2"/>
              </a:solidFill>
            </a:endParaRPr>
          </a:p>
        </p:txBody>
      </p:sp>
      <p:sp>
        <p:nvSpPr>
          <p:cNvPr id="127" name="Google Shape;127;p23"/>
          <p:cNvSpPr txBox="1"/>
          <p:nvPr/>
        </p:nvSpPr>
        <p:spPr>
          <a:xfrm>
            <a:off x="5878225" y="381500"/>
            <a:ext cx="1993500" cy="448200"/>
          </a:xfrm>
          <a:prstGeom prst="rect">
            <a:avLst/>
          </a:prstGeom>
          <a:noFill/>
          <a:ln>
            <a:noFill/>
          </a:ln>
        </p:spPr>
        <p:txBody>
          <a:bodyPr anchorCtr="0" anchor="t" bIns="91425" lIns="91425" spcFirstLastPara="1" rIns="91425" wrap="square" tIns="91425">
            <a:noAutofit/>
          </a:bodyPr>
          <a:lstStyle/>
          <a:p>
            <a:pPr indent="0" lvl="0" marL="0" rtl="0" algn="l">
              <a:spcBef>
                <a:spcPts val="0"/>
              </a:spcBef>
              <a:spcAft>
                <a:spcPts val="0"/>
              </a:spcAft>
              <a:buNone/>
            </a:pPr>
            <a:r>
              <a:rPr lang="en" sz="1800">
                <a:solidFill>
                  <a:schemeClr val="dk2"/>
                </a:solidFill>
              </a:rPr>
              <a:t>Table 2 </a:t>
            </a:r>
            <a:endParaRPr sz="1800">
              <a:solidFill>
                <a:schemeClr val="dk2"/>
              </a:solidFill>
            </a:endParaRPr>
          </a:p>
        </p:txBody>
      </p:sp>
    </p:spTree>
  </p:cSld>
  <p:clrMapOvr>
    <a:masterClrMapping/>
  </p:clrMapOvr>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1" name="Shape 131"/>
        <p:cNvGrpSpPr/>
        <p:nvPr/>
      </p:nvGrpSpPr>
      <p:grpSpPr>
        <a:xfrm>
          <a:off x="0" y="0"/>
          <a:ext cx="0" cy="0"/>
          <a:chOff x="0" y="0"/>
          <a:chExt cx="0" cy="0"/>
        </a:xfrm>
      </p:grpSpPr>
      <p:sp>
        <p:nvSpPr>
          <p:cNvPr id="132" name="Google Shape;132;p24"/>
          <p:cNvSpPr txBox="1"/>
          <p:nvPr/>
        </p:nvSpPr>
        <p:spPr>
          <a:xfrm>
            <a:off x="385550" y="557825"/>
            <a:ext cx="8449200" cy="46749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a:solidFill>
                  <a:schemeClr val="dk1"/>
                </a:solidFill>
              </a:rPr>
              <a:t> Question 1: </a:t>
            </a:r>
            <a:r>
              <a:rPr b="1" lang="en" sz="1300">
                <a:solidFill>
                  <a:srgbClr val="188038"/>
                </a:solidFill>
                <a:latin typeface="Roboto Mono"/>
                <a:ea typeface="Roboto Mono"/>
                <a:cs typeface="Roboto Mono"/>
                <a:sym typeface="Roboto Mono"/>
              </a:rPr>
              <a:t>INNER JOIN</a:t>
            </a:r>
            <a:endParaRPr b="1" sz="1300">
              <a:solidFill>
                <a:srgbClr val="188038"/>
              </a:solidFill>
              <a:latin typeface="Roboto Mono"/>
              <a:ea typeface="Roboto Mono"/>
              <a:cs typeface="Roboto Mono"/>
              <a:sym typeface="Roboto Mono"/>
            </a:endParaRPr>
          </a:p>
          <a:p>
            <a:pPr indent="0" lvl="0" marL="0" rtl="0" algn="l">
              <a:lnSpc>
                <a:spcPct val="115000"/>
              </a:lnSpc>
              <a:spcBef>
                <a:spcPts val="1200"/>
              </a:spcBef>
              <a:spcAft>
                <a:spcPts val="0"/>
              </a:spcAft>
              <a:buNone/>
            </a:pPr>
            <a:r>
              <a:rPr lang="en" sz="1100">
                <a:solidFill>
                  <a:schemeClr val="dk1"/>
                </a:solidFill>
              </a:rPr>
              <a:t>a) </a:t>
            </a:r>
            <a:r>
              <a:rPr b="1" lang="en" sz="1100">
                <a:solidFill>
                  <a:schemeClr val="dk1"/>
                </a:solidFill>
              </a:rPr>
              <a:t>Identify</a:t>
            </a:r>
            <a:r>
              <a:rPr lang="en" sz="1100">
                <a:solidFill>
                  <a:schemeClr val="dk1"/>
                </a:solidFill>
              </a:rPr>
              <a:t> the primary key and the foreign key that would be used to join the </a:t>
            </a:r>
            <a:r>
              <a:rPr lang="en" sz="1100">
                <a:solidFill>
                  <a:srgbClr val="188038"/>
                </a:solidFill>
                <a:latin typeface="Roboto Mono"/>
                <a:ea typeface="Roboto Mono"/>
                <a:cs typeface="Roboto Mono"/>
                <a:sym typeface="Roboto Mono"/>
              </a:rPr>
              <a:t>Student</a:t>
            </a:r>
            <a:r>
              <a:rPr lang="en" sz="1100">
                <a:solidFill>
                  <a:schemeClr val="dk1"/>
                </a:solidFill>
              </a:rPr>
              <a:t> and </a:t>
            </a:r>
            <a:r>
              <a:rPr lang="en" sz="1100">
                <a:solidFill>
                  <a:srgbClr val="188038"/>
                </a:solidFill>
                <a:latin typeface="Roboto Mono"/>
                <a:ea typeface="Roboto Mono"/>
                <a:cs typeface="Roboto Mono"/>
                <a:sym typeface="Roboto Mono"/>
              </a:rPr>
              <a:t>Advisor</a:t>
            </a:r>
            <a:r>
              <a:rPr lang="en" sz="1100">
                <a:solidFill>
                  <a:schemeClr val="dk1"/>
                </a:solidFill>
              </a:rPr>
              <a:t> tables.</a:t>
            </a:r>
            <a:endParaRPr sz="1100">
              <a:solidFill>
                <a:schemeClr val="dk1"/>
              </a:solidFill>
            </a:endParaRPr>
          </a:p>
          <a:p>
            <a:pPr indent="0" lvl="0" marL="381000" marR="381000" rtl="0" algn="l">
              <a:lnSpc>
                <a:spcPct val="115000"/>
              </a:lnSpc>
              <a:spcBef>
                <a:spcPts val="1200"/>
              </a:spcBef>
              <a:spcAft>
                <a:spcPts val="0"/>
              </a:spcAft>
              <a:buNone/>
            </a:pPr>
            <a:r>
              <a:rPr b="1" lang="en" sz="1100">
                <a:solidFill>
                  <a:schemeClr val="dk1"/>
                </a:solidFill>
              </a:rPr>
              <a:t>Primary Key:</a:t>
            </a:r>
            <a:r>
              <a:rPr lang="en" sz="1100">
                <a:solidFill>
                  <a:schemeClr val="dk1"/>
                </a:solidFill>
              </a:rPr>
              <a:t> </a:t>
            </a:r>
            <a:r>
              <a:rPr lang="en" sz="1100">
                <a:solidFill>
                  <a:srgbClr val="188038"/>
                </a:solidFill>
                <a:latin typeface="Roboto Mono"/>
                <a:ea typeface="Roboto Mono"/>
                <a:cs typeface="Roboto Mono"/>
                <a:sym typeface="Roboto Mono"/>
              </a:rPr>
              <a:t>Advisor.AdvisorID</a:t>
            </a:r>
            <a:r>
              <a:rPr lang="en" sz="1100">
                <a:solidFill>
                  <a:schemeClr val="dk1"/>
                </a:solidFill>
              </a:rPr>
              <a:t> </a:t>
            </a:r>
            <a:r>
              <a:rPr b="1" lang="en" sz="1100">
                <a:solidFill>
                  <a:schemeClr val="dk1"/>
                </a:solidFill>
              </a:rPr>
              <a:t>Foreign Key:</a:t>
            </a:r>
            <a:r>
              <a:rPr lang="en" sz="1100">
                <a:solidFill>
                  <a:schemeClr val="dk1"/>
                </a:solidFill>
              </a:rPr>
              <a:t> </a:t>
            </a:r>
            <a:r>
              <a:rPr lang="en" sz="1100">
                <a:solidFill>
                  <a:srgbClr val="188038"/>
                </a:solidFill>
                <a:latin typeface="Roboto Mono"/>
                <a:ea typeface="Roboto Mono"/>
                <a:cs typeface="Roboto Mono"/>
                <a:sym typeface="Roboto Mono"/>
              </a:rPr>
              <a:t>Student.AdvisorID</a:t>
            </a:r>
            <a:endParaRPr sz="1100">
              <a:solidFill>
                <a:srgbClr val="188038"/>
              </a:solidFill>
              <a:latin typeface="Roboto Mono"/>
              <a:ea typeface="Roboto Mono"/>
              <a:cs typeface="Roboto Mono"/>
              <a:sym typeface="Roboto Mono"/>
            </a:endParaRPr>
          </a:p>
          <a:p>
            <a:pPr indent="0" lvl="0" marL="0" rtl="0" algn="l">
              <a:lnSpc>
                <a:spcPct val="115000"/>
              </a:lnSpc>
              <a:spcBef>
                <a:spcPts val="1200"/>
              </a:spcBef>
              <a:spcAft>
                <a:spcPts val="0"/>
              </a:spcAft>
              <a:buNone/>
            </a:pPr>
            <a:r>
              <a:rPr lang="en" sz="1100">
                <a:solidFill>
                  <a:schemeClr val="dk1"/>
                </a:solidFill>
              </a:rPr>
              <a:t>b) </a:t>
            </a:r>
            <a:r>
              <a:rPr b="1" lang="en" sz="1100">
                <a:solidFill>
                  <a:schemeClr val="dk1"/>
                </a:solidFill>
              </a:rPr>
              <a:t>Construct</a:t>
            </a:r>
            <a:r>
              <a:rPr lang="en" sz="1100">
                <a:solidFill>
                  <a:schemeClr val="dk1"/>
                </a:solidFill>
              </a:rPr>
              <a:t> an SQL query to display the </a:t>
            </a:r>
            <a:r>
              <a:rPr b="1" lang="en" sz="1100">
                <a:solidFill>
                  <a:schemeClr val="dk1"/>
                </a:solidFill>
              </a:rPr>
              <a:t>FirstName</a:t>
            </a:r>
            <a:r>
              <a:rPr lang="en" sz="1100">
                <a:solidFill>
                  <a:schemeClr val="dk1"/>
                </a:solidFill>
              </a:rPr>
              <a:t> and </a:t>
            </a:r>
            <a:r>
              <a:rPr b="1" lang="en" sz="1100">
                <a:solidFill>
                  <a:schemeClr val="dk1"/>
                </a:solidFill>
              </a:rPr>
              <a:t>LastName</a:t>
            </a:r>
            <a:r>
              <a:rPr lang="en" sz="1100">
                <a:solidFill>
                  <a:schemeClr val="dk1"/>
                </a:solidFill>
              </a:rPr>
              <a:t> of every student, along with the </a:t>
            </a:r>
            <a:r>
              <a:rPr b="1" lang="en" sz="1100">
                <a:solidFill>
                  <a:schemeClr val="dk1"/>
                </a:solidFill>
              </a:rPr>
              <a:t>AdvisorName</a:t>
            </a:r>
            <a:r>
              <a:rPr lang="en" sz="1100">
                <a:solidFill>
                  <a:schemeClr val="dk1"/>
                </a:solidFill>
              </a:rPr>
              <a:t> for each student. Only students who have an assigned advisor should be included.</a:t>
            </a: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cI) </a:t>
            </a:r>
            <a:r>
              <a:rPr b="1" lang="en" sz="1100">
                <a:solidFill>
                  <a:schemeClr val="dk1"/>
                </a:solidFill>
              </a:rPr>
              <a:t>State</a:t>
            </a:r>
            <a:r>
              <a:rPr lang="en" sz="1100">
                <a:solidFill>
                  <a:schemeClr val="dk1"/>
                </a:solidFill>
              </a:rPr>
              <a:t> the number of records that would be returned by the query in part (b).</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400"/>
              </a:spcBef>
              <a:spcAft>
                <a:spcPts val="0"/>
              </a:spcAft>
              <a:buNone/>
            </a:pPr>
            <a:r>
              <a:rPr b="1" lang="en" sz="1300">
                <a:solidFill>
                  <a:schemeClr val="dk1"/>
                </a:solidFill>
              </a:rPr>
              <a:t>❓ Question 2: </a:t>
            </a:r>
            <a:r>
              <a:rPr b="1" lang="en" sz="1300">
                <a:solidFill>
                  <a:srgbClr val="188038"/>
                </a:solidFill>
                <a:latin typeface="Roboto Mono"/>
                <a:ea typeface="Roboto Mono"/>
                <a:cs typeface="Roboto Mono"/>
                <a:sym typeface="Roboto Mono"/>
              </a:rPr>
              <a:t>LEFT JOIN</a:t>
            </a:r>
            <a:endParaRPr b="1" sz="1300">
              <a:solidFill>
                <a:srgbClr val="188038"/>
              </a:solidFill>
              <a:latin typeface="Roboto Mono"/>
              <a:ea typeface="Roboto Mono"/>
              <a:cs typeface="Roboto Mono"/>
              <a:sym typeface="Roboto Mono"/>
            </a:endParaRPr>
          </a:p>
          <a:p>
            <a:pPr indent="0" lvl="0" marL="0" rtl="0" algn="l">
              <a:lnSpc>
                <a:spcPct val="115000"/>
              </a:lnSpc>
              <a:spcBef>
                <a:spcPts val="1200"/>
              </a:spcBef>
              <a:spcAft>
                <a:spcPts val="0"/>
              </a:spcAft>
              <a:buNone/>
            </a:pPr>
            <a:r>
              <a:rPr lang="en" sz="1100">
                <a:solidFill>
                  <a:schemeClr val="dk1"/>
                </a:solidFill>
              </a:rPr>
              <a:t>a) A query is needed to create a complete list of </a:t>
            </a:r>
            <a:r>
              <a:rPr b="1" lang="en" sz="1100">
                <a:solidFill>
                  <a:schemeClr val="dk1"/>
                </a:solidFill>
              </a:rPr>
              <a:t>all students</a:t>
            </a:r>
            <a:r>
              <a:rPr lang="en" sz="1100">
                <a:solidFill>
                  <a:schemeClr val="dk1"/>
                </a:solidFill>
              </a:rPr>
              <a:t>, showing their </a:t>
            </a:r>
            <a:r>
              <a:rPr b="1" lang="en" sz="1100">
                <a:solidFill>
                  <a:schemeClr val="dk1"/>
                </a:solidFill>
              </a:rPr>
              <a:t>FirstName</a:t>
            </a:r>
            <a:r>
              <a:rPr lang="en" sz="1100">
                <a:solidFill>
                  <a:schemeClr val="dk1"/>
                </a:solidFill>
              </a:rPr>
              <a:t> and </a:t>
            </a:r>
            <a:r>
              <a:rPr b="1" lang="en" sz="1100">
                <a:solidFill>
                  <a:schemeClr val="dk1"/>
                </a:solidFill>
              </a:rPr>
              <a:t>AdvisorName</a:t>
            </a:r>
            <a:r>
              <a:rPr lang="en" sz="1100">
                <a:solidFill>
                  <a:schemeClr val="dk1"/>
                </a:solidFill>
              </a:rPr>
              <a:t>. If a student does not have an advisor, their name should still be in the list.</a:t>
            </a:r>
            <a:endParaRPr sz="1100">
              <a:solidFill>
                <a:schemeClr val="dk1"/>
              </a:solidFill>
            </a:endParaRPr>
          </a:p>
          <a:p>
            <a:pPr indent="0" lvl="0" marL="0" rtl="0" algn="l">
              <a:lnSpc>
                <a:spcPct val="115000"/>
              </a:lnSpc>
              <a:spcBef>
                <a:spcPts val="1200"/>
              </a:spcBef>
              <a:spcAft>
                <a:spcPts val="0"/>
              </a:spcAft>
              <a:buNone/>
            </a:pPr>
            <a:r>
              <a:rPr b="1" lang="en" sz="1100">
                <a:solidFill>
                  <a:schemeClr val="dk1"/>
                </a:solidFill>
              </a:rPr>
              <a:t>Construct</a:t>
            </a:r>
            <a:r>
              <a:rPr lang="en" sz="1100">
                <a:solidFill>
                  <a:schemeClr val="dk1"/>
                </a:solidFill>
              </a:rPr>
              <a:t> the SQL query to produce this report.</a:t>
            </a: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b) </a:t>
            </a:r>
            <a:r>
              <a:rPr b="1" lang="en" sz="1100">
                <a:solidFill>
                  <a:schemeClr val="dk1"/>
                </a:solidFill>
              </a:rPr>
              <a:t>State</a:t>
            </a:r>
            <a:r>
              <a:rPr lang="en" sz="1100">
                <a:solidFill>
                  <a:schemeClr val="dk1"/>
                </a:solidFill>
              </a:rPr>
              <a:t> the output of your query from part (a), based on the sample data.</a:t>
            </a:r>
            <a:endParaRPr sz="1100">
              <a:solidFill>
                <a:schemeClr val="dk1"/>
              </a:solidFill>
            </a:endParaRPr>
          </a:p>
          <a:p>
            <a:pPr indent="0" lvl="0" marL="0" rtl="0" algn="l">
              <a:lnSpc>
                <a:spcPct val="115000"/>
              </a:lnSpc>
              <a:spcBef>
                <a:spcPts val="1200"/>
              </a:spcBef>
              <a:spcAft>
                <a:spcPts val="0"/>
              </a:spcAft>
              <a:buNone/>
            </a:pPr>
            <a:r>
              <a:t/>
            </a:r>
            <a:endParaRPr sz="1100">
              <a:solidFill>
                <a:schemeClr val="dk1"/>
              </a:solidFill>
            </a:endParaRPr>
          </a:p>
          <a:p>
            <a:pPr indent="0" lvl="0" marL="0" rtl="0" algn="l">
              <a:lnSpc>
                <a:spcPct val="115000"/>
              </a:lnSpc>
              <a:spcBef>
                <a:spcPts val="1200"/>
              </a:spcBef>
              <a:spcAft>
                <a:spcPts val="1200"/>
              </a:spcAft>
              <a:buNone/>
            </a:pPr>
            <a:r>
              <a:t/>
            </a:r>
            <a:endParaRPr sz="1100">
              <a:solidFill>
                <a:schemeClr val="dk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6" name="Shape 136"/>
        <p:cNvGrpSpPr/>
        <p:nvPr/>
      </p:nvGrpSpPr>
      <p:grpSpPr>
        <a:xfrm>
          <a:off x="0" y="0"/>
          <a:ext cx="0" cy="0"/>
          <a:chOff x="0" y="0"/>
          <a:chExt cx="0" cy="0"/>
        </a:xfrm>
      </p:grpSpPr>
      <p:sp>
        <p:nvSpPr>
          <p:cNvPr id="137" name="Google Shape;137;p25"/>
          <p:cNvSpPr txBox="1"/>
          <p:nvPr/>
        </p:nvSpPr>
        <p:spPr>
          <a:xfrm>
            <a:off x="0" y="0"/>
            <a:ext cx="8629800" cy="4824300"/>
          </a:xfrm>
          <a:prstGeom prst="rect">
            <a:avLst/>
          </a:prstGeom>
          <a:noFill/>
          <a:ln>
            <a:noFill/>
          </a:ln>
        </p:spPr>
        <p:txBody>
          <a:bodyPr anchorCtr="0" anchor="t" bIns="91425" lIns="91425" spcFirstLastPara="1" rIns="91425" wrap="square" tIns="91425">
            <a:spAutoFit/>
          </a:bodyPr>
          <a:lstStyle/>
          <a:p>
            <a:pPr indent="0" lvl="0" marL="0" rtl="0" algn="l">
              <a:lnSpc>
                <a:spcPct val="115000"/>
              </a:lnSpc>
              <a:spcBef>
                <a:spcPts val="1400"/>
              </a:spcBef>
              <a:spcAft>
                <a:spcPts val="0"/>
              </a:spcAft>
              <a:buNone/>
            </a:pPr>
            <a:r>
              <a:rPr b="1" lang="en" sz="1300">
                <a:solidFill>
                  <a:schemeClr val="dk1"/>
                </a:solidFill>
              </a:rPr>
              <a:t> Question 3: </a:t>
            </a:r>
            <a:r>
              <a:rPr b="1" lang="en" sz="1300">
                <a:solidFill>
                  <a:srgbClr val="188038"/>
                </a:solidFill>
                <a:latin typeface="Roboto Mono"/>
                <a:ea typeface="Roboto Mono"/>
                <a:cs typeface="Roboto Mono"/>
                <a:sym typeface="Roboto Mono"/>
              </a:rPr>
              <a:t>RIGHT JOIN</a:t>
            </a:r>
            <a:endParaRPr b="1" sz="1300">
              <a:solidFill>
                <a:srgbClr val="188038"/>
              </a:solidFill>
              <a:latin typeface="Roboto Mono"/>
              <a:ea typeface="Roboto Mono"/>
              <a:cs typeface="Roboto Mono"/>
              <a:sym typeface="Roboto Mono"/>
            </a:endParaRPr>
          </a:p>
          <a:p>
            <a:pPr indent="0" lvl="0" marL="0" rtl="0" algn="l">
              <a:lnSpc>
                <a:spcPct val="115000"/>
              </a:lnSpc>
              <a:spcBef>
                <a:spcPts val="1200"/>
              </a:spcBef>
              <a:spcAft>
                <a:spcPts val="0"/>
              </a:spcAft>
              <a:buNone/>
            </a:pPr>
            <a:r>
              <a:rPr lang="en" sz="1100">
                <a:solidFill>
                  <a:schemeClr val="dk1"/>
                </a:solidFill>
              </a:rPr>
              <a:t>a) </a:t>
            </a:r>
            <a:r>
              <a:rPr b="1" lang="en" sz="1100">
                <a:solidFill>
                  <a:schemeClr val="dk1"/>
                </a:solidFill>
              </a:rPr>
              <a:t>Explain</a:t>
            </a:r>
            <a:r>
              <a:rPr lang="en" sz="1100">
                <a:solidFill>
                  <a:schemeClr val="dk1"/>
                </a:solidFill>
              </a:rPr>
              <a:t> the difference between the results of an </a:t>
            </a:r>
            <a:r>
              <a:rPr lang="en" sz="1100">
                <a:solidFill>
                  <a:srgbClr val="188038"/>
                </a:solidFill>
                <a:latin typeface="Roboto Mono"/>
                <a:ea typeface="Roboto Mono"/>
                <a:cs typeface="Roboto Mono"/>
                <a:sym typeface="Roboto Mono"/>
              </a:rPr>
              <a:t>INNER JOIN</a:t>
            </a:r>
            <a:r>
              <a:rPr lang="en" sz="1100">
                <a:solidFill>
                  <a:schemeClr val="dk1"/>
                </a:solidFill>
              </a:rPr>
              <a:t> and a </a:t>
            </a:r>
            <a:r>
              <a:rPr lang="en" sz="1100">
                <a:solidFill>
                  <a:srgbClr val="188038"/>
                </a:solidFill>
                <a:latin typeface="Roboto Mono"/>
                <a:ea typeface="Roboto Mono"/>
                <a:cs typeface="Roboto Mono"/>
                <a:sym typeface="Roboto Mono"/>
              </a:rPr>
              <a:t>RIGHT JOIN</a:t>
            </a:r>
            <a:r>
              <a:rPr lang="en" sz="1100">
                <a:solidFill>
                  <a:schemeClr val="dk1"/>
                </a:solidFill>
              </a:rPr>
              <a:t> when applied to the </a:t>
            </a:r>
            <a:r>
              <a:rPr lang="en" sz="1100">
                <a:solidFill>
                  <a:srgbClr val="188038"/>
                </a:solidFill>
                <a:latin typeface="Roboto Mono"/>
                <a:ea typeface="Roboto Mono"/>
                <a:cs typeface="Roboto Mono"/>
                <a:sym typeface="Roboto Mono"/>
              </a:rPr>
              <a:t>Student</a:t>
            </a:r>
            <a:r>
              <a:rPr lang="en" sz="1100">
                <a:solidFill>
                  <a:schemeClr val="dk1"/>
                </a:solidFill>
              </a:rPr>
              <a:t> and </a:t>
            </a:r>
            <a:r>
              <a:rPr lang="en" sz="1100">
                <a:solidFill>
                  <a:srgbClr val="188038"/>
                </a:solidFill>
                <a:latin typeface="Roboto Mono"/>
                <a:ea typeface="Roboto Mono"/>
                <a:cs typeface="Roboto Mono"/>
                <a:sym typeface="Roboto Mono"/>
              </a:rPr>
              <a:t>Advisor</a:t>
            </a:r>
            <a:r>
              <a:rPr lang="en" sz="1100">
                <a:solidFill>
                  <a:schemeClr val="dk1"/>
                </a:solidFill>
              </a:rPr>
              <a:t> tables.</a:t>
            </a: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b) </a:t>
            </a:r>
            <a:r>
              <a:rPr b="1" lang="en" sz="1100">
                <a:solidFill>
                  <a:schemeClr val="dk1"/>
                </a:solidFill>
              </a:rPr>
              <a:t>Construct</a:t>
            </a:r>
            <a:r>
              <a:rPr lang="en" sz="1100">
                <a:solidFill>
                  <a:schemeClr val="dk1"/>
                </a:solidFill>
              </a:rPr>
              <a:t> an SQL query that lists </a:t>
            </a:r>
            <a:r>
              <a:rPr b="1" lang="en" sz="1100">
                <a:solidFill>
                  <a:schemeClr val="dk1"/>
                </a:solidFill>
              </a:rPr>
              <a:t>all advisors</a:t>
            </a:r>
            <a:r>
              <a:rPr lang="en" sz="1100">
                <a:solidFill>
                  <a:schemeClr val="dk1"/>
                </a:solidFill>
              </a:rPr>
              <a:t> and the </a:t>
            </a:r>
            <a:r>
              <a:rPr b="1" lang="en" sz="1100">
                <a:solidFill>
                  <a:schemeClr val="dk1"/>
                </a:solidFill>
              </a:rPr>
              <a:t>FirstName</a:t>
            </a:r>
            <a:r>
              <a:rPr lang="en" sz="1100">
                <a:solidFill>
                  <a:schemeClr val="dk1"/>
                </a:solidFill>
              </a:rPr>
              <a:t> of any students they advise. The list must include advisors who do not currently advise any students.</a:t>
            </a: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c) </a:t>
            </a:r>
            <a:r>
              <a:rPr b="1" lang="en" sz="1100">
                <a:solidFill>
                  <a:schemeClr val="dk1"/>
                </a:solidFill>
              </a:rPr>
              <a:t>State</a:t>
            </a:r>
            <a:r>
              <a:rPr lang="en" sz="1100">
                <a:solidFill>
                  <a:schemeClr val="dk1"/>
                </a:solidFill>
              </a:rPr>
              <a:t> the name of the advisor who will appear in the query result from part (b) but will have a </a:t>
            </a:r>
            <a:r>
              <a:rPr lang="en" sz="1100">
                <a:solidFill>
                  <a:srgbClr val="188038"/>
                </a:solidFill>
                <a:latin typeface="Roboto Mono"/>
                <a:ea typeface="Roboto Mono"/>
                <a:cs typeface="Roboto Mono"/>
                <a:sym typeface="Roboto Mono"/>
              </a:rPr>
              <a:t>NULL</a:t>
            </a:r>
            <a:r>
              <a:rPr lang="en" sz="1100">
                <a:solidFill>
                  <a:schemeClr val="dk1"/>
                </a:solidFill>
              </a:rPr>
              <a:t> value in the </a:t>
            </a:r>
            <a:r>
              <a:rPr lang="en" sz="1100">
                <a:solidFill>
                  <a:srgbClr val="188038"/>
                </a:solidFill>
                <a:latin typeface="Roboto Mono"/>
                <a:ea typeface="Roboto Mono"/>
                <a:cs typeface="Roboto Mono"/>
                <a:sym typeface="Roboto Mono"/>
              </a:rPr>
              <a:t>FirstName</a:t>
            </a:r>
            <a:r>
              <a:rPr lang="en" sz="1100">
                <a:solidFill>
                  <a:schemeClr val="dk1"/>
                </a:solidFill>
              </a:rPr>
              <a:t> column.</a:t>
            </a:r>
            <a:endParaRPr sz="1100">
              <a:solidFill>
                <a:schemeClr val="dk1"/>
              </a:solidFill>
            </a:endParaRPr>
          </a:p>
          <a:p>
            <a:pPr indent="0" lvl="0" marL="0" rtl="0" algn="l">
              <a:lnSpc>
                <a:spcPct val="115000"/>
              </a:lnSpc>
              <a:spcBef>
                <a:spcPts val="1400"/>
              </a:spcBef>
              <a:spcAft>
                <a:spcPts val="0"/>
              </a:spcAft>
              <a:buNone/>
            </a:pPr>
            <a:r>
              <a:rPr b="1" lang="en" sz="1300">
                <a:solidFill>
                  <a:schemeClr val="dk1"/>
                </a:solidFill>
              </a:rPr>
              <a:t>❓ Question 4: Analysis</a:t>
            </a:r>
            <a:endParaRPr b="1" sz="1300">
              <a:solidFill>
                <a:schemeClr val="dk1"/>
              </a:solidFill>
            </a:endParaRPr>
          </a:p>
          <a:p>
            <a:pPr indent="0" lvl="0" marL="0" rtl="0" algn="l">
              <a:lnSpc>
                <a:spcPct val="115000"/>
              </a:lnSpc>
              <a:spcBef>
                <a:spcPts val="1200"/>
              </a:spcBef>
              <a:spcAft>
                <a:spcPts val="0"/>
              </a:spcAft>
              <a:buNone/>
            </a:pPr>
            <a:r>
              <a:rPr lang="en" sz="1100">
                <a:solidFill>
                  <a:schemeClr val="dk1"/>
                </a:solidFill>
              </a:rPr>
              <a:t>The following SQL query is executed:</a:t>
            </a: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SQL</a:t>
            </a:r>
            <a:endParaRPr sz="1100">
              <a:solidFill>
                <a:schemeClr val="dk1"/>
              </a:solidFill>
            </a:endParaRPr>
          </a:p>
          <a:p>
            <a:pPr indent="0" lvl="0" marL="0" rtl="0" algn="l">
              <a:spcBef>
                <a:spcPts val="0"/>
              </a:spcBef>
              <a:spcAft>
                <a:spcPts val="0"/>
              </a:spcAft>
              <a:buNone/>
            </a:pPr>
            <a:r>
              <a:rPr lang="en" sz="1100">
                <a:solidFill>
                  <a:schemeClr val="dk1"/>
                </a:solidFill>
              </a:rPr>
              <a:t>SELECT Student.FirstName, Advisor.AdvisorName</a:t>
            </a:r>
            <a:endParaRPr sz="1100">
              <a:solidFill>
                <a:schemeClr val="dk1"/>
              </a:solidFill>
            </a:endParaRPr>
          </a:p>
          <a:p>
            <a:pPr indent="0" lvl="0" marL="0" rtl="0" algn="l">
              <a:spcBef>
                <a:spcPts val="0"/>
              </a:spcBef>
              <a:spcAft>
                <a:spcPts val="0"/>
              </a:spcAft>
              <a:buNone/>
            </a:pPr>
            <a:r>
              <a:rPr lang="en" sz="1100">
                <a:solidFill>
                  <a:schemeClr val="dk1"/>
                </a:solidFill>
              </a:rPr>
              <a:t>FROM Student</a:t>
            </a:r>
            <a:endParaRPr sz="1100">
              <a:solidFill>
                <a:schemeClr val="dk1"/>
              </a:solidFill>
            </a:endParaRPr>
          </a:p>
          <a:p>
            <a:pPr indent="0" lvl="0" marL="0" rtl="0" algn="l">
              <a:spcBef>
                <a:spcPts val="0"/>
              </a:spcBef>
              <a:spcAft>
                <a:spcPts val="0"/>
              </a:spcAft>
              <a:buNone/>
            </a:pPr>
            <a:r>
              <a:rPr lang="en" sz="1100">
                <a:solidFill>
                  <a:schemeClr val="dk1"/>
                </a:solidFill>
              </a:rPr>
              <a:t>LEFT JOIN Advisor</a:t>
            </a:r>
            <a:endParaRPr sz="1100">
              <a:solidFill>
                <a:schemeClr val="dk1"/>
              </a:solidFill>
            </a:endParaRPr>
          </a:p>
          <a:p>
            <a:pPr indent="0" lvl="0" marL="0" rtl="0" algn="l">
              <a:spcBef>
                <a:spcPts val="0"/>
              </a:spcBef>
              <a:spcAft>
                <a:spcPts val="0"/>
              </a:spcAft>
              <a:buNone/>
            </a:pPr>
            <a:r>
              <a:rPr lang="en" sz="1100">
                <a:solidFill>
                  <a:schemeClr val="dk1"/>
                </a:solidFill>
              </a:rPr>
              <a:t>ON Student.AdvisorID = Advisor.AdvisorID;</a:t>
            </a:r>
            <a:endParaRPr sz="1100">
              <a:solidFill>
                <a:schemeClr val="dk1"/>
              </a:solidFill>
            </a:endParaRPr>
          </a:p>
          <a:p>
            <a:pPr indent="0" lvl="0" marL="0" rtl="0" algn="l">
              <a:spcBef>
                <a:spcPts val="0"/>
              </a:spcBef>
              <a:spcAft>
                <a:spcPts val="0"/>
              </a:spcAft>
              <a:buNone/>
            </a:pPr>
            <a:r>
              <a:t/>
            </a: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a) </a:t>
            </a:r>
            <a:r>
              <a:rPr b="1" lang="en" sz="1100">
                <a:solidFill>
                  <a:schemeClr val="dk1"/>
                </a:solidFill>
              </a:rPr>
              <a:t>State</a:t>
            </a:r>
            <a:r>
              <a:rPr lang="en" sz="1100">
                <a:solidFill>
                  <a:schemeClr val="dk1"/>
                </a:solidFill>
              </a:rPr>
              <a:t> the name of the student whose </a:t>
            </a:r>
            <a:r>
              <a:rPr lang="en" sz="1100">
                <a:solidFill>
                  <a:srgbClr val="188038"/>
                </a:solidFill>
                <a:latin typeface="Roboto Mono"/>
                <a:ea typeface="Roboto Mono"/>
                <a:cs typeface="Roboto Mono"/>
                <a:sym typeface="Roboto Mono"/>
              </a:rPr>
              <a:t>AdvisorName</a:t>
            </a:r>
            <a:r>
              <a:rPr lang="en" sz="1100">
                <a:solidFill>
                  <a:schemeClr val="dk1"/>
                </a:solidFill>
              </a:rPr>
              <a:t> will be </a:t>
            </a:r>
            <a:r>
              <a:rPr lang="en" sz="1100">
                <a:solidFill>
                  <a:srgbClr val="188038"/>
                </a:solidFill>
                <a:latin typeface="Roboto Mono"/>
                <a:ea typeface="Roboto Mono"/>
                <a:cs typeface="Roboto Mono"/>
                <a:sym typeface="Roboto Mono"/>
              </a:rPr>
              <a:t>NULL</a:t>
            </a:r>
            <a:r>
              <a:rPr lang="en" sz="1100">
                <a:solidFill>
                  <a:schemeClr val="dk1"/>
                </a:solidFill>
              </a:rPr>
              <a:t> in the output.</a:t>
            </a:r>
            <a:endParaRPr sz="1100">
              <a:solidFill>
                <a:schemeClr val="dk1"/>
              </a:solidFill>
            </a:endParaRPr>
          </a:p>
          <a:p>
            <a:pPr indent="0" lvl="0" marL="0" rtl="0" algn="l">
              <a:lnSpc>
                <a:spcPct val="115000"/>
              </a:lnSpc>
              <a:spcBef>
                <a:spcPts val="1200"/>
              </a:spcBef>
              <a:spcAft>
                <a:spcPts val="0"/>
              </a:spcAft>
              <a:buNone/>
            </a:pPr>
            <a:r>
              <a:rPr lang="en" sz="1100">
                <a:solidFill>
                  <a:schemeClr val="dk1"/>
                </a:solidFill>
              </a:rPr>
              <a:t>b) </a:t>
            </a:r>
            <a:r>
              <a:rPr b="1" lang="en" sz="1100">
                <a:solidFill>
                  <a:schemeClr val="dk1"/>
                </a:solidFill>
              </a:rPr>
              <a:t>Describe</a:t>
            </a:r>
            <a:r>
              <a:rPr lang="en" sz="1100">
                <a:solidFill>
                  <a:schemeClr val="dk1"/>
                </a:solidFill>
              </a:rPr>
              <a:t> how the output would change if </a:t>
            </a:r>
            <a:r>
              <a:rPr lang="en" sz="1100">
                <a:solidFill>
                  <a:srgbClr val="188038"/>
                </a:solidFill>
                <a:latin typeface="Roboto Mono"/>
                <a:ea typeface="Roboto Mono"/>
                <a:cs typeface="Roboto Mono"/>
                <a:sym typeface="Roboto Mono"/>
              </a:rPr>
              <a:t>LEFT JOIN</a:t>
            </a:r>
            <a:r>
              <a:rPr lang="en" sz="1100">
                <a:solidFill>
                  <a:schemeClr val="dk1"/>
                </a:solidFill>
              </a:rPr>
              <a:t> was replaced with </a:t>
            </a:r>
            <a:r>
              <a:rPr lang="en" sz="1100">
                <a:solidFill>
                  <a:srgbClr val="188038"/>
                </a:solidFill>
                <a:latin typeface="Roboto Mono"/>
                <a:ea typeface="Roboto Mono"/>
                <a:cs typeface="Roboto Mono"/>
                <a:sym typeface="Roboto Mono"/>
              </a:rPr>
              <a:t>INNER JOIN</a:t>
            </a:r>
            <a:r>
              <a:rPr lang="en" sz="1100">
                <a:solidFill>
                  <a:schemeClr val="dk1"/>
                </a:solidFill>
              </a:rPr>
              <a:t>.</a:t>
            </a:r>
            <a:endParaRPr sz="1100">
              <a:solidFill>
                <a:schemeClr val="dk1"/>
              </a:solidFill>
            </a:endParaRPr>
          </a:p>
          <a:p>
            <a:pPr indent="0" lvl="0" marL="0" rtl="0" algn="l">
              <a:lnSpc>
                <a:spcPct val="115000"/>
              </a:lnSpc>
              <a:spcBef>
                <a:spcPts val="1200"/>
              </a:spcBef>
              <a:spcAft>
                <a:spcPts val="1200"/>
              </a:spcAft>
              <a:buNone/>
            </a:pPr>
            <a:r>
              <a:rPr lang="en" sz="1100">
                <a:solidFill>
                  <a:schemeClr val="dk1"/>
                </a:solidFill>
              </a:rPr>
              <a:t>c) </a:t>
            </a:r>
            <a:r>
              <a:rPr b="1" lang="en" sz="1100">
                <a:solidFill>
                  <a:schemeClr val="dk1"/>
                </a:solidFill>
              </a:rPr>
              <a:t>Describe</a:t>
            </a:r>
            <a:r>
              <a:rPr lang="en" sz="1100">
                <a:solidFill>
                  <a:schemeClr val="dk1"/>
                </a:solidFill>
              </a:rPr>
              <a:t> how the output would change if </a:t>
            </a:r>
            <a:r>
              <a:rPr lang="en" sz="1100">
                <a:solidFill>
                  <a:srgbClr val="188038"/>
                </a:solidFill>
                <a:latin typeface="Roboto Mono"/>
                <a:ea typeface="Roboto Mono"/>
                <a:cs typeface="Roboto Mono"/>
                <a:sym typeface="Roboto Mono"/>
              </a:rPr>
              <a:t>LEFT JOIN</a:t>
            </a:r>
            <a:r>
              <a:rPr lang="en" sz="1100">
                <a:solidFill>
                  <a:schemeClr val="dk1"/>
                </a:solidFill>
              </a:rPr>
              <a:t> was replaced with </a:t>
            </a:r>
            <a:r>
              <a:rPr lang="en" sz="1100">
                <a:solidFill>
                  <a:srgbClr val="188038"/>
                </a:solidFill>
                <a:latin typeface="Roboto Mono"/>
                <a:ea typeface="Roboto Mono"/>
                <a:cs typeface="Roboto Mono"/>
                <a:sym typeface="Roboto Mono"/>
              </a:rPr>
              <a:t>RIGHT JOIN</a:t>
            </a:r>
            <a:r>
              <a:rPr lang="en" sz="1100">
                <a:solidFill>
                  <a:schemeClr val="dk1"/>
                </a:solidFill>
              </a:rPr>
              <a:t>.</a:t>
            </a:r>
            <a:endParaRPr sz="1100">
              <a:solidFill>
                <a:schemeClr val="dk1"/>
              </a:solidFill>
            </a:endParaRPr>
          </a:p>
        </p:txBody>
      </p:sp>
    </p:spTree>
  </p:cSld>
  <p:clrMapOvr>
    <a:masterClrMapping/>
  </p:clrMapOvr>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