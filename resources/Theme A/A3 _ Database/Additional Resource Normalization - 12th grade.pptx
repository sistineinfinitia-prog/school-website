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oxlmmzefrzcwrmpckzd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oxlmmzefrzcwrmpckzd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https://www.youtube.com/watch?v=GFQaEYEc8_8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vpgryjsvnblfqqddhcf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vpgryjsvnblfqqddhcf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https://www.learncomputerscienceonline.com/database-normalization/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_nizoizbxrhqlvsraram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_nizoizbxrhqlvsraram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https://www.relationaldbdesign.com/sql-database-creation/module3/databaseNormalization-definition.php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slide_ihvncrpvdqxsrizpwhe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slide_ihvncrpvdqxsrizpwhe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_ucfkoeimxmknchhspeaz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_ucfkoeimxmknchhspeaz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slide_wcqfrpxryvaqhrssufu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slide_wcqfrpxryvaqhrssufu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https://unstop.com/blog/data-redundancy-in-dbms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slide_wxpdnseesirgttlastc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slide_wxpdnseesirgttlastc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slide_dfyqwvcyayfrbqvdnuw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slide_dfyqwvcyayfrbqvdnuw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https://stackoverflow.com/questions/49302584/determining-functional-dependencies-from-an-er-diagram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slide_ivzvhzvhtjttjgznkftn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slide_ivzvhzvhtjttjgznkftn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https://www.bestprog.net/en/2020/10/27/databases-normalization-functional-dependencies-of-attributes-examples-building-functional-dependency-diagrams/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tctlupoluwgllqobagpw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tctlupoluwgllqobagpw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jvzeujettuacyjtnhgc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jvzeujettuacyjtnhgc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https://eng.libretexts.org/Bookshelves/Computer_Science/Databases_and_Data_Structures/Database_Design_2e_(Watt)/01%3A_Chapters/1.12%3A_Normalization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slide_qhnqrvrrlmevxnfmfst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slide_qhnqrvrrlmevxnfmfst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https://www.learncomputerscienceonline.com/relational-database/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ide_uvhtedcwqotltbodobc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ide_uvhtedcwqotltbodobc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_chmqjydggpczxhwxqnnz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_chmqjydggpczxhwxqnnz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https://www.learncomputerscienceonline.com/relational-database/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_lorcmttnbykayqleohs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_lorcmttnbykayqleohs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https://www.sciencedirect.com/topics/computer-science/partial-dependency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slide_zgebwkbpntgzorqsdnn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slide_zgebwkbpntgzorqsdnn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lide_miirrqwwuxsbesicqpu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lide_miirrqwwuxsbesicqpu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slide_rwmdfnewikmincbgpoyl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slide_rwmdfnewikmincbgpoyl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_jydkmkmenxmbmxcscnd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_jydkmkmenxmbmxcscnd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slide_tkgxpeyrhcbjhvovvvb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slide_tkgxpeyrhcbjhvovvvb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https://www.wikitechy.com/interview-questions/dbms/what-is-the-advantages-of-normalization-in-database/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slide_fnqrtusuylywxzakiqd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slide_fnqrtusuylywxzakiqd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from: https://www.mdpi.com/2071-1050/15/16/12394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slide_kifpimunzxkrzavdpvhj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slide_kifpimunzxkrzavdpvhj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youtube.com/watch?v=GFQaEYEc8_8" TargetMode="External"/><Relationship Id="rId4" Type="http://schemas.openxmlformats.org/officeDocument/2006/relationships/hyperlink" Target="https://www.geeksforgeeks.org/dbms/normal-forms-in-dbms/" TargetMode="External"/><Relationship Id="rId5" Type="http://schemas.openxmlformats.org/officeDocument/2006/relationships/hyperlink" Target="https://www.digitalocean.com/community/tutorials/database-normalization" TargetMode="External"/><Relationship Id="rId6" Type="http://schemas.openxmlformats.org/officeDocument/2006/relationships/hyperlink" Target="https://codefinity.com/courses/v2/5ac24d9d-4a16-45b3-8856-07dec028c5e9/1ae84587-37c3-434a-a228-904a7b0951b5/f7797d90-b825-4886-b55b-0646376b0249" TargetMode="External"/><Relationship Id="rId7" Type="http://schemas.openxmlformats.org/officeDocument/2006/relationships/hyperlink" Target="https://celerdata.com/glossary/normalization-vs-denormalization-the-trade-offs-you-need-to-know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Database Normalization: Understanding Normal Forms and Data Anomalies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Welcome to Database Normalization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Opening Circle: Turn to a partner and share one thing you know about organizing data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Today you'll master the principles of database normalization [1][2]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Learning Target: You will understand normal forms and identify data anomalies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Why it matters: Proper database design prevents data inconsistencies and storage waste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198912"/>
            <a:ext cx="3657601" cy="205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What is Database Normalization?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Database normalization is the process of organizing data to reduce redundancy [2][3]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Think of it like organizing your closet - everything has its proper place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Goals: Eliminate duplicate data, ensure data consistency, and improve storage efficiency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Think-Pair-Share: Discuss with a partner why duplicate data might be problematic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39833"/>
            <a:ext cx="3657600" cy="2778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Problem: Data Anomalies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Data anomalies occur when databases aren't properly normalized [1][3]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Three main types: Insertion, Update, and Deletion anomalies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These problems lead to inconsistent and unreliable data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Real-world impact: Imagine a school database with student information scattered everywhere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Insertion Anomalies Explained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Insertion Anomaly: Difficulty adding new data due to missing related information [1][3]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Cannot add a new student without assigning them to a course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This happens when unrelated data is stored in the same table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Compass Points Activity: Move to corners based on how often you've encountered this problem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Update Anomalies in Action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Update Anomaly: Inconsistent data after updating redundant copies [1][3]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Changing a department name in one place but forgetting others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Results in conflicting information across your database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Back-to-Back, Face-to-Face: Share examples of inconsistent information you've seen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36980"/>
            <a:ext cx="3657600" cy="158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Deletion Anomalies Consequences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Deletion Anomaly: Unintended loss of important data when deleting records [1][3]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Example: Deleting a course removes all student enrollment information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happens when related data is stored together inappropriately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Reflection Question: How might this affect a school's record-keeping?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Understanding Functional Dependencies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Functional Dependency: When one attribute uniquely determines another (A → B) [1][2][4]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Student ID determines Student Name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Key concept for understanding normal forms 1NF through BCNF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Think-Pair-Share: Identify functional dependencies in a student record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359804"/>
            <a:ext cx="3657600" cy="173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Multivalued Dependencies Explained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Multivalued Dependency: Independent multi-valued attributes dependent on one key [1][5]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A student can have multiple hobbies AND multiple phone numbers independently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Different from functional dependencies - involves multiple independent values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This concept becomes important in Fourth Normal Form (4NF)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55545"/>
            <a:ext cx="3657599" cy="1146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First Normal Form (1NF) Rules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Each table cell must contain atomic (indivisible) values [1][2][4][7]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No repeating groups or arrays allowed in cells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Each row must be unique with a primary key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Example: Instead of "Math, Science, English" in one cell, create separate rows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1NF Practice Activity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Examine this unnormalized table with multiple phone numbers in one cell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Compass Points: North (violates atomicity), South (violates uniqueness), East (both), West (neither)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Work with your corner group to identify 1NF violations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Learning Target Check-in: Can you identify atomic value requirements?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676155"/>
            <a:ext cx="3657601" cy="1105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Second Normal Form (2NF) Requirements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7" name="Google Shape;127;p24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Applies only when you have a composite primary key [1][2][4][6]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All non-key attributes must depend on the entire primary key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 partial dependencies allowed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In a Student-Course table, grade depends on both Student ID AND Course ID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469" y="342900"/>
            <a:ext cx="3625062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Identifying Partial Dependencies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Partial Dependency: Non-key attribute depends on only part of composite key [1][2][4]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Example: Student Name depends only on Student ID, not Course ID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This violates 2NF and causes redundancy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Think-Pair-Share: Find partial dependencies in a course enrollment table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Third Normal Form (3NF) Principles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 transitive dependencies allowed [1][2][4][5]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Non-key attributes must depend only on the primary key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Not on other non-key attributes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Student → Department → Department Head violates 3NF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4246" y="342900"/>
            <a:ext cx="3607507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Eliminating Transitive Dependencies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Transitive Dependency: A → B → C where A is the key [1][2][4]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Solution: Create separate tables for each dependency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Back-to-Back, Face-to-Face: Explain transitive dependencies to your partner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Reflection Question: Why do transitive dependencies cause problems?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64913"/>
            <a:ext cx="3657600" cy="272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Boyce-Codd Normal Form (BCNF)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Stricter than 3NF - every determinant must be a candidate key [1][2][4][5]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Removes remaining anomalies that 3NF might miss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Determinant: Any attribute that functionally determines another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Most practical databases aim for BCNF compliance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Fourth Normal Form (4NF) Advanced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Removes multi-valued dependencies [1][5]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No table should have two or more independent multi-valued attributes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Example: Student with multiple hobbies AND multiple phone numbers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Solution: Create separate tables for each multi-valued relationship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9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Fifth Normal Form (5NF) Expert Level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67" name="Google Shape;167;p30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8" name="Google Shape;168;p30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Eliminates join dependencies not implied by candidate keys [1][5]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Ensures lossless join decomposition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Most complex normal form - rarely needed in practice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Used in highly specialized database applications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Normalization Process Summary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74" name="Google Shape;174;p3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Start with unnormalized data and apply rules progressively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1NF → 2NF → 3NF → BCNF → 4NF → 5NF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Each level builds on the previous one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Compass Points: Which normal form is most important for everyday use?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/>
        </p:nvSpPr>
        <p:spPr>
          <a:xfrm>
            <a:off x="90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Benefits of Proper Normalization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80" name="Google Shape;180;p32"/>
          <p:cNvSpPr txBox="1"/>
          <p:nvPr/>
        </p:nvSpPr>
        <p:spPr>
          <a:xfrm>
            <a:off x="3175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Eliminates data redundancy and saves storage space [2][3]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Prevents insertion, update, and deletion anomalies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Ensures data consistency and integrity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Makes database maintenance easier and more reliable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00" y="1114425"/>
            <a:ext cx="365760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4714875" y="-38100"/>
            <a:ext cx="3771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Closing Circle and Reflection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87" name="Google Shape;187;p33"/>
          <p:cNvSpPr txBox="1"/>
          <p:nvPr/>
        </p:nvSpPr>
        <p:spPr>
          <a:xfrm>
            <a:off x="4826000" y="1143000"/>
            <a:ext cx="40641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Exit Ticket: Name one normal form and its key requirement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Appreciations: Recognize classmates who helped you understand concepts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Goal Setting: Which normalization concept needs more practice?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>
                <a:solidFill>
                  <a:schemeClr val="dk2"/>
                </a:solidFill>
              </a:rPr>
              <a:t>Final Reflection: How will proper database design impact your future projects?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88" name="Google Shape;18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512" y="342900"/>
            <a:ext cx="3236976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Sources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94" name="Google Shape;194;p3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[1]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https://www.youtube.com/watch?v=GFQaEYEc8_8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[2] </a:t>
            </a:r>
            <a:r>
              <a:rPr lang="en" sz="1800" u="sng">
                <a:solidFill>
                  <a:schemeClr val="hlink"/>
                </a:solidFill>
                <a:hlinkClick r:id="rId4"/>
              </a:rPr>
              <a:t>https://www.geeksforgeeks.org/dbms/normal-forms-in-dbms/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[3] </a:t>
            </a:r>
            <a:r>
              <a:rPr lang="en" sz="1800" u="sng">
                <a:solidFill>
                  <a:schemeClr val="hlink"/>
                </a:solidFill>
                <a:hlinkClick r:id="rId5"/>
              </a:rPr>
              <a:t>https://www.digitalocean.com/community/tutorials/database-normalization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[4] </a:t>
            </a:r>
            <a:r>
              <a:rPr lang="en" sz="1800" u="sng">
                <a:solidFill>
                  <a:schemeClr val="hlink"/>
                </a:solidFill>
                <a:hlinkClick r:id="rId6"/>
              </a:rPr>
              <a:t>https://codefinity.com/courses/v2/5ac24d9d-4a16-45b3-8856-07dec028c5e9/1ae84587-37c3-434a-a228-904a7b0951b5/f7797d90-b825-4886-b55b-0646376b0249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[5] </a:t>
            </a:r>
            <a:r>
              <a:rPr lang="en" sz="1800" u="sng">
                <a:solidFill>
                  <a:schemeClr val="hlink"/>
                </a:solidFill>
                <a:hlinkClick r:id="rId7"/>
              </a:rPr>
              <a:t>https://celerdata.com/glossary/normalization-vs-denormalization-the-trade-offs-you-need-to-know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