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Nuni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italic.fntdata"/><Relationship Id="rId30" Type="http://schemas.openxmlformats.org/officeDocument/2006/relationships/font" Target="fonts/Nuni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f1acbf0f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7f1acbf0f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7f1acbf0f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7f1acbf0f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7f1acbf0f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7f1acbf0f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f1acbf0f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7f1acbf0f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7f1acbf0f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7f1acbf0f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7f1acbf0f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7f1acbf0f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7f1acbf0f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7f1acbf0f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7f1acbf0f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7f1acbf0f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7f1acbf0f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7f1acbf0f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f1acbf0f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7f1acbf0f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7f1acbf0f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7f1acbf0f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7f1acbf0f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7f1acbf0f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7f1acbf0f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7f1acbf0f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7f1acbf0f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7f1acbf0f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7f1acbf0f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7f1acbf0f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7f1acbf0f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7f1acbf0f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f1acbf0f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7f1acbf0f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7f1acbf0f0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7f1acbf0f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7f1acbf0f0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7f1acbf0f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7f1acbf0f0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7f1acbf0f0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f1acbf0f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7f1acbf0f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7f1acbf0f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7f1acbf0f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918183" y="1117800"/>
            <a:ext cx="8520600" cy="2052600"/>
          </a:xfrm>
          <a:prstGeom prst="rect">
            <a:avLst/>
          </a:prstGeom>
        </p:spPr>
        <p:txBody>
          <a:bodyPr anchorCtr="0" anchor="ctr" bIns="91425" lIns="91425" spcFirstLastPara="1" rIns="91425" wrap="square" tIns="91425">
            <a:normAutofit/>
          </a:bodyPr>
          <a:lstStyle/>
          <a:p>
            <a:pPr indent="0" lvl="0" marL="0" rtl="0" algn="l">
              <a:lnSpc>
                <a:spcPct val="145000"/>
              </a:lnSpc>
              <a:spcBef>
                <a:spcPts val="1500"/>
              </a:spcBef>
              <a:spcAft>
                <a:spcPts val="0"/>
              </a:spcAft>
              <a:buClr>
                <a:schemeClr val="dk1"/>
              </a:buClr>
              <a:buSzPts val="1100"/>
              <a:buFont typeface="Arial"/>
              <a:buNone/>
            </a:pPr>
            <a:r>
              <a:rPr b="1" lang="en" sz="2300">
                <a:solidFill>
                  <a:srgbClr val="121212"/>
                </a:solidFill>
                <a:highlight>
                  <a:srgbClr val="FFFFFF"/>
                </a:highlight>
                <a:latin typeface="Trebuchet MS"/>
                <a:ea typeface="Trebuchet MS"/>
                <a:cs typeface="Trebuchet MS"/>
                <a:sym typeface="Trebuchet MS"/>
              </a:rPr>
              <a:t>Entity relationship diagrams</a:t>
            </a:r>
            <a:endParaRPr b="1" sz="2300">
              <a:solidFill>
                <a:srgbClr val="121212"/>
              </a:solidFill>
              <a:highlight>
                <a:srgbClr val="FFFFFF"/>
              </a:highlight>
              <a:latin typeface="Trebuchet MS"/>
              <a:ea typeface="Trebuchet MS"/>
              <a:cs typeface="Trebuchet MS"/>
              <a:sym typeface="Trebuchet MS"/>
            </a:endParaRPr>
          </a:p>
          <a:p>
            <a:pPr indent="0" lvl="0" marL="0" rtl="0" algn="ctr">
              <a:spcBef>
                <a:spcPts val="4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Starter</a:t>
            </a:r>
            <a:endParaRPr/>
          </a:p>
        </p:txBody>
      </p:sp>
      <p:sp>
        <p:nvSpPr>
          <p:cNvPr id="134" name="Google Shape;134;p14"/>
          <p:cNvSpPr txBox="1"/>
          <p:nvPr>
            <p:ph idx="1" type="body"/>
          </p:nvPr>
        </p:nvSpPr>
        <p:spPr>
          <a:xfrm>
            <a:off x="311700" y="1152475"/>
            <a:ext cx="8520600" cy="486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Identify Primary key , Records and fields </a:t>
            </a:r>
            <a:endParaRPr/>
          </a:p>
        </p:txBody>
      </p:sp>
      <p:pic>
        <p:nvPicPr>
          <p:cNvPr id="135" name="Google Shape;135;p14"/>
          <p:cNvPicPr preferRelativeResize="0"/>
          <p:nvPr/>
        </p:nvPicPr>
        <p:blipFill>
          <a:blip r:embed="rId3">
            <a:alphaModFix/>
          </a:blip>
          <a:stretch>
            <a:fillRect/>
          </a:stretch>
        </p:blipFill>
        <p:spPr>
          <a:xfrm>
            <a:off x="304800" y="1972250"/>
            <a:ext cx="8534400" cy="2971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5"/>
          <p:cNvPicPr preferRelativeResize="0"/>
          <p:nvPr/>
        </p:nvPicPr>
        <p:blipFill>
          <a:blip r:embed="rId3">
            <a:alphaModFix/>
          </a:blip>
          <a:stretch>
            <a:fillRect/>
          </a:stretch>
        </p:blipFill>
        <p:spPr>
          <a:xfrm>
            <a:off x="152400" y="1085475"/>
            <a:ext cx="8839199" cy="204276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16"/>
          <p:cNvPicPr preferRelativeResize="0"/>
          <p:nvPr/>
        </p:nvPicPr>
        <p:blipFill>
          <a:blip r:embed="rId3">
            <a:alphaModFix/>
          </a:blip>
          <a:stretch>
            <a:fillRect/>
          </a:stretch>
        </p:blipFill>
        <p:spPr>
          <a:xfrm>
            <a:off x="152400" y="152400"/>
            <a:ext cx="8839201" cy="45198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17"/>
          <p:cNvPicPr preferRelativeResize="0"/>
          <p:nvPr/>
        </p:nvPicPr>
        <p:blipFill>
          <a:blip r:embed="rId3">
            <a:alphaModFix/>
          </a:blip>
          <a:stretch>
            <a:fillRect/>
          </a:stretch>
        </p:blipFill>
        <p:spPr>
          <a:xfrm>
            <a:off x="665575" y="304800"/>
            <a:ext cx="7940960" cy="4838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18"/>
          <p:cNvPicPr preferRelativeResize="0"/>
          <p:nvPr/>
        </p:nvPicPr>
        <p:blipFill>
          <a:blip r:embed="rId3">
            <a:alphaModFix/>
          </a:blip>
          <a:stretch>
            <a:fillRect/>
          </a:stretch>
        </p:blipFill>
        <p:spPr>
          <a:xfrm>
            <a:off x="152400" y="152400"/>
            <a:ext cx="8389032" cy="483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19"/>
          <p:cNvPicPr preferRelativeResize="0"/>
          <p:nvPr/>
        </p:nvPicPr>
        <p:blipFill>
          <a:blip r:embed="rId3">
            <a:alphaModFix/>
          </a:blip>
          <a:stretch>
            <a:fillRect/>
          </a:stretch>
        </p:blipFill>
        <p:spPr>
          <a:xfrm>
            <a:off x="642250" y="304800"/>
            <a:ext cx="7510820" cy="48387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152400" y="152400"/>
            <a:ext cx="8839201" cy="481859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1"/>
          <p:cNvPicPr preferRelativeResize="0"/>
          <p:nvPr/>
        </p:nvPicPr>
        <p:blipFill>
          <a:blip r:embed="rId3">
            <a:alphaModFix/>
          </a:blip>
          <a:stretch>
            <a:fillRect/>
          </a:stretch>
        </p:blipFill>
        <p:spPr>
          <a:xfrm>
            <a:off x="432325" y="152400"/>
            <a:ext cx="7859471" cy="483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2"/>
          <p:cNvPicPr preferRelativeResize="0"/>
          <p:nvPr/>
        </p:nvPicPr>
        <p:blipFill>
          <a:blip r:embed="rId3">
            <a:alphaModFix/>
          </a:blip>
          <a:stretch>
            <a:fillRect/>
          </a:stretch>
        </p:blipFill>
        <p:spPr>
          <a:xfrm>
            <a:off x="152400" y="595600"/>
            <a:ext cx="8839199" cy="264870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23"/>
          <p:cNvPicPr preferRelativeResize="0"/>
          <p:nvPr/>
        </p:nvPicPr>
        <p:blipFill>
          <a:blip r:embed="rId3">
            <a:alphaModFix/>
          </a:blip>
          <a:stretch>
            <a:fillRect/>
          </a:stretch>
        </p:blipFill>
        <p:spPr>
          <a:xfrm>
            <a:off x="152400" y="152400"/>
            <a:ext cx="8839201" cy="46795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4"/>
          <p:cNvPicPr preferRelativeResize="0"/>
          <p:nvPr/>
        </p:nvPicPr>
        <p:blipFill>
          <a:blip r:embed="rId3">
            <a:alphaModFix/>
          </a:blip>
          <a:stretch>
            <a:fillRect/>
          </a:stretch>
        </p:blipFill>
        <p:spPr>
          <a:xfrm>
            <a:off x="292350" y="152400"/>
            <a:ext cx="7921645" cy="48387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5"/>
          <p:cNvPicPr preferRelativeResize="0"/>
          <p:nvPr/>
        </p:nvPicPr>
        <p:blipFill>
          <a:blip r:embed="rId3">
            <a:alphaModFix/>
          </a:blip>
          <a:stretch>
            <a:fillRect/>
          </a:stretch>
        </p:blipFill>
        <p:spPr>
          <a:xfrm>
            <a:off x="152400" y="152400"/>
            <a:ext cx="7673287" cy="48387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6"/>
          <p:cNvPicPr preferRelativeResize="0"/>
          <p:nvPr/>
        </p:nvPicPr>
        <p:blipFill>
          <a:blip r:embed="rId3">
            <a:alphaModFix/>
          </a:blip>
          <a:stretch>
            <a:fillRect/>
          </a:stretch>
        </p:blipFill>
        <p:spPr>
          <a:xfrm>
            <a:off x="152400" y="152400"/>
            <a:ext cx="8168640"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27"/>
          <p:cNvPicPr preferRelativeResize="0"/>
          <p:nvPr/>
        </p:nvPicPr>
        <p:blipFill>
          <a:blip r:embed="rId3">
            <a:alphaModFix/>
          </a:blip>
          <a:stretch>
            <a:fillRect/>
          </a:stretch>
        </p:blipFill>
        <p:spPr>
          <a:xfrm>
            <a:off x="152400" y="152400"/>
            <a:ext cx="8839201" cy="429788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nvSpPr>
        <p:spPr>
          <a:xfrm>
            <a:off x="587550" y="0"/>
            <a:ext cx="7968900" cy="1285800"/>
          </a:xfrm>
          <a:prstGeom prst="rect">
            <a:avLst/>
          </a:prstGeom>
          <a:noFill/>
          <a:ln>
            <a:noFill/>
          </a:ln>
        </p:spPr>
        <p:txBody>
          <a:bodyPr anchorCtr="0" anchor="t" bIns="91425" lIns="91425" spcFirstLastPara="1" rIns="91425" wrap="square" tIns="91425">
            <a:spAutoFit/>
          </a:bodyPr>
          <a:lstStyle/>
          <a:p>
            <a:pPr indent="0" lvl="0" marL="0" rtl="0" algn="l">
              <a:lnSpc>
                <a:spcPct val="145000"/>
              </a:lnSpc>
              <a:spcBef>
                <a:spcPts val="1600"/>
              </a:spcBef>
              <a:spcAft>
                <a:spcPts val="0"/>
              </a:spcAft>
              <a:buNone/>
            </a:pPr>
            <a:r>
              <a:rPr b="1" lang="en" sz="1800">
                <a:solidFill>
                  <a:srgbClr val="121212"/>
                </a:solidFill>
                <a:latin typeface="Trebuchet MS"/>
                <a:ea typeface="Trebuchet MS"/>
                <a:cs typeface="Trebuchet MS"/>
                <a:sym typeface="Trebuchet MS"/>
              </a:rPr>
              <a:t>Crow's Foot Notation</a:t>
            </a:r>
            <a:endParaRPr b="1" sz="1800">
              <a:solidFill>
                <a:srgbClr val="121212"/>
              </a:solidFill>
              <a:latin typeface="Trebuchet MS"/>
              <a:ea typeface="Trebuchet MS"/>
              <a:cs typeface="Trebuchet MS"/>
              <a:sym typeface="Trebuchet MS"/>
            </a:endParaRPr>
          </a:p>
          <a:p>
            <a:pPr indent="0" lvl="0" marL="0" rtl="0" algn="l">
              <a:lnSpc>
                <a:spcPct val="115000"/>
              </a:lnSpc>
              <a:spcBef>
                <a:spcPts val="700"/>
              </a:spcBef>
              <a:spcAft>
                <a:spcPts val="800"/>
              </a:spcAft>
              <a:buNone/>
            </a:pPr>
            <a:r>
              <a:rPr lang="en" sz="1200">
                <a:solidFill>
                  <a:srgbClr val="121212"/>
                </a:solidFill>
              </a:rPr>
              <a:t>A more common notation, especially for relational databases. It uses rectangles for entities, attributes listed inside, and special symbols at the ends of the lines representing relationships to show cardinality and modality (the "crow's feet").</a:t>
            </a:r>
            <a:endParaRPr sz="1200">
              <a:solidFill>
                <a:srgbClr val="121212"/>
              </a:solidFill>
            </a:endParaRPr>
          </a:p>
        </p:txBody>
      </p:sp>
      <p:pic>
        <p:nvPicPr>
          <p:cNvPr id="206" name="Google Shape;206;p28"/>
          <p:cNvPicPr preferRelativeResize="0"/>
          <p:nvPr/>
        </p:nvPicPr>
        <p:blipFill>
          <a:blip r:embed="rId3">
            <a:alphaModFix/>
          </a:blip>
          <a:stretch>
            <a:fillRect/>
          </a:stretch>
        </p:blipFill>
        <p:spPr>
          <a:xfrm>
            <a:off x="1855250" y="1285800"/>
            <a:ext cx="4942947" cy="3552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9"/>
          <p:cNvPicPr preferRelativeResize="0"/>
          <p:nvPr/>
        </p:nvPicPr>
        <p:blipFill>
          <a:blip r:embed="rId3">
            <a:alphaModFix/>
          </a:blip>
          <a:stretch>
            <a:fillRect/>
          </a:stretch>
        </p:blipFill>
        <p:spPr>
          <a:xfrm>
            <a:off x="152400" y="152400"/>
            <a:ext cx="8839198" cy="477958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30"/>
          <p:cNvPicPr preferRelativeResize="0"/>
          <p:nvPr/>
        </p:nvPicPr>
        <p:blipFill>
          <a:blip r:embed="rId3">
            <a:alphaModFix/>
          </a:blip>
          <a:stretch>
            <a:fillRect/>
          </a:stretch>
        </p:blipFill>
        <p:spPr>
          <a:xfrm>
            <a:off x="5649900" y="227675"/>
            <a:ext cx="2458825" cy="4688150"/>
          </a:xfrm>
          <a:prstGeom prst="rect">
            <a:avLst/>
          </a:prstGeom>
          <a:noFill/>
          <a:ln>
            <a:noFill/>
          </a:ln>
        </p:spPr>
      </p:pic>
      <p:sp>
        <p:nvSpPr>
          <p:cNvPr id="217" name="Google Shape;217;p30"/>
          <p:cNvSpPr txBox="1"/>
          <p:nvPr/>
        </p:nvSpPr>
        <p:spPr>
          <a:xfrm>
            <a:off x="163300" y="408200"/>
            <a:ext cx="5134500" cy="3271200"/>
          </a:xfrm>
          <a:prstGeom prst="rect">
            <a:avLst/>
          </a:prstGeom>
          <a:noFill/>
          <a:ln>
            <a:noFill/>
          </a:ln>
        </p:spPr>
        <p:txBody>
          <a:bodyPr anchorCtr="0" anchor="t" bIns="91425" lIns="91425" spcFirstLastPara="1" rIns="91425" wrap="square" tIns="91425">
            <a:spAutoFit/>
          </a:bodyPr>
          <a:lstStyle/>
          <a:p>
            <a:pPr indent="0" lvl="0" marL="0" rtl="0" algn="l">
              <a:lnSpc>
                <a:spcPct val="145000"/>
              </a:lnSpc>
              <a:spcBef>
                <a:spcPts val="0"/>
              </a:spcBef>
              <a:spcAft>
                <a:spcPts val="0"/>
              </a:spcAft>
              <a:buNone/>
            </a:pPr>
            <a:r>
              <a:rPr b="1" lang="en" sz="1300">
                <a:solidFill>
                  <a:srgbClr val="121212"/>
                </a:solidFill>
                <a:highlight>
                  <a:srgbClr val="F7EDF3"/>
                </a:highlight>
                <a:latin typeface="Trebuchet MS"/>
                <a:ea typeface="Trebuchet MS"/>
                <a:cs typeface="Trebuchet MS"/>
                <a:sym typeface="Trebuchet MS"/>
              </a:rPr>
              <a:t>Crows Foot notation</a:t>
            </a:r>
            <a:endParaRPr b="1" sz="1300">
              <a:solidFill>
                <a:srgbClr val="121212"/>
              </a:solidFill>
              <a:highlight>
                <a:srgbClr val="F7EDF3"/>
              </a:highlight>
              <a:latin typeface="Trebuchet MS"/>
              <a:ea typeface="Trebuchet MS"/>
              <a:cs typeface="Trebuchet MS"/>
              <a:sym typeface="Trebuchet MS"/>
            </a:endParaRPr>
          </a:p>
          <a:p>
            <a:pPr indent="0" lvl="0" marL="0" rtl="0" algn="l">
              <a:lnSpc>
                <a:spcPct val="115000"/>
              </a:lnSpc>
              <a:spcBef>
                <a:spcPts val="600"/>
              </a:spcBef>
              <a:spcAft>
                <a:spcPts val="0"/>
              </a:spcAft>
              <a:buNone/>
            </a:pPr>
            <a:r>
              <a:rPr lang="en" sz="1200">
                <a:solidFill>
                  <a:srgbClr val="121212"/>
                </a:solidFill>
                <a:highlight>
                  <a:srgbClr val="F7EDF3"/>
                </a:highlight>
              </a:rPr>
              <a:t>Notice the primary key and foreign key allocation in this diagram. We will look at these later in A 3.2.4 but for now you should understand that these signify fields within an entity that are unique (not duplicated) and can be used to identify each record in a database. </a:t>
            </a:r>
            <a:endParaRPr sz="1200">
              <a:solidFill>
                <a:srgbClr val="121212"/>
              </a:solidFill>
              <a:highlight>
                <a:srgbClr val="F7EDF3"/>
              </a:highlight>
            </a:endParaRPr>
          </a:p>
          <a:p>
            <a:pPr indent="0" lvl="0" marL="0" rtl="0" algn="l">
              <a:lnSpc>
                <a:spcPct val="115000"/>
              </a:lnSpc>
              <a:spcBef>
                <a:spcPts val="800"/>
              </a:spcBef>
              <a:spcAft>
                <a:spcPts val="0"/>
              </a:spcAft>
              <a:buNone/>
            </a:pPr>
            <a:r>
              <a:rPr lang="en" sz="1200">
                <a:solidFill>
                  <a:srgbClr val="121212"/>
                </a:solidFill>
                <a:highlight>
                  <a:srgbClr val="F7EDF3"/>
                </a:highlight>
              </a:rPr>
              <a:t>When deciding on the relationships you need to think in terms of the relationship of each entity to the other entity in both directions. </a:t>
            </a:r>
            <a:endParaRPr sz="1200">
              <a:solidFill>
                <a:srgbClr val="121212"/>
              </a:solidFill>
              <a:highlight>
                <a:srgbClr val="F7EDF3"/>
              </a:highlight>
            </a:endParaRPr>
          </a:p>
          <a:p>
            <a:pPr indent="0" lvl="0" marL="0" rtl="0" algn="l">
              <a:lnSpc>
                <a:spcPct val="115000"/>
              </a:lnSpc>
              <a:spcBef>
                <a:spcPts val="800"/>
              </a:spcBef>
              <a:spcAft>
                <a:spcPts val="0"/>
              </a:spcAft>
              <a:buNone/>
            </a:pPr>
            <a:r>
              <a:rPr lang="en" sz="1200">
                <a:solidFill>
                  <a:srgbClr val="121212"/>
                </a:solidFill>
                <a:highlight>
                  <a:srgbClr val="F7EDF3"/>
                </a:highlight>
              </a:rPr>
              <a:t>For example in the relationship between the customer and the order. </a:t>
            </a:r>
            <a:endParaRPr sz="1200">
              <a:solidFill>
                <a:srgbClr val="121212"/>
              </a:solidFill>
              <a:highlight>
                <a:srgbClr val="F7EDF3"/>
              </a:highlight>
            </a:endParaRPr>
          </a:p>
          <a:p>
            <a:pPr indent="0" lvl="0" marL="0" rtl="0" algn="l">
              <a:lnSpc>
                <a:spcPct val="115000"/>
              </a:lnSpc>
              <a:spcBef>
                <a:spcPts val="800"/>
              </a:spcBef>
              <a:spcAft>
                <a:spcPts val="0"/>
              </a:spcAft>
              <a:buNone/>
            </a:pPr>
            <a:r>
              <a:rPr b="1" lang="en" sz="1200">
                <a:solidFill>
                  <a:srgbClr val="121212"/>
                </a:solidFill>
                <a:highlight>
                  <a:srgbClr val="F7EDF3"/>
                </a:highlight>
              </a:rPr>
              <a:t>Customer to Order: </a:t>
            </a:r>
            <a:r>
              <a:rPr lang="en" sz="1200">
                <a:solidFill>
                  <a:srgbClr val="121212"/>
                </a:solidFill>
                <a:highlight>
                  <a:srgbClr val="F7EDF3"/>
                </a:highlight>
              </a:rPr>
              <a:t>There must be at least one customer and there can only be one customer related to an order. </a:t>
            </a:r>
            <a:endParaRPr sz="1200">
              <a:solidFill>
                <a:srgbClr val="121212"/>
              </a:solidFill>
              <a:highlight>
                <a:srgbClr val="F7EDF3"/>
              </a:highlight>
            </a:endParaRPr>
          </a:p>
          <a:p>
            <a:pPr indent="0" lvl="0" marL="0" rtl="0" algn="l">
              <a:lnSpc>
                <a:spcPct val="115000"/>
              </a:lnSpc>
              <a:spcBef>
                <a:spcPts val="800"/>
              </a:spcBef>
              <a:spcAft>
                <a:spcPts val="800"/>
              </a:spcAft>
              <a:buNone/>
            </a:pPr>
            <a:r>
              <a:rPr b="1" lang="en" sz="1200">
                <a:solidFill>
                  <a:srgbClr val="121212"/>
                </a:solidFill>
                <a:highlight>
                  <a:srgbClr val="F7EDF3"/>
                </a:highlight>
              </a:rPr>
              <a:t>Order to Customer:</a:t>
            </a:r>
            <a:r>
              <a:rPr lang="en" sz="1200">
                <a:solidFill>
                  <a:srgbClr val="121212"/>
                </a:solidFill>
                <a:highlight>
                  <a:srgbClr val="F7EDF3"/>
                </a:highlight>
              </a:rPr>
              <a:t> A customer may have many order but there may also be a customer with zero orders. </a:t>
            </a:r>
            <a:endParaRPr sz="1200">
              <a:solidFill>
                <a:srgbClr val="121212"/>
              </a:solidFill>
              <a:highlight>
                <a:srgbClr val="F7EDF3"/>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1"/>
          <p:cNvPicPr preferRelativeResize="0"/>
          <p:nvPr/>
        </p:nvPicPr>
        <p:blipFill>
          <a:blip r:embed="rId3">
            <a:alphaModFix/>
          </a:blip>
          <a:stretch>
            <a:fillRect/>
          </a:stretch>
        </p:blipFill>
        <p:spPr>
          <a:xfrm>
            <a:off x="152400" y="152400"/>
            <a:ext cx="8146978" cy="4838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2"/>
          <p:cNvPicPr preferRelativeResize="0"/>
          <p:nvPr/>
        </p:nvPicPr>
        <p:blipFill>
          <a:blip r:embed="rId3">
            <a:alphaModFix/>
          </a:blip>
          <a:stretch>
            <a:fillRect/>
          </a:stretch>
        </p:blipFill>
        <p:spPr>
          <a:xfrm>
            <a:off x="374000" y="467300"/>
            <a:ext cx="8591550" cy="3181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33"/>
          <p:cNvPicPr preferRelativeResize="0"/>
          <p:nvPr/>
        </p:nvPicPr>
        <p:blipFill>
          <a:blip r:embed="rId3">
            <a:alphaModFix/>
          </a:blip>
          <a:stretch>
            <a:fillRect/>
          </a:stretch>
        </p:blipFill>
        <p:spPr>
          <a:xfrm>
            <a:off x="199050" y="502300"/>
            <a:ext cx="8648700" cy="3057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4"/>
          <p:cNvSpPr txBox="1"/>
          <p:nvPr/>
        </p:nvSpPr>
        <p:spPr>
          <a:xfrm>
            <a:off x="1822225" y="1813525"/>
            <a:ext cx="5026800" cy="51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Exam Style Question sheet</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