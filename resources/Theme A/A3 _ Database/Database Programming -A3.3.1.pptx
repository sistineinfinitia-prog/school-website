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Amatic SC"/>
      <p:regular r:id="rId19"/>
      <p:bold r:id="rId20"/>
    </p:embeddedFont>
    <p:embeddedFont>
      <p:font typeface="Source Code Pr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AEC86A-340F-40CD-845F-04F536E735ED}">
  <a:tblStyle styleId="{DAAEC86A-340F-40CD-845F-04F536E735E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maticSC-bold.fntdata"/><Relationship Id="rId11" Type="http://schemas.openxmlformats.org/officeDocument/2006/relationships/slide" Target="slides/slide5.xml"/><Relationship Id="rId22" Type="http://schemas.openxmlformats.org/officeDocument/2006/relationships/font" Target="fonts/SourceCodePro-bold.fntdata"/><Relationship Id="rId10" Type="http://schemas.openxmlformats.org/officeDocument/2006/relationships/slide" Target="slides/slide4.xml"/><Relationship Id="rId21" Type="http://schemas.openxmlformats.org/officeDocument/2006/relationships/font" Target="fonts/SourceCodePro-regular.fntdata"/><Relationship Id="rId13" Type="http://schemas.openxmlformats.org/officeDocument/2006/relationships/slide" Target="slides/slide7.xml"/><Relationship Id="rId24" Type="http://schemas.openxmlformats.org/officeDocument/2006/relationships/font" Target="fonts/SourceCodePro-boldItalic.fntdata"/><Relationship Id="rId12" Type="http://schemas.openxmlformats.org/officeDocument/2006/relationships/slide" Target="slides/slide6.xml"/><Relationship Id="rId23" Type="http://schemas.openxmlformats.org/officeDocument/2006/relationships/font" Target="fonts/SourceCodePr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AmaticSC-regular.fnt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9d2e92911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39d2e92911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9d2e929118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9d2e929118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9d2e92911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9d2e92911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9d2e929118_2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9d2e929118_2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9d2e929118_2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9d2e929118_2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9d2e929118_2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9d2e929118_2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d2e929118_2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9d2e929118_2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9d2e929118_2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9d2e929118_2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9d2e929118_2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9d2e929118_2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9d2e929118_2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9d2e929118_2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9d2e929118_2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9d2e929118_2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9d2e929118_2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9d2e929118_2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onecompiler.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title"/>
          </p:nvPr>
        </p:nvSpPr>
        <p:spPr>
          <a:xfrm>
            <a:off x="223975" y="329650"/>
            <a:ext cx="8520600" cy="588300"/>
          </a:xfrm>
          <a:prstGeom prst="rect">
            <a:avLst/>
          </a:prstGeom>
          <a:solidFill>
            <a:srgbClr val="B6D7A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550">
                <a:latin typeface="Source Code Pro"/>
                <a:ea typeface="Source Code Pro"/>
                <a:cs typeface="Source Code Pro"/>
                <a:sym typeface="Source Code Pro"/>
              </a:rPr>
              <a:t>A3.3.1 Outline the difference between </a:t>
            </a:r>
            <a:r>
              <a:rPr lang="en" sz="1550">
                <a:latin typeface="Source Code Pro"/>
                <a:ea typeface="Source Code Pro"/>
                <a:cs typeface="Source Code Pro"/>
                <a:sym typeface="Source Code Pro"/>
              </a:rPr>
              <a:t>data language types within structured query language (SQL)</a:t>
            </a:r>
            <a:endParaRPr sz="1550">
              <a:latin typeface="Source Code Pro"/>
              <a:ea typeface="Source Code Pro"/>
              <a:cs typeface="Source Code Pro"/>
              <a:sym typeface="Source Code Pro"/>
            </a:endParaRPr>
          </a:p>
          <a:p>
            <a:pPr indent="0" lvl="0" marL="0" rtl="0" algn="l">
              <a:spcBef>
                <a:spcPts val="0"/>
              </a:spcBef>
              <a:spcAft>
                <a:spcPts val="0"/>
              </a:spcAft>
              <a:buNone/>
            </a:pPr>
            <a:r>
              <a:t/>
            </a:r>
            <a:endParaRPr sz="1300"/>
          </a:p>
          <a:p>
            <a:pPr indent="0" lvl="0" marL="0" rtl="0" algn="l">
              <a:spcBef>
                <a:spcPts val="0"/>
              </a:spcBef>
              <a:spcAft>
                <a:spcPts val="0"/>
              </a:spcAft>
              <a:buClr>
                <a:schemeClr val="dk1"/>
              </a:buClr>
              <a:buSzPct val="84615"/>
              <a:buFont typeface="Arial"/>
              <a:buNone/>
            </a:pPr>
            <a:r>
              <a:t/>
            </a:r>
            <a:endParaRPr sz="1300"/>
          </a:p>
          <a:p>
            <a:pPr indent="0" lvl="0" marL="0" rtl="0" algn="l">
              <a:spcBef>
                <a:spcPts val="0"/>
              </a:spcBef>
              <a:spcAft>
                <a:spcPts val="0"/>
              </a:spcAft>
              <a:buNone/>
            </a:pPr>
            <a:r>
              <a:t/>
            </a:r>
            <a:endParaRPr/>
          </a:p>
        </p:txBody>
      </p:sp>
      <p:sp>
        <p:nvSpPr>
          <p:cNvPr id="57" name="Google Shape;57;p13"/>
          <p:cNvSpPr txBox="1"/>
          <p:nvPr>
            <p:ph idx="1" type="body"/>
          </p:nvPr>
        </p:nvSpPr>
        <p:spPr>
          <a:xfrm>
            <a:off x="223975" y="1105913"/>
            <a:ext cx="8520600" cy="11013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b="1" lang="en" sz="2000"/>
              <a:t>Database management systems use four different types of language to create databases, manipulate databases, and enable safe interaction with the database.The database management system can be thought of as an umbrella for each of the languages.</a:t>
            </a:r>
            <a:endParaRPr b="1" sz="2000"/>
          </a:p>
          <a:p>
            <a:pPr indent="0" lvl="0" marL="0" rtl="0" algn="l">
              <a:spcBef>
                <a:spcPts val="1200"/>
              </a:spcBef>
              <a:spcAft>
                <a:spcPts val="1200"/>
              </a:spcAft>
              <a:buNone/>
            </a:pPr>
            <a:r>
              <a:rPr lang="en"/>
              <a:t> </a:t>
            </a:r>
            <a:endParaRPr/>
          </a:p>
        </p:txBody>
      </p:sp>
      <p:pic>
        <p:nvPicPr>
          <p:cNvPr id="58" name="Google Shape;58;p13"/>
          <p:cNvPicPr preferRelativeResize="0"/>
          <p:nvPr/>
        </p:nvPicPr>
        <p:blipFill>
          <a:blip r:embed="rId3">
            <a:alphaModFix/>
          </a:blip>
          <a:stretch>
            <a:fillRect/>
          </a:stretch>
        </p:blipFill>
        <p:spPr>
          <a:xfrm>
            <a:off x="1199491" y="2207225"/>
            <a:ext cx="6102359" cy="24548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nvSpPr>
        <p:spPr>
          <a:xfrm>
            <a:off x="310375" y="1581475"/>
            <a:ext cx="3000000" cy="2644500"/>
          </a:xfrm>
          <a:prstGeom prst="rect">
            <a:avLst/>
          </a:prstGeom>
          <a:solidFill>
            <a:srgbClr val="EA9999"/>
          </a:solid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t>Data Definition Language (DDL)</a:t>
            </a:r>
            <a:endParaRPr b="1" sz="1300"/>
          </a:p>
          <a:p>
            <a:pPr indent="0" lvl="0" marL="0" rtl="0" algn="l">
              <a:lnSpc>
                <a:spcPct val="115000"/>
              </a:lnSpc>
              <a:spcBef>
                <a:spcPts val="1200"/>
              </a:spcBef>
              <a:spcAft>
                <a:spcPts val="0"/>
              </a:spcAft>
              <a:buNone/>
            </a:pPr>
            <a:r>
              <a:rPr b="1" lang="en" sz="1100"/>
              <a:t>Definition:</a:t>
            </a:r>
            <a:endParaRPr b="1" sz="1100"/>
          </a:p>
          <a:p>
            <a:pPr indent="-298450" lvl="0" marL="457200" rtl="0" algn="l">
              <a:lnSpc>
                <a:spcPct val="115000"/>
              </a:lnSpc>
              <a:spcBef>
                <a:spcPts val="1200"/>
              </a:spcBef>
              <a:spcAft>
                <a:spcPts val="0"/>
              </a:spcAft>
              <a:buSzPts val="1100"/>
              <a:buChar char="●"/>
            </a:pPr>
            <a:r>
              <a:rPr lang="en" sz="1100"/>
              <a:t>DDL is used to create and manage the structure of a database.</a:t>
            </a:r>
            <a:br>
              <a:rPr lang="en" sz="1100"/>
            </a:br>
            <a:endParaRPr sz="1100"/>
          </a:p>
          <a:p>
            <a:pPr indent="-298450" lvl="0" marL="457200" rtl="0" algn="l">
              <a:lnSpc>
                <a:spcPct val="115000"/>
              </a:lnSpc>
              <a:spcBef>
                <a:spcPts val="0"/>
              </a:spcBef>
              <a:spcAft>
                <a:spcPts val="0"/>
              </a:spcAft>
              <a:buSzPts val="1100"/>
              <a:buChar char="●"/>
            </a:pPr>
            <a:r>
              <a:rPr lang="en" sz="1100"/>
              <a:t>It defines the schema, tables, and constraints within the database.</a:t>
            </a:r>
            <a:br>
              <a:rPr lang="en" sz="1100"/>
            </a:br>
            <a:endParaRPr sz="1100"/>
          </a:p>
          <a:p>
            <a:pPr indent="-298450" lvl="0" marL="457200" rtl="0" algn="l">
              <a:lnSpc>
                <a:spcPct val="115000"/>
              </a:lnSpc>
              <a:spcBef>
                <a:spcPts val="0"/>
              </a:spcBef>
              <a:spcAft>
                <a:spcPts val="0"/>
              </a:spcAft>
              <a:buSzPts val="1100"/>
              <a:buChar char="●"/>
            </a:pPr>
            <a:r>
              <a:rPr lang="en" sz="1100"/>
              <a:t>Using DDL statements, you can design the overall structure or </a:t>
            </a:r>
            <a:r>
              <a:rPr i="1" lang="en" sz="1100"/>
              <a:t>outline</a:t>
            </a:r>
            <a:r>
              <a:rPr lang="en" sz="1100"/>
              <a:t> of the database.</a:t>
            </a:r>
            <a:endParaRPr sz="1100"/>
          </a:p>
        </p:txBody>
      </p:sp>
      <p:graphicFrame>
        <p:nvGraphicFramePr>
          <p:cNvPr id="64" name="Google Shape;64;p14"/>
          <p:cNvGraphicFramePr/>
          <p:nvPr/>
        </p:nvGraphicFramePr>
        <p:xfrm>
          <a:off x="3448425" y="660025"/>
          <a:ext cx="3000000" cy="3000000"/>
        </p:xfrm>
        <a:graphic>
          <a:graphicData uri="http://schemas.openxmlformats.org/drawingml/2006/table">
            <a:tbl>
              <a:tblPr>
                <a:noFill/>
                <a:tableStyleId>{DAAEC86A-340F-40CD-845F-04F536E735ED}</a:tableStyleId>
              </a:tblPr>
              <a:tblGrid>
                <a:gridCol w="1324950"/>
                <a:gridCol w="3655300"/>
              </a:tblGrid>
              <a:tr h="190500">
                <a:tc>
                  <a:txBody>
                    <a:bodyPr/>
                    <a:lstStyle/>
                    <a:p>
                      <a:pPr indent="0" lvl="0" marL="0" rtl="0" algn="ctr">
                        <a:lnSpc>
                          <a:spcPct val="115000"/>
                        </a:lnSpc>
                        <a:spcBef>
                          <a:spcPts val="0"/>
                        </a:spcBef>
                        <a:spcAft>
                          <a:spcPts val="0"/>
                        </a:spcAft>
                        <a:buNone/>
                      </a:pPr>
                      <a:r>
                        <a:rPr b="1" lang="en" sz="1100"/>
                        <a:t>Command</a:t>
                      </a:r>
                      <a:endParaRPr b="1" sz="1100"/>
                    </a:p>
                  </a:txBody>
                  <a:tcPr marT="91425" marB="91425" marR="91425" marL="91425">
                    <a:solidFill>
                      <a:srgbClr val="FF00FF"/>
                    </a:solidFill>
                  </a:tcPr>
                </a:tc>
                <a:tc>
                  <a:txBody>
                    <a:bodyPr/>
                    <a:lstStyle/>
                    <a:p>
                      <a:pPr indent="0" lvl="0" marL="0" rtl="0" algn="ctr">
                        <a:lnSpc>
                          <a:spcPct val="115000"/>
                        </a:lnSpc>
                        <a:spcBef>
                          <a:spcPts val="0"/>
                        </a:spcBef>
                        <a:spcAft>
                          <a:spcPts val="0"/>
                        </a:spcAft>
                        <a:buNone/>
                      </a:pPr>
                      <a:r>
                        <a:rPr b="1" lang="en" sz="1100"/>
                        <a:t>Purpose</a:t>
                      </a:r>
                      <a:endParaRPr b="1" sz="1100"/>
                    </a:p>
                  </a:txBody>
                  <a:tcPr marT="91425" marB="91425" marR="91425" marL="91425">
                    <a:solidFill>
                      <a:srgbClr val="FF00FF"/>
                    </a:solidFill>
                  </a:tcPr>
                </a:tc>
              </a:tr>
              <a:tr h="190500">
                <a:tc>
                  <a:txBody>
                    <a:bodyPr/>
                    <a:lstStyle/>
                    <a:p>
                      <a:pPr indent="0" lvl="0" marL="0" rtl="0" algn="l">
                        <a:spcBef>
                          <a:spcPts val="0"/>
                        </a:spcBef>
                        <a:spcAft>
                          <a:spcPts val="0"/>
                        </a:spcAft>
                        <a:buNone/>
                      </a:pPr>
                      <a:r>
                        <a:rPr b="1" lang="en" sz="1100"/>
                        <a:t>CREATE</a:t>
                      </a:r>
                      <a:endParaRPr b="1" sz="1100"/>
                    </a:p>
                  </a:txBody>
                  <a:tcPr marT="91425" marB="91425" marR="91425" marL="91425">
                    <a:solidFill>
                      <a:srgbClr val="CFE2F3"/>
                    </a:solidFill>
                  </a:tcPr>
                </a:tc>
                <a:tc>
                  <a:txBody>
                    <a:bodyPr/>
                    <a:lstStyle/>
                    <a:p>
                      <a:pPr indent="0" lvl="0" marL="0" rtl="0" algn="l">
                        <a:spcBef>
                          <a:spcPts val="0"/>
                        </a:spcBef>
                        <a:spcAft>
                          <a:spcPts val="0"/>
                        </a:spcAft>
                        <a:buNone/>
                      </a:pPr>
                      <a:r>
                        <a:rPr lang="en"/>
                        <a:t>Creates database objects (e.g., tables, views, schemas).</a:t>
                      </a:r>
                      <a:endParaRPr/>
                    </a:p>
                  </a:txBody>
                  <a:tcPr marT="91425" marB="91425" marR="91425" marL="91425">
                    <a:solidFill>
                      <a:srgbClr val="CFE2F3"/>
                    </a:solidFill>
                  </a:tcPr>
                </a:tc>
              </a:tr>
              <a:tr h="190500">
                <a:tc>
                  <a:txBody>
                    <a:bodyPr/>
                    <a:lstStyle/>
                    <a:p>
                      <a:pPr indent="0" lvl="0" marL="0" rtl="0" algn="l">
                        <a:spcBef>
                          <a:spcPts val="0"/>
                        </a:spcBef>
                        <a:spcAft>
                          <a:spcPts val="0"/>
                        </a:spcAft>
                        <a:buNone/>
                      </a:pPr>
                      <a:r>
                        <a:rPr b="1" lang="en" sz="1100"/>
                        <a:t>ALTER</a:t>
                      </a:r>
                      <a:endParaRPr b="1" sz="1100"/>
                    </a:p>
                  </a:txBody>
                  <a:tcPr marT="91425" marB="91425" marR="91425" marL="91425">
                    <a:solidFill>
                      <a:srgbClr val="CFE2F3"/>
                    </a:solidFill>
                  </a:tcPr>
                </a:tc>
                <a:tc>
                  <a:txBody>
                    <a:bodyPr/>
                    <a:lstStyle/>
                    <a:p>
                      <a:pPr indent="0" lvl="0" marL="0" rtl="0" algn="l">
                        <a:spcBef>
                          <a:spcPts val="0"/>
                        </a:spcBef>
                        <a:spcAft>
                          <a:spcPts val="0"/>
                        </a:spcAft>
                        <a:buNone/>
                      </a:pPr>
                      <a:r>
                        <a:rPr lang="en"/>
                        <a:t>Modifies the structure of existing database objects.</a:t>
                      </a:r>
                      <a:endParaRPr/>
                    </a:p>
                  </a:txBody>
                  <a:tcPr marT="91425" marB="91425" marR="91425" marL="91425">
                    <a:solidFill>
                      <a:srgbClr val="CFE2F3"/>
                    </a:solidFill>
                  </a:tcPr>
                </a:tc>
              </a:tr>
              <a:tr h="190500">
                <a:tc>
                  <a:txBody>
                    <a:bodyPr/>
                    <a:lstStyle/>
                    <a:p>
                      <a:pPr indent="0" lvl="0" marL="0" rtl="0" algn="l">
                        <a:spcBef>
                          <a:spcPts val="0"/>
                        </a:spcBef>
                        <a:spcAft>
                          <a:spcPts val="0"/>
                        </a:spcAft>
                        <a:buNone/>
                      </a:pPr>
                      <a:r>
                        <a:rPr b="1" lang="en" sz="1100"/>
                        <a:t>DROP</a:t>
                      </a:r>
                      <a:endParaRPr b="1" sz="1100"/>
                    </a:p>
                  </a:txBody>
                  <a:tcPr marT="91425" marB="91425" marR="91425" marL="91425">
                    <a:solidFill>
                      <a:srgbClr val="CFE2F3"/>
                    </a:solidFill>
                  </a:tcPr>
                </a:tc>
                <a:tc>
                  <a:txBody>
                    <a:bodyPr/>
                    <a:lstStyle/>
                    <a:p>
                      <a:pPr indent="0" lvl="0" marL="0" rtl="0" algn="l">
                        <a:spcBef>
                          <a:spcPts val="0"/>
                        </a:spcBef>
                        <a:spcAft>
                          <a:spcPts val="0"/>
                        </a:spcAft>
                        <a:buNone/>
                      </a:pPr>
                      <a:r>
                        <a:rPr lang="en"/>
                        <a:t>Deletes database objects from the structure.</a:t>
                      </a:r>
                      <a:endParaRPr/>
                    </a:p>
                  </a:txBody>
                  <a:tcPr marT="91425" marB="91425" marR="91425" marL="91425">
                    <a:solidFill>
                      <a:srgbClr val="CFE2F3"/>
                    </a:solidFill>
                  </a:tcPr>
                </a:tc>
              </a:tr>
              <a:tr h="190500">
                <a:tc>
                  <a:txBody>
                    <a:bodyPr/>
                    <a:lstStyle/>
                    <a:p>
                      <a:pPr indent="0" lvl="0" marL="0" rtl="0" algn="l">
                        <a:spcBef>
                          <a:spcPts val="0"/>
                        </a:spcBef>
                        <a:spcAft>
                          <a:spcPts val="0"/>
                        </a:spcAft>
                        <a:buNone/>
                      </a:pPr>
                      <a:r>
                        <a:rPr b="1" lang="en" sz="1100"/>
                        <a:t>TRUNCATE</a:t>
                      </a:r>
                      <a:endParaRPr b="1" sz="1100"/>
                    </a:p>
                  </a:txBody>
                  <a:tcPr marT="91425" marB="91425" marR="91425" marL="91425">
                    <a:solidFill>
                      <a:srgbClr val="CFE2F3"/>
                    </a:solidFill>
                  </a:tcPr>
                </a:tc>
                <a:tc>
                  <a:txBody>
                    <a:bodyPr/>
                    <a:lstStyle/>
                    <a:p>
                      <a:pPr indent="0" lvl="0" marL="0" rtl="0" algn="l">
                        <a:spcBef>
                          <a:spcPts val="0"/>
                        </a:spcBef>
                        <a:spcAft>
                          <a:spcPts val="0"/>
                        </a:spcAft>
                        <a:buNone/>
                      </a:pPr>
                      <a:r>
                        <a:rPr lang="en"/>
                        <a:t>Removes all records from a table without deleting the table itself.</a:t>
                      </a:r>
                      <a:endParaRPr/>
                    </a:p>
                  </a:txBody>
                  <a:tcPr marT="91425" marB="91425" marR="91425" marL="91425">
                    <a:solidFill>
                      <a:srgbClr val="CFE2F3"/>
                    </a:solidFill>
                  </a:tcPr>
                </a:tc>
              </a:tr>
              <a:tr h="190500">
                <a:tc>
                  <a:txBody>
                    <a:bodyPr/>
                    <a:lstStyle/>
                    <a:p>
                      <a:pPr indent="0" lvl="0" marL="0" rtl="0" algn="l">
                        <a:spcBef>
                          <a:spcPts val="0"/>
                        </a:spcBef>
                        <a:spcAft>
                          <a:spcPts val="0"/>
                        </a:spcAft>
                        <a:buNone/>
                      </a:pPr>
                      <a:r>
                        <a:rPr b="1" lang="en" sz="1100"/>
                        <a:t>RENAME</a:t>
                      </a:r>
                      <a:endParaRPr b="1" sz="1100"/>
                    </a:p>
                  </a:txBody>
                  <a:tcPr marT="91425" marB="91425" marR="91425" marL="91425">
                    <a:solidFill>
                      <a:srgbClr val="CFE2F3"/>
                    </a:solidFill>
                  </a:tcPr>
                </a:tc>
                <a:tc>
                  <a:txBody>
                    <a:bodyPr/>
                    <a:lstStyle/>
                    <a:p>
                      <a:pPr indent="0" lvl="0" marL="0" rtl="0" algn="l">
                        <a:spcBef>
                          <a:spcPts val="0"/>
                        </a:spcBef>
                        <a:spcAft>
                          <a:spcPts val="0"/>
                        </a:spcAft>
                        <a:buNone/>
                      </a:pPr>
                      <a:r>
                        <a:rPr lang="en"/>
                        <a:t>Renames an existing database object.</a:t>
                      </a:r>
                      <a:endParaRPr/>
                    </a:p>
                  </a:txBody>
                  <a:tcPr marT="91425" marB="91425" marR="91425" marL="91425">
                    <a:solidFill>
                      <a:srgbClr val="CFE2F3"/>
                    </a:solidFill>
                  </a:tcPr>
                </a:tc>
              </a:tr>
              <a:tr h="190500">
                <a:tc>
                  <a:txBody>
                    <a:bodyPr/>
                    <a:lstStyle/>
                    <a:p>
                      <a:pPr indent="0" lvl="0" marL="0" rtl="0" algn="l">
                        <a:spcBef>
                          <a:spcPts val="0"/>
                        </a:spcBef>
                        <a:spcAft>
                          <a:spcPts val="0"/>
                        </a:spcAft>
                        <a:buNone/>
                      </a:pPr>
                      <a:r>
                        <a:rPr b="1" lang="en" sz="1100"/>
                        <a:t>COMMENT</a:t>
                      </a:r>
                      <a:endParaRPr b="1" sz="1100"/>
                    </a:p>
                  </a:txBody>
                  <a:tcPr marT="91425" marB="91425" marR="91425" marL="91425">
                    <a:solidFill>
                      <a:srgbClr val="CFE2F3"/>
                    </a:solidFill>
                  </a:tcPr>
                </a:tc>
                <a:tc>
                  <a:txBody>
                    <a:bodyPr/>
                    <a:lstStyle/>
                    <a:p>
                      <a:pPr indent="0" lvl="0" marL="0" rtl="0" algn="l">
                        <a:spcBef>
                          <a:spcPts val="0"/>
                        </a:spcBef>
                        <a:spcAft>
                          <a:spcPts val="0"/>
                        </a:spcAft>
                        <a:buNone/>
                      </a:pPr>
                      <a:r>
                        <a:rPr lang="en"/>
                        <a:t>Adds a descriptive note to the database structure.</a:t>
                      </a:r>
                      <a:endParaRPr/>
                    </a:p>
                  </a:txBody>
                  <a:tcPr marT="91425" marB="91425" marR="91425" marL="91425">
                    <a:solidFill>
                      <a:srgbClr val="CFE2F3"/>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graphicFrame>
        <p:nvGraphicFramePr>
          <p:cNvPr id="69" name="Google Shape;69;p15"/>
          <p:cNvGraphicFramePr/>
          <p:nvPr/>
        </p:nvGraphicFramePr>
        <p:xfrm>
          <a:off x="3965675" y="1127875"/>
          <a:ext cx="3000000" cy="3000000"/>
        </p:xfrm>
        <a:graphic>
          <a:graphicData uri="http://schemas.openxmlformats.org/drawingml/2006/table">
            <a:tbl>
              <a:tblPr>
                <a:noFill/>
                <a:tableStyleId>{DAAEC86A-340F-40CD-845F-04F536E735ED}</a:tableStyleId>
              </a:tblPr>
              <a:tblGrid>
                <a:gridCol w="1009650"/>
                <a:gridCol w="3781425"/>
              </a:tblGrid>
              <a:tr h="190500">
                <a:tc>
                  <a:txBody>
                    <a:bodyPr/>
                    <a:lstStyle/>
                    <a:p>
                      <a:pPr indent="0" lvl="0" marL="0" rtl="0" algn="ctr">
                        <a:lnSpc>
                          <a:spcPct val="115000"/>
                        </a:lnSpc>
                        <a:spcBef>
                          <a:spcPts val="0"/>
                        </a:spcBef>
                        <a:spcAft>
                          <a:spcPts val="0"/>
                        </a:spcAft>
                        <a:buNone/>
                      </a:pPr>
                      <a:r>
                        <a:rPr b="1" lang="en" sz="1100"/>
                        <a:t>Command</a:t>
                      </a:r>
                      <a:endParaRPr b="1" sz="1100"/>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 sz="1100"/>
                        <a:t>Purpose</a:t>
                      </a:r>
                      <a:endParaRPr b="1" sz="1100"/>
                    </a:p>
                  </a:txBody>
                  <a:tcPr marT="91425" marB="91425" marR="91425" marL="91425">
                    <a:solidFill>
                      <a:schemeClr val="lt2"/>
                    </a:solidFill>
                  </a:tcPr>
                </a:tc>
              </a:tr>
              <a:tr h="190500">
                <a:tc>
                  <a:txBody>
                    <a:bodyPr/>
                    <a:lstStyle/>
                    <a:p>
                      <a:pPr indent="0" lvl="0" marL="0" rtl="0" algn="l">
                        <a:spcBef>
                          <a:spcPts val="0"/>
                        </a:spcBef>
                        <a:spcAft>
                          <a:spcPts val="0"/>
                        </a:spcAft>
                        <a:buNone/>
                      </a:pPr>
                      <a:r>
                        <a:rPr b="1" lang="en" sz="1100"/>
                        <a:t>SELECT</a:t>
                      </a:r>
                      <a:endParaRPr b="1" sz="1100"/>
                    </a:p>
                  </a:txBody>
                  <a:tcPr marT="91425" marB="91425" marR="91425" marL="91425">
                    <a:solidFill>
                      <a:srgbClr val="D0E0E3"/>
                    </a:solidFill>
                  </a:tcPr>
                </a:tc>
                <a:tc>
                  <a:txBody>
                    <a:bodyPr/>
                    <a:lstStyle/>
                    <a:p>
                      <a:pPr indent="0" lvl="0" marL="0" rtl="0" algn="l">
                        <a:spcBef>
                          <a:spcPts val="0"/>
                        </a:spcBef>
                        <a:spcAft>
                          <a:spcPts val="0"/>
                        </a:spcAft>
                        <a:buNone/>
                      </a:pPr>
                      <a:r>
                        <a:rPr lang="en"/>
                        <a:t>Retrieves data from the database.</a:t>
                      </a:r>
                      <a:endParaRPr/>
                    </a:p>
                  </a:txBody>
                  <a:tcPr marT="91425" marB="91425" marR="91425" marL="91425">
                    <a:solidFill>
                      <a:srgbClr val="D0E0E3"/>
                    </a:solidFill>
                  </a:tcPr>
                </a:tc>
              </a:tr>
              <a:tr h="190500">
                <a:tc>
                  <a:txBody>
                    <a:bodyPr/>
                    <a:lstStyle/>
                    <a:p>
                      <a:pPr indent="0" lvl="0" marL="0" rtl="0" algn="l">
                        <a:spcBef>
                          <a:spcPts val="0"/>
                        </a:spcBef>
                        <a:spcAft>
                          <a:spcPts val="0"/>
                        </a:spcAft>
                        <a:buNone/>
                      </a:pPr>
                      <a:r>
                        <a:rPr b="1" lang="en" sz="1100"/>
                        <a:t>INSERT</a:t>
                      </a:r>
                      <a:endParaRPr b="1" sz="1100"/>
                    </a:p>
                  </a:txBody>
                  <a:tcPr marT="91425" marB="91425" marR="91425" marL="91425">
                    <a:solidFill>
                      <a:srgbClr val="D0E0E3"/>
                    </a:solidFill>
                  </a:tcPr>
                </a:tc>
                <a:tc>
                  <a:txBody>
                    <a:bodyPr/>
                    <a:lstStyle/>
                    <a:p>
                      <a:pPr indent="0" lvl="0" marL="0" rtl="0" algn="l">
                        <a:spcBef>
                          <a:spcPts val="0"/>
                        </a:spcBef>
                        <a:spcAft>
                          <a:spcPts val="0"/>
                        </a:spcAft>
                        <a:buNone/>
                      </a:pPr>
                      <a:r>
                        <a:rPr lang="en"/>
                        <a:t>Adds new data into a table (entity).</a:t>
                      </a:r>
                      <a:endParaRPr/>
                    </a:p>
                  </a:txBody>
                  <a:tcPr marT="91425" marB="91425" marR="91425" marL="91425">
                    <a:solidFill>
                      <a:srgbClr val="D0E0E3"/>
                    </a:solidFill>
                  </a:tcPr>
                </a:tc>
              </a:tr>
              <a:tr h="190500">
                <a:tc>
                  <a:txBody>
                    <a:bodyPr/>
                    <a:lstStyle/>
                    <a:p>
                      <a:pPr indent="0" lvl="0" marL="0" rtl="0" algn="l">
                        <a:spcBef>
                          <a:spcPts val="0"/>
                        </a:spcBef>
                        <a:spcAft>
                          <a:spcPts val="0"/>
                        </a:spcAft>
                        <a:buNone/>
                      </a:pPr>
                      <a:r>
                        <a:rPr b="1" lang="en" sz="1100"/>
                        <a:t>UPDATE</a:t>
                      </a:r>
                      <a:endParaRPr b="1" sz="1100"/>
                    </a:p>
                  </a:txBody>
                  <a:tcPr marT="91425" marB="91425" marR="91425" marL="91425">
                    <a:solidFill>
                      <a:srgbClr val="D0E0E3"/>
                    </a:solidFill>
                  </a:tcPr>
                </a:tc>
                <a:tc>
                  <a:txBody>
                    <a:bodyPr/>
                    <a:lstStyle/>
                    <a:p>
                      <a:pPr indent="0" lvl="0" marL="0" rtl="0" algn="l">
                        <a:spcBef>
                          <a:spcPts val="0"/>
                        </a:spcBef>
                        <a:spcAft>
                          <a:spcPts val="0"/>
                        </a:spcAft>
                        <a:buNone/>
                      </a:pPr>
                      <a:r>
                        <a:rPr lang="en"/>
                        <a:t>Modifies existing data within a table.</a:t>
                      </a:r>
                      <a:endParaRPr/>
                    </a:p>
                  </a:txBody>
                  <a:tcPr marT="91425" marB="91425" marR="91425" marL="91425">
                    <a:solidFill>
                      <a:srgbClr val="D0E0E3"/>
                    </a:solidFill>
                  </a:tcPr>
                </a:tc>
              </a:tr>
              <a:tr h="190500">
                <a:tc>
                  <a:txBody>
                    <a:bodyPr/>
                    <a:lstStyle/>
                    <a:p>
                      <a:pPr indent="0" lvl="0" marL="0" rtl="0" algn="l">
                        <a:spcBef>
                          <a:spcPts val="0"/>
                        </a:spcBef>
                        <a:spcAft>
                          <a:spcPts val="0"/>
                        </a:spcAft>
                        <a:buNone/>
                      </a:pPr>
                      <a:r>
                        <a:rPr b="1" lang="en" sz="1100"/>
                        <a:t>DELETE</a:t>
                      </a:r>
                      <a:endParaRPr b="1" sz="1100"/>
                    </a:p>
                  </a:txBody>
                  <a:tcPr marT="91425" marB="91425" marR="91425" marL="91425">
                    <a:solidFill>
                      <a:srgbClr val="D0E0E3"/>
                    </a:solidFill>
                  </a:tcPr>
                </a:tc>
                <a:tc>
                  <a:txBody>
                    <a:bodyPr/>
                    <a:lstStyle/>
                    <a:p>
                      <a:pPr indent="0" lvl="0" marL="0" rtl="0" algn="l">
                        <a:spcBef>
                          <a:spcPts val="0"/>
                        </a:spcBef>
                        <a:spcAft>
                          <a:spcPts val="0"/>
                        </a:spcAft>
                        <a:buNone/>
                      </a:pPr>
                      <a:r>
                        <a:rPr lang="en"/>
                        <a:t>Removes records from a table (but not the table itself).</a:t>
                      </a:r>
                      <a:endParaRPr/>
                    </a:p>
                  </a:txBody>
                  <a:tcPr marT="91425" marB="91425" marR="91425" marL="91425">
                    <a:solidFill>
                      <a:srgbClr val="D0E0E3"/>
                    </a:solidFill>
                  </a:tcPr>
                </a:tc>
              </a:tr>
              <a:tr h="190500">
                <a:tc>
                  <a:txBody>
                    <a:bodyPr/>
                    <a:lstStyle/>
                    <a:p>
                      <a:pPr indent="0" lvl="0" marL="0" rtl="0" algn="l">
                        <a:spcBef>
                          <a:spcPts val="0"/>
                        </a:spcBef>
                        <a:spcAft>
                          <a:spcPts val="0"/>
                        </a:spcAft>
                        <a:buNone/>
                      </a:pPr>
                      <a:r>
                        <a:rPr b="1" lang="en" sz="1100"/>
                        <a:t>CALL</a:t>
                      </a:r>
                      <a:endParaRPr b="1" sz="1100"/>
                    </a:p>
                  </a:txBody>
                  <a:tcPr marT="91425" marB="91425" marR="91425" marL="91425">
                    <a:solidFill>
                      <a:srgbClr val="D0E0E3"/>
                    </a:solidFill>
                  </a:tcPr>
                </a:tc>
                <a:tc>
                  <a:txBody>
                    <a:bodyPr/>
                    <a:lstStyle/>
                    <a:p>
                      <a:pPr indent="0" lvl="0" marL="0" rtl="0" algn="l">
                        <a:spcBef>
                          <a:spcPts val="0"/>
                        </a:spcBef>
                        <a:spcAft>
                          <a:spcPts val="0"/>
                        </a:spcAft>
                        <a:buNone/>
                      </a:pPr>
                      <a:r>
                        <a:rPr lang="en"/>
                        <a:t>Executes an SQL operation or stored procedure.</a:t>
                      </a:r>
                      <a:endParaRPr/>
                    </a:p>
                  </a:txBody>
                  <a:tcPr marT="91425" marB="91425" marR="91425" marL="91425">
                    <a:solidFill>
                      <a:srgbClr val="D0E0E3"/>
                    </a:solidFill>
                  </a:tcPr>
                </a:tc>
              </a:tr>
              <a:tr h="190500">
                <a:tc>
                  <a:txBody>
                    <a:bodyPr/>
                    <a:lstStyle/>
                    <a:p>
                      <a:pPr indent="0" lvl="0" marL="0" rtl="0" algn="l">
                        <a:spcBef>
                          <a:spcPts val="0"/>
                        </a:spcBef>
                        <a:spcAft>
                          <a:spcPts val="0"/>
                        </a:spcAft>
                        <a:buNone/>
                      </a:pPr>
                      <a:r>
                        <a:rPr b="1" lang="en" sz="1100"/>
                        <a:t>LOCK TABLE</a:t>
                      </a:r>
                      <a:endParaRPr b="1" sz="1100"/>
                    </a:p>
                  </a:txBody>
                  <a:tcPr marT="91425" marB="91425" marR="91425" marL="91425">
                    <a:solidFill>
                      <a:srgbClr val="D0E0E3"/>
                    </a:solidFill>
                  </a:tcPr>
                </a:tc>
                <a:tc>
                  <a:txBody>
                    <a:bodyPr/>
                    <a:lstStyle/>
                    <a:p>
                      <a:pPr indent="0" lvl="0" marL="0" rtl="0" algn="l">
                        <a:spcBef>
                          <a:spcPts val="0"/>
                        </a:spcBef>
                        <a:spcAft>
                          <a:spcPts val="0"/>
                        </a:spcAft>
                        <a:buNone/>
                      </a:pPr>
                      <a:r>
                        <a:rPr lang="en"/>
                        <a:t>Controls data access to ensure concurrency and data integrity.</a:t>
                      </a:r>
                      <a:endParaRPr/>
                    </a:p>
                  </a:txBody>
                  <a:tcPr marT="91425" marB="91425" marR="91425" marL="91425">
                    <a:solidFill>
                      <a:srgbClr val="D0E0E3"/>
                    </a:solidFill>
                  </a:tcPr>
                </a:tc>
              </a:tr>
            </a:tbl>
          </a:graphicData>
        </a:graphic>
      </p:graphicFrame>
      <p:sp>
        <p:nvSpPr>
          <p:cNvPr id="70" name="Google Shape;70;p15"/>
          <p:cNvSpPr txBox="1"/>
          <p:nvPr/>
        </p:nvSpPr>
        <p:spPr>
          <a:xfrm>
            <a:off x="112675" y="706350"/>
            <a:ext cx="3542700" cy="3992400"/>
          </a:xfrm>
          <a:prstGeom prst="rect">
            <a:avLst/>
          </a:prstGeom>
          <a:solidFill>
            <a:srgbClr val="EA9999"/>
          </a:solidFill>
          <a:ln>
            <a:noFill/>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 sz="1300"/>
              <a:t>Data Manipulation Language (DML)</a:t>
            </a:r>
            <a:endParaRPr b="1" sz="1300"/>
          </a:p>
          <a:p>
            <a:pPr indent="0" lvl="0" marL="0" rtl="0" algn="l">
              <a:lnSpc>
                <a:spcPct val="115000"/>
              </a:lnSpc>
              <a:spcBef>
                <a:spcPts val="1200"/>
              </a:spcBef>
              <a:spcAft>
                <a:spcPts val="0"/>
              </a:spcAft>
              <a:buNone/>
            </a:pPr>
            <a:r>
              <a:rPr b="1" lang="en" sz="1100"/>
              <a:t>Definition:</a:t>
            </a:r>
            <a:br>
              <a:rPr b="1" lang="en" sz="1100"/>
            </a:br>
            <a:r>
              <a:rPr lang="en" sz="1100"/>
              <a:t> The Data Manipulation Language (DML) is used to </a:t>
            </a:r>
            <a:r>
              <a:rPr b="1" lang="en" sz="1100"/>
              <a:t>access and modify data</a:t>
            </a:r>
            <a:r>
              <a:rPr lang="en" sz="1100"/>
              <a:t> stored within a database.</a:t>
            </a:r>
            <a:endParaRPr sz="1100"/>
          </a:p>
          <a:p>
            <a:pPr indent="0" lvl="0" marL="0" rtl="0" algn="l">
              <a:lnSpc>
                <a:spcPct val="115000"/>
              </a:lnSpc>
              <a:spcBef>
                <a:spcPts val="1200"/>
              </a:spcBef>
              <a:spcAft>
                <a:spcPts val="0"/>
              </a:spcAft>
              <a:buNone/>
            </a:pPr>
            <a:r>
              <a:rPr b="1" lang="en" sz="1100"/>
              <a:t>Purpose:</a:t>
            </a:r>
            <a:endParaRPr b="1" sz="1100"/>
          </a:p>
          <a:p>
            <a:pPr indent="-298450" lvl="0" marL="457200" rtl="0" algn="l">
              <a:lnSpc>
                <a:spcPct val="115000"/>
              </a:lnSpc>
              <a:spcBef>
                <a:spcPts val="1200"/>
              </a:spcBef>
              <a:spcAft>
                <a:spcPts val="0"/>
              </a:spcAft>
              <a:buSzPts val="1100"/>
              <a:buChar char="●"/>
            </a:pPr>
            <a:r>
              <a:rPr lang="en" sz="1100"/>
              <a:t>Retrieve data through queries.</a:t>
            </a:r>
            <a:br>
              <a:rPr lang="en" sz="1100"/>
            </a:br>
            <a:endParaRPr sz="1100"/>
          </a:p>
          <a:p>
            <a:pPr indent="-298450" lvl="0" marL="457200" rtl="0" algn="l">
              <a:lnSpc>
                <a:spcPct val="115000"/>
              </a:lnSpc>
              <a:spcBef>
                <a:spcPts val="0"/>
              </a:spcBef>
              <a:spcAft>
                <a:spcPts val="0"/>
              </a:spcAft>
              <a:buSzPts val="1100"/>
              <a:buChar char="●"/>
            </a:pPr>
            <a:r>
              <a:rPr lang="en" sz="1100"/>
              <a:t>Insert, update, or delete records.</a:t>
            </a:r>
            <a:br>
              <a:rPr lang="en" sz="1100"/>
            </a:br>
            <a:endParaRPr sz="1100"/>
          </a:p>
          <a:p>
            <a:pPr indent="-298450" lvl="0" marL="457200" rtl="0" algn="l">
              <a:lnSpc>
                <a:spcPct val="115000"/>
              </a:lnSpc>
              <a:spcBef>
                <a:spcPts val="0"/>
              </a:spcBef>
              <a:spcAft>
                <a:spcPts val="0"/>
              </a:spcAft>
              <a:buSzPts val="1100"/>
              <a:buChar char="●"/>
            </a:pPr>
            <a:r>
              <a:rPr lang="en" sz="1100"/>
              <a:t>Manage data transactions dynamically.</a:t>
            </a:r>
            <a:br>
              <a:rPr lang="en" sz="1100"/>
            </a:b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400"/>
              </a:spcBef>
              <a:spcAft>
                <a:spcPts val="400"/>
              </a:spcAft>
              <a:buNone/>
            </a:pPr>
            <a:r>
              <a:t/>
            </a:r>
            <a:endParaRPr b="1" sz="13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graphicFrame>
        <p:nvGraphicFramePr>
          <p:cNvPr id="75" name="Google Shape;75;p16"/>
          <p:cNvGraphicFramePr/>
          <p:nvPr/>
        </p:nvGraphicFramePr>
        <p:xfrm>
          <a:off x="3729200" y="2103400"/>
          <a:ext cx="3000000" cy="3000000"/>
        </p:xfrm>
        <a:graphic>
          <a:graphicData uri="http://schemas.openxmlformats.org/drawingml/2006/table">
            <a:tbl>
              <a:tblPr>
                <a:noFill/>
                <a:tableStyleId>{DAAEC86A-340F-40CD-845F-04F536E735ED}</a:tableStyleId>
              </a:tblPr>
              <a:tblGrid>
                <a:gridCol w="1034400"/>
                <a:gridCol w="4033575"/>
              </a:tblGrid>
              <a:tr h="190500">
                <a:tc>
                  <a:txBody>
                    <a:bodyPr/>
                    <a:lstStyle/>
                    <a:p>
                      <a:pPr indent="0" lvl="0" marL="0" rtl="0" algn="ctr">
                        <a:lnSpc>
                          <a:spcPct val="115000"/>
                        </a:lnSpc>
                        <a:spcBef>
                          <a:spcPts val="0"/>
                        </a:spcBef>
                        <a:spcAft>
                          <a:spcPts val="0"/>
                        </a:spcAft>
                        <a:buNone/>
                      </a:pPr>
                      <a:r>
                        <a:rPr b="1" lang="en" sz="1100"/>
                        <a:t>Command</a:t>
                      </a:r>
                      <a:endParaRPr b="1" sz="1100"/>
                    </a:p>
                  </a:txBody>
                  <a:tcPr marT="91425" marB="91425" marR="91425" marL="91425">
                    <a:solidFill>
                      <a:srgbClr val="EAD1DC"/>
                    </a:solidFill>
                  </a:tcPr>
                </a:tc>
                <a:tc>
                  <a:txBody>
                    <a:bodyPr/>
                    <a:lstStyle/>
                    <a:p>
                      <a:pPr indent="0" lvl="0" marL="0" rtl="0" algn="ctr">
                        <a:lnSpc>
                          <a:spcPct val="115000"/>
                        </a:lnSpc>
                        <a:spcBef>
                          <a:spcPts val="0"/>
                        </a:spcBef>
                        <a:spcAft>
                          <a:spcPts val="0"/>
                        </a:spcAft>
                        <a:buNone/>
                      </a:pPr>
                      <a:r>
                        <a:rPr b="1" lang="en" sz="1100"/>
                        <a:t>Purpose</a:t>
                      </a:r>
                      <a:endParaRPr b="1" sz="1100"/>
                    </a:p>
                  </a:txBody>
                  <a:tcPr marT="91425" marB="91425" marR="91425" marL="91425">
                    <a:solidFill>
                      <a:srgbClr val="EAD1DC"/>
                    </a:solidFill>
                  </a:tcPr>
                </a:tc>
              </a:tr>
              <a:tr h="190500">
                <a:tc>
                  <a:txBody>
                    <a:bodyPr/>
                    <a:lstStyle/>
                    <a:p>
                      <a:pPr indent="0" lvl="0" marL="0" rtl="0" algn="l">
                        <a:spcBef>
                          <a:spcPts val="0"/>
                        </a:spcBef>
                        <a:spcAft>
                          <a:spcPts val="0"/>
                        </a:spcAft>
                        <a:buNone/>
                      </a:pPr>
                      <a:r>
                        <a:rPr b="1" lang="en" sz="1100"/>
                        <a:t>GRANT</a:t>
                      </a:r>
                      <a:endParaRPr b="1" sz="1100"/>
                    </a:p>
                  </a:txBody>
                  <a:tcPr marT="91425" marB="91425" marR="91425" marL="91425">
                    <a:solidFill>
                      <a:srgbClr val="EAD1DC"/>
                    </a:solidFill>
                  </a:tcPr>
                </a:tc>
                <a:tc>
                  <a:txBody>
                    <a:bodyPr/>
                    <a:lstStyle/>
                    <a:p>
                      <a:pPr indent="0" lvl="0" marL="0" rtl="0" algn="l">
                        <a:spcBef>
                          <a:spcPts val="0"/>
                        </a:spcBef>
                        <a:spcAft>
                          <a:spcPts val="0"/>
                        </a:spcAft>
                        <a:buNone/>
                      </a:pPr>
                      <a:r>
                        <a:rPr lang="en"/>
                        <a:t>Provides users with specific access privileges in the database.</a:t>
                      </a:r>
                      <a:endParaRPr/>
                    </a:p>
                  </a:txBody>
                  <a:tcPr marT="91425" marB="91425" marR="91425" marL="91425">
                    <a:solidFill>
                      <a:srgbClr val="EAD1DC"/>
                    </a:solidFill>
                  </a:tcPr>
                </a:tc>
              </a:tr>
              <a:tr h="190500">
                <a:tc>
                  <a:txBody>
                    <a:bodyPr/>
                    <a:lstStyle/>
                    <a:p>
                      <a:pPr indent="0" lvl="0" marL="0" rtl="0" algn="l">
                        <a:spcBef>
                          <a:spcPts val="0"/>
                        </a:spcBef>
                        <a:spcAft>
                          <a:spcPts val="0"/>
                        </a:spcAft>
                        <a:buNone/>
                      </a:pPr>
                      <a:r>
                        <a:rPr b="1" lang="en" sz="1100"/>
                        <a:t>REVOKE</a:t>
                      </a:r>
                      <a:endParaRPr b="1" sz="1100"/>
                    </a:p>
                  </a:txBody>
                  <a:tcPr marT="91425" marB="91425" marR="91425" marL="91425">
                    <a:solidFill>
                      <a:srgbClr val="EAD1DC"/>
                    </a:solidFill>
                  </a:tcPr>
                </a:tc>
                <a:tc>
                  <a:txBody>
                    <a:bodyPr/>
                    <a:lstStyle/>
                    <a:p>
                      <a:pPr indent="0" lvl="0" marL="0" rtl="0" algn="l">
                        <a:spcBef>
                          <a:spcPts val="0"/>
                        </a:spcBef>
                        <a:spcAft>
                          <a:spcPts val="0"/>
                        </a:spcAft>
                        <a:buNone/>
                      </a:pPr>
                      <a:r>
                        <a:rPr lang="en"/>
                        <a:t>Removes previously granted access privileges.</a:t>
                      </a:r>
                      <a:endParaRPr/>
                    </a:p>
                  </a:txBody>
                  <a:tcPr marT="91425" marB="91425" marR="91425" marL="91425">
                    <a:solidFill>
                      <a:srgbClr val="EAD1DC"/>
                    </a:solidFill>
                  </a:tcPr>
                </a:tc>
              </a:tr>
            </a:tbl>
          </a:graphicData>
        </a:graphic>
      </p:graphicFrame>
      <p:sp>
        <p:nvSpPr>
          <p:cNvPr id="76" name="Google Shape;76;p16"/>
          <p:cNvSpPr txBox="1"/>
          <p:nvPr/>
        </p:nvSpPr>
        <p:spPr>
          <a:xfrm>
            <a:off x="349150" y="576450"/>
            <a:ext cx="2892300" cy="3990600"/>
          </a:xfrm>
          <a:prstGeom prst="rect">
            <a:avLst/>
          </a:prstGeom>
          <a:solidFill>
            <a:srgbClr val="93C47D"/>
          </a:solidFill>
          <a:ln>
            <a:noFill/>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 sz="1300"/>
              <a:t>Data Control Language (DCL)</a:t>
            </a:r>
            <a:endParaRPr b="1" sz="1300"/>
          </a:p>
          <a:p>
            <a:pPr indent="0" lvl="0" marL="0" rtl="0" algn="l">
              <a:lnSpc>
                <a:spcPct val="115000"/>
              </a:lnSpc>
              <a:spcBef>
                <a:spcPts val="1200"/>
              </a:spcBef>
              <a:spcAft>
                <a:spcPts val="0"/>
              </a:spcAft>
              <a:buNone/>
            </a:pPr>
            <a:r>
              <a:rPr b="1" lang="en" sz="1100"/>
              <a:t>Definition:</a:t>
            </a:r>
            <a:br>
              <a:rPr b="1" lang="en" sz="1100"/>
            </a:br>
            <a:r>
              <a:rPr lang="en" sz="1100"/>
              <a:t> The Data Control Language (DCL) is used to </a:t>
            </a:r>
            <a:r>
              <a:rPr b="1" lang="en" sz="1100"/>
              <a:t>control access and permissions</a:t>
            </a:r>
            <a:r>
              <a:rPr lang="en" sz="1100"/>
              <a:t> within a database.</a:t>
            </a:r>
            <a:endParaRPr sz="1100"/>
          </a:p>
          <a:p>
            <a:pPr indent="0" lvl="0" marL="0" rtl="0" algn="l">
              <a:lnSpc>
                <a:spcPct val="115000"/>
              </a:lnSpc>
              <a:spcBef>
                <a:spcPts val="1200"/>
              </a:spcBef>
              <a:spcAft>
                <a:spcPts val="0"/>
              </a:spcAft>
              <a:buNone/>
            </a:pPr>
            <a:r>
              <a:rPr b="1" lang="en" sz="1100"/>
              <a:t>Purpose:</a:t>
            </a:r>
            <a:endParaRPr b="1" sz="1100"/>
          </a:p>
          <a:p>
            <a:pPr indent="-298450" lvl="0" marL="457200" rtl="0" algn="l">
              <a:lnSpc>
                <a:spcPct val="115000"/>
              </a:lnSpc>
              <a:spcBef>
                <a:spcPts val="1200"/>
              </a:spcBef>
              <a:spcAft>
                <a:spcPts val="0"/>
              </a:spcAft>
              <a:buSzPts val="1100"/>
              <a:buChar char="●"/>
            </a:pPr>
            <a:r>
              <a:rPr lang="en" sz="1100"/>
              <a:t>Maintains </a:t>
            </a:r>
            <a:r>
              <a:rPr b="1" lang="en" sz="1100"/>
              <a:t>security and user access control</a:t>
            </a:r>
            <a:r>
              <a:rPr lang="en" sz="1100"/>
              <a:t>.</a:t>
            </a:r>
            <a:br>
              <a:rPr lang="en" sz="1100"/>
            </a:br>
            <a:endParaRPr sz="1100"/>
          </a:p>
          <a:p>
            <a:pPr indent="-298450" lvl="0" marL="457200" rtl="0" algn="l">
              <a:lnSpc>
                <a:spcPct val="115000"/>
              </a:lnSpc>
              <a:spcBef>
                <a:spcPts val="0"/>
              </a:spcBef>
              <a:spcAft>
                <a:spcPts val="0"/>
              </a:spcAft>
              <a:buSzPts val="1100"/>
              <a:buChar char="●"/>
            </a:pPr>
            <a:r>
              <a:rPr lang="en" sz="1100"/>
              <a:t>Grants or revokes permissions to ensure data protection.</a:t>
            </a:r>
            <a:br>
              <a:rPr lang="en" sz="1100"/>
            </a:br>
            <a:endParaRPr sz="1100"/>
          </a:p>
          <a:p>
            <a:pPr indent="-298450" lvl="0" marL="457200" rtl="0" algn="l">
              <a:lnSpc>
                <a:spcPct val="115000"/>
              </a:lnSpc>
              <a:spcBef>
                <a:spcPts val="0"/>
              </a:spcBef>
              <a:spcAft>
                <a:spcPts val="0"/>
              </a:spcAft>
              <a:buSzPts val="1100"/>
              <a:buChar char="●"/>
            </a:pPr>
            <a:r>
              <a:rPr lang="en" sz="1100"/>
              <a:t>Helps database administrators manage </a:t>
            </a:r>
            <a:r>
              <a:rPr b="1" lang="en" sz="1100"/>
              <a:t>who can view or modify</a:t>
            </a:r>
            <a:r>
              <a:rPr lang="en" sz="1100"/>
              <a:t> data.</a:t>
            </a:r>
            <a:br>
              <a:rPr lang="en" sz="1100"/>
            </a:br>
            <a:endParaRPr sz="1100"/>
          </a:p>
          <a:p>
            <a:pPr indent="0" lvl="0" marL="0" rtl="0" algn="l">
              <a:lnSpc>
                <a:spcPct val="115000"/>
              </a:lnSpc>
              <a:spcBef>
                <a:spcPts val="1400"/>
              </a:spcBef>
              <a:spcAft>
                <a:spcPts val="400"/>
              </a:spcAft>
              <a:buNone/>
            </a:pPr>
            <a:r>
              <a:t/>
            </a:r>
            <a:endParaRPr b="1" sz="1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Transaction control language</a:t>
            </a:r>
            <a:endParaRPr/>
          </a:p>
        </p:txBody>
      </p:sp>
      <p:sp>
        <p:nvSpPr>
          <p:cNvPr id="82" name="Google Shape;82;p1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en">
                <a:solidFill>
                  <a:schemeClr val="accent1"/>
                </a:solidFill>
              </a:rPr>
              <a:t>The transaction control language (TCL) is used to complete the changes</a:t>
            </a:r>
            <a:endParaRPr>
              <a:solidFill>
                <a:schemeClr val="accent1"/>
              </a:solidFill>
            </a:endParaRPr>
          </a:p>
          <a:p>
            <a:pPr indent="0" lvl="0" marL="0" rtl="0" algn="l">
              <a:spcBef>
                <a:spcPts val="1200"/>
              </a:spcBef>
              <a:spcAft>
                <a:spcPts val="0"/>
              </a:spcAft>
              <a:buNone/>
            </a:pPr>
            <a:r>
              <a:rPr lang="en">
                <a:solidFill>
                  <a:schemeClr val="accent1"/>
                </a:solidFill>
              </a:rPr>
              <a:t>in a database.</a:t>
            </a:r>
            <a:endParaRPr>
              <a:solidFill>
                <a:schemeClr val="accent1"/>
              </a:solidFill>
            </a:endParaRPr>
          </a:p>
          <a:p>
            <a:pPr indent="0" lvl="0" marL="0" rtl="0" algn="l">
              <a:spcBef>
                <a:spcPts val="1200"/>
              </a:spcBef>
              <a:spcAft>
                <a:spcPts val="0"/>
              </a:spcAft>
              <a:buNone/>
            </a:pPr>
            <a:r>
              <a:rPr lang="en">
                <a:solidFill>
                  <a:schemeClr val="accent1"/>
                </a:solidFill>
              </a:rPr>
              <a:t>Commands in the TCL include the following.</a:t>
            </a:r>
            <a:endParaRPr>
              <a:solidFill>
                <a:schemeClr val="accent1"/>
              </a:solidFill>
            </a:endParaRPr>
          </a:p>
          <a:p>
            <a:pPr indent="0" lvl="0" marL="0" rtl="0" algn="l">
              <a:spcBef>
                <a:spcPts val="1200"/>
              </a:spcBef>
              <a:spcAft>
                <a:spcPts val="0"/>
              </a:spcAft>
              <a:buNone/>
            </a:pPr>
            <a:r>
              <a:rPr lang="en">
                <a:solidFill>
                  <a:schemeClr val="accent1"/>
                </a:solidFill>
              </a:rPr>
              <a:t>* COMMIT Used to complete queries and save them within the database.</a:t>
            </a:r>
            <a:endParaRPr>
              <a:solidFill>
                <a:schemeClr val="accent1"/>
              </a:solidFill>
            </a:endParaRPr>
          </a:p>
          <a:p>
            <a:pPr indent="0" lvl="0" marL="0" rtl="0" algn="l">
              <a:spcBef>
                <a:spcPts val="1200"/>
              </a:spcBef>
              <a:spcAft>
                <a:spcPts val="0"/>
              </a:spcAft>
              <a:buNone/>
            </a:pPr>
            <a:r>
              <a:rPr lang="en">
                <a:solidFill>
                  <a:schemeClr val="accent1"/>
                </a:solidFill>
              </a:rPr>
              <a:t>* ROLLBACK Used if there is an issue in an operation to restore the database</a:t>
            </a:r>
            <a:endParaRPr>
              <a:solidFill>
                <a:schemeClr val="accent1"/>
              </a:solidFill>
            </a:endParaRPr>
          </a:p>
          <a:p>
            <a:pPr indent="0" lvl="0" marL="0" rtl="0" algn="l">
              <a:spcBef>
                <a:spcPts val="1200"/>
              </a:spcBef>
              <a:spcAft>
                <a:spcPts val="0"/>
              </a:spcAft>
              <a:buNone/>
            </a:pPr>
            <a:r>
              <a:rPr lang="en">
                <a:solidFill>
                  <a:schemeClr val="accent1"/>
                </a:solidFill>
              </a:rPr>
              <a:t>back to its last COMMIT statement.</a:t>
            </a:r>
            <a:endParaRPr>
              <a:solidFill>
                <a:schemeClr val="accent1"/>
              </a:solidFil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18"/>
          <p:cNvPicPr preferRelativeResize="0"/>
          <p:nvPr/>
        </p:nvPicPr>
        <p:blipFill>
          <a:blip r:embed="rId3">
            <a:alphaModFix/>
          </a:blip>
          <a:stretch>
            <a:fillRect/>
          </a:stretch>
        </p:blipFill>
        <p:spPr>
          <a:xfrm>
            <a:off x="640150" y="581025"/>
            <a:ext cx="7610475" cy="3505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9"/>
          <p:cNvPicPr preferRelativeResize="0"/>
          <p:nvPr/>
        </p:nvPicPr>
        <p:blipFill>
          <a:blip r:embed="rId3">
            <a:alphaModFix/>
          </a:blip>
          <a:stretch>
            <a:fillRect/>
          </a:stretch>
        </p:blipFill>
        <p:spPr>
          <a:xfrm>
            <a:off x="152400" y="152400"/>
            <a:ext cx="8423493" cy="4838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20"/>
          <p:cNvPicPr preferRelativeResize="0"/>
          <p:nvPr/>
        </p:nvPicPr>
        <p:blipFill>
          <a:blip r:embed="rId3">
            <a:alphaModFix/>
          </a:blip>
          <a:stretch>
            <a:fillRect/>
          </a:stretch>
        </p:blipFill>
        <p:spPr>
          <a:xfrm>
            <a:off x="241100" y="743600"/>
            <a:ext cx="8839200" cy="271700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21"/>
          <p:cNvPicPr preferRelativeResize="0"/>
          <p:nvPr/>
        </p:nvPicPr>
        <p:blipFill>
          <a:blip r:embed="rId3">
            <a:alphaModFix/>
          </a:blip>
          <a:stretch>
            <a:fillRect/>
          </a:stretch>
        </p:blipFill>
        <p:spPr>
          <a:xfrm>
            <a:off x="304800" y="946775"/>
            <a:ext cx="8839201" cy="324995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22"/>
          <p:cNvPicPr preferRelativeResize="0"/>
          <p:nvPr/>
        </p:nvPicPr>
        <p:blipFill>
          <a:blip r:embed="rId3">
            <a:alphaModFix/>
          </a:blip>
          <a:stretch>
            <a:fillRect/>
          </a:stretch>
        </p:blipFill>
        <p:spPr>
          <a:xfrm>
            <a:off x="241075" y="625350"/>
            <a:ext cx="8839202" cy="374940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3"/>
          <p:cNvSpPr txBox="1"/>
          <p:nvPr/>
        </p:nvSpPr>
        <p:spPr>
          <a:xfrm>
            <a:off x="994900" y="940400"/>
            <a:ext cx="7345800" cy="24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Source Code Pro"/>
                <a:ea typeface="Source Code Pro"/>
                <a:cs typeface="Source Code Pro"/>
                <a:sym typeface="Source Code Pro"/>
              </a:rPr>
              <a:t>CHALLENGE : </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rPr lang="en" sz="1800">
                <a:solidFill>
                  <a:schemeClr val="dk2"/>
                </a:solidFill>
                <a:latin typeface="Source Code Pro"/>
                <a:ea typeface="Source Code Pro"/>
                <a:cs typeface="Source Code Pro"/>
                <a:sym typeface="Source Code Pro"/>
              </a:rPr>
              <a:t>STUDENTS WILL TRY ALL THE EXAMPLES SHARED ON </a:t>
            </a:r>
            <a:r>
              <a:rPr lang="en" sz="1800" u="sng">
                <a:solidFill>
                  <a:schemeClr val="hlink"/>
                </a:solidFill>
                <a:latin typeface="Source Code Pro"/>
                <a:ea typeface="Source Code Pro"/>
                <a:cs typeface="Source Code Pro"/>
                <a:sym typeface="Source Code Pro"/>
                <a:hlinkClick r:id="rId3"/>
              </a:rPr>
              <a:t>ONECOMPILER.COM</a:t>
            </a:r>
            <a:r>
              <a:rPr lang="en" sz="1800">
                <a:solidFill>
                  <a:schemeClr val="dk2"/>
                </a:solidFill>
                <a:latin typeface="Source Code Pro"/>
                <a:ea typeface="Source Code Pro"/>
                <a:cs typeface="Source Code Pro"/>
                <a:sym typeface="Source Code Pro"/>
              </a:rPr>
              <a:t> </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rPr lang="en" sz="1800">
                <a:solidFill>
                  <a:schemeClr val="dk2"/>
                </a:solidFill>
                <a:latin typeface="Source Code Pro"/>
                <a:ea typeface="Source Code Pro"/>
                <a:cs typeface="Source Code Pro"/>
                <a:sym typeface="Source Code Pro"/>
              </a:rPr>
              <a:t>Create a table to display students database</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4"/>
          <p:cNvSpPr txBox="1"/>
          <p:nvPr/>
        </p:nvSpPr>
        <p:spPr>
          <a:xfrm>
            <a:off x="669725" y="1058650"/>
            <a:ext cx="8055300" cy="3384600"/>
          </a:xfrm>
          <a:prstGeom prst="rect">
            <a:avLst/>
          </a:prstGeom>
          <a:solidFill>
            <a:srgbClr val="C9DAF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Source Code Pro"/>
                <a:ea typeface="Source Code Pro"/>
                <a:cs typeface="Source Code Pro"/>
                <a:sym typeface="Source Code Pro"/>
              </a:rPr>
              <a:t>HOMEWORK : </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en" sz="1800">
                <a:solidFill>
                  <a:schemeClr val="dk2"/>
                </a:solidFill>
                <a:latin typeface="Source Code Pro"/>
                <a:ea typeface="Source Code Pro"/>
                <a:cs typeface="Source Code Pro"/>
                <a:sym typeface="Source Code Pro"/>
              </a:rPr>
              <a:t>Install Mysql drivers both on device and vscode extension</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en" sz="1800">
                <a:solidFill>
                  <a:schemeClr val="dk2"/>
                </a:solidFill>
                <a:latin typeface="Source Code Pro"/>
                <a:ea typeface="Source Code Pro"/>
                <a:cs typeface="Source Code Pro"/>
                <a:sym typeface="Source Code Pro"/>
              </a:rPr>
              <a:t>Create a connection</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en" sz="1800">
                <a:solidFill>
                  <a:schemeClr val="dk2"/>
                </a:solidFill>
                <a:latin typeface="Source Code Pro"/>
                <a:ea typeface="Source Code Pro"/>
                <a:cs typeface="Source Code Pro"/>
                <a:sym typeface="Source Code Pro"/>
              </a:rPr>
              <a:t>Try again few examples of table </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rPr lang="en" sz="1800">
                <a:solidFill>
                  <a:schemeClr val="dk2"/>
                </a:solidFill>
                <a:latin typeface="Source Code Pro"/>
                <a:ea typeface="Source Code Pro"/>
                <a:cs typeface="Source Code Pro"/>
                <a:sym typeface="Source Code Pro"/>
              </a:rPr>
              <a:t>Students ensure this is mandatory to create tables online </a:t>
            </a:r>
            <a:endParaRPr sz="1800">
              <a:solidFill>
                <a:schemeClr val="dk2"/>
              </a:solidFill>
              <a:latin typeface="Source Code Pro"/>
              <a:ea typeface="Source Code Pro"/>
              <a:cs typeface="Source Code Pro"/>
              <a:sym typeface="Source Code Pr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