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Century Gothic"/>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2" roundtripDataSignature="AMtx7mgpr0ylxheTIR1hEOtPsuqbwzLg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86F030-A66C-4301-9E9D-3B9C51F99CD7}">
  <a:tblStyle styleId="{2886F030-A66C-4301-9E9D-3B9C51F99CD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ECE7"/>
          </a:solidFill>
        </a:fill>
      </a:tcStyle>
    </a:wholeTbl>
    <a:band1H>
      <a:tcTxStyle b="off" i="off"/>
      <a:tcStyle>
        <a:fill>
          <a:solidFill>
            <a:srgbClr val="F8D6CC"/>
          </a:solidFill>
        </a:fill>
      </a:tcStyle>
    </a:band1H>
    <a:band2H>
      <a:tcTxStyle b="off" i="off"/>
    </a:band2H>
    <a:band1V>
      <a:tcTxStyle b="off" i="off"/>
      <a:tcStyle>
        <a:fill>
          <a:solidFill>
            <a:srgbClr val="F8D6CC"/>
          </a:solidFill>
        </a:fill>
      </a:tcStyle>
    </a:band1V>
    <a:band2V>
      <a:tcTxStyle b="off" i="off"/>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CenturyGothic-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CenturyGothic-bold.fntdata"/><Relationship Id="rId6" Type="http://schemas.openxmlformats.org/officeDocument/2006/relationships/notesMaster" Target="notesMasters/notesMaster1.xml"/><Relationship Id="rId18" Type="http://schemas.openxmlformats.org/officeDocument/2006/relationships/font" Target="fonts/CenturyGothic-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content slide">
  <p:cSld name="Video content slide">
    <p:spTree>
      <p:nvGrpSpPr>
        <p:cNvPr id="15" name="Shape 15"/>
        <p:cNvGrpSpPr/>
        <p:nvPr/>
      </p:nvGrpSpPr>
      <p:grpSpPr>
        <a:xfrm>
          <a:off x="0" y="0"/>
          <a:ext cx="0" cy="0"/>
          <a:chOff x="0" y="0"/>
          <a:chExt cx="0" cy="0"/>
        </a:xfrm>
      </p:grpSpPr>
      <p:sp>
        <p:nvSpPr>
          <p:cNvPr id="16" name="Google Shape;1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16"/>
          <p:cNvSpPr/>
          <p:nvPr/>
        </p:nvSpPr>
        <p:spPr>
          <a:xfrm>
            <a:off x="-1" y="0"/>
            <a:ext cx="10095723" cy="419100"/>
          </a:xfrm>
          <a:prstGeom prst="rect">
            <a:avLst/>
          </a:prstGeom>
          <a:solidFill>
            <a:srgbClr val="F2652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lt1"/>
                </a:solidFill>
                <a:latin typeface="Calibri"/>
                <a:ea typeface="Calibri"/>
                <a:cs typeface="Calibri"/>
                <a:sym typeface="Calibri"/>
              </a:rPr>
              <a:t>9 Databases | Database introduction</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Title slide" type="blank">
  <p:cSld name="BLANK">
    <p:spTree>
      <p:nvGrpSpPr>
        <p:cNvPr id="20" name="Shape 20"/>
        <p:cNvGrpSpPr/>
        <p:nvPr/>
      </p:nvGrpSpPr>
      <p:grpSpPr>
        <a:xfrm>
          <a:off x="0" y="0"/>
          <a:ext cx="0" cy="0"/>
          <a:chOff x="0" y="0"/>
          <a:chExt cx="0" cy="0"/>
        </a:xfrm>
      </p:grpSpPr>
      <p:sp>
        <p:nvSpPr>
          <p:cNvPr id="21" name="Google Shape;21;p15"/>
          <p:cNvSpPr/>
          <p:nvPr/>
        </p:nvSpPr>
        <p:spPr>
          <a:xfrm>
            <a:off x="10088880" y="0"/>
            <a:ext cx="2103120" cy="6858000"/>
          </a:xfrm>
          <a:prstGeom prst="rect">
            <a:avLst/>
          </a:prstGeom>
          <a:solidFill>
            <a:srgbClr val="F26521"/>
          </a:solidFill>
          <a:ln>
            <a:noFill/>
          </a:ln>
        </p:spPr>
        <p:txBody>
          <a:bodyPr anchorCtr="0" anchor="t" bIns="45700" lIns="91425" spcFirstLastPara="1" rIns="91425" wrap="square" tIns="180000">
            <a:noAutofit/>
          </a:bodyPr>
          <a:lstStyle/>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chemeClr val="lt1"/>
                </a:solidFill>
                <a:latin typeface="Century Gothic"/>
                <a:ea typeface="Century Gothic"/>
                <a:cs typeface="Century Gothic"/>
                <a:sym typeface="Century Gothic"/>
              </a:rPr>
              <a:t>CAMBRIDGE IGCSE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chemeClr val="lt1"/>
                </a:solidFill>
                <a:latin typeface="Century Gothic"/>
                <a:ea typeface="Century Gothic"/>
                <a:cs typeface="Century Gothic"/>
                <a:sym typeface="Century Gothic"/>
              </a:rPr>
              <a:t>(0478/0984)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D8D8D8"/>
              </a:solidFill>
              <a:latin typeface="Calibri"/>
              <a:ea typeface="Calibri"/>
              <a:cs typeface="Calibri"/>
              <a:sym typeface="Calibri"/>
            </a:endParaRPr>
          </a:p>
        </p:txBody>
      </p:sp>
      <p:sp>
        <p:nvSpPr>
          <p:cNvPr id="22" name="Google Shape;22;p15"/>
          <p:cNvSpPr/>
          <p:nvPr/>
        </p:nvSpPr>
        <p:spPr>
          <a:xfrm>
            <a:off x="8915400" y="2354373"/>
            <a:ext cx="2140171" cy="2140171"/>
          </a:xfrm>
          <a:prstGeom prst="ellipse">
            <a:avLst/>
          </a:prstGeom>
          <a:solidFill>
            <a:schemeClr val="lt1"/>
          </a:solidFill>
          <a:ln cap="flat" cmpd="sng" w="28575">
            <a:solidFill>
              <a:srgbClr val="F2652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brush&#10;&#10;Description automatically generated" id="23" name="Google Shape;23;p15"/>
          <p:cNvPicPr preferRelativeResize="0"/>
          <p:nvPr/>
        </p:nvPicPr>
        <p:blipFill rotWithShape="1">
          <a:blip r:embed="rId2">
            <a:alphaModFix/>
          </a:blip>
          <a:srcRect b="-3" l="0" r="-3" t="161"/>
          <a:stretch/>
        </p:blipFill>
        <p:spPr>
          <a:xfrm>
            <a:off x="9029206" y="2474254"/>
            <a:ext cx="1912560" cy="1909489"/>
          </a:xfrm>
          <a:custGeom>
            <a:rect b="b" l="l" r="r" t="t"/>
            <a:pathLst>
              <a:path extrusionOk="0" h="6057610" w="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ln>
            <a:noFill/>
          </a:ln>
        </p:spPr>
      </p:pic>
      <p:sp>
        <p:nvSpPr>
          <p:cNvPr id="24" name="Google Shape;24;p15"/>
          <p:cNvSpPr/>
          <p:nvPr/>
        </p:nvSpPr>
        <p:spPr>
          <a:xfrm>
            <a:off x="0" y="6451184"/>
            <a:ext cx="1008887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7F7F7F"/>
                </a:solidFill>
                <a:latin typeface="Calibri"/>
                <a:ea typeface="Calibri"/>
                <a:cs typeface="Calibri"/>
                <a:sym typeface="Calibri"/>
              </a:rPr>
              <a:t>Teacher site: </a:t>
            </a:r>
            <a:r>
              <a:rPr b="0" i="0" lang="en-GB" sz="1600" u="none" cap="none" strike="noStrike">
                <a:solidFill>
                  <a:srgbClr val="7F7F7F"/>
                </a:solidFill>
                <a:latin typeface="Calibri"/>
                <a:ea typeface="Calibri"/>
                <a:cs typeface="Calibri"/>
                <a:sym typeface="Calibri"/>
              </a:rPr>
              <a:t>craigndave.org  |  </a:t>
            </a:r>
            <a:r>
              <a:rPr b="1" i="0" lang="en-GB" sz="1600" u="none" cap="none" strike="noStrike">
                <a:solidFill>
                  <a:srgbClr val="7F7F7F"/>
                </a:solidFill>
                <a:latin typeface="Calibri"/>
                <a:ea typeface="Calibri"/>
                <a:cs typeface="Calibri"/>
                <a:sym typeface="Calibri"/>
              </a:rPr>
              <a:t>Student site: </a:t>
            </a:r>
            <a:r>
              <a:rPr b="0" i="0" lang="en-GB" sz="1600" u="none" cap="none" strike="noStrike">
                <a:solidFill>
                  <a:srgbClr val="7F7F7F"/>
                </a:solidFill>
                <a:latin typeface="Calibri"/>
                <a:ea typeface="Calibri"/>
                <a:cs typeface="Calibri"/>
                <a:sym typeface="Calibri"/>
              </a:rPr>
              <a:t>student.craigndave.org  |  </a:t>
            </a:r>
            <a:r>
              <a:rPr b="1" i="0" lang="en-GB" sz="1600" u="none" cap="none" strike="noStrike">
                <a:solidFill>
                  <a:srgbClr val="7F7F7F"/>
                </a:solidFill>
                <a:latin typeface="Calibri"/>
                <a:ea typeface="Calibri"/>
                <a:cs typeface="Calibri"/>
                <a:sym typeface="Calibri"/>
              </a:rPr>
              <a:t>Smart revise: </a:t>
            </a:r>
            <a:r>
              <a:rPr b="0" i="0" lang="en-GB" sz="1600" u="none" cap="none" strike="noStrike">
                <a:solidFill>
                  <a:srgbClr val="7F7F7F"/>
                </a:solidFill>
                <a:latin typeface="Calibri"/>
                <a:ea typeface="Calibri"/>
                <a:cs typeface="Calibri"/>
                <a:sym typeface="Calibri"/>
              </a:rPr>
              <a:t>smartrevise.co.uk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 name="Google Shape;3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5" name="Google Shape;4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p:nvPr>
            <p:ph idx="2" type="pic"/>
          </p:nvPr>
        </p:nvSpPr>
        <p:spPr>
          <a:xfrm>
            <a:off x="5183188" y="987425"/>
            <a:ext cx="6172200" cy="4873625"/>
          </a:xfrm>
          <a:prstGeom prst="rect">
            <a:avLst/>
          </a:prstGeom>
          <a:noFill/>
          <a:ln>
            <a:noFill/>
          </a:ln>
        </p:spPr>
      </p:sp>
      <p:sp>
        <p:nvSpPr>
          <p:cNvPr id="74" name="Google Shape;7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176565" y="523174"/>
            <a:ext cx="2691827"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What is a database?</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176565" y="993174"/>
            <a:ext cx="5560847" cy="107087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Databases are structured, persistent collections of data.</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They allow us to arrange and store data in a series of tables for further querying and manipulation.</a:t>
            </a:r>
            <a:endParaRPr b="0" i="0" sz="1400" u="none" cap="none" strike="noStrike">
              <a:solidFill>
                <a:srgbClr val="000000"/>
              </a:solidFill>
              <a:latin typeface="Arial"/>
              <a:ea typeface="Arial"/>
              <a:cs typeface="Arial"/>
              <a:sym typeface="Arial"/>
            </a:endParaRPr>
          </a:p>
        </p:txBody>
      </p:sp>
      <p:pic>
        <p:nvPicPr>
          <p:cNvPr descr="A picture containing room, table, computer&#10;&#10;Description automatically generated" id="96" name="Google Shape;96;p2"/>
          <p:cNvPicPr preferRelativeResize="0"/>
          <p:nvPr/>
        </p:nvPicPr>
        <p:blipFill rotWithShape="1">
          <a:blip r:embed="rId3">
            <a:alphaModFix/>
          </a:blip>
          <a:srcRect b="0" l="0" r="0" t="0"/>
          <a:stretch/>
        </p:blipFill>
        <p:spPr>
          <a:xfrm>
            <a:off x="5955030" y="587000"/>
            <a:ext cx="6060405" cy="60604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a:off x="176565" y="523174"/>
            <a:ext cx="2691827"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What is a database?</a:t>
            </a:r>
            <a:endParaRPr b="0" i="0" sz="1400" u="none" cap="none" strike="noStrike">
              <a:solidFill>
                <a:srgbClr val="000000"/>
              </a:solidFill>
              <a:latin typeface="Arial"/>
              <a:ea typeface="Arial"/>
              <a:cs typeface="Arial"/>
              <a:sym typeface="Arial"/>
            </a:endParaRPr>
          </a:p>
        </p:txBody>
      </p:sp>
      <p:grpSp>
        <p:nvGrpSpPr>
          <p:cNvPr id="102" name="Google Shape;102;p3"/>
          <p:cNvGrpSpPr/>
          <p:nvPr/>
        </p:nvGrpSpPr>
        <p:grpSpPr>
          <a:xfrm>
            <a:off x="1354837" y="833159"/>
            <a:ext cx="9482325" cy="5191680"/>
            <a:chOff x="2287" y="571572"/>
            <a:chExt cx="9482325" cy="5191680"/>
          </a:xfrm>
        </p:grpSpPr>
        <p:sp>
          <p:nvSpPr>
            <p:cNvPr id="103" name="Google Shape;103;p3"/>
            <p:cNvSpPr/>
            <p:nvPr/>
          </p:nvSpPr>
          <p:spPr>
            <a:xfrm>
              <a:off x="4743449" y="2716895"/>
              <a:ext cx="2595840" cy="901035"/>
            </a:xfrm>
            <a:custGeom>
              <a:rect b="b" l="l" r="r" t="t"/>
              <a:pathLst>
                <a:path extrusionOk="0" h="120000" w="120000">
                  <a:moveTo>
                    <a:pt x="0" y="0"/>
                  </a:moveTo>
                  <a:lnTo>
                    <a:pt x="0" y="60000"/>
                  </a:lnTo>
                  <a:lnTo>
                    <a:pt x="120000" y="60000"/>
                  </a:lnTo>
                  <a:lnTo>
                    <a:pt x="120000" y="120000"/>
                  </a:lnTo>
                </a:path>
              </a:pathLst>
            </a:custGeom>
            <a:noFill/>
            <a:ln cap="flat" cmpd="sng" w="12700">
              <a:solidFill>
                <a:schemeClr val="accent4"/>
              </a:solidFill>
              <a:prstDash val="solid"/>
              <a:miter lim="800000"/>
              <a:headEnd len="sm" w="sm" type="none"/>
              <a:tailEnd len="sm" w="sm" type="none"/>
            </a:ln>
          </p:spPr>
        </p:sp>
        <p:sp>
          <p:nvSpPr>
            <p:cNvPr id="104" name="Google Shape;104;p3"/>
            <p:cNvSpPr/>
            <p:nvPr/>
          </p:nvSpPr>
          <p:spPr>
            <a:xfrm>
              <a:off x="2147609" y="2716895"/>
              <a:ext cx="2595840" cy="901035"/>
            </a:xfrm>
            <a:custGeom>
              <a:rect b="b" l="l" r="r" t="t"/>
              <a:pathLst>
                <a:path extrusionOk="0" h="120000" w="120000">
                  <a:moveTo>
                    <a:pt x="120000" y="0"/>
                  </a:moveTo>
                  <a:lnTo>
                    <a:pt x="120000" y="60000"/>
                  </a:lnTo>
                  <a:lnTo>
                    <a:pt x="0" y="60000"/>
                  </a:lnTo>
                  <a:lnTo>
                    <a:pt x="0" y="120000"/>
                  </a:lnTo>
                </a:path>
              </a:pathLst>
            </a:custGeom>
            <a:noFill/>
            <a:ln cap="flat" cmpd="sng" w="12700">
              <a:solidFill>
                <a:schemeClr val="accent4"/>
              </a:solidFill>
              <a:prstDash val="solid"/>
              <a:miter lim="800000"/>
              <a:headEnd len="sm" w="sm" type="none"/>
              <a:tailEnd len="sm" w="sm" type="none"/>
            </a:ln>
          </p:spPr>
        </p:sp>
        <p:sp>
          <p:nvSpPr>
            <p:cNvPr id="105" name="Google Shape;105;p3"/>
            <p:cNvSpPr/>
            <p:nvPr/>
          </p:nvSpPr>
          <p:spPr>
            <a:xfrm>
              <a:off x="2598127" y="571572"/>
              <a:ext cx="4290645" cy="2145322"/>
            </a:xfrm>
            <a:prstGeom prst="rect">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txBox="1"/>
            <p:nvPr/>
          </p:nvSpPr>
          <p:spPr>
            <a:xfrm>
              <a:off x="2598127" y="571572"/>
              <a:ext cx="4290645" cy="2145322"/>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lt1"/>
                </a:buClr>
                <a:buSzPts val="4800"/>
                <a:buFont typeface="Calibri"/>
                <a:buNone/>
              </a:pPr>
              <a:r>
                <a:rPr b="0" i="0" lang="en-GB" sz="4800" u="none" cap="none" strike="noStrike">
                  <a:solidFill>
                    <a:schemeClr val="lt1"/>
                  </a:solidFill>
                  <a:latin typeface="Calibri"/>
                  <a:ea typeface="Calibri"/>
                  <a:cs typeface="Calibri"/>
                  <a:sym typeface="Calibri"/>
                </a:rPr>
                <a:t>Types of databases</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2287" y="3617930"/>
              <a:ext cx="4290645" cy="214532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txBox="1"/>
            <p:nvPr/>
          </p:nvSpPr>
          <p:spPr>
            <a:xfrm>
              <a:off x="2287" y="3617930"/>
              <a:ext cx="4290645" cy="2145322"/>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lt1"/>
                </a:buClr>
                <a:buSzPts val="4800"/>
                <a:buFont typeface="Calibri"/>
                <a:buNone/>
              </a:pPr>
              <a:r>
                <a:rPr b="0" i="0" lang="en-GB" sz="4800" u="none" cap="none" strike="noStrike">
                  <a:solidFill>
                    <a:schemeClr val="lt1"/>
                  </a:solidFill>
                  <a:latin typeface="Calibri"/>
                  <a:ea typeface="Calibri"/>
                  <a:cs typeface="Calibri"/>
                  <a:sym typeface="Calibri"/>
                </a:rPr>
                <a:t>Flat-file</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1200"/>
                </a:spcBef>
                <a:spcAft>
                  <a:spcPts val="0"/>
                </a:spcAft>
                <a:buClr>
                  <a:schemeClr val="lt1"/>
                </a:buClr>
                <a:buSzPts val="3200"/>
                <a:buFont typeface="Calibri"/>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5193967" y="3617930"/>
              <a:ext cx="4290645" cy="2145322"/>
            </a:xfrm>
            <a:prstGeom prst="rect">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5193967" y="3617930"/>
              <a:ext cx="4290645" cy="2145322"/>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chemeClr val="lt1"/>
                </a:buClr>
                <a:buSzPts val="4800"/>
                <a:buFont typeface="Calibri"/>
                <a:buNone/>
              </a:pPr>
              <a:r>
                <a:rPr b="0" i="0" lang="en-GB" sz="4800" u="none" cap="none" strike="noStrike">
                  <a:solidFill>
                    <a:schemeClr val="lt1"/>
                  </a:solidFill>
                  <a:latin typeface="Calibri"/>
                  <a:ea typeface="Calibri"/>
                  <a:cs typeface="Calibri"/>
                  <a:sym typeface="Calibri"/>
                </a:rPr>
                <a:t>Relational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1200"/>
                </a:spcBef>
                <a:spcAft>
                  <a:spcPts val="0"/>
                </a:spcAft>
                <a:buClr>
                  <a:schemeClr val="lt1"/>
                </a:buClr>
                <a:buSzPts val="3200"/>
                <a:buFont typeface="Calibri"/>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p:nvPr/>
        </p:nvSpPr>
        <p:spPr>
          <a:xfrm>
            <a:off x="176565" y="523174"/>
            <a:ext cx="2376035"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Flat-file database</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176564" y="993174"/>
            <a:ext cx="11498757"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A </a:t>
            </a:r>
            <a:r>
              <a:rPr b="1" i="0" lang="en-GB" sz="1800" u="none" cap="none" strike="noStrike">
                <a:solidFill>
                  <a:schemeClr val="dk1"/>
                </a:solidFill>
                <a:latin typeface="Calibri"/>
                <a:ea typeface="Calibri"/>
                <a:cs typeface="Calibri"/>
                <a:sym typeface="Calibri"/>
              </a:rPr>
              <a:t>flat-file database</a:t>
            </a:r>
            <a:r>
              <a:rPr b="0" i="0" lang="en-GB" sz="1800" u="none" cap="none" strike="noStrike">
                <a:solidFill>
                  <a:schemeClr val="dk1"/>
                </a:solidFill>
                <a:latin typeface="Calibri"/>
                <a:ea typeface="Calibri"/>
                <a:cs typeface="Calibri"/>
                <a:sym typeface="Calibri"/>
              </a:rPr>
              <a:t> consists of one or more </a:t>
            </a:r>
            <a:r>
              <a:rPr b="1" i="0" lang="en-GB" sz="1800" u="none" cap="none" strike="noStrike">
                <a:solidFill>
                  <a:schemeClr val="dk1"/>
                </a:solidFill>
                <a:latin typeface="Calibri"/>
                <a:ea typeface="Calibri"/>
                <a:cs typeface="Calibri"/>
                <a:sym typeface="Calibri"/>
              </a:rPr>
              <a:t>tables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aphicFrame>
        <p:nvGraphicFramePr>
          <p:cNvPr id="117" name="Google Shape;117;p4"/>
          <p:cNvGraphicFramePr/>
          <p:nvPr/>
        </p:nvGraphicFramePr>
        <p:xfrm>
          <a:off x="1374587" y="3095330"/>
          <a:ext cx="3000000" cy="3000000"/>
        </p:xfrm>
        <a:graphic>
          <a:graphicData uri="http://schemas.openxmlformats.org/drawingml/2006/table">
            <a:tbl>
              <a:tblPr bandRow="1" firstRow="1">
                <a:noFill/>
                <a:tableStyleId>{2886F030-A66C-4301-9E9D-3B9C51F99CD7}</a:tableStyleId>
              </a:tblPr>
              <a:tblGrid>
                <a:gridCol w="728050"/>
                <a:gridCol w="2624500"/>
                <a:gridCol w="1518275"/>
                <a:gridCol w="1810875"/>
                <a:gridCol w="1855700"/>
                <a:gridCol w="905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Customer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Country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Renew</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Dongford International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13.09.2018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Stateford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France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Paris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14.11.2000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Standard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San Francisco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21.03.2007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Nardis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30.05.2012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Together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01.04.1998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Nori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07.07.2005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Intersec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Germany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Berlin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15.11.2020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bl>
          </a:graphicData>
        </a:graphic>
      </p:graphicFrame>
      <p:sp>
        <p:nvSpPr>
          <p:cNvPr id="118" name="Google Shape;118;p4"/>
          <p:cNvSpPr/>
          <p:nvPr/>
        </p:nvSpPr>
        <p:spPr>
          <a:xfrm>
            <a:off x="1364582" y="2719778"/>
            <a:ext cx="1116953"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ClientsTbl</a:t>
            </a:r>
            <a:endParaRPr b="0" i="0" sz="1400" u="none" cap="none" strike="noStrike">
              <a:solidFill>
                <a:srgbClr val="000000"/>
              </a:solidFill>
              <a:latin typeface="Arial"/>
              <a:ea typeface="Arial"/>
              <a:cs typeface="Arial"/>
              <a:sym typeface="Arial"/>
            </a:endParaRPr>
          </a:p>
        </p:txBody>
      </p:sp>
      <p:grpSp>
        <p:nvGrpSpPr>
          <p:cNvPr id="119" name="Google Shape;119;p4"/>
          <p:cNvGrpSpPr/>
          <p:nvPr/>
        </p:nvGrpSpPr>
        <p:grpSpPr>
          <a:xfrm>
            <a:off x="1210234" y="957314"/>
            <a:ext cx="9789459" cy="5291086"/>
            <a:chOff x="1210234" y="957314"/>
            <a:chExt cx="9789459" cy="5291086"/>
          </a:xfrm>
        </p:grpSpPr>
        <p:sp>
          <p:nvSpPr>
            <p:cNvPr id="120" name="Google Shape;120;p4"/>
            <p:cNvSpPr/>
            <p:nvPr/>
          </p:nvSpPr>
          <p:spPr>
            <a:xfrm>
              <a:off x="1210234" y="2719778"/>
              <a:ext cx="9789459" cy="3528622"/>
            </a:xfrm>
            <a:prstGeom prst="roundRect">
              <a:avLst>
                <a:gd fmla="val 3456" name="adj"/>
              </a:avLst>
            </a:prstGeom>
            <a:no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4"/>
            <p:cNvSpPr/>
            <p:nvPr/>
          </p:nvSpPr>
          <p:spPr>
            <a:xfrm>
              <a:off x="5011270" y="957314"/>
              <a:ext cx="645458" cy="310891"/>
            </a:xfrm>
            <a:prstGeom prst="roundRect">
              <a:avLst>
                <a:gd fmla="val 16667" name="adj"/>
              </a:avLst>
            </a:prstGeom>
            <a:solidFill>
              <a:srgbClr val="C00000">
                <a:alpha val="20000"/>
              </a:srgbClr>
            </a:solid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p:nvPr/>
        </p:nvSpPr>
        <p:spPr>
          <a:xfrm>
            <a:off x="176565" y="523174"/>
            <a:ext cx="2376035"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Flat-file database</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176564" y="993174"/>
            <a:ext cx="11498757" cy="77450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A </a:t>
            </a:r>
            <a:r>
              <a:rPr b="1" i="0" lang="en-GB" sz="1800" u="none" cap="none" strike="noStrike">
                <a:solidFill>
                  <a:schemeClr val="dk1"/>
                </a:solidFill>
                <a:latin typeface="Calibri"/>
                <a:ea typeface="Calibri"/>
                <a:cs typeface="Calibri"/>
                <a:sym typeface="Calibri"/>
              </a:rPr>
              <a:t>flat-file database</a:t>
            </a:r>
            <a:r>
              <a:rPr b="0" i="0" lang="en-GB" sz="1800" u="none" cap="none" strike="noStrike">
                <a:solidFill>
                  <a:schemeClr val="dk1"/>
                </a:solidFill>
                <a:latin typeface="Calibri"/>
                <a:ea typeface="Calibri"/>
                <a:cs typeface="Calibri"/>
                <a:sym typeface="Calibri"/>
              </a:rPr>
              <a:t> consists of one or more </a:t>
            </a:r>
            <a:r>
              <a:rPr b="1" i="0" lang="en-GB" sz="1800" u="none" cap="none" strike="noStrike">
                <a:solidFill>
                  <a:schemeClr val="dk1"/>
                </a:solidFill>
                <a:latin typeface="Calibri"/>
                <a:ea typeface="Calibri"/>
                <a:cs typeface="Calibri"/>
                <a:sym typeface="Calibri"/>
              </a:rPr>
              <a:t>tables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consists of many separate </a:t>
            </a:r>
            <a:r>
              <a:rPr b="1" i="0" lang="en-GB" sz="1800" u="none" cap="none" strike="noStrike">
                <a:solidFill>
                  <a:schemeClr val="dk1"/>
                </a:solidFill>
                <a:latin typeface="Calibri"/>
                <a:ea typeface="Calibri"/>
                <a:cs typeface="Calibri"/>
                <a:sym typeface="Calibri"/>
              </a:rPr>
              <a:t>records</a:t>
            </a:r>
            <a:r>
              <a:rPr b="0" i="0" lang="en-GB" sz="1800" u="none" cap="none" strike="noStrike">
                <a:solidFill>
                  <a:schemeClr val="dk1"/>
                </a:solidFill>
                <a:latin typeface="Calibri"/>
                <a:ea typeface="Calibri"/>
                <a:cs typeface="Calibri"/>
                <a:sym typeface="Calibri"/>
              </a:rPr>
              <a:t> (rows). </a:t>
            </a:r>
            <a:r>
              <a:rPr b="1" i="0" lang="en-GB" sz="1800" u="none" cap="none" strike="noStrike">
                <a:solidFill>
                  <a:schemeClr val="dk1"/>
                </a:solidFill>
                <a:latin typeface="Calibri"/>
                <a:ea typeface="Calibri"/>
                <a:cs typeface="Calibri"/>
                <a:sym typeface="Calibri"/>
              </a:rPr>
              <a:t>Records</a:t>
            </a:r>
            <a:r>
              <a:rPr b="0" i="0" lang="en-GB" sz="1800" u="none" cap="none" strike="noStrike">
                <a:solidFill>
                  <a:schemeClr val="dk1"/>
                </a:solidFill>
                <a:latin typeface="Calibri"/>
                <a:ea typeface="Calibri"/>
                <a:cs typeface="Calibri"/>
                <a:sym typeface="Calibri"/>
              </a:rPr>
              <a:t> are identical in structure, though their contents will vary.</a:t>
            </a:r>
            <a:endParaRPr b="0" i="0" sz="1400" u="none" cap="none" strike="noStrike">
              <a:solidFill>
                <a:srgbClr val="000000"/>
              </a:solidFill>
              <a:latin typeface="Arial"/>
              <a:ea typeface="Arial"/>
              <a:cs typeface="Arial"/>
              <a:sym typeface="Arial"/>
            </a:endParaRPr>
          </a:p>
        </p:txBody>
      </p:sp>
      <p:graphicFrame>
        <p:nvGraphicFramePr>
          <p:cNvPr id="128" name="Google Shape;128;p5"/>
          <p:cNvGraphicFramePr/>
          <p:nvPr/>
        </p:nvGraphicFramePr>
        <p:xfrm>
          <a:off x="1374587" y="3095330"/>
          <a:ext cx="3000000" cy="3000000"/>
        </p:xfrm>
        <a:graphic>
          <a:graphicData uri="http://schemas.openxmlformats.org/drawingml/2006/table">
            <a:tbl>
              <a:tblPr bandRow="1" firstRow="1">
                <a:noFill/>
                <a:tableStyleId>{2886F030-A66C-4301-9E9D-3B9C51F99CD7}</a:tableStyleId>
              </a:tblPr>
              <a:tblGrid>
                <a:gridCol w="728050"/>
                <a:gridCol w="2624500"/>
                <a:gridCol w="1518275"/>
                <a:gridCol w="1810875"/>
                <a:gridCol w="1855700"/>
                <a:gridCol w="905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Customer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Country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Renew</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Dongford International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13.09.2018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Stateford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France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Paris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14.11.2000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Standard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San Francisco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21.03.2007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Nardis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30.05.2012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Together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01.04.1998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Nori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07.07.2005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Intersec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Germany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Berlin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15.11.2020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bl>
          </a:graphicData>
        </a:graphic>
      </p:graphicFrame>
      <p:sp>
        <p:nvSpPr>
          <p:cNvPr id="129" name="Google Shape;129;p5"/>
          <p:cNvSpPr/>
          <p:nvPr/>
        </p:nvSpPr>
        <p:spPr>
          <a:xfrm>
            <a:off x="1364582" y="2719778"/>
            <a:ext cx="1116953"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ClientsTbl</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1210234" y="2719778"/>
            <a:ext cx="9789459" cy="3528622"/>
          </a:xfrm>
          <a:prstGeom prst="roundRect">
            <a:avLst>
              <a:gd fmla="val 3456" name="adj"/>
            </a:avLst>
          </a:prstGeom>
          <a:no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5"/>
          <p:cNvSpPr/>
          <p:nvPr/>
        </p:nvSpPr>
        <p:spPr>
          <a:xfrm>
            <a:off x="5011270" y="957314"/>
            <a:ext cx="645458" cy="310891"/>
          </a:xfrm>
          <a:prstGeom prst="roundRect">
            <a:avLst>
              <a:gd fmla="val 16667" name="adj"/>
            </a:avLst>
          </a:prstGeom>
          <a:solidFill>
            <a:srgbClr val="C00000">
              <a:alpha val="20000"/>
            </a:srgbClr>
          </a:solid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5"/>
          <p:cNvSpPr/>
          <p:nvPr/>
        </p:nvSpPr>
        <p:spPr>
          <a:xfrm>
            <a:off x="1041852" y="4146303"/>
            <a:ext cx="10083347" cy="506379"/>
          </a:xfrm>
          <a:prstGeom prst="roundRect">
            <a:avLst>
              <a:gd fmla="val 16667" name="adj"/>
            </a:avLst>
          </a:prstGeom>
          <a:noFill/>
          <a:ln cap="flat" cmpd="sng" w="571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5"/>
          <p:cNvSpPr/>
          <p:nvPr/>
        </p:nvSpPr>
        <p:spPr>
          <a:xfrm>
            <a:off x="11319176" y="1353040"/>
            <a:ext cx="645458" cy="310891"/>
          </a:xfrm>
          <a:prstGeom prst="roundRect">
            <a:avLst>
              <a:gd fmla="val 16667" name="adj"/>
            </a:avLst>
          </a:prstGeom>
          <a:solidFill>
            <a:schemeClr val="accent4">
              <a:alpha val="20000"/>
            </a:schemeClr>
          </a:solidFill>
          <a:ln cap="flat" cmpd="sng" w="571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p:nvPr/>
        </p:nvSpPr>
        <p:spPr>
          <a:xfrm>
            <a:off x="176565" y="523174"/>
            <a:ext cx="2376035"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Flat-file database</a:t>
            </a:r>
            <a:endParaRPr b="0" i="0" sz="1400" u="none" cap="none" strike="noStrike">
              <a:solidFill>
                <a:srgbClr val="000000"/>
              </a:solidFill>
              <a:latin typeface="Arial"/>
              <a:ea typeface="Arial"/>
              <a:cs typeface="Arial"/>
              <a:sym typeface="Arial"/>
            </a:endParaRPr>
          </a:p>
        </p:txBody>
      </p:sp>
      <p:sp>
        <p:nvSpPr>
          <p:cNvPr id="139" name="Google Shape;139;p6"/>
          <p:cNvSpPr/>
          <p:nvPr/>
        </p:nvSpPr>
        <p:spPr>
          <a:xfrm>
            <a:off x="176564" y="993174"/>
            <a:ext cx="11498757" cy="117346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A </a:t>
            </a:r>
            <a:r>
              <a:rPr b="1" i="0" lang="en-GB" sz="1800" u="none" cap="none" strike="noStrike">
                <a:solidFill>
                  <a:schemeClr val="dk1"/>
                </a:solidFill>
                <a:latin typeface="Calibri"/>
                <a:ea typeface="Calibri"/>
                <a:cs typeface="Calibri"/>
                <a:sym typeface="Calibri"/>
              </a:rPr>
              <a:t>flat-file database</a:t>
            </a:r>
            <a:r>
              <a:rPr b="0" i="0" lang="en-GB" sz="1800" u="none" cap="none" strike="noStrike">
                <a:solidFill>
                  <a:schemeClr val="dk1"/>
                </a:solidFill>
                <a:latin typeface="Calibri"/>
                <a:ea typeface="Calibri"/>
                <a:cs typeface="Calibri"/>
                <a:sym typeface="Calibri"/>
              </a:rPr>
              <a:t> consists of one or more </a:t>
            </a:r>
            <a:r>
              <a:rPr b="1" i="0" lang="en-GB" sz="1800" u="none" cap="none" strike="noStrike">
                <a:solidFill>
                  <a:schemeClr val="dk1"/>
                </a:solidFill>
                <a:latin typeface="Calibri"/>
                <a:ea typeface="Calibri"/>
                <a:cs typeface="Calibri"/>
                <a:sym typeface="Calibri"/>
              </a:rPr>
              <a:t>tables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consists of many separate </a:t>
            </a:r>
            <a:r>
              <a:rPr b="1" i="0" lang="en-GB" sz="1800" u="none" cap="none" strike="noStrike">
                <a:solidFill>
                  <a:schemeClr val="dk1"/>
                </a:solidFill>
                <a:latin typeface="Calibri"/>
                <a:ea typeface="Calibri"/>
                <a:cs typeface="Calibri"/>
                <a:sym typeface="Calibri"/>
              </a:rPr>
              <a:t>records</a:t>
            </a:r>
            <a:r>
              <a:rPr b="0" i="0" lang="en-GB" sz="1800" u="none" cap="none" strike="noStrike">
                <a:solidFill>
                  <a:schemeClr val="dk1"/>
                </a:solidFill>
                <a:latin typeface="Calibri"/>
                <a:ea typeface="Calibri"/>
                <a:cs typeface="Calibri"/>
                <a:sym typeface="Calibri"/>
              </a:rPr>
              <a:t> (rows). </a:t>
            </a:r>
            <a:r>
              <a:rPr b="1" i="0" lang="en-GB" sz="1800" u="none" cap="none" strike="noStrike">
                <a:solidFill>
                  <a:schemeClr val="dk1"/>
                </a:solidFill>
                <a:latin typeface="Calibri"/>
                <a:ea typeface="Calibri"/>
                <a:cs typeface="Calibri"/>
                <a:sym typeface="Calibri"/>
              </a:rPr>
              <a:t>Records</a:t>
            </a:r>
            <a:r>
              <a:rPr b="0" i="0" lang="en-GB" sz="1800" u="none" cap="none" strike="noStrike">
                <a:solidFill>
                  <a:schemeClr val="dk1"/>
                </a:solidFill>
                <a:latin typeface="Calibri"/>
                <a:ea typeface="Calibri"/>
                <a:cs typeface="Calibri"/>
                <a:sym typeface="Calibri"/>
              </a:rPr>
              <a:t> are identical in structure, though their contents will vary.</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consists of a number of separate </a:t>
            </a:r>
            <a:r>
              <a:rPr b="1" i="0" lang="en-GB" sz="1800" u="none" cap="none" strike="noStrike">
                <a:solidFill>
                  <a:schemeClr val="dk1"/>
                </a:solidFill>
                <a:latin typeface="Calibri"/>
                <a:ea typeface="Calibri"/>
                <a:cs typeface="Calibri"/>
                <a:sym typeface="Calibri"/>
              </a:rPr>
              <a:t>fields</a:t>
            </a:r>
            <a:r>
              <a:rPr b="0" i="0" lang="en-GB" sz="1800" u="none" cap="none" strike="noStrike">
                <a:solidFill>
                  <a:schemeClr val="dk1"/>
                </a:solidFill>
                <a:latin typeface="Calibri"/>
                <a:ea typeface="Calibri"/>
                <a:cs typeface="Calibri"/>
                <a:sym typeface="Calibri"/>
              </a:rPr>
              <a:t> (columns).</a:t>
            </a:r>
            <a:endParaRPr b="0" i="0" sz="1400" u="none" cap="none" strike="noStrike">
              <a:solidFill>
                <a:srgbClr val="000000"/>
              </a:solidFill>
              <a:latin typeface="Arial"/>
              <a:ea typeface="Arial"/>
              <a:cs typeface="Arial"/>
              <a:sym typeface="Arial"/>
            </a:endParaRPr>
          </a:p>
        </p:txBody>
      </p:sp>
      <p:graphicFrame>
        <p:nvGraphicFramePr>
          <p:cNvPr id="140" name="Google Shape;140;p6"/>
          <p:cNvGraphicFramePr/>
          <p:nvPr/>
        </p:nvGraphicFramePr>
        <p:xfrm>
          <a:off x="1374587" y="3095330"/>
          <a:ext cx="3000000" cy="3000000"/>
        </p:xfrm>
        <a:graphic>
          <a:graphicData uri="http://schemas.openxmlformats.org/drawingml/2006/table">
            <a:tbl>
              <a:tblPr bandRow="1" firstRow="1">
                <a:noFill/>
                <a:tableStyleId>{2886F030-A66C-4301-9E9D-3B9C51F99CD7}</a:tableStyleId>
              </a:tblPr>
              <a:tblGrid>
                <a:gridCol w="728050"/>
                <a:gridCol w="2624500"/>
                <a:gridCol w="1518275"/>
                <a:gridCol w="1810875"/>
                <a:gridCol w="1855700"/>
                <a:gridCol w="905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Customer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Country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Renew</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Dongford International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13.09.2018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Stateford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France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Paris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14.11.2000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Standard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San Francisco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21.03.2007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Nardis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30.05.2012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Together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01.04.1998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Nori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07.07.2005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Intersec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Germany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Berlin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15.11.2020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bl>
          </a:graphicData>
        </a:graphic>
      </p:graphicFrame>
      <p:sp>
        <p:nvSpPr>
          <p:cNvPr id="141" name="Google Shape;141;p6"/>
          <p:cNvSpPr/>
          <p:nvPr/>
        </p:nvSpPr>
        <p:spPr>
          <a:xfrm>
            <a:off x="1364582" y="2719778"/>
            <a:ext cx="1116953" cy="37555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ClientsTbl</a:t>
            </a:r>
            <a:endParaRPr b="0" i="0" sz="1400" u="none" cap="none" strike="noStrike">
              <a:solidFill>
                <a:srgbClr val="000000"/>
              </a:solidFill>
              <a:latin typeface="Arial"/>
              <a:ea typeface="Arial"/>
              <a:cs typeface="Arial"/>
              <a:sym typeface="Arial"/>
            </a:endParaRPr>
          </a:p>
        </p:txBody>
      </p:sp>
      <p:grpSp>
        <p:nvGrpSpPr>
          <p:cNvPr id="142" name="Google Shape;142;p6"/>
          <p:cNvGrpSpPr/>
          <p:nvPr/>
        </p:nvGrpSpPr>
        <p:grpSpPr>
          <a:xfrm>
            <a:off x="1210234" y="957314"/>
            <a:ext cx="9789459" cy="5291086"/>
            <a:chOff x="1210234" y="957314"/>
            <a:chExt cx="9789459" cy="5291086"/>
          </a:xfrm>
        </p:grpSpPr>
        <p:sp>
          <p:nvSpPr>
            <p:cNvPr id="143" name="Google Shape;143;p6"/>
            <p:cNvSpPr/>
            <p:nvPr/>
          </p:nvSpPr>
          <p:spPr>
            <a:xfrm>
              <a:off x="1210234" y="2719778"/>
              <a:ext cx="9789459" cy="3528622"/>
            </a:xfrm>
            <a:prstGeom prst="roundRect">
              <a:avLst>
                <a:gd fmla="val 3456" name="adj"/>
              </a:avLst>
            </a:prstGeom>
            <a:no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6"/>
            <p:cNvSpPr/>
            <p:nvPr/>
          </p:nvSpPr>
          <p:spPr>
            <a:xfrm>
              <a:off x="5011270" y="957314"/>
              <a:ext cx="645458" cy="310891"/>
            </a:xfrm>
            <a:prstGeom prst="roundRect">
              <a:avLst>
                <a:gd fmla="val 16667" name="adj"/>
              </a:avLst>
            </a:prstGeom>
            <a:solidFill>
              <a:srgbClr val="C00000">
                <a:alpha val="20000"/>
              </a:srgbClr>
            </a:solid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45" name="Google Shape;145;p6"/>
          <p:cNvSpPr/>
          <p:nvPr/>
        </p:nvSpPr>
        <p:spPr>
          <a:xfrm>
            <a:off x="11319176" y="1353040"/>
            <a:ext cx="645458" cy="310891"/>
          </a:xfrm>
          <a:prstGeom prst="roundRect">
            <a:avLst>
              <a:gd fmla="val 16667" name="adj"/>
            </a:avLst>
          </a:prstGeom>
          <a:solidFill>
            <a:schemeClr val="accent4">
              <a:alpha val="20000"/>
            </a:schemeClr>
          </a:solidFill>
          <a:ln cap="flat" cmpd="sng" w="571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6"/>
          <p:cNvSpPr/>
          <p:nvPr/>
        </p:nvSpPr>
        <p:spPr>
          <a:xfrm>
            <a:off x="1041852" y="4146303"/>
            <a:ext cx="10083347" cy="506379"/>
          </a:xfrm>
          <a:prstGeom prst="roundRect">
            <a:avLst>
              <a:gd fmla="val 16667" name="adj"/>
            </a:avLst>
          </a:prstGeom>
          <a:noFill/>
          <a:ln cap="flat" cmpd="sng" w="571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47" name="Google Shape;147;p6"/>
          <p:cNvGrpSpPr/>
          <p:nvPr/>
        </p:nvGrpSpPr>
        <p:grpSpPr>
          <a:xfrm>
            <a:off x="4625786" y="1766581"/>
            <a:ext cx="2115671" cy="4580431"/>
            <a:chOff x="4625786" y="1766581"/>
            <a:chExt cx="2115671" cy="4580431"/>
          </a:xfrm>
        </p:grpSpPr>
        <p:sp>
          <p:nvSpPr>
            <p:cNvPr id="148" name="Google Shape;148;p6"/>
            <p:cNvSpPr/>
            <p:nvPr/>
          </p:nvSpPr>
          <p:spPr>
            <a:xfrm>
              <a:off x="6095999" y="1766581"/>
              <a:ext cx="645458" cy="310891"/>
            </a:xfrm>
            <a:prstGeom prst="roundRect">
              <a:avLst>
                <a:gd fmla="val 16667" name="adj"/>
              </a:avLst>
            </a:prstGeom>
            <a:solidFill>
              <a:schemeClr val="accent6">
                <a:alpha val="20000"/>
              </a:schemeClr>
            </a:solidFill>
            <a:ln cap="flat" cmpd="sng" w="5715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 name="Google Shape;149;p6"/>
            <p:cNvSpPr/>
            <p:nvPr/>
          </p:nvSpPr>
          <p:spPr>
            <a:xfrm>
              <a:off x="4625786" y="3002785"/>
              <a:ext cx="1748119" cy="3344227"/>
            </a:xfrm>
            <a:prstGeom prst="roundRect">
              <a:avLst>
                <a:gd fmla="val 8462" name="adj"/>
              </a:avLst>
            </a:prstGeom>
            <a:noFill/>
            <a:ln cap="flat" cmpd="sng" w="5715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p:nvPr/>
        </p:nvSpPr>
        <p:spPr>
          <a:xfrm>
            <a:off x="176565" y="523174"/>
            <a:ext cx="2635145"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Relational database</a:t>
            </a:r>
            <a:endParaRPr b="0" i="0" sz="1400" u="none" cap="none" strike="noStrike">
              <a:solidFill>
                <a:srgbClr val="000000"/>
              </a:solidFill>
              <a:latin typeface="Arial"/>
              <a:ea typeface="Arial"/>
              <a:cs typeface="Arial"/>
              <a:sym typeface="Arial"/>
            </a:endParaRPr>
          </a:p>
        </p:txBody>
      </p:sp>
      <p:sp>
        <p:nvSpPr>
          <p:cNvPr id="156" name="Google Shape;156;p7"/>
          <p:cNvSpPr/>
          <p:nvPr/>
        </p:nvSpPr>
        <p:spPr>
          <a:xfrm>
            <a:off x="176564" y="993174"/>
            <a:ext cx="11498757" cy="77450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A </a:t>
            </a:r>
            <a:r>
              <a:rPr b="1" i="0" lang="en-GB" sz="1800" u="none" cap="none" strike="noStrike">
                <a:solidFill>
                  <a:schemeClr val="dk1"/>
                </a:solidFill>
                <a:latin typeface="Calibri"/>
                <a:ea typeface="Calibri"/>
                <a:cs typeface="Calibri"/>
                <a:sym typeface="Calibri"/>
              </a:rPr>
              <a:t>relational database</a:t>
            </a:r>
            <a:r>
              <a:rPr b="0" i="0" lang="en-GB" sz="1800" u="none" cap="none" strike="noStrike">
                <a:solidFill>
                  <a:schemeClr val="dk1"/>
                </a:solidFill>
                <a:latin typeface="Calibri"/>
                <a:ea typeface="Calibri"/>
                <a:cs typeface="Calibri"/>
                <a:sym typeface="Calibri"/>
              </a:rPr>
              <a:t> consists of multiple related </a:t>
            </a:r>
            <a:r>
              <a:rPr b="1" i="0" lang="en-GB" sz="1800" u="none" cap="none" strike="noStrike">
                <a:solidFill>
                  <a:schemeClr val="dk1"/>
                </a:solidFill>
                <a:latin typeface="Calibri"/>
                <a:ea typeface="Calibri"/>
                <a:cs typeface="Calibri"/>
                <a:sym typeface="Calibri"/>
              </a:rPr>
              <a:t>tables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In this example, changing the lecturer code for a course will update the associated field for all students on that course.</a:t>
            </a:r>
            <a:endParaRPr b="0" i="0" sz="1400" u="none" cap="none" strike="noStrike">
              <a:solidFill>
                <a:srgbClr val="000000"/>
              </a:solidFill>
              <a:latin typeface="Arial"/>
              <a:ea typeface="Arial"/>
              <a:cs typeface="Arial"/>
              <a:sym typeface="Arial"/>
            </a:endParaRPr>
          </a:p>
        </p:txBody>
      </p:sp>
      <p:pic>
        <p:nvPicPr>
          <p:cNvPr descr="A screenshot of a cell phone&#10;&#10;Description automatically generated" id="157" name="Google Shape;157;p7"/>
          <p:cNvPicPr preferRelativeResize="0"/>
          <p:nvPr/>
        </p:nvPicPr>
        <p:blipFill rotWithShape="1">
          <a:blip r:embed="rId3">
            <a:alphaModFix/>
          </a:blip>
          <a:srcRect b="0" l="0" r="0" t="0"/>
          <a:stretch/>
        </p:blipFill>
        <p:spPr>
          <a:xfrm>
            <a:off x="85125" y="2038619"/>
            <a:ext cx="4829849" cy="3096057"/>
          </a:xfrm>
          <a:prstGeom prst="rect">
            <a:avLst/>
          </a:prstGeom>
          <a:noFill/>
          <a:ln cap="flat" cmpd="sng" w="19050">
            <a:solidFill>
              <a:schemeClr val="dk1"/>
            </a:solidFill>
            <a:prstDash val="solid"/>
            <a:round/>
            <a:headEnd len="sm" w="sm" type="none"/>
            <a:tailEnd len="sm" w="sm" type="none"/>
          </a:ln>
        </p:spPr>
      </p:pic>
      <p:pic>
        <p:nvPicPr>
          <p:cNvPr descr="A screenshot of a cell phone&#10;&#10;Description automatically generated" id="158" name="Google Shape;158;p7"/>
          <p:cNvPicPr preferRelativeResize="0"/>
          <p:nvPr/>
        </p:nvPicPr>
        <p:blipFill rotWithShape="1">
          <a:blip r:embed="rId4">
            <a:alphaModFix/>
          </a:blip>
          <a:srcRect b="0" l="0" r="0" t="0"/>
          <a:stretch/>
        </p:blipFill>
        <p:spPr>
          <a:xfrm>
            <a:off x="5157656" y="1943355"/>
            <a:ext cx="3848637" cy="3286584"/>
          </a:xfrm>
          <a:prstGeom prst="rect">
            <a:avLst/>
          </a:prstGeom>
          <a:noFill/>
          <a:ln cap="flat" cmpd="sng" w="19050">
            <a:solidFill>
              <a:schemeClr val="dk1"/>
            </a:solidFill>
            <a:prstDash val="solid"/>
            <a:round/>
            <a:headEnd len="sm" w="sm" type="none"/>
            <a:tailEnd len="sm" w="sm" type="none"/>
          </a:ln>
        </p:spPr>
      </p:pic>
      <p:pic>
        <p:nvPicPr>
          <p:cNvPr descr="A screenshot of a cell phone&#10;&#10;Description automatically generated" id="159" name="Google Shape;159;p7"/>
          <p:cNvPicPr preferRelativeResize="0"/>
          <p:nvPr/>
        </p:nvPicPr>
        <p:blipFill rotWithShape="1">
          <a:blip r:embed="rId5">
            <a:alphaModFix/>
          </a:blip>
          <a:srcRect b="0" l="0" r="0" t="0"/>
          <a:stretch/>
        </p:blipFill>
        <p:spPr>
          <a:xfrm>
            <a:off x="9248976" y="1957644"/>
            <a:ext cx="2857899" cy="3258005"/>
          </a:xfrm>
          <a:prstGeom prst="rect">
            <a:avLst/>
          </a:prstGeom>
          <a:noFill/>
          <a:ln cap="flat" cmpd="sng" w="19050">
            <a:solidFill>
              <a:schemeClr val="dk1"/>
            </a:solidFill>
            <a:prstDash val="solid"/>
            <a:round/>
            <a:headEnd len="sm" w="sm" type="none"/>
            <a:tailEnd len="sm" w="sm" type="none"/>
          </a:ln>
        </p:spPr>
      </p:pic>
      <p:sp>
        <p:nvSpPr>
          <p:cNvPr id="160" name="Google Shape;160;p7"/>
          <p:cNvSpPr/>
          <p:nvPr/>
        </p:nvSpPr>
        <p:spPr>
          <a:xfrm>
            <a:off x="176565" y="2617470"/>
            <a:ext cx="4738408" cy="21717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7"/>
          <p:cNvSpPr/>
          <p:nvPr/>
        </p:nvSpPr>
        <p:spPr>
          <a:xfrm>
            <a:off x="5330348" y="2929890"/>
            <a:ext cx="367594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7"/>
          <p:cNvSpPr/>
          <p:nvPr/>
        </p:nvSpPr>
        <p:spPr>
          <a:xfrm>
            <a:off x="5330347" y="3688080"/>
            <a:ext cx="367594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p7"/>
          <p:cNvSpPr/>
          <p:nvPr/>
        </p:nvSpPr>
        <p:spPr>
          <a:xfrm>
            <a:off x="5330346" y="4620861"/>
            <a:ext cx="367594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7"/>
          <p:cNvSpPr/>
          <p:nvPr/>
        </p:nvSpPr>
        <p:spPr>
          <a:xfrm>
            <a:off x="9431655" y="2929890"/>
            <a:ext cx="266569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5" name="Google Shape;165;p7"/>
          <p:cNvSpPr/>
          <p:nvPr/>
        </p:nvSpPr>
        <p:spPr>
          <a:xfrm>
            <a:off x="9428479" y="4639911"/>
            <a:ext cx="266569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7"/>
          <p:cNvSpPr/>
          <p:nvPr/>
        </p:nvSpPr>
        <p:spPr>
          <a:xfrm>
            <a:off x="9429749" y="3879967"/>
            <a:ext cx="2665695" cy="201930"/>
          </a:xfrm>
          <a:prstGeom prst="rect">
            <a:avLst/>
          </a:prstGeom>
          <a:solidFill>
            <a:schemeClr val="accent2">
              <a:alpha val="4901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67" name="Google Shape;167;p7"/>
          <p:cNvCxnSpPr/>
          <p:nvPr/>
        </p:nvCxnSpPr>
        <p:spPr>
          <a:xfrm>
            <a:off x="4914973" y="2724150"/>
            <a:ext cx="128515" cy="0"/>
          </a:xfrm>
          <a:prstGeom prst="straightConnector1">
            <a:avLst/>
          </a:prstGeom>
          <a:noFill/>
          <a:ln cap="flat" cmpd="sng" w="38100">
            <a:solidFill>
              <a:srgbClr val="C00000"/>
            </a:solidFill>
            <a:prstDash val="solid"/>
            <a:miter lim="800000"/>
            <a:headEnd len="sm" w="sm" type="none"/>
            <a:tailEnd len="sm" w="sm" type="none"/>
          </a:ln>
        </p:spPr>
      </p:cxnSp>
      <p:cxnSp>
        <p:nvCxnSpPr>
          <p:cNvPr id="168" name="Google Shape;168;p7"/>
          <p:cNvCxnSpPr/>
          <p:nvPr/>
        </p:nvCxnSpPr>
        <p:spPr>
          <a:xfrm rot="10800000">
            <a:off x="5038726" y="2705098"/>
            <a:ext cx="0" cy="2043115"/>
          </a:xfrm>
          <a:prstGeom prst="straightConnector1">
            <a:avLst/>
          </a:prstGeom>
          <a:noFill/>
          <a:ln cap="flat" cmpd="sng" w="38100">
            <a:solidFill>
              <a:srgbClr val="C00000"/>
            </a:solidFill>
            <a:prstDash val="solid"/>
            <a:miter lim="800000"/>
            <a:headEnd len="sm" w="sm" type="none"/>
            <a:tailEnd len="sm" w="sm" type="none"/>
          </a:ln>
        </p:spPr>
      </p:cxnSp>
      <p:cxnSp>
        <p:nvCxnSpPr>
          <p:cNvPr id="169" name="Google Shape;169;p7"/>
          <p:cNvCxnSpPr/>
          <p:nvPr/>
        </p:nvCxnSpPr>
        <p:spPr>
          <a:xfrm>
            <a:off x="5038726" y="3014663"/>
            <a:ext cx="291620" cy="0"/>
          </a:xfrm>
          <a:prstGeom prst="straightConnector1">
            <a:avLst/>
          </a:prstGeom>
          <a:noFill/>
          <a:ln cap="flat" cmpd="sng" w="38100">
            <a:solidFill>
              <a:srgbClr val="C00000"/>
            </a:solidFill>
            <a:prstDash val="solid"/>
            <a:miter lim="800000"/>
            <a:headEnd len="sm" w="sm" type="none"/>
            <a:tailEnd len="sm" w="sm" type="none"/>
          </a:ln>
        </p:spPr>
      </p:cxnSp>
      <p:cxnSp>
        <p:nvCxnSpPr>
          <p:cNvPr id="170" name="Google Shape;170;p7"/>
          <p:cNvCxnSpPr/>
          <p:nvPr/>
        </p:nvCxnSpPr>
        <p:spPr>
          <a:xfrm>
            <a:off x="5038726" y="3776663"/>
            <a:ext cx="291620" cy="0"/>
          </a:xfrm>
          <a:prstGeom prst="straightConnector1">
            <a:avLst/>
          </a:prstGeom>
          <a:noFill/>
          <a:ln cap="flat" cmpd="sng" w="38100">
            <a:solidFill>
              <a:srgbClr val="C00000"/>
            </a:solidFill>
            <a:prstDash val="solid"/>
            <a:miter lim="800000"/>
            <a:headEnd len="sm" w="sm" type="none"/>
            <a:tailEnd len="sm" w="sm" type="none"/>
          </a:ln>
        </p:spPr>
      </p:cxnSp>
      <p:cxnSp>
        <p:nvCxnSpPr>
          <p:cNvPr id="171" name="Google Shape;171;p7"/>
          <p:cNvCxnSpPr/>
          <p:nvPr/>
        </p:nvCxnSpPr>
        <p:spPr>
          <a:xfrm>
            <a:off x="5038726" y="4733924"/>
            <a:ext cx="291620" cy="0"/>
          </a:xfrm>
          <a:prstGeom prst="straightConnector1">
            <a:avLst/>
          </a:prstGeom>
          <a:noFill/>
          <a:ln cap="flat" cmpd="sng" w="38100">
            <a:solidFill>
              <a:srgbClr val="C00000"/>
            </a:solidFill>
            <a:prstDash val="solid"/>
            <a:miter lim="800000"/>
            <a:headEnd len="sm" w="sm" type="none"/>
            <a:tailEnd len="sm" w="sm" type="none"/>
          </a:ln>
        </p:spPr>
      </p:cxnSp>
      <p:cxnSp>
        <p:nvCxnSpPr>
          <p:cNvPr id="172" name="Google Shape;172;p7"/>
          <p:cNvCxnSpPr/>
          <p:nvPr/>
        </p:nvCxnSpPr>
        <p:spPr>
          <a:xfrm>
            <a:off x="9022166" y="3033713"/>
            <a:ext cx="423458" cy="0"/>
          </a:xfrm>
          <a:prstGeom prst="straightConnector1">
            <a:avLst/>
          </a:prstGeom>
          <a:noFill/>
          <a:ln cap="flat" cmpd="sng" w="38100">
            <a:solidFill>
              <a:srgbClr val="C00000"/>
            </a:solidFill>
            <a:prstDash val="solid"/>
            <a:miter lim="800000"/>
            <a:headEnd len="sm" w="sm" type="none"/>
            <a:tailEnd len="sm" w="sm" type="none"/>
          </a:ln>
        </p:spPr>
      </p:cxnSp>
      <p:cxnSp>
        <p:nvCxnSpPr>
          <p:cNvPr id="173" name="Google Shape;173;p7"/>
          <p:cNvCxnSpPr/>
          <p:nvPr/>
        </p:nvCxnSpPr>
        <p:spPr>
          <a:xfrm>
            <a:off x="9023423" y="3786189"/>
            <a:ext cx="277739" cy="0"/>
          </a:xfrm>
          <a:prstGeom prst="straightConnector1">
            <a:avLst/>
          </a:prstGeom>
          <a:noFill/>
          <a:ln cap="flat" cmpd="sng" w="38100">
            <a:solidFill>
              <a:srgbClr val="C00000"/>
            </a:solidFill>
            <a:prstDash val="solid"/>
            <a:miter lim="800000"/>
            <a:headEnd len="sm" w="sm" type="none"/>
            <a:tailEnd len="sm" w="sm" type="none"/>
          </a:ln>
        </p:spPr>
      </p:cxnSp>
      <p:cxnSp>
        <p:nvCxnSpPr>
          <p:cNvPr id="174" name="Google Shape;174;p7"/>
          <p:cNvCxnSpPr/>
          <p:nvPr/>
        </p:nvCxnSpPr>
        <p:spPr>
          <a:xfrm rot="10800000">
            <a:off x="9301162" y="3769326"/>
            <a:ext cx="0" cy="971550"/>
          </a:xfrm>
          <a:prstGeom prst="straightConnector1">
            <a:avLst/>
          </a:prstGeom>
          <a:noFill/>
          <a:ln cap="flat" cmpd="sng" w="38100">
            <a:solidFill>
              <a:srgbClr val="C00000"/>
            </a:solidFill>
            <a:prstDash val="solid"/>
            <a:miter lim="800000"/>
            <a:headEnd len="sm" w="sm" type="none"/>
            <a:tailEnd len="sm" w="sm" type="none"/>
          </a:ln>
        </p:spPr>
      </p:cxnSp>
      <p:cxnSp>
        <p:nvCxnSpPr>
          <p:cNvPr id="175" name="Google Shape;175;p7"/>
          <p:cNvCxnSpPr/>
          <p:nvPr/>
        </p:nvCxnSpPr>
        <p:spPr>
          <a:xfrm>
            <a:off x="9280525" y="4737701"/>
            <a:ext cx="177799" cy="0"/>
          </a:xfrm>
          <a:prstGeom prst="straightConnector1">
            <a:avLst/>
          </a:prstGeom>
          <a:noFill/>
          <a:ln cap="flat" cmpd="sng" w="38100">
            <a:solidFill>
              <a:srgbClr val="C00000"/>
            </a:solidFill>
            <a:prstDash val="solid"/>
            <a:miter lim="800000"/>
            <a:headEnd len="sm" w="sm" type="none"/>
            <a:tailEnd len="sm" w="sm" type="none"/>
          </a:ln>
        </p:spPr>
      </p:cxnSp>
      <p:cxnSp>
        <p:nvCxnSpPr>
          <p:cNvPr id="176" name="Google Shape;176;p7"/>
          <p:cNvCxnSpPr/>
          <p:nvPr/>
        </p:nvCxnSpPr>
        <p:spPr>
          <a:xfrm>
            <a:off x="9124950" y="3980932"/>
            <a:ext cx="333374" cy="0"/>
          </a:xfrm>
          <a:prstGeom prst="straightConnector1">
            <a:avLst/>
          </a:prstGeom>
          <a:noFill/>
          <a:ln cap="flat" cmpd="sng" w="38100">
            <a:solidFill>
              <a:srgbClr val="C00000"/>
            </a:solidFill>
            <a:prstDash val="solid"/>
            <a:miter lim="800000"/>
            <a:headEnd len="sm" w="sm" type="none"/>
            <a:tailEnd len="sm" w="sm" type="none"/>
          </a:ln>
        </p:spPr>
      </p:cxnSp>
      <p:cxnSp>
        <p:nvCxnSpPr>
          <p:cNvPr id="177" name="Google Shape;177;p7"/>
          <p:cNvCxnSpPr/>
          <p:nvPr/>
        </p:nvCxnSpPr>
        <p:spPr>
          <a:xfrm rot="10800000">
            <a:off x="9142412" y="3971407"/>
            <a:ext cx="0" cy="750419"/>
          </a:xfrm>
          <a:prstGeom prst="straightConnector1">
            <a:avLst/>
          </a:prstGeom>
          <a:noFill/>
          <a:ln cap="flat" cmpd="sng" w="38100">
            <a:solidFill>
              <a:srgbClr val="C00000"/>
            </a:solidFill>
            <a:prstDash val="solid"/>
            <a:miter lim="800000"/>
            <a:headEnd len="sm" w="sm" type="none"/>
            <a:tailEnd len="sm" w="sm" type="none"/>
          </a:ln>
        </p:spPr>
      </p:cxnSp>
      <p:cxnSp>
        <p:nvCxnSpPr>
          <p:cNvPr id="178" name="Google Shape;178;p7"/>
          <p:cNvCxnSpPr/>
          <p:nvPr/>
        </p:nvCxnSpPr>
        <p:spPr>
          <a:xfrm>
            <a:off x="9022166" y="4728176"/>
            <a:ext cx="136951" cy="0"/>
          </a:xfrm>
          <a:prstGeom prst="straightConnector1">
            <a:avLst/>
          </a:prstGeom>
          <a:noFill/>
          <a:ln cap="flat" cmpd="sng" w="38100">
            <a:solidFill>
              <a:srgbClr val="C00000"/>
            </a:solidFill>
            <a:prstDash val="solid"/>
            <a:miter lim="800000"/>
            <a:headEnd len="sm" w="sm" type="none"/>
            <a:tailEnd len="sm" w="sm" type="none"/>
          </a:ln>
        </p:spPr>
      </p:cxnSp>
      <p:sp>
        <p:nvSpPr>
          <p:cNvPr id="179" name="Google Shape;179;p7"/>
          <p:cNvSpPr/>
          <p:nvPr/>
        </p:nvSpPr>
        <p:spPr>
          <a:xfrm>
            <a:off x="188710" y="5396628"/>
            <a:ext cx="11653666" cy="1255066"/>
          </a:xfrm>
          <a:prstGeom prst="roundRect">
            <a:avLst>
              <a:gd fmla="val 46766" name="adj"/>
            </a:avLst>
          </a:prstGeom>
          <a:solidFill>
            <a:srgbClr val="FBE4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nformation with solid fill" id="180" name="Google Shape;180;p7"/>
          <p:cNvPicPr preferRelativeResize="0"/>
          <p:nvPr/>
        </p:nvPicPr>
        <p:blipFill rotWithShape="1">
          <a:blip r:embed="rId6">
            <a:alphaModFix/>
          </a:blip>
          <a:srcRect b="0" l="0" r="0" t="0"/>
          <a:stretch/>
        </p:blipFill>
        <p:spPr>
          <a:xfrm>
            <a:off x="0" y="5229939"/>
            <a:ext cx="1591452" cy="1591452"/>
          </a:xfrm>
          <a:prstGeom prst="rect">
            <a:avLst/>
          </a:prstGeom>
          <a:noFill/>
          <a:ln>
            <a:noFill/>
          </a:ln>
        </p:spPr>
      </p:pic>
      <p:sp>
        <p:nvSpPr>
          <p:cNvPr id="181" name="Google Shape;181;p7"/>
          <p:cNvSpPr txBox="1"/>
          <p:nvPr/>
        </p:nvSpPr>
        <p:spPr>
          <a:xfrm>
            <a:off x="1591452" y="5577985"/>
            <a:ext cx="9892336" cy="968278"/>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How separate database tables are linked together to create a relational database is beyond the scope of the IGCSE course. We have included it here for awareness, as it is something you are likely to come across should you continue to study computer science.</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p:nvPr/>
        </p:nvSpPr>
        <p:spPr>
          <a:xfrm>
            <a:off x="176565" y="994805"/>
            <a:ext cx="1149619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in a database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has a defined </a:t>
            </a:r>
            <a:r>
              <a:rPr b="1" i="0" lang="en-GB" sz="1800" u="none" cap="none" strike="noStrike">
                <a:solidFill>
                  <a:schemeClr val="dk1"/>
                </a:solidFill>
                <a:latin typeface="Calibri"/>
                <a:ea typeface="Calibri"/>
                <a:cs typeface="Calibri"/>
                <a:sym typeface="Calibri"/>
              </a:rPr>
              <a:t>field type</a:t>
            </a:r>
            <a:r>
              <a:rPr b="0" i="0" lang="en-GB" sz="1800" u="none" cap="none" strike="noStrike">
                <a:solidFill>
                  <a:schemeClr val="dk1"/>
                </a:solidFill>
                <a:latin typeface="Calibri"/>
                <a:ea typeface="Calibri"/>
                <a:cs typeface="Calibri"/>
                <a:sym typeface="Calibri"/>
              </a:rPr>
              <a:t> – these include:</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Text/alphanumeric</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Character</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Boolean</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Integer</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Real</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Date/time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187" name="Google Shape;187;p8"/>
          <p:cNvGraphicFramePr/>
          <p:nvPr/>
        </p:nvGraphicFramePr>
        <p:xfrm>
          <a:off x="1374587" y="3361220"/>
          <a:ext cx="3000000" cy="3000000"/>
        </p:xfrm>
        <a:graphic>
          <a:graphicData uri="http://schemas.openxmlformats.org/drawingml/2006/table">
            <a:tbl>
              <a:tblPr bandRow="1" firstRow="1">
                <a:noFill/>
                <a:tableStyleId>{2886F030-A66C-4301-9E9D-3B9C51F99CD7}</a:tableStyleId>
              </a:tblPr>
              <a:tblGrid>
                <a:gridCol w="728050"/>
                <a:gridCol w="2624500"/>
                <a:gridCol w="1664700"/>
                <a:gridCol w="1664450"/>
                <a:gridCol w="1855700"/>
                <a:gridCol w="905425"/>
              </a:tblGrid>
              <a:tr h="37085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solidFill>
                            <a:schemeClr val="dk1"/>
                          </a:solidFill>
                        </a:rPr>
                        <a:t>Integer</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solidFill>
                            <a:schemeClr val="dk1"/>
                          </a:solidFill>
                        </a:rPr>
                        <a:t>Text/alphanumeric</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Calibri"/>
                        <a:buNone/>
                      </a:pPr>
                      <a:r>
                        <a:rPr lang="en-GB" sz="1400" u="none" cap="none" strike="noStrike">
                          <a:solidFill>
                            <a:schemeClr val="dk1"/>
                          </a:solidFill>
                        </a:rPr>
                        <a:t>Text/alphanumeric</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Calibri"/>
                        <a:buNone/>
                      </a:pPr>
                      <a:r>
                        <a:rPr lang="en-GB" sz="1400" u="none" cap="none" strike="noStrike">
                          <a:solidFill>
                            <a:schemeClr val="dk1"/>
                          </a:solidFill>
                        </a:rPr>
                        <a:t>Text/alphanumeric</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solidFill>
                            <a:schemeClr val="dk1"/>
                          </a:solidFill>
                        </a:rPr>
                        <a:t>Date/time</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solidFill>
                            <a:schemeClr val="dk1"/>
                          </a:solidFill>
                        </a:rPr>
                        <a:t>Character</a:t>
                      </a:r>
                      <a:endParaRPr sz="1400" u="none" cap="none" strike="noStrike"/>
                    </a:p>
                  </a:txBody>
                  <a:tcPr marT="45725" marB="45725" marR="91450" marL="91450" anchor="ctr">
                    <a:lnL cap="flat" cmpd="sng" w="38100">
                      <a:solidFill>
                        <a:srgbClr val="C00000"/>
                      </a:solidFill>
                      <a:prstDash val="solid"/>
                      <a:round/>
                      <a:headEnd len="sm" w="sm" type="none"/>
                      <a:tailEnd len="sm" w="sm" type="none"/>
                    </a:lnL>
                    <a:lnR cap="flat" cmpd="sng" w="38100">
                      <a:solidFill>
                        <a:srgbClr val="C00000"/>
                      </a:solidFill>
                      <a:prstDash val="solid"/>
                      <a:round/>
                      <a:headEnd len="sm" w="sm" type="none"/>
                      <a:tailEnd len="sm" w="sm" type="none"/>
                    </a:lnR>
                    <a:lnT cap="flat" cmpd="sng" w="38100">
                      <a:solidFill>
                        <a:srgbClr val="C00000"/>
                      </a:solidFill>
                      <a:prstDash val="solid"/>
                      <a:round/>
                      <a:headEnd len="sm" w="sm" type="none"/>
                      <a:tailEnd len="sm" w="sm" type="none"/>
                    </a:lnT>
                    <a:lnB cap="flat" cmpd="sng" w="38100">
                      <a:solidFill>
                        <a:srgbClr val="C00000"/>
                      </a:solidFill>
                      <a:prstDash val="solid"/>
                      <a:round/>
                      <a:headEnd len="sm" w="sm" type="none"/>
                      <a:tailEnd len="sm" w="sm" type="none"/>
                    </a:lnB>
                  </a:tcPr>
                </a:tc>
              </a:tr>
              <a:tr h="177800">
                <a:tc gridSpan="6">
                  <a:txBody>
                    <a:bodyPr/>
                    <a:lstStyle/>
                    <a:p>
                      <a:pPr indent="0" lvl="0" marL="0" marR="0" rtl="0" algn="l">
                        <a:lnSpc>
                          <a:spcPct val="100000"/>
                        </a:lnSpc>
                        <a:spcBef>
                          <a:spcPts val="0"/>
                        </a:spcBef>
                        <a:spcAft>
                          <a:spcPts val="0"/>
                        </a:spcAft>
                        <a:buClr>
                          <a:srgbClr val="000000"/>
                        </a:buClr>
                        <a:buSzPts val="100"/>
                        <a:buFont typeface="Arial"/>
                        <a:buNone/>
                      </a:pPr>
                      <a:r>
                        <a:t/>
                      </a:r>
                      <a:endParaRPr sz="100" u="none" cap="none" strike="noStrike"/>
                    </a:p>
                  </a:txBody>
                  <a:tcPr marT="45725" marB="45725" marR="91450" marL="91450">
                    <a:lnT cap="flat" cmpd="sng" w="38100">
                      <a:solidFill>
                        <a:srgbClr val="C00000"/>
                      </a:solidFill>
                      <a:prstDash val="solid"/>
                      <a:round/>
                      <a:headEnd len="sm" w="sm" type="none"/>
                      <a:tailEnd len="sm" w="sm" type="none"/>
                    </a:lnT>
                    <a:solidFill>
                      <a:schemeClr val="lt1"/>
                    </a:solidFill>
                  </a:tcPr>
                </a:tc>
                <a:tc hMerge="1"/>
                <a:tc hMerge="1"/>
                <a:tc hMerge="1"/>
                <a:tc hMerge="1"/>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ID</a:t>
                      </a:r>
                      <a:endParaRPr sz="1400" u="none" cap="none" strike="noStrike"/>
                    </a:p>
                  </a:txBody>
                  <a:tcPr marT="45725" marB="45725" marR="91450" marL="91450">
                    <a:solidFill>
                      <a:schemeClr val="accent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Customer</a:t>
                      </a:r>
                      <a:endParaRPr sz="1400" u="none" cap="none" strike="noStrike"/>
                    </a:p>
                  </a:txBody>
                  <a:tcPr marT="45725" marB="45725" marR="91450" marL="91450">
                    <a:solidFill>
                      <a:schemeClr val="accent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Country</a:t>
                      </a:r>
                      <a:endParaRPr sz="1400" u="none" cap="none" strike="noStrike"/>
                    </a:p>
                  </a:txBody>
                  <a:tcPr marT="45725" marB="45725" marR="91450" marL="91450">
                    <a:solidFill>
                      <a:schemeClr val="accent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City</a:t>
                      </a:r>
                      <a:endParaRPr sz="1400" u="none" cap="none" strike="noStrike"/>
                    </a:p>
                  </a:txBody>
                  <a:tcPr marT="45725" marB="45725" marR="91450" marL="91450">
                    <a:solidFill>
                      <a:schemeClr val="accent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Date</a:t>
                      </a:r>
                      <a:endParaRPr sz="1400" u="none" cap="none" strike="noStrike"/>
                    </a:p>
                  </a:txBody>
                  <a:tcPr marT="45725" marB="45725" marR="91450" marL="91450">
                    <a:solidFill>
                      <a:schemeClr val="accent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solidFill>
                            <a:schemeClr val="lt1"/>
                          </a:solidFill>
                        </a:rPr>
                        <a:t>Renew</a:t>
                      </a:r>
                      <a:endParaRPr sz="1400" u="none" cap="none" strike="noStrike"/>
                    </a:p>
                  </a:txBody>
                  <a:tcPr marT="45725" marB="45725" marR="91450" marL="91450">
                    <a:solidFill>
                      <a:schemeClr val="accent2"/>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Dongford International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13.09.2018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Stateford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France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Paris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14.11.2000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Standard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San Francisco</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21.03.2007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Nardis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30.05.2012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Together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01.04.1998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bl>
          </a:graphicData>
        </a:graphic>
      </p:graphicFrame>
      <p:sp>
        <p:nvSpPr>
          <p:cNvPr id="188" name="Google Shape;188;p8"/>
          <p:cNvSpPr/>
          <p:nvPr/>
        </p:nvSpPr>
        <p:spPr>
          <a:xfrm>
            <a:off x="176565" y="523174"/>
            <a:ext cx="1468415"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Databases</a:t>
            </a:r>
            <a:endParaRPr b="0" i="0" sz="1200" u="none" cap="none" strike="noStrike">
              <a:solidFill>
                <a:srgbClr val="0087B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p:nvPr/>
        </p:nvSpPr>
        <p:spPr>
          <a:xfrm>
            <a:off x="176565" y="993174"/>
            <a:ext cx="11755425" cy="10259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With a </a:t>
            </a:r>
            <a:r>
              <a:rPr b="1" i="0" lang="en-GB" sz="1800" u="none" cap="none" strike="noStrike">
                <a:solidFill>
                  <a:schemeClr val="dk1"/>
                </a:solidFill>
                <a:latin typeface="Calibri"/>
                <a:ea typeface="Calibri"/>
                <a:cs typeface="Calibri"/>
                <a:sym typeface="Calibri"/>
              </a:rPr>
              <a:t>database</a:t>
            </a:r>
            <a:r>
              <a:rPr b="0" i="0" lang="en-GB" sz="1800" u="none" cap="none" strike="noStrike">
                <a:solidFill>
                  <a:schemeClr val="dk1"/>
                </a:solidFill>
                <a:latin typeface="Calibri"/>
                <a:ea typeface="Calibri"/>
                <a:cs typeface="Calibri"/>
                <a:sym typeface="Calibri"/>
              </a:rPr>
              <a:t>, we should make sure each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within a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is uniquely identifiable.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Consequently, at least one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in each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should be guaranteed to be unique – this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is known as the </a:t>
            </a:r>
            <a:r>
              <a:rPr b="1" i="0" lang="en-GB" sz="1800" u="none" cap="none" strike="noStrike">
                <a:solidFill>
                  <a:schemeClr val="dk1"/>
                </a:solidFill>
                <a:latin typeface="Calibri"/>
                <a:ea typeface="Calibri"/>
                <a:cs typeface="Calibri"/>
                <a:sym typeface="Calibri"/>
              </a:rPr>
              <a:t>primary</a:t>
            </a:r>
            <a:r>
              <a:rPr b="0" i="0" lang="en-GB" sz="1800" u="none" cap="none" strike="noStrike">
                <a:solidFill>
                  <a:schemeClr val="dk1"/>
                </a:solidFill>
                <a:latin typeface="Calibri"/>
                <a:ea typeface="Calibri"/>
                <a:cs typeface="Calibri"/>
                <a:sym typeface="Calibri"/>
              </a:rPr>
              <a:t> </a:t>
            </a:r>
            <a:r>
              <a:rPr b="1" i="0" lang="en-GB" sz="1800" u="none" cap="none" strike="noStrike">
                <a:solidFill>
                  <a:schemeClr val="dk1"/>
                </a:solidFill>
                <a:latin typeface="Calibri"/>
                <a:ea typeface="Calibri"/>
                <a:cs typeface="Calibri"/>
                <a:sym typeface="Calibri"/>
              </a:rPr>
              <a:t>key</a:t>
            </a:r>
            <a:r>
              <a:rPr b="0" i="0" lang="en-GB" sz="1800" u="none" cap="none" strike="noStrike">
                <a:solidFill>
                  <a:schemeClr val="dk1"/>
                </a:solidFill>
                <a:latin typeface="Calibri"/>
                <a:ea typeface="Calibri"/>
                <a:cs typeface="Calibri"/>
                <a:sym typeface="Calibri"/>
              </a:rPr>
              <a:t>.</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194" name="Google Shape;194;p9"/>
          <p:cNvGraphicFramePr/>
          <p:nvPr/>
        </p:nvGraphicFramePr>
        <p:xfrm>
          <a:off x="1374587" y="3095330"/>
          <a:ext cx="3000000" cy="3000000"/>
        </p:xfrm>
        <a:graphic>
          <a:graphicData uri="http://schemas.openxmlformats.org/drawingml/2006/table">
            <a:tbl>
              <a:tblPr bandRow="1" firstRow="1">
                <a:noFill/>
                <a:tableStyleId>{2886F030-A66C-4301-9E9D-3B9C51F99CD7}</a:tableStyleId>
              </a:tblPr>
              <a:tblGrid>
                <a:gridCol w="728050"/>
                <a:gridCol w="2624500"/>
                <a:gridCol w="1518275"/>
                <a:gridCol w="1810875"/>
                <a:gridCol w="1855700"/>
                <a:gridCol w="9054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ID</a:t>
                      </a:r>
                      <a:endParaRPr sz="1400" u="none" cap="none" strike="noStrike"/>
                    </a:p>
                  </a:txBody>
                  <a:tcPr marT="45725" marB="45725" marR="91450" marL="91450">
                    <a:solidFill>
                      <a:srgbClr val="BF9000"/>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Customer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Country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City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Date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Renew</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a:t>
                      </a:r>
                      <a:endParaRPr sz="1400" u="none" cap="none" strike="noStrike"/>
                    </a:p>
                  </a:txBody>
                  <a:tcPr marT="45725" marB="45725" marR="91450" marL="91450">
                    <a:solidFill>
                      <a:schemeClr val="accent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Dongford International</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13.09.2018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a:t>
                      </a:r>
                      <a:endParaRPr sz="1400" u="none" cap="none" strike="noStrike"/>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Stateford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France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Paris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14.11.2000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a:t>
                      </a:r>
                      <a:endParaRPr sz="1400" u="none" cap="none" strike="noStrike"/>
                    </a:p>
                  </a:txBody>
                  <a:tcPr marT="45725" marB="45725" marR="91450" marL="91450">
                    <a:solidFill>
                      <a:schemeClr val="accent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Standard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San Francisco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21.03.2007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4</a:t>
                      </a:r>
                      <a:endParaRPr sz="1400" u="none" cap="none" strike="noStrike"/>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Nardis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30.05.2012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5</a:t>
                      </a:r>
                      <a:endParaRPr sz="1400" u="none" cap="none" strike="noStrike"/>
                    </a:p>
                  </a:txBody>
                  <a:tcPr marT="45725" marB="45725" marR="91450" marL="91450">
                    <a:solidFill>
                      <a:schemeClr val="accent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Together Ltd.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USA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New York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01.04.1998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6</a:t>
                      </a:r>
                      <a:endParaRPr sz="1400" u="none" cap="none" strike="noStrike"/>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Nori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Japan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Tokyo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07.07.2005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7</a:t>
                      </a:r>
                      <a:endParaRPr sz="1400" u="none" cap="none" strike="noStrike"/>
                    </a:p>
                  </a:txBody>
                  <a:tcPr marT="45725" marB="45725" marR="91450" marL="91450">
                    <a:solidFill>
                      <a:schemeClr val="accent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Intersec Co.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Germany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Berlin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15.11.2020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t>Y</a:t>
                      </a:r>
                      <a:endParaRPr sz="1400" u="none" cap="none" strike="noStrike"/>
                    </a:p>
                  </a:txBody>
                  <a:tcPr marT="45725" marB="45725" marR="91450" marL="91450"/>
                </a:tc>
              </a:tr>
            </a:tbl>
          </a:graphicData>
        </a:graphic>
      </p:graphicFrame>
      <p:pic>
        <p:nvPicPr>
          <p:cNvPr descr="Key with solid fill" id="195" name="Google Shape;195;p9"/>
          <p:cNvPicPr preferRelativeResize="0"/>
          <p:nvPr/>
        </p:nvPicPr>
        <p:blipFill rotWithShape="1">
          <a:blip r:embed="rId3">
            <a:alphaModFix/>
          </a:blip>
          <a:srcRect b="0" l="0" r="0" t="0"/>
          <a:stretch/>
        </p:blipFill>
        <p:spPr>
          <a:xfrm>
            <a:off x="1264024" y="2331609"/>
            <a:ext cx="914400" cy="914400"/>
          </a:xfrm>
          <a:prstGeom prst="rect">
            <a:avLst/>
          </a:prstGeom>
          <a:noFill/>
          <a:ln>
            <a:noFill/>
          </a:ln>
        </p:spPr>
      </p:pic>
      <p:sp>
        <p:nvSpPr>
          <p:cNvPr id="196" name="Google Shape;196;p9"/>
          <p:cNvSpPr/>
          <p:nvPr/>
        </p:nvSpPr>
        <p:spPr>
          <a:xfrm>
            <a:off x="176565" y="523174"/>
            <a:ext cx="1769587"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Primary keys</a:t>
            </a:r>
            <a:endParaRPr b="0" i="0" sz="1200" u="none" cap="none" strike="noStrike">
              <a:solidFill>
                <a:srgbClr val="0087B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p:nvPr/>
        </p:nvSpPr>
        <p:spPr>
          <a:xfrm>
            <a:off x="175104" y="993174"/>
            <a:ext cx="11496196" cy="10259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While designing a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you might discover one of the </a:t>
            </a:r>
            <a:r>
              <a:rPr b="1" i="0" lang="en-GB" sz="1800" u="none" cap="none" strike="noStrike">
                <a:solidFill>
                  <a:schemeClr val="dk1"/>
                </a:solidFill>
                <a:latin typeface="Calibri"/>
                <a:ea typeface="Calibri"/>
                <a:cs typeface="Calibri"/>
                <a:sym typeface="Calibri"/>
              </a:rPr>
              <a:t>fields</a:t>
            </a:r>
            <a:r>
              <a:rPr b="0" i="0" lang="en-GB" sz="1800" u="none" cap="none" strike="noStrike">
                <a:solidFill>
                  <a:schemeClr val="dk1"/>
                </a:solidFill>
                <a:latin typeface="Calibri"/>
                <a:ea typeface="Calibri"/>
                <a:cs typeface="Calibri"/>
                <a:sym typeface="Calibri"/>
              </a:rPr>
              <a:t> can act as a </a:t>
            </a:r>
            <a:r>
              <a:rPr b="1" i="0" lang="en-GB" sz="1800" u="none" cap="none" strike="noStrike">
                <a:solidFill>
                  <a:schemeClr val="dk1"/>
                </a:solidFill>
                <a:latin typeface="Calibri"/>
                <a:ea typeface="Calibri"/>
                <a:cs typeface="Calibri"/>
                <a:sym typeface="Calibri"/>
              </a:rPr>
              <a:t>primary key</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In other situations, it will be necessary to create an additional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to act as the </a:t>
            </a:r>
            <a:r>
              <a:rPr b="1" i="0" lang="en-GB" sz="1800" u="none" cap="none" strike="noStrike">
                <a:solidFill>
                  <a:schemeClr val="dk1"/>
                </a:solidFill>
                <a:latin typeface="Calibri"/>
                <a:ea typeface="Calibri"/>
                <a:cs typeface="Calibri"/>
                <a:sym typeface="Calibri"/>
              </a:rPr>
              <a:t>primary key</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02" name="Google Shape;202;p10"/>
          <p:cNvGraphicFramePr/>
          <p:nvPr/>
        </p:nvGraphicFramePr>
        <p:xfrm>
          <a:off x="460862" y="2384614"/>
          <a:ext cx="3000000" cy="3000000"/>
        </p:xfrm>
        <a:graphic>
          <a:graphicData uri="http://schemas.openxmlformats.org/drawingml/2006/table">
            <a:tbl>
              <a:tblPr bandRow="1" firstRow="1">
                <a:noFill/>
                <a:tableStyleId>{2886F030-A66C-4301-9E9D-3B9C51F99CD7}</a:tableStyleId>
              </a:tblPr>
              <a:tblGrid>
                <a:gridCol w="869425"/>
                <a:gridCol w="714400"/>
                <a:gridCol w="835100"/>
                <a:gridCol w="696475"/>
                <a:gridCol w="713425"/>
                <a:gridCol w="984500"/>
              </a:tblGrid>
              <a:tr h="152400">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Car_reg</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Make </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Model</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Colour</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Engine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Showroom</a:t>
                      </a:r>
                      <a:endParaRPr b="1" i="0" sz="1200" u="none" cap="none" strike="noStrike">
                        <a:solidFill>
                          <a:schemeClr val="lt1"/>
                        </a:solidFill>
                        <a:latin typeface="Calibri"/>
                        <a:ea typeface="Calibri"/>
                        <a:cs typeface="Calibri"/>
                        <a:sym typeface="Calibri"/>
                      </a:endParaRPr>
                    </a:p>
                  </a:txBody>
                  <a:tcPr marT="45725" marB="45725" marR="91450" marL="91450"/>
                </a:tc>
              </a:tr>
              <a:tr h="1524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VK12 TKB</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Corsa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K33 MAK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A1</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Green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1975 CS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Panda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0.9</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MI76 HEL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BMW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i8</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771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BT32 UIK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Carlton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1.8</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BL16 UDK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Mazda </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Eunos 800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White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GH63KDM</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Freemont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Green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ST26VUL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Ducato</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Blue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2.3</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BP38 YTE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W77 NDX</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Avant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White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5690 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Crossland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MAG 247H</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BMW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X5 (G05)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Blue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3.0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NV27 XAW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Toro</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bl>
          </a:graphicData>
        </a:graphic>
      </p:graphicFrame>
      <p:graphicFrame>
        <p:nvGraphicFramePr>
          <p:cNvPr id="203" name="Google Shape;203;p10"/>
          <p:cNvGraphicFramePr/>
          <p:nvPr/>
        </p:nvGraphicFramePr>
        <p:xfrm>
          <a:off x="6460824" y="2363664"/>
          <a:ext cx="3000000" cy="3000000"/>
        </p:xfrm>
        <a:graphic>
          <a:graphicData uri="http://schemas.openxmlformats.org/drawingml/2006/table">
            <a:tbl>
              <a:tblPr bandRow="1" firstRow="1">
                <a:noFill/>
                <a:tableStyleId>{2886F030-A66C-4301-9E9D-3B9C51F99CD7}</a:tableStyleId>
              </a:tblPr>
              <a:tblGrid>
                <a:gridCol w="862525"/>
                <a:gridCol w="873450"/>
                <a:gridCol w="863925"/>
                <a:gridCol w="583375"/>
                <a:gridCol w="731725"/>
              </a:tblGrid>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1" i="0" sz="1200" u="none" cap="none" strike="noStrike">
                        <a:solidFill>
                          <a:schemeClr val="lt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First name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Surname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Age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Tutor group</a:t>
                      </a:r>
                      <a:endParaRPr b="1" i="0" sz="1200" u="none" cap="none" strike="noStrike">
                        <a:solidFill>
                          <a:schemeClr val="lt1"/>
                        </a:solidFill>
                        <a:latin typeface="Calibri"/>
                        <a:ea typeface="Calibri"/>
                        <a:cs typeface="Calibri"/>
                        <a:sym typeface="Calibri"/>
                      </a:endParaRPr>
                    </a:p>
                  </a:txBody>
                  <a:tcPr marT="45725" marB="45725" marR="91450" marL="91450"/>
                </a:tc>
              </a:tr>
              <a:tr h="1524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Tony</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Hilton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Amar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Aggarwal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Michael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Claire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Smith</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Nalini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Chahal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Chetan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Talwar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Watts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Khasi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Vohra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James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Watkins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Sarah</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Matthews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Tom</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Nibblet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Mohandas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Majumdar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45725" marB="45725" marR="91450" marL="91450">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Kuruvilla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bl>
          </a:graphicData>
        </a:graphic>
      </p:graphicFrame>
      <p:graphicFrame>
        <p:nvGraphicFramePr>
          <p:cNvPr id="204" name="Google Shape;204;p10"/>
          <p:cNvGraphicFramePr/>
          <p:nvPr/>
        </p:nvGraphicFramePr>
        <p:xfrm>
          <a:off x="460862" y="2384614"/>
          <a:ext cx="3000000" cy="3000000"/>
        </p:xfrm>
        <a:graphic>
          <a:graphicData uri="http://schemas.openxmlformats.org/drawingml/2006/table">
            <a:tbl>
              <a:tblPr bandRow="1" firstRow="1">
                <a:noFill/>
                <a:tableStyleId>{2886F030-A66C-4301-9E9D-3B9C51F99CD7}</a:tableStyleId>
              </a:tblPr>
              <a:tblGrid>
                <a:gridCol w="869425"/>
                <a:gridCol w="714400"/>
                <a:gridCol w="835100"/>
                <a:gridCol w="696475"/>
                <a:gridCol w="713425"/>
                <a:gridCol w="984500"/>
              </a:tblGrid>
              <a:tr h="152400">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Car_reg</a:t>
                      </a:r>
                      <a:endParaRPr b="1" i="0" sz="1200" u="none" cap="none" strike="noStrike">
                        <a:solidFill>
                          <a:schemeClr val="lt1"/>
                        </a:solidFill>
                        <a:latin typeface="Calibri"/>
                        <a:ea typeface="Calibri"/>
                        <a:cs typeface="Calibri"/>
                        <a:sym typeface="Calibri"/>
                      </a:endParaRPr>
                    </a:p>
                  </a:txBody>
                  <a:tcPr marT="45725" marB="45725" marR="91450" marL="91450">
                    <a:solidFill>
                      <a:schemeClr val="accent4"/>
                    </a:solidFill>
                  </a:tcPr>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Make </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Model</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Colour</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Engine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Showroom</a:t>
                      </a:r>
                      <a:endParaRPr b="1" i="0" sz="1200" u="none" cap="none" strike="noStrike">
                        <a:solidFill>
                          <a:schemeClr val="lt1"/>
                        </a:solidFill>
                        <a:latin typeface="Calibri"/>
                        <a:ea typeface="Calibri"/>
                        <a:cs typeface="Calibri"/>
                        <a:sym typeface="Calibri"/>
                      </a:endParaRPr>
                    </a:p>
                  </a:txBody>
                  <a:tcPr marT="45725" marB="45725" marR="91450" marL="91450"/>
                </a:tc>
              </a:tr>
              <a:tr h="1524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VK12 TKB</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Corsa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K33 MAK</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A1</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Green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1975 CS</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Panda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0.9</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MI76 HEL</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BMW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i8</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771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BT32 UIK</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Carlton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1.8</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BL16 UDK</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Mazda </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Eunos 800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White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GH63KDM</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Freemont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Green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ST26VUL</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Ducato</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Blue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2.3</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BP38 YTE</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W77 NDX</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Audi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Avant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White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5690 AR</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Vauxhall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Crossland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Red</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1.2</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DriveIT</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MAG 247H</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BMW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X5 (G05)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Blue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3.0</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Need4Speed</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NV27 XAW</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Fiat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Toro</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Black</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2.4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Cars4U</a:t>
                      </a:r>
                      <a:endParaRPr b="0" i="0" sz="1200" u="none" cap="none" strike="noStrike">
                        <a:solidFill>
                          <a:schemeClr val="dk1"/>
                        </a:solidFill>
                        <a:latin typeface="Calibri"/>
                        <a:ea typeface="Calibri"/>
                        <a:cs typeface="Calibri"/>
                        <a:sym typeface="Calibri"/>
                      </a:endParaRPr>
                    </a:p>
                  </a:txBody>
                  <a:tcPr marT="45725" marB="45725" marR="91450" marL="91450"/>
                </a:tc>
              </a:tr>
            </a:tbl>
          </a:graphicData>
        </a:graphic>
      </p:graphicFrame>
      <p:pic>
        <p:nvPicPr>
          <p:cNvPr descr="Key with solid fill" id="205" name="Google Shape;205;p10"/>
          <p:cNvPicPr preferRelativeResize="0"/>
          <p:nvPr/>
        </p:nvPicPr>
        <p:blipFill rotWithShape="1">
          <a:blip r:embed="rId3">
            <a:alphaModFix/>
          </a:blip>
          <a:srcRect b="0" l="0" r="0" t="0"/>
          <a:stretch/>
        </p:blipFill>
        <p:spPr>
          <a:xfrm>
            <a:off x="460862" y="1597410"/>
            <a:ext cx="914400" cy="914400"/>
          </a:xfrm>
          <a:prstGeom prst="rect">
            <a:avLst/>
          </a:prstGeom>
          <a:noFill/>
          <a:ln>
            <a:noFill/>
          </a:ln>
        </p:spPr>
      </p:pic>
      <p:graphicFrame>
        <p:nvGraphicFramePr>
          <p:cNvPr id="206" name="Google Shape;206;p10"/>
          <p:cNvGraphicFramePr/>
          <p:nvPr/>
        </p:nvGraphicFramePr>
        <p:xfrm>
          <a:off x="6460824" y="2363664"/>
          <a:ext cx="3000000" cy="3000000"/>
        </p:xfrm>
        <a:graphic>
          <a:graphicData uri="http://schemas.openxmlformats.org/drawingml/2006/table">
            <a:tbl>
              <a:tblPr bandRow="1" firstRow="1">
                <a:noFill/>
                <a:tableStyleId>{2886F030-A66C-4301-9E9D-3B9C51F99CD7}</a:tableStyleId>
              </a:tblPr>
              <a:tblGrid>
                <a:gridCol w="862525"/>
                <a:gridCol w="873450"/>
                <a:gridCol w="863925"/>
                <a:gridCol w="583375"/>
                <a:gridCol w="731725"/>
              </a:tblGrid>
              <a:tr h="128600">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Student ID</a:t>
                      </a:r>
                      <a:endParaRPr b="1" i="0" sz="1200" u="none" cap="none" strike="noStrike">
                        <a:solidFill>
                          <a:schemeClr val="lt1"/>
                        </a:solidFill>
                        <a:latin typeface="Calibri"/>
                        <a:ea typeface="Calibri"/>
                        <a:cs typeface="Calibri"/>
                        <a:sym typeface="Calibri"/>
                      </a:endParaRPr>
                    </a:p>
                  </a:txBody>
                  <a:tcPr marT="45725" marB="45725" marR="91450" marL="91450">
                    <a:solidFill>
                      <a:schemeClr val="accent4"/>
                    </a:solidFill>
                  </a:tcPr>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First name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Surname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Age</a:t>
                      </a:r>
                      <a:endParaRPr b="1" i="0" sz="1200" u="none" cap="none" strike="noStrike">
                        <a:solidFill>
                          <a:schemeClr val="lt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lt1"/>
                        </a:buClr>
                        <a:buSzPts val="1200"/>
                        <a:buFont typeface="Calibri"/>
                        <a:buNone/>
                      </a:pPr>
                      <a:r>
                        <a:rPr b="1" lang="en-GB" sz="1200" u="none" cap="none" strike="noStrike">
                          <a:solidFill>
                            <a:schemeClr val="lt1"/>
                          </a:solidFill>
                        </a:rPr>
                        <a:t>Tutor group</a:t>
                      </a:r>
                      <a:endParaRPr b="1" i="0" sz="1200" u="none" cap="none" strike="noStrike">
                        <a:solidFill>
                          <a:schemeClr val="lt1"/>
                        </a:solidFill>
                        <a:latin typeface="Calibri"/>
                        <a:ea typeface="Calibri"/>
                        <a:cs typeface="Calibri"/>
                        <a:sym typeface="Calibri"/>
                      </a:endParaRPr>
                    </a:p>
                  </a:txBody>
                  <a:tcPr marT="45725" marB="45725" marR="91450" marL="91450"/>
                </a:tc>
              </a:tr>
              <a:tr h="1524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0001</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Tony</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Hilton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0002</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Amar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Aggarwal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0003</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Michael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0004</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Claire</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Smith</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0005</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Nalini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Chahal</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0006</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Chetan</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Talwar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0007</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Watts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0008</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Khasi</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Vohra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0010</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James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Watkins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10C</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0011</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Sarah</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Matthews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0012</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Tom</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Nibblet</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15</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0013</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Mohandas</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Majumdar</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10E</a:t>
                      </a:r>
                      <a:endParaRPr b="0" i="0" sz="1200" u="none" cap="none" strike="noStrike">
                        <a:solidFill>
                          <a:schemeClr val="dk1"/>
                        </a:solidFill>
                        <a:latin typeface="Calibri"/>
                        <a:ea typeface="Calibri"/>
                        <a:cs typeface="Calibri"/>
                        <a:sym typeface="Calibri"/>
                      </a:endParaRPr>
                    </a:p>
                  </a:txBody>
                  <a:tcPr marT="45725" marB="45725" marR="91450" marL="91450"/>
                </a:tc>
              </a:tr>
              <a:tr h="1286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0014</a:t>
                      </a:r>
                      <a:endParaRPr b="0" i="0" sz="1200" u="none" cap="none" strike="noStrike">
                        <a:solidFill>
                          <a:schemeClr val="dk1"/>
                        </a:solidFill>
                        <a:latin typeface="Calibri"/>
                        <a:ea typeface="Calibri"/>
                        <a:cs typeface="Calibri"/>
                        <a:sym typeface="Calibri"/>
                      </a:endParaRPr>
                    </a:p>
                  </a:txBody>
                  <a:tcPr marT="45725" marB="45725" marR="91450" marL="91450">
                    <a:solidFill>
                      <a:srgbClr val="FFF2CC"/>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Andrew</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Kuruvilla</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14</a:t>
                      </a:r>
                      <a:endParaRPr b="0" i="0" sz="12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u="none" cap="none" strike="noStrike">
                          <a:solidFill>
                            <a:schemeClr val="dk1"/>
                          </a:solidFill>
                        </a:rPr>
                        <a:t>10B</a:t>
                      </a:r>
                      <a:endParaRPr b="0" i="0" sz="1200" u="none" cap="none" strike="noStrike">
                        <a:solidFill>
                          <a:schemeClr val="dk1"/>
                        </a:solidFill>
                        <a:latin typeface="Calibri"/>
                        <a:ea typeface="Calibri"/>
                        <a:cs typeface="Calibri"/>
                        <a:sym typeface="Calibri"/>
                      </a:endParaRPr>
                    </a:p>
                  </a:txBody>
                  <a:tcPr marT="45725" marB="45725" marR="91450" marL="91450"/>
                </a:tc>
              </a:tr>
            </a:tbl>
          </a:graphicData>
        </a:graphic>
      </p:graphicFrame>
      <p:pic>
        <p:nvPicPr>
          <p:cNvPr descr="Key with solid fill" id="207" name="Google Shape;207;p10"/>
          <p:cNvPicPr preferRelativeResize="0"/>
          <p:nvPr/>
        </p:nvPicPr>
        <p:blipFill rotWithShape="1">
          <a:blip r:embed="rId3">
            <a:alphaModFix/>
          </a:blip>
          <a:srcRect b="0" l="0" r="0" t="0"/>
          <a:stretch/>
        </p:blipFill>
        <p:spPr>
          <a:xfrm>
            <a:off x="6460824" y="1597410"/>
            <a:ext cx="914400" cy="914400"/>
          </a:xfrm>
          <a:prstGeom prst="rect">
            <a:avLst/>
          </a:prstGeom>
          <a:noFill/>
          <a:ln>
            <a:noFill/>
          </a:ln>
        </p:spPr>
      </p:pic>
      <p:sp>
        <p:nvSpPr>
          <p:cNvPr id="208" name="Google Shape;208;p10"/>
          <p:cNvSpPr/>
          <p:nvPr/>
        </p:nvSpPr>
        <p:spPr>
          <a:xfrm>
            <a:off x="176565" y="523174"/>
            <a:ext cx="1769587"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Primary keys</a:t>
            </a:r>
            <a:endParaRPr b="0" i="0" sz="1200" u="none" cap="none" strike="noStrike">
              <a:solidFill>
                <a:srgbClr val="0087B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par>
                          <p:cTn fill="hold">
                            <p:stCondLst>
                              <p:cond delay="2000"/>
                            </p:stCondLst>
                            <p:childTnLst>
                              <p:par>
                                <p:cTn fill="hold" nodeType="afterEffect" presetClass="entr" presetID="10" presetSubtype="0">
                                  <p:stCondLst>
                                    <p:cond delay="100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1"/>
          <p:cNvPicPr preferRelativeResize="0"/>
          <p:nvPr/>
        </p:nvPicPr>
        <p:blipFill rotWithShape="1">
          <a:blip r:embed="rId3">
            <a:alphaModFix/>
          </a:blip>
          <a:srcRect b="0" l="0" r="0" t="0"/>
          <a:stretch/>
        </p:blipFill>
        <p:spPr>
          <a:xfrm>
            <a:off x="0" y="414528"/>
            <a:ext cx="12192000" cy="6443472"/>
          </a:xfrm>
          <a:prstGeom prst="rect">
            <a:avLst/>
          </a:prstGeom>
          <a:noFill/>
          <a:ln>
            <a:noFill/>
          </a:ln>
        </p:spPr>
      </p:pic>
      <p:sp>
        <p:nvSpPr>
          <p:cNvPr id="214" name="Google Shape;214;p11"/>
          <p:cNvSpPr/>
          <p:nvPr/>
        </p:nvSpPr>
        <p:spPr>
          <a:xfrm>
            <a:off x="176565" y="1034679"/>
            <a:ext cx="8763154" cy="2133918"/>
          </a:xfrm>
          <a:prstGeom prst="rect">
            <a:avLst/>
          </a:prstGeom>
          <a:solidFill>
            <a:srgbClr val="F2F2F2">
              <a:alpha val="80000"/>
            </a:srgb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When a </a:t>
            </a:r>
            <a:r>
              <a:rPr b="1" i="0" lang="en-GB" sz="1800" u="none" cap="none" strike="noStrike">
                <a:solidFill>
                  <a:schemeClr val="dk1"/>
                </a:solidFill>
                <a:latin typeface="Calibri"/>
                <a:ea typeface="Calibri"/>
                <a:cs typeface="Calibri"/>
                <a:sym typeface="Calibri"/>
              </a:rPr>
              <a:t>database</a:t>
            </a:r>
            <a:r>
              <a:rPr b="0" i="0" lang="en-GB" sz="1800" u="none" cap="none" strike="noStrike">
                <a:solidFill>
                  <a:schemeClr val="dk1"/>
                </a:solidFill>
                <a:latin typeface="Calibri"/>
                <a:ea typeface="Calibri"/>
                <a:cs typeface="Calibri"/>
                <a:sym typeface="Calibri"/>
              </a:rPr>
              <a:t>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structure is first created, it can be assigned various </a:t>
            </a:r>
            <a:r>
              <a:rPr b="1" i="0" lang="en-GB" sz="1800" u="none" cap="none" strike="noStrike">
                <a:solidFill>
                  <a:schemeClr val="dk1"/>
                </a:solidFill>
                <a:latin typeface="Calibri"/>
                <a:ea typeface="Calibri"/>
                <a:cs typeface="Calibri"/>
                <a:sym typeface="Calibri"/>
              </a:rPr>
              <a:t>validation rules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Validation rules</a:t>
            </a:r>
            <a:r>
              <a:rPr b="0" i="0" lang="en-GB" sz="1800" u="none" cap="none" strike="noStrike">
                <a:solidFill>
                  <a:schemeClr val="dk1"/>
                </a:solidFill>
                <a:latin typeface="Calibri"/>
                <a:ea typeface="Calibri"/>
                <a:cs typeface="Calibri"/>
                <a:sym typeface="Calibri"/>
              </a:rPr>
              <a:t> can be assigned to any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of a </a:t>
            </a:r>
            <a:r>
              <a:rPr b="1" i="0" lang="en-GB" sz="1800" u="none" cap="none" strike="noStrike">
                <a:solidFill>
                  <a:schemeClr val="dk1"/>
                </a:solidFill>
                <a:latin typeface="Calibri"/>
                <a:ea typeface="Calibri"/>
                <a:cs typeface="Calibri"/>
                <a:sym typeface="Calibri"/>
              </a:rPr>
              <a:t>table </a:t>
            </a:r>
            <a:r>
              <a:rPr b="0" i="0" lang="en-GB" sz="1800" u="none" cap="none" strike="noStrike">
                <a:solidFill>
                  <a:schemeClr val="dk1"/>
                </a:solidFill>
                <a:latin typeface="Calibri"/>
                <a:ea typeface="Calibri"/>
                <a:cs typeface="Calibri"/>
                <a:sym typeface="Calibri"/>
              </a:rPr>
              <a:t>– these include:</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Length check</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Format check</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Range check</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Presence check</a:t>
            </a:r>
            <a:endParaRPr b="0" i="0" sz="1400" u="none" cap="none" strike="noStrike">
              <a:solidFill>
                <a:srgbClr val="000000"/>
              </a:solidFill>
              <a:latin typeface="Arial"/>
              <a:ea typeface="Arial"/>
              <a:cs typeface="Arial"/>
              <a:sym typeface="Arial"/>
            </a:endParaRPr>
          </a:p>
          <a:p>
            <a:pPr indent="-285748" lvl="0"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Custom rule such as </a:t>
            </a:r>
            <a:r>
              <a:rPr b="0" i="1" lang="en-GB" sz="1800" u="none" cap="none" strike="noStrike">
                <a:solidFill>
                  <a:schemeClr val="dk1"/>
                </a:solidFill>
                <a:latin typeface="Calibri"/>
                <a:ea typeface="Calibri"/>
                <a:cs typeface="Calibri"/>
                <a:sym typeface="Calibri"/>
              </a:rPr>
              <a:t>Apprentice</a:t>
            </a:r>
            <a:r>
              <a:rPr b="0" i="0" lang="en-GB" sz="1800" u="none" cap="none" strike="noStrike">
                <a:solidFill>
                  <a:schemeClr val="dk1"/>
                </a:solidFill>
                <a:latin typeface="Calibri"/>
                <a:ea typeface="Calibri"/>
                <a:cs typeface="Calibri"/>
                <a:sym typeface="Calibri"/>
              </a:rPr>
              <a:t>, </a:t>
            </a:r>
            <a:r>
              <a:rPr b="0" i="1" lang="en-GB" sz="1800" u="none" cap="none" strike="noStrike">
                <a:solidFill>
                  <a:schemeClr val="dk1"/>
                </a:solidFill>
                <a:latin typeface="Calibri"/>
                <a:ea typeface="Calibri"/>
                <a:cs typeface="Calibri"/>
                <a:sym typeface="Calibri"/>
              </a:rPr>
              <a:t>Expert</a:t>
            </a:r>
            <a:r>
              <a:rPr b="0" i="0" lang="en-GB" sz="1800" u="none" cap="none" strike="noStrike">
                <a:solidFill>
                  <a:schemeClr val="dk1"/>
                </a:solidFill>
                <a:latin typeface="Calibri"/>
                <a:ea typeface="Calibri"/>
                <a:cs typeface="Calibri"/>
                <a:sym typeface="Calibri"/>
              </a:rPr>
              <a:t> or </a:t>
            </a:r>
            <a:r>
              <a:rPr b="0" i="1" lang="en-GB" sz="1800" u="none" cap="none" strike="noStrike">
                <a:solidFill>
                  <a:schemeClr val="dk1"/>
                </a:solidFill>
                <a:latin typeface="Calibri"/>
                <a:ea typeface="Calibri"/>
                <a:cs typeface="Calibri"/>
                <a:sym typeface="Calibri"/>
              </a:rPr>
              <a:t>Master</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15" name="Google Shape;215;p11"/>
          <p:cNvSpPr/>
          <p:nvPr/>
        </p:nvSpPr>
        <p:spPr>
          <a:xfrm>
            <a:off x="188710" y="5396628"/>
            <a:ext cx="8636454" cy="1255066"/>
          </a:xfrm>
          <a:prstGeom prst="roundRect">
            <a:avLst>
              <a:gd fmla="val 46766" name="adj"/>
            </a:avLst>
          </a:prstGeom>
          <a:solidFill>
            <a:srgbClr val="FBE4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nformation with solid fill" id="216" name="Google Shape;216;p11"/>
          <p:cNvPicPr preferRelativeResize="0"/>
          <p:nvPr/>
        </p:nvPicPr>
        <p:blipFill rotWithShape="1">
          <a:blip r:embed="rId4">
            <a:alphaModFix/>
          </a:blip>
          <a:srcRect b="0" l="0" r="0" t="0"/>
          <a:stretch/>
        </p:blipFill>
        <p:spPr>
          <a:xfrm>
            <a:off x="0" y="5229939"/>
            <a:ext cx="1591452" cy="1591452"/>
          </a:xfrm>
          <a:prstGeom prst="rect">
            <a:avLst/>
          </a:prstGeom>
          <a:noFill/>
          <a:ln>
            <a:noFill/>
          </a:ln>
        </p:spPr>
      </p:pic>
      <p:sp>
        <p:nvSpPr>
          <p:cNvPr id="217" name="Google Shape;217;p11"/>
          <p:cNvSpPr txBox="1"/>
          <p:nvPr/>
        </p:nvSpPr>
        <p:spPr>
          <a:xfrm>
            <a:off x="1581262" y="5703493"/>
            <a:ext cx="6978900" cy="6657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We discussed various validation methods in detail in the following video:</a:t>
            </a:r>
            <a:endParaRPr b="0" i="0" sz="1400" u="none" cap="none" strike="noStrike">
              <a:solidFill>
                <a:srgbClr val="000000"/>
              </a:solidFill>
              <a:latin typeface="Arial"/>
              <a:ea typeface="Arial"/>
              <a:cs typeface="Arial"/>
              <a:sym typeface="Arial"/>
            </a:endParaRPr>
          </a:p>
          <a:p>
            <a:pPr indent="-285750" lvl="0" marL="285750" marR="0" rtl="0" algn="l">
              <a:lnSpc>
                <a:spcPct val="107000"/>
              </a:lnSpc>
              <a:spcBef>
                <a:spcPts val="0"/>
              </a:spcBef>
              <a:spcAft>
                <a:spcPts val="0"/>
              </a:spcAft>
              <a:buClr>
                <a:schemeClr val="dk1"/>
              </a:buClr>
              <a:buSzPts val="1800"/>
              <a:buFont typeface="Arial"/>
              <a:buChar char="•"/>
            </a:pPr>
            <a:r>
              <a:rPr b="1" i="0" lang="en-GB" sz="1800" u="none" cap="none" strike="noStrike">
                <a:solidFill>
                  <a:schemeClr val="dk1"/>
                </a:solidFill>
                <a:latin typeface="Calibri"/>
                <a:ea typeface="Calibri"/>
                <a:cs typeface="Calibri"/>
                <a:sym typeface="Calibri"/>
              </a:rPr>
              <a:t>83. CAMBRIDGE IGCSE (0478-0984) 7 Validation</a:t>
            </a:r>
            <a:endParaRPr b="0" i="0" sz="1400" u="none" cap="none" strike="noStrike">
              <a:solidFill>
                <a:srgbClr val="000000"/>
              </a:solidFill>
              <a:latin typeface="Arial"/>
              <a:ea typeface="Arial"/>
              <a:cs typeface="Arial"/>
              <a:sym typeface="Arial"/>
            </a:endParaRPr>
          </a:p>
        </p:txBody>
      </p:sp>
      <p:sp>
        <p:nvSpPr>
          <p:cNvPr id="218" name="Google Shape;218;p11"/>
          <p:cNvSpPr/>
          <p:nvPr/>
        </p:nvSpPr>
        <p:spPr>
          <a:xfrm>
            <a:off x="176565" y="523174"/>
            <a:ext cx="2764283" cy="470000"/>
          </a:xfrm>
          <a:prstGeom prst="rect">
            <a:avLst/>
          </a:prstGeom>
          <a:solidFill>
            <a:srgbClr val="F2F2F2">
              <a:alpha val="80000"/>
            </a:srgbClr>
          </a:solid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Databases validation</a:t>
            </a:r>
            <a:endParaRPr b="0" i="0" sz="1200" u="none" cap="none" strike="noStrike">
              <a:solidFill>
                <a:srgbClr val="0087B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p:nvPr/>
        </p:nvSpPr>
        <p:spPr>
          <a:xfrm>
            <a:off x="176565" y="993174"/>
            <a:ext cx="11185341" cy="36984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Databases</a:t>
            </a:r>
            <a:r>
              <a:rPr b="0" i="0" lang="en-GB" sz="1800" u="none" cap="none" strike="noStrike">
                <a:solidFill>
                  <a:schemeClr val="dk1"/>
                </a:solidFill>
                <a:latin typeface="Calibri"/>
                <a:ea typeface="Calibri"/>
                <a:cs typeface="Calibri"/>
                <a:sym typeface="Calibri"/>
              </a:rPr>
              <a:t> are structured, persistent collections of data.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Databases</a:t>
            </a:r>
            <a:r>
              <a:rPr b="0" i="0" lang="en-GB" sz="1800" u="none" cap="none" strike="noStrike">
                <a:solidFill>
                  <a:schemeClr val="dk1"/>
                </a:solidFill>
                <a:latin typeface="Calibri"/>
                <a:ea typeface="Calibri"/>
                <a:cs typeface="Calibri"/>
                <a:sym typeface="Calibri"/>
              </a:rPr>
              <a:t> come in two forms – </a:t>
            </a:r>
            <a:r>
              <a:rPr b="1" i="0" lang="en-GB" sz="1800" u="none" cap="none" strike="noStrike">
                <a:solidFill>
                  <a:schemeClr val="dk1"/>
                </a:solidFill>
                <a:latin typeface="Calibri"/>
                <a:ea typeface="Calibri"/>
                <a:cs typeface="Calibri"/>
                <a:sym typeface="Calibri"/>
              </a:rPr>
              <a:t>single-table, flat file databases </a:t>
            </a:r>
            <a:r>
              <a:rPr b="0" i="0" lang="en-GB" sz="1800" u="none" cap="none" strike="noStrike">
                <a:solidFill>
                  <a:schemeClr val="dk1"/>
                </a:solidFill>
                <a:latin typeface="Calibri"/>
                <a:ea typeface="Calibri"/>
                <a:cs typeface="Calibri"/>
                <a:sym typeface="Calibri"/>
              </a:rPr>
              <a:t>and relational databases. You are only </a:t>
            </a:r>
            <a:br>
              <a:rPr b="0" i="0" lang="en-GB" sz="1800" u="none" cap="none" strike="noStrike">
                <a:solidFill>
                  <a:schemeClr val="dk1"/>
                </a:solidFill>
                <a:latin typeface="Calibri"/>
                <a:ea typeface="Calibri"/>
                <a:cs typeface="Calibri"/>
                <a:sym typeface="Calibri"/>
              </a:rPr>
            </a:br>
            <a:r>
              <a:rPr b="0" i="0" lang="en-GB" sz="1800" u="none" cap="none" strike="noStrike">
                <a:solidFill>
                  <a:schemeClr val="dk1"/>
                </a:solidFill>
                <a:latin typeface="Calibri"/>
                <a:ea typeface="Calibri"/>
                <a:cs typeface="Calibri"/>
                <a:sym typeface="Calibri"/>
              </a:rPr>
              <a:t>required to know about </a:t>
            </a:r>
            <a:r>
              <a:rPr b="1" i="0" lang="en-GB" sz="1800" u="none" cap="none" strike="noStrike">
                <a:solidFill>
                  <a:schemeClr val="dk1"/>
                </a:solidFill>
                <a:latin typeface="Calibri"/>
                <a:ea typeface="Calibri"/>
                <a:cs typeface="Calibri"/>
                <a:sym typeface="Calibri"/>
              </a:rPr>
              <a:t>single-table databases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Flat file databases</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Consist of separate </a:t>
            </a:r>
            <a:r>
              <a:rPr b="1" i="0" lang="en-GB" sz="1800" u="none" cap="none" strike="noStrike">
                <a:solidFill>
                  <a:schemeClr val="dk1"/>
                </a:solidFill>
                <a:latin typeface="Calibri"/>
                <a:ea typeface="Calibri"/>
                <a:cs typeface="Calibri"/>
                <a:sym typeface="Calibri"/>
              </a:rPr>
              <a:t>tables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is made up of a number of </a:t>
            </a:r>
            <a:r>
              <a:rPr b="1" i="0" lang="en-GB" sz="1800" u="none" cap="none" strike="noStrike">
                <a:solidFill>
                  <a:schemeClr val="dk1"/>
                </a:solidFill>
                <a:latin typeface="Calibri"/>
                <a:ea typeface="Calibri"/>
                <a:cs typeface="Calibri"/>
                <a:sym typeface="Calibri"/>
              </a:rPr>
              <a:t>records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has a number of separate </a:t>
            </a:r>
            <a:r>
              <a:rPr b="1" i="0" lang="en-GB" sz="1800" u="none" cap="none" strike="noStrike">
                <a:solidFill>
                  <a:schemeClr val="dk1"/>
                </a:solidFill>
                <a:latin typeface="Calibri"/>
                <a:ea typeface="Calibri"/>
                <a:cs typeface="Calibri"/>
                <a:sym typeface="Calibri"/>
              </a:rPr>
              <a:t>fields</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1" i="0" lang="en-GB" sz="1800" u="none" cap="none" strike="noStrike">
                <a:solidFill>
                  <a:schemeClr val="dk1"/>
                </a:solidFill>
                <a:latin typeface="Calibri"/>
                <a:ea typeface="Calibri"/>
                <a:cs typeface="Calibri"/>
                <a:sym typeface="Calibri"/>
              </a:rPr>
              <a:t>Fields</a:t>
            </a:r>
            <a:r>
              <a:rPr b="0" i="0" lang="en-GB" sz="1800" u="none" cap="none" strike="noStrike">
                <a:solidFill>
                  <a:schemeClr val="dk1"/>
                </a:solidFill>
                <a:latin typeface="Calibri"/>
                <a:ea typeface="Calibri"/>
                <a:cs typeface="Calibri"/>
                <a:sym typeface="Calibri"/>
              </a:rPr>
              <a:t> can be one of several </a:t>
            </a:r>
            <a:r>
              <a:rPr b="1" i="0" lang="en-GB" sz="1800" u="none" cap="none" strike="noStrike">
                <a:solidFill>
                  <a:schemeClr val="dk1"/>
                </a:solidFill>
                <a:latin typeface="Calibri"/>
                <a:ea typeface="Calibri"/>
                <a:cs typeface="Calibri"/>
                <a:sym typeface="Calibri"/>
              </a:rPr>
              <a:t>basic data types </a:t>
            </a:r>
            <a:r>
              <a:rPr b="0" i="0" lang="en-GB" sz="1800" u="none" cap="none" strike="noStrike">
                <a:solidFill>
                  <a:schemeClr val="dk1"/>
                </a:solidFill>
                <a:latin typeface="Calibri"/>
                <a:ea typeface="Calibri"/>
                <a:cs typeface="Calibri"/>
                <a:sym typeface="Calibri"/>
              </a:rPr>
              <a:t>– text/alphanumeric, character, Boolean, integer, real, date/time.</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0" i="0" lang="en-GB" sz="1800" u="none" cap="none" strike="noStrike">
                <a:solidFill>
                  <a:schemeClr val="dk1"/>
                </a:solidFill>
                <a:latin typeface="Calibri"/>
                <a:ea typeface="Calibri"/>
                <a:cs typeface="Calibri"/>
                <a:sym typeface="Calibri"/>
              </a:rPr>
              <a:t>Each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 in a </a:t>
            </a:r>
            <a:r>
              <a:rPr b="1" i="0" lang="en-GB" sz="1800" u="none" cap="none" strike="noStrike">
                <a:solidFill>
                  <a:schemeClr val="dk1"/>
                </a:solidFill>
                <a:latin typeface="Calibri"/>
                <a:ea typeface="Calibri"/>
                <a:cs typeface="Calibri"/>
                <a:sym typeface="Calibri"/>
              </a:rPr>
              <a:t>database</a:t>
            </a:r>
            <a:r>
              <a:rPr b="0" i="0" lang="en-GB" sz="1800" u="none" cap="none" strike="noStrike">
                <a:solidFill>
                  <a:schemeClr val="dk1"/>
                </a:solidFill>
                <a:latin typeface="Calibri"/>
                <a:ea typeface="Calibri"/>
                <a:cs typeface="Calibri"/>
                <a:sym typeface="Calibri"/>
              </a:rPr>
              <a:t> should have a </a:t>
            </a:r>
            <a:r>
              <a:rPr b="1" i="0" lang="en-GB" sz="1800" u="none" cap="none" strike="noStrike">
                <a:solidFill>
                  <a:schemeClr val="dk1"/>
                </a:solidFill>
                <a:latin typeface="Calibri"/>
                <a:ea typeface="Calibri"/>
                <a:cs typeface="Calibri"/>
                <a:sym typeface="Calibri"/>
              </a:rPr>
              <a:t>primary key</a:t>
            </a:r>
            <a:r>
              <a:rPr b="0" i="0" lang="en-GB" sz="1800" u="none" cap="none" strike="noStrike">
                <a:solidFill>
                  <a:schemeClr val="dk1"/>
                </a:solidFill>
                <a:latin typeface="Calibri"/>
                <a:ea typeface="Calibri"/>
                <a:cs typeface="Calibri"/>
                <a:sym typeface="Calibri"/>
              </a:rPr>
              <a:t>. The </a:t>
            </a:r>
            <a:r>
              <a:rPr b="1" i="0" lang="en-GB" sz="1800" u="none" cap="none" strike="noStrike">
                <a:solidFill>
                  <a:schemeClr val="dk1"/>
                </a:solidFill>
                <a:latin typeface="Calibri"/>
                <a:ea typeface="Calibri"/>
                <a:cs typeface="Calibri"/>
                <a:sym typeface="Calibri"/>
              </a:rPr>
              <a:t>primary key field</a:t>
            </a:r>
            <a:r>
              <a:rPr b="0" i="0" lang="en-GB" sz="1800" u="none" cap="none" strike="noStrike">
                <a:solidFill>
                  <a:schemeClr val="dk1"/>
                </a:solidFill>
                <a:latin typeface="Calibri"/>
                <a:ea typeface="Calibri"/>
                <a:cs typeface="Calibri"/>
                <a:sym typeface="Calibri"/>
              </a:rPr>
              <a:t> must be a </a:t>
            </a:r>
            <a:r>
              <a:rPr b="1" i="0" lang="en-GB" sz="1800" u="none" cap="none" strike="noStrike">
                <a:solidFill>
                  <a:schemeClr val="dk1"/>
                </a:solidFill>
                <a:latin typeface="Calibri"/>
                <a:ea typeface="Calibri"/>
                <a:cs typeface="Calibri"/>
                <a:sym typeface="Calibri"/>
              </a:rPr>
              <a:t>field</a:t>
            </a:r>
            <a:r>
              <a:rPr b="0" i="0" lang="en-GB" sz="1800" u="none" cap="none" strike="noStrike">
                <a:solidFill>
                  <a:schemeClr val="dk1"/>
                </a:solidFill>
                <a:latin typeface="Calibri"/>
                <a:ea typeface="Calibri"/>
                <a:cs typeface="Calibri"/>
                <a:sym typeface="Calibri"/>
              </a:rPr>
              <a:t> that can uniquely identify each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in the </a:t>
            </a:r>
            <a:r>
              <a:rPr b="1" i="0" lang="en-GB" sz="1800" u="none" cap="none" strike="noStrike">
                <a:solidFill>
                  <a:schemeClr val="dk1"/>
                </a:solidFill>
                <a:latin typeface="Calibri"/>
                <a:ea typeface="Calibri"/>
                <a:cs typeface="Calibri"/>
                <a:sym typeface="Calibri"/>
              </a:rPr>
              <a:t>table</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48" lvl="1" marL="540000" marR="0" rtl="0" algn="l">
              <a:lnSpc>
                <a:spcPct val="100000"/>
              </a:lnSpc>
              <a:spcBef>
                <a:spcPts val="0"/>
              </a:spcBef>
              <a:spcAft>
                <a:spcPts val="0"/>
              </a:spcAft>
              <a:buClr>
                <a:schemeClr val="dk1"/>
              </a:buClr>
              <a:buSzPts val="1800"/>
              <a:buFont typeface="Arial"/>
              <a:buChar char="•"/>
            </a:pPr>
            <a:r>
              <a:rPr b="1" i="0" lang="en-GB" sz="1800" u="none" cap="none" strike="noStrike">
                <a:solidFill>
                  <a:schemeClr val="dk1"/>
                </a:solidFill>
                <a:latin typeface="Calibri"/>
                <a:ea typeface="Calibri"/>
                <a:cs typeface="Calibri"/>
                <a:sym typeface="Calibri"/>
              </a:rPr>
              <a:t>Database table fields </a:t>
            </a:r>
            <a:r>
              <a:rPr b="0" i="0" lang="en-GB" sz="1800" u="none" cap="none" strike="noStrike">
                <a:solidFill>
                  <a:schemeClr val="dk1"/>
                </a:solidFill>
                <a:latin typeface="Calibri"/>
                <a:ea typeface="Calibri"/>
                <a:cs typeface="Calibri"/>
                <a:sym typeface="Calibri"/>
              </a:rPr>
              <a:t>can be assigned various </a:t>
            </a:r>
            <a:r>
              <a:rPr b="1" i="0" lang="en-GB" sz="1800" u="none" cap="none" strike="noStrike">
                <a:solidFill>
                  <a:schemeClr val="dk1"/>
                </a:solidFill>
                <a:latin typeface="Calibri"/>
                <a:ea typeface="Calibri"/>
                <a:cs typeface="Calibri"/>
                <a:sym typeface="Calibri"/>
              </a:rPr>
              <a:t>validation rules</a:t>
            </a:r>
            <a:r>
              <a:rPr b="0" i="0" lang="en-GB" sz="1800" u="none" cap="none" strike="noStrike">
                <a:solidFill>
                  <a:schemeClr val="dk1"/>
                </a:solidFill>
                <a:latin typeface="Calibri"/>
                <a:ea typeface="Calibri"/>
                <a:cs typeface="Calibri"/>
                <a:sym typeface="Calibri"/>
              </a:rPr>
              <a:t> – length check, format check, range check, presence check, custom rule, etc.</a:t>
            </a:r>
            <a:endParaRPr b="0" i="0" sz="1400" u="none" cap="none" strike="noStrike">
              <a:solidFill>
                <a:srgbClr val="000000"/>
              </a:solidFill>
              <a:latin typeface="Arial"/>
              <a:ea typeface="Arial"/>
              <a:cs typeface="Arial"/>
              <a:sym typeface="Arial"/>
            </a:endParaRPr>
          </a:p>
        </p:txBody>
      </p:sp>
      <p:pic>
        <p:nvPicPr>
          <p:cNvPr descr="make_notes" id="224" name="Google Shape;224;p12"/>
          <p:cNvPicPr preferRelativeResize="0"/>
          <p:nvPr/>
        </p:nvPicPr>
        <p:blipFill rotWithShape="1">
          <a:blip r:embed="rId3">
            <a:alphaModFix/>
          </a:blip>
          <a:srcRect b="0" l="0" r="0" t="0"/>
          <a:stretch/>
        </p:blipFill>
        <p:spPr>
          <a:xfrm>
            <a:off x="10823658" y="715649"/>
            <a:ext cx="1113436" cy="1113436"/>
          </a:xfrm>
          <a:prstGeom prst="rect">
            <a:avLst/>
          </a:prstGeom>
          <a:noFill/>
          <a:ln>
            <a:noFill/>
          </a:ln>
        </p:spPr>
      </p:pic>
      <p:sp>
        <p:nvSpPr>
          <p:cNvPr id="225" name="Google Shape;225;p12"/>
          <p:cNvSpPr/>
          <p:nvPr/>
        </p:nvSpPr>
        <p:spPr>
          <a:xfrm>
            <a:off x="176565" y="523174"/>
            <a:ext cx="2979470" cy="4700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rgbClr val="000000"/>
              </a:buClr>
              <a:buSzPts val="2400"/>
              <a:buFont typeface="Arial"/>
              <a:buNone/>
            </a:pPr>
            <a:r>
              <a:rPr b="0" i="0" lang="en-GB" sz="2400" u="none" cap="none" strike="noStrike">
                <a:solidFill>
                  <a:srgbClr val="C55A11"/>
                </a:solidFill>
                <a:latin typeface="Calibri"/>
                <a:ea typeface="Calibri"/>
                <a:cs typeface="Calibri"/>
                <a:sym typeface="Calibri"/>
              </a:rPr>
              <a:t>Single-table databases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2019-10-14T15:21:06Z</dcterms:created>
  <dc:creator>Craig Sargent</dc:creator>
</cp:coreProperties>
</file>