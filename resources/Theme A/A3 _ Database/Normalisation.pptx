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6797675" cy="9926625"/>
  <p:embeddedFontLst>
    <p:embeddedFont>
      <p:font typeface="PT Sans"/>
      <p:regular r:id="rId32"/>
      <p:bold r:id="rId33"/>
      <p:italic r:id="rId34"/>
      <p:boldItalic r:id="rId35"/>
    </p:embeddedFont>
    <p:embeddedFont>
      <p:font typeface="Century Gothic"/>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itOra7JECDMLvs8JBSZJhkZGvj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85B835-437B-4002-B5F2-6BBE56A9C773}">
  <a:tblStyle styleId="{DF85B835-437B-4002-B5F2-6BBE56A9C773}"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F3E9"/>
          </a:solidFill>
        </a:fill>
      </a:tcStyle>
    </a:wholeTbl>
    <a:band1H>
      <a:tcTxStyle/>
      <a:tcStyle>
        <a:fill>
          <a:solidFill>
            <a:srgbClr val="DEE7D0"/>
          </a:solidFill>
        </a:fill>
      </a:tcStyle>
    </a:band1H>
    <a:band2H>
      <a:tcTxStyle/>
    </a:band2H>
    <a:band1V>
      <a:tcTxStyle/>
      <a:tcStyle>
        <a:fill>
          <a:solidFill>
            <a:srgbClr val="DEE7D0"/>
          </a:solidFill>
        </a:fill>
      </a:tcStyle>
    </a:band1V>
    <a:band2V>
      <a:tcTxStyle/>
    </a:band2V>
    <a:lastCol>
      <a:tcTxStyle b="on" i="off">
        <a:font>
          <a:latin typeface="Century Gothic"/>
          <a:ea typeface="Century Gothic"/>
          <a:cs typeface="Century Gothic"/>
        </a:font>
        <a:schemeClr val="lt1"/>
      </a:tcTxStyle>
      <a:tcStyle>
        <a:fill>
          <a:solidFill>
            <a:schemeClr val="accent3"/>
          </a:solidFill>
        </a:fill>
      </a:tcStyle>
    </a:lastCol>
    <a:firstCol>
      <a:tcTxStyle b="on" i="off">
        <a:font>
          <a:latin typeface="Century Gothic"/>
          <a:ea typeface="Century Gothic"/>
          <a:cs typeface="Century Gothic"/>
        </a:font>
        <a:schemeClr val="lt1"/>
      </a:tcTxStyle>
      <a:tcStyle>
        <a:fill>
          <a:solidFill>
            <a:schemeClr val="accent3"/>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 styleId="{95D5A054-5678-46A9-AAA2-D13880E93588}" styleName="Table_1">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D7DB10CA-DD5D-463B-A3AA-64187586B431}"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C9F5B3E-929D-4EAA-BB65-2A9E7A6D8BE9}" styleName="Table_3">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PTSans-bold.fntdata"/><Relationship Id="rId10" Type="http://schemas.openxmlformats.org/officeDocument/2006/relationships/slide" Target="slides/slide4.xml"/><Relationship Id="rId32" Type="http://schemas.openxmlformats.org/officeDocument/2006/relationships/font" Target="fonts/PTSans-regular.fntdata"/><Relationship Id="rId13" Type="http://schemas.openxmlformats.org/officeDocument/2006/relationships/slide" Target="slides/slide7.xml"/><Relationship Id="rId35" Type="http://schemas.openxmlformats.org/officeDocument/2006/relationships/font" Target="fonts/PTSans-boldItalic.fntdata"/><Relationship Id="rId12" Type="http://schemas.openxmlformats.org/officeDocument/2006/relationships/slide" Target="slides/slide6.xml"/><Relationship Id="rId34" Type="http://schemas.openxmlformats.org/officeDocument/2006/relationships/font" Target="fonts/PTSans-italic.fntdata"/><Relationship Id="rId15" Type="http://schemas.openxmlformats.org/officeDocument/2006/relationships/slide" Target="slides/slide9.xml"/><Relationship Id="rId37" Type="http://schemas.openxmlformats.org/officeDocument/2006/relationships/font" Target="fonts/CenturyGothic-bold.fntdata"/><Relationship Id="rId14" Type="http://schemas.openxmlformats.org/officeDocument/2006/relationships/slide" Target="slides/slide8.xml"/><Relationship Id="rId36" Type="http://schemas.openxmlformats.org/officeDocument/2006/relationships/font" Target="fonts/CenturyGothic-regular.fntdata"/><Relationship Id="rId17" Type="http://schemas.openxmlformats.org/officeDocument/2006/relationships/slide" Target="slides/slide11.xml"/><Relationship Id="rId39" Type="http://schemas.openxmlformats.org/officeDocument/2006/relationships/font" Target="fonts/CenturyGothic-boldItalic.fntdata"/><Relationship Id="rId16" Type="http://schemas.openxmlformats.org/officeDocument/2006/relationships/slide" Target="slides/slide10.xml"/><Relationship Id="rId38" Type="http://schemas.openxmlformats.org/officeDocument/2006/relationships/font" Target="fonts/CenturyGothic-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5659" cy="49633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0"/>
            <a:ext cx="2945659" cy="496332"/>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3"/>
            <a:ext cx="2945659" cy="49633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52" name="Google Shape;152;p1:notes"/>
          <p:cNvSpPr txBox="1"/>
          <p:nvPr>
            <p:ph idx="11" type="ftr"/>
          </p:nvPr>
        </p:nvSpPr>
        <p:spPr>
          <a:xfrm>
            <a:off x="0" y="9428583"/>
            <a:ext cx="2945659" cy="49633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GB"/>
              <a:t>***Single User Licence: Do Not Redistribute / Do Not Share Online***</a:t>
            </a:r>
            <a:endParaRPr/>
          </a:p>
        </p:txBody>
      </p:sp>
      <p:sp>
        <p:nvSpPr>
          <p:cNvPr id="153" name="Google Shape;153;p1:notes"/>
          <p:cNvSpPr txBox="1"/>
          <p:nvPr>
            <p:ph idx="3" type="hdr"/>
          </p:nvPr>
        </p:nvSpPr>
        <p:spPr>
          <a:xfrm>
            <a:off x="0" y="0"/>
            <a:ext cx="2945659" cy="496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(c)www.revisecomputerscience.com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2: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3: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4: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5: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5: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6: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6: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7: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8: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9: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0: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0: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1: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2: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2: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3: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3: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4: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5: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5: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6: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6: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7: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7: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8: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8:notes"/>
          <p:cNvSpPr/>
          <p:nvPr>
            <p:ph idx="2" type="sldImg"/>
          </p:nvPr>
        </p:nvSpPr>
        <p:spPr>
          <a:xfrm>
            <a:off x="917575" y="744538"/>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7d9d1ac514_2_77:notes"/>
          <p:cNvSpPr/>
          <p:nvPr>
            <p:ph idx="2" type="sldImg"/>
          </p:nvPr>
        </p:nvSpPr>
        <p:spPr>
          <a:xfrm>
            <a:off x="1359535" y="1240828"/>
            <a:ext cx="4078605" cy="3350236"/>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37d9d1ac514_2_77:notes"/>
          <p:cNvSpPr txBox="1"/>
          <p:nvPr>
            <p:ph idx="1" type="body"/>
          </p:nvPr>
        </p:nvSpPr>
        <p:spPr>
          <a:xfrm>
            <a:off x="679767" y="4777188"/>
            <a:ext cx="5438140" cy="39086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7d9d1ac514_2_77:notes"/>
          <p:cNvSpPr txBox="1"/>
          <p:nvPr>
            <p:ph idx="12" type="sldNum"/>
          </p:nvPr>
        </p:nvSpPr>
        <p:spPr>
          <a:xfrm>
            <a:off x="3850443" y="9428571"/>
            <a:ext cx="2945659" cy="49805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7d9d1ac514_2_95:notes"/>
          <p:cNvSpPr/>
          <p:nvPr>
            <p:ph idx="2" type="sldImg"/>
          </p:nvPr>
        </p:nvSpPr>
        <p:spPr>
          <a:xfrm>
            <a:off x="1359535" y="1240828"/>
            <a:ext cx="4078605" cy="3350236"/>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7d9d1ac514_2_95:notes"/>
          <p:cNvSpPr txBox="1"/>
          <p:nvPr>
            <p:ph idx="1" type="body"/>
          </p:nvPr>
        </p:nvSpPr>
        <p:spPr>
          <a:xfrm>
            <a:off x="679767" y="4777188"/>
            <a:ext cx="5438140" cy="39086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37d9d1ac514_2_95:notes"/>
          <p:cNvSpPr txBox="1"/>
          <p:nvPr>
            <p:ph idx="12" type="sldNum"/>
          </p:nvPr>
        </p:nvSpPr>
        <p:spPr>
          <a:xfrm>
            <a:off x="3850443" y="9428571"/>
            <a:ext cx="2945659" cy="49805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7d9d1ac514_2_106:notes"/>
          <p:cNvSpPr/>
          <p:nvPr>
            <p:ph idx="2" type="sldImg"/>
          </p:nvPr>
        </p:nvSpPr>
        <p:spPr>
          <a:xfrm>
            <a:off x="1359535" y="1240828"/>
            <a:ext cx="4078605" cy="3350236"/>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37d9d1ac514_2_106:notes"/>
          <p:cNvSpPr txBox="1"/>
          <p:nvPr>
            <p:ph idx="1" type="body"/>
          </p:nvPr>
        </p:nvSpPr>
        <p:spPr>
          <a:xfrm>
            <a:off x="679767" y="4777188"/>
            <a:ext cx="5438140" cy="39086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37d9d1ac514_2_106:notes"/>
          <p:cNvSpPr txBox="1"/>
          <p:nvPr>
            <p:ph idx="12" type="sldNum"/>
          </p:nvPr>
        </p:nvSpPr>
        <p:spPr>
          <a:xfrm>
            <a:off x="3850443" y="9428571"/>
            <a:ext cx="2945659" cy="49805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7d9d1ac514_2_114:notes"/>
          <p:cNvSpPr/>
          <p:nvPr>
            <p:ph idx="2" type="sldImg"/>
          </p:nvPr>
        </p:nvSpPr>
        <p:spPr>
          <a:xfrm>
            <a:off x="1359535" y="1240828"/>
            <a:ext cx="4078605" cy="3350236"/>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37d9d1ac514_2_114:notes"/>
          <p:cNvSpPr txBox="1"/>
          <p:nvPr>
            <p:ph idx="1" type="body"/>
          </p:nvPr>
        </p:nvSpPr>
        <p:spPr>
          <a:xfrm>
            <a:off x="679767" y="4777188"/>
            <a:ext cx="5438140" cy="39086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g37d9d1ac514_2_114:notes"/>
          <p:cNvSpPr txBox="1"/>
          <p:nvPr>
            <p:ph idx="12" type="sldNum"/>
          </p:nvPr>
        </p:nvSpPr>
        <p:spPr>
          <a:xfrm>
            <a:off x="3850443" y="9428571"/>
            <a:ext cx="2945659" cy="49805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7d9d1ac514_2_123:notes"/>
          <p:cNvSpPr/>
          <p:nvPr>
            <p:ph idx="2" type="sldImg"/>
          </p:nvPr>
        </p:nvSpPr>
        <p:spPr>
          <a:xfrm>
            <a:off x="1359535" y="1240828"/>
            <a:ext cx="4078605" cy="3350236"/>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37d9d1ac514_2_123:notes"/>
          <p:cNvSpPr txBox="1"/>
          <p:nvPr>
            <p:ph idx="1" type="body"/>
          </p:nvPr>
        </p:nvSpPr>
        <p:spPr>
          <a:xfrm>
            <a:off x="679767" y="4777188"/>
            <a:ext cx="5438140" cy="39086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g37d9d1ac514_2_123:notes"/>
          <p:cNvSpPr txBox="1"/>
          <p:nvPr>
            <p:ph idx="12" type="sldNum"/>
          </p:nvPr>
        </p:nvSpPr>
        <p:spPr>
          <a:xfrm>
            <a:off x="3850443" y="9428571"/>
            <a:ext cx="2945659" cy="49805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7d9d1ac514_2_135:notes"/>
          <p:cNvSpPr/>
          <p:nvPr>
            <p:ph idx="2" type="sldImg"/>
          </p:nvPr>
        </p:nvSpPr>
        <p:spPr>
          <a:xfrm>
            <a:off x="1359535" y="1240828"/>
            <a:ext cx="4078605" cy="3350236"/>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7d9d1ac514_2_135:notes"/>
          <p:cNvSpPr txBox="1"/>
          <p:nvPr>
            <p:ph idx="1" type="body"/>
          </p:nvPr>
        </p:nvSpPr>
        <p:spPr>
          <a:xfrm>
            <a:off x="679767" y="4777188"/>
            <a:ext cx="5438140" cy="39086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7d9d1ac514_2_135:notes"/>
          <p:cNvSpPr txBox="1"/>
          <p:nvPr>
            <p:ph idx="12" type="sldNum"/>
          </p:nvPr>
        </p:nvSpPr>
        <p:spPr>
          <a:xfrm>
            <a:off x="3850443" y="9428571"/>
            <a:ext cx="2945659" cy="49805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7d9d1ac514_2_144:notes"/>
          <p:cNvSpPr/>
          <p:nvPr>
            <p:ph idx="2" type="sldImg"/>
          </p:nvPr>
        </p:nvSpPr>
        <p:spPr>
          <a:xfrm>
            <a:off x="1359535" y="1240828"/>
            <a:ext cx="4078605" cy="3350236"/>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37d9d1ac514_2_144:notes"/>
          <p:cNvSpPr txBox="1"/>
          <p:nvPr>
            <p:ph idx="1" type="body"/>
          </p:nvPr>
        </p:nvSpPr>
        <p:spPr>
          <a:xfrm>
            <a:off x="679767" y="4777188"/>
            <a:ext cx="5438140" cy="39086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37d9d1ac514_2_144:notes"/>
          <p:cNvSpPr txBox="1"/>
          <p:nvPr>
            <p:ph idx="12" type="sldNum"/>
          </p:nvPr>
        </p:nvSpPr>
        <p:spPr>
          <a:xfrm>
            <a:off x="3850443" y="9428571"/>
            <a:ext cx="2945659" cy="49805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6" name="Google Shape;16;p20"/>
          <p:cNvSpPr txBox="1"/>
          <p:nvPr>
            <p:ph idx="10" type="dt"/>
          </p:nvPr>
        </p:nvSpPr>
        <p:spPr>
          <a:xfrm>
            <a:off x="457200" y="6356350"/>
            <a:ext cx="21336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1pPr>
            <a:lvl2pPr lvl="1" marR="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7" name="Google Shape;17;p2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entury Gothic"/>
                <a:ea typeface="Century Gothic"/>
                <a:cs typeface="Century Gothic"/>
                <a:sym typeface="Century Gothic"/>
              </a:defRPr>
            </a:lvl1pPr>
            <a:lvl2pPr indent="0" lvl="1" marL="0" marR="0" rtl="0" algn="l">
              <a:spcBef>
                <a:spcPts val="0"/>
              </a:spcBef>
              <a:buNone/>
              <a:defRPr b="0" i="0" sz="1800" u="none" cap="none" strike="noStrike">
                <a:solidFill>
                  <a:schemeClr val="dk1"/>
                </a:solidFill>
                <a:latin typeface="Century Gothic"/>
                <a:ea typeface="Century Gothic"/>
                <a:cs typeface="Century Gothic"/>
                <a:sym typeface="Century Gothic"/>
              </a:defRPr>
            </a:lvl2pPr>
            <a:lvl3pPr indent="0" lvl="2" marL="0" marR="0" rtl="0" algn="l">
              <a:spcBef>
                <a:spcPts val="0"/>
              </a:spcBef>
              <a:buNone/>
              <a:defRPr b="0" i="0" sz="1800" u="none" cap="none" strike="noStrike">
                <a:solidFill>
                  <a:schemeClr val="dk1"/>
                </a:solidFill>
                <a:latin typeface="Century Gothic"/>
                <a:ea typeface="Century Gothic"/>
                <a:cs typeface="Century Gothic"/>
                <a:sym typeface="Century Gothic"/>
              </a:defRPr>
            </a:lvl3pPr>
            <a:lvl4pPr indent="0" lvl="3" marL="0" marR="0" rtl="0" algn="l">
              <a:spcBef>
                <a:spcPts val="0"/>
              </a:spcBef>
              <a:buNone/>
              <a:defRPr b="0" i="0" sz="1800" u="none" cap="none" strike="noStrike">
                <a:solidFill>
                  <a:schemeClr val="dk1"/>
                </a:solidFill>
                <a:latin typeface="Century Gothic"/>
                <a:ea typeface="Century Gothic"/>
                <a:cs typeface="Century Gothic"/>
                <a:sym typeface="Century Gothic"/>
              </a:defRPr>
            </a:lvl4pPr>
            <a:lvl5pPr indent="0" lvl="4" marL="0" marR="0" rtl="0" algn="l">
              <a:spcBef>
                <a:spcPts val="0"/>
              </a:spcBef>
              <a:buNone/>
              <a:defRPr b="0" i="0" sz="1800" u="none" cap="none" strike="noStrike">
                <a:solidFill>
                  <a:schemeClr val="dk1"/>
                </a:solidFill>
                <a:latin typeface="Century Gothic"/>
                <a:ea typeface="Century Gothic"/>
                <a:cs typeface="Century Gothic"/>
                <a:sym typeface="Century Gothic"/>
              </a:defRPr>
            </a:lvl5pPr>
            <a:lvl6pPr indent="0" lvl="5" marL="0" marR="0" rtl="0" algn="l">
              <a:spcBef>
                <a:spcPts val="0"/>
              </a:spcBef>
              <a:buNone/>
              <a:defRPr b="0" i="0" sz="1800" u="none" cap="none" strike="noStrike">
                <a:solidFill>
                  <a:schemeClr val="dk1"/>
                </a:solidFill>
                <a:latin typeface="Century Gothic"/>
                <a:ea typeface="Century Gothic"/>
                <a:cs typeface="Century Gothic"/>
                <a:sym typeface="Century Gothic"/>
              </a:defRPr>
            </a:lvl6pPr>
            <a:lvl7pPr indent="0" lvl="6" marL="0" marR="0" rtl="0" algn="l">
              <a:spcBef>
                <a:spcPts val="0"/>
              </a:spcBef>
              <a:buNone/>
              <a:defRPr b="0" i="0" sz="1800" u="none" cap="none" strike="noStrike">
                <a:solidFill>
                  <a:schemeClr val="dk1"/>
                </a:solidFill>
                <a:latin typeface="Century Gothic"/>
                <a:ea typeface="Century Gothic"/>
                <a:cs typeface="Century Gothic"/>
                <a:sym typeface="Century Gothic"/>
              </a:defRPr>
            </a:lvl7pPr>
            <a:lvl8pPr indent="0" lvl="7" marL="0" marR="0" rtl="0" algn="l">
              <a:spcBef>
                <a:spcPts val="0"/>
              </a:spcBef>
              <a:buNone/>
              <a:defRPr b="0" i="0" sz="1800" u="none" cap="none" strike="noStrike">
                <a:solidFill>
                  <a:schemeClr val="dk1"/>
                </a:solidFill>
                <a:latin typeface="Century Gothic"/>
                <a:ea typeface="Century Gothic"/>
                <a:cs typeface="Century Gothic"/>
                <a:sym typeface="Century Gothic"/>
              </a:defRPr>
            </a:lvl8pPr>
            <a:lvl9pPr indent="0" lvl="8" marL="0" marR="0" rtl="0" algn="l">
              <a:spcBef>
                <a:spcPts val="0"/>
              </a:spcBef>
              <a:buNone/>
              <a:defRPr b="0" i="0" sz="1800" u="none" cap="none" strike="noStrike">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21"/>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1"/>
          <p:cNvSpPr txBox="1"/>
          <p:nvPr>
            <p:ph idx="1" type="body"/>
          </p:nvPr>
        </p:nvSpPr>
        <p:spPr>
          <a:xfrm>
            <a:off x="467544" y="1268760"/>
            <a:ext cx="8496944" cy="517058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 name="Google Shape;21;p2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2" name="Google Shape;22;p2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entury Gothic"/>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2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7" name="Google Shape;27;p2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23"/>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1" name="Google Shape;31;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2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3" name="Google Shape;33;p2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24"/>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7" name="Google Shape;37;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8" name="Google Shape;38;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2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1" name="Google Shape;41;p2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25"/>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5" name="Google Shape;45;p2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2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8" name="Google Shape;48;p2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entury Gothic"/>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2" name="Google Shape;52;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3" name="Google Shape;53;p2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4" name="Google Shape;54;p2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entury Gothic"/>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8"/>
          <p:cNvSpPr/>
          <p:nvPr>
            <p:ph idx="2" type="pic"/>
          </p:nvPr>
        </p:nvSpPr>
        <p:spPr>
          <a:xfrm>
            <a:off x="1792288" y="612775"/>
            <a:ext cx="5486400" cy="4114800"/>
          </a:xfrm>
          <a:prstGeom prst="rect">
            <a:avLst/>
          </a:prstGeom>
          <a:noFill/>
          <a:ln>
            <a:noFill/>
          </a:ln>
        </p:spPr>
      </p:sp>
      <p:sp>
        <p:nvSpPr>
          <p:cNvPr id="58" name="Google Shape;58;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9" name="Google Shape;59;p2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60" name="Google Shape;60;p2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1" name="Shape 61"/>
        <p:cNvGrpSpPr/>
        <p:nvPr/>
      </p:nvGrpSpPr>
      <p:grpSpPr>
        <a:xfrm>
          <a:off x="0" y="0"/>
          <a:ext cx="0" cy="0"/>
          <a:chOff x="0" y="0"/>
          <a:chExt cx="0" cy="0"/>
        </a:xfrm>
      </p:grpSpPr>
      <p:sp>
        <p:nvSpPr>
          <p:cNvPr id="62" name="Google Shape;62;p29"/>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txBox="1"/>
          <p:nvPr>
            <p:ph idx="1" type="body"/>
          </p:nvPr>
        </p:nvSpPr>
        <p:spPr>
          <a:xfrm rot="5400000">
            <a:off x="2130723" y="-394419"/>
            <a:ext cx="5170586" cy="8496944"/>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4" name="Google Shape;64;p2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65" name="Google Shape;65;p2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3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70" name="Google Shape;70;p3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entury Gothic"/>
                <a:ea typeface="Century Gothic"/>
                <a:cs typeface="Century Gothic"/>
                <a:sym typeface="Century Gothic"/>
              </a:defRPr>
            </a:lvl1pPr>
            <a:lvl2pPr indent="0" lvl="1" marL="0" marR="0" rtl="0" algn="l">
              <a:spcBef>
                <a:spcPts val="0"/>
              </a:spcBef>
              <a:buNone/>
              <a:defRPr sz="1800">
                <a:solidFill>
                  <a:schemeClr val="dk1"/>
                </a:solidFill>
                <a:latin typeface="Century Gothic"/>
                <a:ea typeface="Century Gothic"/>
                <a:cs typeface="Century Gothic"/>
                <a:sym typeface="Century Gothic"/>
              </a:defRPr>
            </a:lvl2pPr>
            <a:lvl3pPr indent="0" lvl="2" marL="0" marR="0" rtl="0" algn="l">
              <a:spcBef>
                <a:spcPts val="0"/>
              </a:spcBef>
              <a:buNone/>
              <a:defRPr sz="1800">
                <a:solidFill>
                  <a:schemeClr val="dk1"/>
                </a:solidFill>
                <a:latin typeface="Century Gothic"/>
                <a:ea typeface="Century Gothic"/>
                <a:cs typeface="Century Gothic"/>
                <a:sym typeface="Century Gothic"/>
              </a:defRPr>
            </a:lvl3pPr>
            <a:lvl4pPr indent="0" lvl="3" marL="0" marR="0" rtl="0" algn="l">
              <a:spcBef>
                <a:spcPts val="0"/>
              </a:spcBef>
              <a:buNone/>
              <a:defRPr sz="1800">
                <a:solidFill>
                  <a:schemeClr val="dk1"/>
                </a:solidFill>
                <a:latin typeface="Century Gothic"/>
                <a:ea typeface="Century Gothic"/>
                <a:cs typeface="Century Gothic"/>
                <a:sym typeface="Century Gothic"/>
              </a:defRPr>
            </a:lvl4pPr>
            <a:lvl5pPr indent="0" lvl="4" marL="0" marR="0" rtl="0" algn="l">
              <a:spcBef>
                <a:spcPts val="0"/>
              </a:spcBef>
              <a:buNone/>
              <a:defRPr sz="1800">
                <a:solidFill>
                  <a:schemeClr val="dk1"/>
                </a:solidFill>
                <a:latin typeface="Century Gothic"/>
                <a:ea typeface="Century Gothic"/>
                <a:cs typeface="Century Gothic"/>
                <a:sym typeface="Century Gothic"/>
              </a:defRPr>
            </a:lvl5pPr>
            <a:lvl6pPr indent="0" lvl="5" marL="0" marR="0" rtl="0" algn="l">
              <a:spcBef>
                <a:spcPts val="0"/>
              </a:spcBef>
              <a:buNone/>
              <a:defRPr sz="1800">
                <a:solidFill>
                  <a:schemeClr val="dk1"/>
                </a:solidFill>
                <a:latin typeface="Century Gothic"/>
                <a:ea typeface="Century Gothic"/>
                <a:cs typeface="Century Gothic"/>
                <a:sym typeface="Century Gothic"/>
              </a:defRPr>
            </a:lvl6pPr>
            <a:lvl7pPr indent="0" lvl="6" marL="0" marR="0" rtl="0" algn="l">
              <a:spcBef>
                <a:spcPts val="0"/>
              </a:spcBef>
              <a:buNone/>
              <a:defRPr sz="1800">
                <a:solidFill>
                  <a:schemeClr val="dk1"/>
                </a:solidFill>
                <a:latin typeface="Century Gothic"/>
                <a:ea typeface="Century Gothic"/>
                <a:cs typeface="Century Gothic"/>
                <a:sym typeface="Century Gothic"/>
              </a:defRPr>
            </a:lvl7pPr>
            <a:lvl8pPr indent="0" lvl="7" marL="0" marR="0" rtl="0" algn="l">
              <a:spcBef>
                <a:spcPts val="0"/>
              </a:spcBef>
              <a:buNone/>
              <a:defRPr sz="1800">
                <a:solidFill>
                  <a:schemeClr val="dk1"/>
                </a:solidFill>
                <a:latin typeface="Century Gothic"/>
                <a:ea typeface="Century Gothic"/>
                <a:cs typeface="Century Gothic"/>
                <a:sym typeface="Century Gothic"/>
              </a:defRPr>
            </a:lvl8pPr>
            <a:lvl9pPr indent="0" lvl="8" marL="0" marR="0" rtl="0" algn="l">
              <a:spcBef>
                <a:spcPts val="0"/>
              </a:spcBef>
              <a:buNone/>
              <a:defRPr sz="1800">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9" name="Shape 79"/>
        <p:cNvGrpSpPr/>
        <p:nvPr/>
      </p:nvGrpSpPr>
      <p:grpSpPr>
        <a:xfrm>
          <a:off x="0" y="0"/>
          <a:ext cx="0" cy="0"/>
          <a:chOff x="0" y="0"/>
          <a:chExt cx="0" cy="0"/>
        </a:xfrm>
      </p:grpSpPr>
      <p:sp>
        <p:nvSpPr>
          <p:cNvPr id="80" name="Google Shape;80;g37d9d1ac514_2_8"/>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BDF1"/>
              </a:buClr>
              <a:buSzPts val="5400"/>
              <a:buFont typeface="PT Sans"/>
              <a:buNone/>
              <a:defRPr b="1" sz="5400">
                <a:solidFill>
                  <a:srgbClr val="00BDF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g37d9d1ac514_2_8"/>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A5A5A5"/>
              </a:buClr>
              <a:buSzPts val="2400"/>
              <a:buNone/>
              <a:defRPr b="1" sz="2400">
                <a:solidFill>
                  <a:srgbClr val="A5A5A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82" name="Google Shape;82;g37d9d1ac514_2_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g37d9d1ac514_2_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g37d9d1ac514_2_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85" name="Shape 85"/>
        <p:cNvGrpSpPr/>
        <p:nvPr/>
      </p:nvGrpSpPr>
      <p:grpSpPr>
        <a:xfrm>
          <a:off x="0" y="0"/>
          <a:ext cx="0" cy="0"/>
          <a:chOff x="0" y="0"/>
          <a:chExt cx="0" cy="0"/>
        </a:xfrm>
      </p:grpSpPr>
      <p:sp>
        <p:nvSpPr>
          <p:cNvPr id="86" name="Google Shape;86;g37d9d1ac514_2_14"/>
          <p:cNvSpPr txBox="1"/>
          <p:nvPr>
            <p:ph type="title"/>
          </p:nvPr>
        </p:nvSpPr>
        <p:spPr>
          <a:xfrm>
            <a:off x="628650" y="500593"/>
            <a:ext cx="78867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00BDF1"/>
              </a:buClr>
              <a:buSzPts val="4000"/>
              <a:buFont typeface="PT Sans"/>
              <a:buNone/>
              <a:defRPr b="1" sz="4000">
                <a:solidFill>
                  <a:srgbClr val="00BDF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g37d9d1ac514_2_1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g37d9d1ac514_2_1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g37d9d1ac514_2_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90" name="Shape 90"/>
        <p:cNvGrpSpPr/>
        <p:nvPr/>
      </p:nvGrpSpPr>
      <p:grpSpPr>
        <a:xfrm>
          <a:off x="0" y="0"/>
          <a:ext cx="0" cy="0"/>
          <a:chOff x="0" y="0"/>
          <a:chExt cx="0" cy="0"/>
        </a:xfrm>
      </p:grpSpPr>
      <p:sp>
        <p:nvSpPr>
          <p:cNvPr id="91" name="Google Shape;91;g37d9d1ac514_2_19"/>
          <p:cNvSpPr txBox="1"/>
          <p:nvPr>
            <p:ph type="title"/>
          </p:nvPr>
        </p:nvSpPr>
        <p:spPr>
          <a:xfrm>
            <a:off x="628650" y="500062"/>
            <a:ext cx="78867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00BDF1"/>
              </a:buClr>
              <a:buSzPts val="4000"/>
              <a:buFont typeface="PT Sans"/>
              <a:buNone/>
              <a:defRPr b="1" sz="4000">
                <a:solidFill>
                  <a:srgbClr val="00BDF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g37d9d1ac514_2_1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g37d9d1ac514_2_1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g37d9d1ac514_2_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g37d9d1ac514_2_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96" name="Shape 96"/>
        <p:cNvGrpSpPr/>
        <p:nvPr/>
      </p:nvGrpSpPr>
      <p:grpSpPr>
        <a:xfrm>
          <a:off x="0" y="0"/>
          <a:ext cx="0" cy="0"/>
          <a:chOff x="0" y="0"/>
          <a:chExt cx="0" cy="0"/>
        </a:xfrm>
      </p:grpSpPr>
      <p:sp>
        <p:nvSpPr>
          <p:cNvPr id="97" name="Google Shape;97;g37d9d1ac514_2_25"/>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T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g37d9d1ac514_2_25"/>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99" name="Google Shape;99;g37d9d1ac514_2_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g37d9d1ac514_2_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g37d9d1ac514_2_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102" name="Shape 102"/>
        <p:cNvGrpSpPr/>
        <p:nvPr/>
      </p:nvGrpSpPr>
      <p:grpSpPr>
        <a:xfrm>
          <a:off x="0" y="0"/>
          <a:ext cx="0" cy="0"/>
          <a:chOff x="0" y="0"/>
          <a:chExt cx="0" cy="0"/>
        </a:xfrm>
      </p:grpSpPr>
      <p:sp>
        <p:nvSpPr>
          <p:cNvPr id="103" name="Google Shape;103;g37d9d1ac514_2_3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g37d9d1ac514_2_31"/>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g37d9d1ac514_2_31"/>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g37d9d1ac514_2_3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g37d9d1ac514_2_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g37d9d1ac514_2_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109" name="Shape 109"/>
        <p:cNvGrpSpPr/>
        <p:nvPr/>
      </p:nvGrpSpPr>
      <p:grpSpPr>
        <a:xfrm>
          <a:off x="0" y="0"/>
          <a:ext cx="0" cy="0"/>
          <a:chOff x="0" y="0"/>
          <a:chExt cx="0" cy="0"/>
        </a:xfrm>
      </p:grpSpPr>
      <p:sp>
        <p:nvSpPr>
          <p:cNvPr id="110" name="Google Shape;110;g37d9d1ac514_2_38"/>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g37d9d1ac514_2_38"/>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2" name="Google Shape;112;g37d9d1ac514_2_38"/>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g37d9d1ac514_2_38"/>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4" name="Google Shape;114;g37d9d1ac514_2_38"/>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g37d9d1ac514_2_3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g37d9d1ac514_2_3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g37d9d1ac514_2_3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18" name="Shape 118"/>
        <p:cNvGrpSpPr/>
        <p:nvPr/>
      </p:nvGrpSpPr>
      <p:grpSpPr>
        <a:xfrm>
          <a:off x="0" y="0"/>
          <a:ext cx="0" cy="0"/>
          <a:chOff x="0" y="0"/>
          <a:chExt cx="0" cy="0"/>
        </a:xfrm>
      </p:grpSpPr>
      <p:sp>
        <p:nvSpPr>
          <p:cNvPr id="119" name="Google Shape;119;g37d9d1ac514_2_4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g37d9d1ac514_2_4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g37d9d1ac514_2_4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22" name="Shape 122"/>
        <p:cNvGrpSpPr/>
        <p:nvPr/>
      </p:nvGrpSpPr>
      <p:grpSpPr>
        <a:xfrm>
          <a:off x="0" y="0"/>
          <a:ext cx="0" cy="0"/>
          <a:chOff x="0" y="0"/>
          <a:chExt cx="0" cy="0"/>
        </a:xfrm>
      </p:grpSpPr>
      <p:sp>
        <p:nvSpPr>
          <p:cNvPr id="123" name="Google Shape;123;g37d9d1ac514_2_5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T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g37d9d1ac514_2_5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25" name="Google Shape;125;g37d9d1ac514_2_5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6" name="Google Shape;126;g37d9d1ac514_2_5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g37d9d1ac514_2_5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g37d9d1ac514_2_5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29" name="Shape 129"/>
        <p:cNvGrpSpPr/>
        <p:nvPr/>
      </p:nvGrpSpPr>
      <p:grpSpPr>
        <a:xfrm>
          <a:off x="0" y="0"/>
          <a:ext cx="0" cy="0"/>
          <a:chOff x="0" y="0"/>
          <a:chExt cx="0" cy="0"/>
        </a:xfrm>
      </p:grpSpPr>
      <p:sp>
        <p:nvSpPr>
          <p:cNvPr id="130" name="Google Shape;130;g37d9d1ac514_2_5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T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g37d9d1ac514_2_58"/>
          <p:cNvSpPr/>
          <p:nvPr>
            <p:ph idx="2" type="pic"/>
          </p:nvPr>
        </p:nvSpPr>
        <p:spPr>
          <a:xfrm>
            <a:off x="3887391" y="987426"/>
            <a:ext cx="4629150" cy="4873625"/>
          </a:xfrm>
          <a:prstGeom prst="rect">
            <a:avLst/>
          </a:prstGeom>
          <a:noFill/>
          <a:ln>
            <a:noFill/>
          </a:ln>
        </p:spPr>
      </p:sp>
      <p:sp>
        <p:nvSpPr>
          <p:cNvPr id="132" name="Google Shape;132;g37d9d1ac514_2_58"/>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3" name="Google Shape;133;g37d9d1ac514_2_5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g37d9d1ac514_2_5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g37d9d1ac514_2_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136" name="Shape 136"/>
        <p:cNvGrpSpPr/>
        <p:nvPr/>
      </p:nvGrpSpPr>
      <p:grpSpPr>
        <a:xfrm>
          <a:off x="0" y="0"/>
          <a:ext cx="0" cy="0"/>
          <a:chOff x="0" y="0"/>
          <a:chExt cx="0" cy="0"/>
        </a:xfrm>
      </p:grpSpPr>
      <p:sp>
        <p:nvSpPr>
          <p:cNvPr id="137" name="Google Shape;137;g37d9d1ac514_2_6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g37d9d1ac514_2_65"/>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g37d9d1ac514_2_6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g37d9d1ac514_2_6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g37d9d1ac514_2_6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42" name="Shape 142"/>
        <p:cNvGrpSpPr/>
        <p:nvPr/>
      </p:nvGrpSpPr>
      <p:grpSpPr>
        <a:xfrm>
          <a:off x="0" y="0"/>
          <a:ext cx="0" cy="0"/>
          <a:chOff x="0" y="0"/>
          <a:chExt cx="0" cy="0"/>
        </a:xfrm>
      </p:grpSpPr>
      <p:sp>
        <p:nvSpPr>
          <p:cNvPr id="143" name="Google Shape;143;g37d9d1ac514_2_7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g37d9d1ac514_2_7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g37d9d1ac514_2_7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g37d9d1ac514_2_7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g37d9d1ac514_2_7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entury Gothic"/>
              <a:buNone/>
              <a:defRPr b="0" i="0" sz="4400" u="none" cap="none" strike="noStrik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467544" y="1268760"/>
            <a:ext cx="8496944" cy="5170586"/>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entury Gothic"/>
                <a:ea typeface="Century Gothic"/>
                <a:cs typeface="Century Gothic"/>
                <a:sym typeface="Century Gothic"/>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entury Gothic"/>
                <a:ea typeface="Century Gothic"/>
                <a:cs typeface="Century Gothic"/>
                <a:sym typeface="Century Gothic"/>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entury Gothic"/>
                <a:ea typeface="Century Gothic"/>
                <a:cs typeface="Century Gothic"/>
                <a:sym typeface="Century Gothic"/>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9pPr>
          </a:lstStyle>
          <a:p/>
        </p:txBody>
      </p:sp>
      <p:sp>
        <p:nvSpPr>
          <p:cNvPr id="12" name="Google Shape;12;p19"/>
          <p:cNvSpPr/>
          <p:nvPr/>
        </p:nvSpPr>
        <p:spPr>
          <a:xfrm>
            <a:off x="0" y="0"/>
            <a:ext cx="323528" cy="6858000"/>
          </a:xfrm>
          <a:prstGeom prst="rect">
            <a:avLst/>
          </a:prstGeom>
          <a:solidFill>
            <a:srgbClr val="2ABF7B"/>
          </a:solidFill>
          <a:ln cap="flat" cmpd="sng" w="25400">
            <a:solidFill>
              <a:srgbClr val="2ABF7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g37d9d1ac514_2_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T Sans"/>
              <a:buNone/>
              <a:defRPr b="0" i="0" sz="4400" u="none" cap="none" strike="noStrike">
                <a:solidFill>
                  <a:schemeClr val="dk1"/>
                </a:solidFill>
                <a:latin typeface="PT Sans"/>
                <a:ea typeface="PT Sans"/>
                <a:cs typeface="PT Sans"/>
                <a:sym typeface="PT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g37d9d1ac514_2_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PT Sans"/>
                <a:ea typeface="PT Sans"/>
                <a:cs typeface="PT Sans"/>
                <a:sym typeface="PT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T Sans"/>
                <a:ea typeface="PT Sans"/>
                <a:cs typeface="PT Sans"/>
                <a:sym typeface="PT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T Sans"/>
                <a:ea typeface="PT Sans"/>
                <a:cs typeface="PT Sans"/>
                <a:sym typeface="PT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T Sans"/>
                <a:ea typeface="PT Sans"/>
                <a:cs typeface="PT Sans"/>
                <a:sym typeface="PT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T Sans"/>
                <a:ea typeface="PT Sans"/>
                <a:cs typeface="PT Sans"/>
                <a:sym typeface="PT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 name="Google Shape;74;g37d9d1ac514_2_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g37d9d1ac514_2_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g37d9d1ac514_2_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
        <p:nvSpPr>
          <p:cNvPr id="77" name="Google Shape;77;g37d9d1ac514_2_0"/>
          <p:cNvSpPr/>
          <p:nvPr/>
        </p:nvSpPr>
        <p:spPr>
          <a:xfrm>
            <a:off x="0" y="6356350"/>
            <a:ext cx="9144000" cy="499532"/>
          </a:xfrm>
          <a:prstGeom prst="roundRect">
            <a:avLst>
              <a:gd fmla="val 0" name="adj"/>
            </a:avLst>
          </a:prstGeom>
          <a:gradFill>
            <a:gsLst>
              <a:gs pos="0">
                <a:srgbClr val="EAE8E8"/>
              </a:gs>
              <a:gs pos="50000">
                <a:srgbClr val="E3E1E1"/>
              </a:gs>
              <a:gs pos="100000">
                <a:srgbClr val="BBB9B9"/>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
        <p:nvSpPr>
          <p:cNvPr id="78" name="Google Shape;78;g37d9d1ac514_2_0"/>
          <p:cNvSpPr/>
          <p:nvPr/>
        </p:nvSpPr>
        <p:spPr>
          <a:xfrm>
            <a:off x="0" y="1"/>
            <a:ext cx="9144000" cy="499532"/>
          </a:xfrm>
          <a:prstGeom prst="roundRect">
            <a:avLst>
              <a:gd fmla="val 0" name="adj"/>
            </a:avLst>
          </a:prstGeom>
          <a:gradFill>
            <a:gsLst>
              <a:gs pos="0">
                <a:srgbClr val="EAE8E8"/>
              </a:gs>
              <a:gs pos="50000">
                <a:srgbClr val="E3E1E1"/>
              </a:gs>
              <a:gs pos="100000">
                <a:srgbClr val="BBB9B9"/>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
          <p:cNvSpPr txBox="1"/>
          <p:nvPr>
            <p:ph type="ctrTitle"/>
          </p:nvPr>
        </p:nvSpPr>
        <p:spPr>
          <a:xfrm>
            <a:off x="533400" y="2743200"/>
            <a:ext cx="8153400" cy="106389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entury Gothic"/>
              <a:buNone/>
            </a:pPr>
            <a:r>
              <a:rPr lang="en-GB" sz="3200"/>
              <a:t>Normalisation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
          <p:cNvSpPr txBox="1"/>
          <p:nvPr>
            <p:ph type="title"/>
          </p:nvPr>
        </p:nvSpPr>
        <p:spPr>
          <a:xfrm>
            <a:off x="565212" y="358165"/>
            <a:ext cx="8229600" cy="85496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entury Gothic"/>
              <a:buNone/>
            </a:pPr>
            <a:r>
              <a:rPr lang="en-GB"/>
              <a:t>Starter Activity </a:t>
            </a:r>
            <a:endParaRPr/>
          </a:p>
        </p:txBody>
      </p:sp>
      <p:sp>
        <p:nvSpPr>
          <p:cNvPr id="161" name="Google Shape;161;p2"/>
          <p:cNvSpPr txBox="1"/>
          <p:nvPr>
            <p:ph idx="1" type="body"/>
          </p:nvPr>
        </p:nvSpPr>
        <p:spPr>
          <a:xfrm>
            <a:off x="467544" y="1268760"/>
            <a:ext cx="8136904" cy="517058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GB"/>
              <a:t>	</a:t>
            </a:r>
            <a:endParaRPr/>
          </a:p>
        </p:txBody>
      </p:sp>
      <p:sp>
        <p:nvSpPr>
          <p:cNvPr id="162" name="Google Shape;162;p2"/>
          <p:cNvSpPr txBox="1"/>
          <p:nvPr/>
        </p:nvSpPr>
        <p:spPr>
          <a:xfrm>
            <a:off x="1727684" y="2060848"/>
            <a:ext cx="5904656" cy="230832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2400">
                <a:solidFill>
                  <a:schemeClr val="dk1"/>
                </a:solidFill>
                <a:latin typeface="Century Gothic"/>
                <a:ea typeface="Century Gothic"/>
                <a:cs typeface="Century Gothic"/>
                <a:sym typeface="Century Gothic"/>
              </a:rPr>
              <a:t>What is the difference between a flat-file database and a relational database?</a:t>
            </a:r>
            <a:endParaRPr/>
          </a:p>
          <a:p>
            <a:pPr indent="0" lvl="0" marL="0" marR="0" rtl="0" algn="ctr">
              <a:spcBef>
                <a:spcPts val="0"/>
              </a:spcBef>
              <a:spcAft>
                <a:spcPts val="0"/>
              </a:spcAft>
              <a:buNone/>
            </a:pPr>
            <a:r>
              <a:t/>
            </a:r>
            <a:endParaRPr b="1" sz="2400">
              <a:solidFill>
                <a:schemeClr val="dk1"/>
              </a:solidFill>
              <a:latin typeface="Century Gothic"/>
              <a:ea typeface="Century Gothic"/>
              <a:cs typeface="Century Gothic"/>
              <a:sym typeface="Century Gothic"/>
            </a:endParaRPr>
          </a:p>
          <a:p>
            <a:pPr indent="0" lvl="0" marL="0" marR="0" rtl="0" algn="ctr">
              <a:spcBef>
                <a:spcPts val="0"/>
              </a:spcBef>
              <a:spcAft>
                <a:spcPts val="0"/>
              </a:spcAft>
              <a:buNone/>
            </a:pPr>
            <a:r>
              <a:rPr b="1" lang="en-GB" sz="2400">
                <a:solidFill>
                  <a:schemeClr val="dk1"/>
                </a:solidFill>
                <a:latin typeface="Century Gothic"/>
                <a:ea typeface="Century Gothic"/>
                <a:cs typeface="Century Gothic"/>
                <a:sym typeface="Century Gothic"/>
              </a:rPr>
              <a:t>What are the benefits of relational-databases?</a:t>
            </a:r>
            <a:endParaRPr/>
          </a:p>
        </p:txBody>
      </p:sp>
      <p:pic>
        <p:nvPicPr>
          <p:cNvPr id="163" name="Google Shape;163;p2"/>
          <p:cNvPicPr preferRelativeResize="0"/>
          <p:nvPr/>
        </p:nvPicPr>
        <p:blipFill rotWithShape="1">
          <a:blip r:embed="rId3">
            <a:alphaModFix/>
          </a:blip>
          <a:srcRect b="0" l="0" r="0" t="0"/>
          <a:stretch/>
        </p:blipFill>
        <p:spPr>
          <a:xfrm>
            <a:off x="7851818" y="194683"/>
            <a:ext cx="956388" cy="1018450"/>
          </a:xfrm>
          <a:prstGeom prst="rect">
            <a:avLst/>
          </a:prstGeom>
          <a:noFill/>
          <a:ln>
            <a:noFill/>
          </a:ln>
        </p:spPr>
      </p:pic>
      <p:pic>
        <p:nvPicPr>
          <p:cNvPr id="164" name="Google Shape;164;p2"/>
          <p:cNvPicPr preferRelativeResize="0"/>
          <p:nvPr/>
        </p:nvPicPr>
        <p:blipFill rotWithShape="1">
          <a:blip r:embed="rId4">
            <a:alphaModFix/>
          </a:blip>
          <a:srcRect b="0" l="0" r="0" t="0"/>
          <a:stretch/>
        </p:blipFill>
        <p:spPr>
          <a:xfrm>
            <a:off x="685800" y="194163"/>
            <a:ext cx="949825" cy="949825"/>
          </a:xfrm>
          <a:prstGeom prst="rect">
            <a:avLst/>
          </a:prstGeom>
          <a:noFill/>
          <a:ln>
            <a:noFill/>
          </a:ln>
        </p:spPr>
      </p:pic>
      <p:sp>
        <p:nvSpPr>
          <p:cNvPr id="165" name="Google Shape;165;p2"/>
          <p:cNvSpPr txBox="1"/>
          <p:nvPr/>
        </p:nvSpPr>
        <p:spPr>
          <a:xfrm>
            <a:off x="565212" y="1122804"/>
            <a:ext cx="12410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3 minutes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
          <p:cNvSpPr txBox="1"/>
          <p:nvPr>
            <p:ph type="title"/>
          </p:nvPr>
        </p:nvSpPr>
        <p:spPr>
          <a:xfrm>
            <a:off x="467544" y="354772"/>
            <a:ext cx="8592168" cy="36004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entury Gothic"/>
              <a:buNone/>
            </a:pPr>
            <a:r>
              <a:rPr lang="en-GB"/>
              <a:t>Learning Habits</a:t>
            </a:r>
            <a:endParaRPr/>
          </a:p>
        </p:txBody>
      </p:sp>
      <p:sp>
        <p:nvSpPr>
          <p:cNvPr id="171" name="Google Shape;171;p3"/>
          <p:cNvSpPr/>
          <p:nvPr/>
        </p:nvSpPr>
        <p:spPr>
          <a:xfrm>
            <a:off x="546625" y="3784769"/>
            <a:ext cx="236341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Collaboration</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Working effectively with others</a:t>
            </a:r>
            <a:endParaRPr/>
          </a:p>
        </p:txBody>
      </p:sp>
      <p:sp>
        <p:nvSpPr>
          <p:cNvPr id="172" name="Google Shape;172;p3"/>
          <p:cNvSpPr/>
          <p:nvPr/>
        </p:nvSpPr>
        <p:spPr>
          <a:xfrm>
            <a:off x="558800" y="2968188"/>
            <a:ext cx="15905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Listening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…to understand</a:t>
            </a:r>
            <a:endParaRPr/>
          </a:p>
        </p:txBody>
      </p:sp>
      <p:sp>
        <p:nvSpPr>
          <p:cNvPr id="173" name="Google Shape;173;p3"/>
          <p:cNvSpPr/>
          <p:nvPr/>
        </p:nvSpPr>
        <p:spPr>
          <a:xfrm>
            <a:off x="548360" y="2236974"/>
            <a:ext cx="235192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Empathising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…with feelings and views</a:t>
            </a:r>
            <a:endParaRPr/>
          </a:p>
        </p:txBody>
      </p:sp>
      <p:sp>
        <p:nvSpPr>
          <p:cNvPr id="174" name="Google Shape;174;p3"/>
          <p:cNvSpPr/>
          <p:nvPr/>
        </p:nvSpPr>
        <p:spPr>
          <a:xfrm>
            <a:off x="6527152" y="4310670"/>
            <a:ext cx="253256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Imitation</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Picking up good habits from others</a:t>
            </a:r>
            <a:endParaRPr/>
          </a:p>
        </p:txBody>
      </p:sp>
      <p:sp>
        <p:nvSpPr>
          <p:cNvPr id="175" name="Google Shape;175;p3"/>
          <p:cNvSpPr/>
          <p:nvPr/>
        </p:nvSpPr>
        <p:spPr>
          <a:xfrm>
            <a:off x="483244" y="4712768"/>
            <a:ext cx="457200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Independence:</a:t>
            </a:r>
            <a:endParaRPr b="1"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Working effectively alone</a:t>
            </a:r>
            <a:endParaRPr/>
          </a:p>
        </p:txBody>
      </p:sp>
      <p:sp>
        <p:nvSpPr>
          <p:cNvPr id="176" name="Google Shape;176;p3"/>
          <p:cNvSpPr/>
          <p:nvPr/>
        </p:nvSpPr>
        <p:spPr>
          <a:xfrm>
            <a:off x="6421314" y="2540067"/>
            <a:ext cx="241176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Questioning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Asking questions to get below the surface</a:t>
            </a:r>
            <a:endParaRPr/>
          </a:p>
        </p:txBody>
      </p:sp>
      <p:sp>
        <p:nvSpPr>
          <p:cNvPr id="177" name="Google Shape;177;p3"/>
          <p:cNvSpPr/>
          <p:nvPr/>
        </p:nvSpPr>
        <p:spPr>
          <a:xfrm>
            <a:off x="2630639" y="2958739"/>
            <a:ext cx="3711004"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Imagining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…how things could be and seeing a range of possibilities</a:t>
            </a:r>
            <a:endParaRPr/>
          </a:p>
        </p:txBody>
      </p:sp>
      <p:sp>
        <p:nvSpPr>
          <p:cNvPr id="178" name="Google Shape;178;p3"/>
          <p:cNvSpPr/>
          <p:nvPr/>
        </p:nvSpPr>
        <p:spPr>
          <a:xfrm>
            <a:off x="6398742" y="1466781"/>
            <a:ext cx="2915816"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Reasoning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Thinking rigorously, methodically and giving explanations.</a:t>
            </a:r>
            <a:endParaRPr/>
          </a:p>
        </p:txBody>
      </p:sp>
      <p:sp>
        <p:nvSpPr>
          <p:cNvPr id="179" name="Google Shape;179;p3"/>
          <p:cNvSpPr/>
          <p:nvPr/>
        </p:nvSpPr>
        <p:spPr>
          <a:xfrm>
            <a:off x="6167812" y="5278446"/>
            <a:ext cx="280831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Capitalising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Using resources purposefully</a:t>
            </a:r>
            <a:endParaRPr/>
          </a:p>
        </p:txBody>
      </p:sp>
      <p:sp>
        <p:nvSpPr>
          <p:cNvPr id="180" name="Google Shape;180;p3"/>
          <p:cNvSpPr/>
          <p:nvPr/>
        </p:nvSpPr>
        <p:spPr>
          <a:xfrm>
            <a:off x="3503711" y="4722201"/>
            <a:ext cx="4572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Managing distractions…</a:t>
            </a:r>
            <a:endParaRPr/>
          </a:p>
          <a:p>
            <a:pPr indent="0" lvl="0" marL="0" marR="0" rtl="0" algn="l">
              <a:spcBef>
                <a:spcPts val="0"/>
              </a:spcBef>
              <a:spcAft>
                <a:spcPts val="0"/>
              </a:spcAft>
              <a:buNone/>
            </a:pPr>
            <a:r>
              <a:rPr b="1" lang="en-GB" sz="1400">
                <a:solidFill>
                  <a:schemeClr val="dk1"/>
                </a:solidFill>
                <a:latin typeface="Century Gothic"/>
                <a:ea typeface="Century Gothic"/>
                <a:cs typeface="Century Gothic"/>
                <a:sym typeface="Century Gothic"/>
              </a:rPr>
              <a:t>…</a:t>
            </a:r>
            <a:r>
              <a:rPr lang="en-GB" sz="1400">
                <a:solidFill>
                  <a:schemeClr val="dk1"/>
                </a:solidFill>
                <a:latin typeface="Century Gothic"/>
                <a:ea typeface="Century Gothic"/>
                <a:cs typeface="Century Gothic"/>
                <a:sym typeface="Century Gothic"/>
              </a:rPr>
              <a:t>and sustaining concentration</a:t>
            </a:r>
            <a:endParaRPr/>
          </a:p>
        </p:txBody>
      </p:sp>
      <p:sp>
        <p:nvSpPr>
          <p:cNvPr id="181" name="Google Shape;181;p3"/>
          <p:cNvSpPr/>
          <p:nvPr/>
        </p:nvSpPr>
        <p:spPr>
          <a:xfrm>
            <a:off x="3163969" y="2365993"/>
            <a:ext cx="191911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Effective use of time</a:t>
            </a:r>
            <a:endParaRPr sz="1400">
              <a:solidFill>
                <a:schemeClr val="dk1"/>
              </a:solidFill>
              <a:latin typeface="Century Gothic"/>
              <a:ea typeface="Century Gothic"/>
              <a:cs typeface="Century Gothic"/>
              <a:sym typeface="Century Gothic"/>
            </a:endParaRPr>
          </a:p>
        </p:txBody>
      </p:sp>
      <p:sp>
        <p:nvSpPr>
          <p:cNvPr id="182" name="Google Shape;182;p3"/>
          <p:cNvSpPr/>
          <p:nvPr/>
        </p:nvSpPr>
        <p:spPr>
          <a:xfrm>
            <a:off x="571050" y="1459593"/>
            <a:ext cx="1537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Noticing details</a:t>
            </a:r>
            <a:endParaRPr sz="1400">
              <a:solidFill>
                <a:schemeClr val="dk1"/>
              </a:solidFill>
              <a:latin typeface="Century Gothic"/>
              <a:ea typeface="Century Gothic"/>
              <a:cs typeface="Century Gothic"/>
              <a:sym typeface="Century Gothic"/>
            </a:endParaRPr>
          </a:p>
        </p:txBody>
      </p:sp>
      <p:sp>
        <p:nvSpPr>
          <p:cNvPr id="183" name="Google Shape;183;p3"/>
          <p:cNvSpPr/>
          <p:nvPr/>
        </p:nvSpPr>
        <p:spPr>
          <a:xfrm>
            <a:off x="938681" y="5446439"/>
            <a:ext cx="4572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Perseverance:</a:t>
            </a:r>
            <a:endParaRPr b="1"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Overcoming frustration and difficulty</a:t>
            </a:r>
            <a:endParaRPr/>
          </a:p>
        </p:txBody>
      </p:sp>
      <p:sp>
        <p:nvSpPr>
          <p:cNvPr id="184" name="Google Shape;184;p3"/>
          <p:cNvSpPr/>
          <p:nvPr/>
        </p:nvSpPr>
        <p:spPr>
          <a:xfrm>
            <a:off x="4763628" y="5895624"/>
            <a:ext cx="254909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Planning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b="1" lang="en-GB" sz="1400">
                <a:solidFill>
                  <a:schemeClr val="dk1"/>
                </a:solidFill>
                <a:latin typeface="Century Gothic"/>
                <a:ea typeface="Century Gothic"/>
                <a:cs typeface="Century Gothic"/>
                <a:sym typeface="Century Gothic"/>
              </a:rPr>
              <a:t>…</a:t>
            </a:r>
            <a:r>
              <a:rPr lang="en-GB" sz="1400">
                <a:solidFill>
                  <a:schemeClr val="dk1"/>
                </a:solidFill>
                <a:latin typeface="Century Gothic"/>
                <a:ea typeface="Century Gothic"/>
                <a:cs typeface="Century Gothic"/>
                <a:sym typeface="Century Gothic"/>
              </a:rPr>
              <a:t>your learning in advance</a:t>
            </a:r>
            <a:endParaRPr/>
          </a:p>
        </p:txBody>
      </p:sp>
      <p:sp>
        <p:nvSpPr>
          <p:cNvPr id="185" name="Google Shape;185;p3"/>
          <p:cNvSpPr/>
          <p:nvPr/>
        </p:nvSpPr>
        <p:spPr>
          <a:xfrm>
            <a:off x="3174510" y="1454487"/>
            <a:ext cx="29933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Adapting</a:t>
            </a:r>
            <a:r>
              <a:rPr b="1" lang="en-GB" sz="1400">
                <a:solidFill>
                  <a:schemeClr val="dk1"/>
                </a:solidFill>
                <a:latin typeface="Century Gothic"/>
                <a:ea typeface="Century Gothic"/>
                <a:cs typeface="Century Gothic"/>
                <a:sym typeface="Century Gothic"/>
              </a:rPr>
              <a:t> :</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Reflecting and making changes</a:t>
            </a:r>
            <a:endParaRPr/>
          </a:p>
        </p:txBody>
      </p:sp>
      <p:sp>
        <p:nvSpPr>
          <p:cNvPr id="186" name="Google Shape;186;p3"/>
          <p:cNvSpPr/>
          <p:nvPr/>
        </p:nvSpPr>
        <p:spPr>
          <a:xfrm>
            <a:off x="3224681" y="3831835"/>
            <a:ext cx="2987824"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Meta Learning</a:t>
            </a:r>
            <a:r>
              <a:rPr b="1" lang="en-GB" sz="1400">
                <a:solidFill>
                  <a:schemeClr val="dk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Talking about how you have been learning</a:t>
            </a:r>
            <a:endParaRPr/>
          </a:p>
        </p:txBody>
      </p:sp>
      <p:sp>
        <p:nvSpPr>
          <p:cNvPr id="187" name="Google Shape;187;p3"/>
          <p:cNvSpPr/>
          <p:nvPr/>
        </p:nvSpPr>
        <p:spPr>
          <a:xfrm>
            <a:off x="6398742" y="3427292"/>
            <a:ext cx="2915816"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u="sng">
                <a:solidFill>
                  <a:schemeClr val="dk1"/>
                </a:solidFill>
                <a:latin typeface="Century Gothic"/>
                <a:ea typeface="Century Gothic"/>
                <a:cs typeface="Century Gothic"/>
                <a:sym typeface="Century Gothic"/>
              </a:rPr>
              <a:t>Distilling…</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…what you have learnt and what you need to learn</a:t>
            </a:r>
            <a:endParaRPr/>
          </a:p>
        </p:txBody>
      </p:sp>
      <p:sp>
        <p:nvSpPr>
          <p:cNvPr id="188" name="Google Shape;188;p3"/>
          <p:cNvSpPr txBox="1"/>
          <p:nvPr/>
        </p:nvSpPr>
        <p:spPr>
          <a:xfrm>
            <a:off x="631018" y="868258"/>
            <a:ext cx="82652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entury Gothic"/>
                <a:ea typeface="Century Gothic"/>
                <a:cs typeface="Century Gothic"/>
                <a:sym typeface="Century Gothic"/>
              </a:rPr>
              <a:t>Which ‘Learning Habits’ we will need to make use of to be a success in this lesson?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4"/>
          <p:cNvSpPr txBox="1"/>
          <p:nvPr>
            <p:ph type="title"/>
          </p:nvPr>
        </p:nvSpPr>
        <p:spPr>
          <a:xfrm>
            <a:off x="467544" y="260648"/>
            <a:ext cx="8592168" cy="64807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entury Gothic"/>
              <a:buNone/>
            </a:pPr>
            <a:r>
              <a:rPr lang="en-GB"/>
              <a:t>Lesson Objectives</a:t>
            </a:r>
            <a:endParaRPr/>
          </a:p>
        </p:txBody>
      </p:sp>
      <p:sp>
        <p:nvSpPr>
          <p:cNvPr id="194" name="Google Shape;194;p4"/>
          <p:cNvSpPr txBox="1"/>
          <p:nvPr>
            <p:ph idx="1" type="body"/>
          </p:nvPr>
        </p:nvSpPr>
        <p:spPr>
          <a:xfrm>
            <a:off x="457200" y="908720"/>
            <a:ext cx="8423910" cy="3816424"/>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chemeClr val="dk1"/>
              </a:buClr>
              <a:buSzPct val="100000"/>
              <a:buNone/>
            </a:pPr>
            <a:r>
              <a:rPr b="1" lang="en-GB"/>
              <a:t>Lesson Objectives</a:t>
            </a:r>
            <a:endParaRPr/>
          </a:p>
          <a:p>
            <a:pPr indent="-342900" lvl="0" marL="342900" rtl="0" algn="l">
              <a:spcBef>
                <a:spcPts val="496"/>
              </a:spcBef>
              <a:spcAft>
                <a:spcPts val="0"/>
              </a:spcAft>
              <a:buClr>
                <a:schemeClr val="dk1"/>
              </a:buClr>
              <a:buSzPct val="100000"/>
              <a:buChar char="•"/>
            </a:pPr>
            <a:r>
              <a:rPr lang="en-GB"/>
              <a:t>Understand the reason for normalisation.</a:t>
            </a:r>
            <a:endParaRPr/>
          </a:p>
          <a:p>
            <a:pPr indent="-342900" lvl="0" marL="342900" rtl="0" algn="l">
              <a:spcBef>
                <a:spcPts val="496"/>
              </a:spcBef>
              <a:spcAft>
                <a:spcPts val="0"/>
              </a:spcAft>
              <a:buClr>
                <a:schemeClr val="dk1"/>
              </a:buClr>
              <a:buSzPct val="100000"/>
              <a:buChar char="•"/>
            </a:pPr>
            <a:r>
              <a:rPr lang="en-GB"/>
              <a:t>Understand the first 3 normal forms.</a:t>
            </a:r>
            <a:endParaRPr/>
          </a:p>
          <a:p>
            <a:pPr indent="-342900" lvl="0" marL="342900" rtl="0" algn="l">
              <a:spcBef>
                <a:spcPts val="496"/>
              </a:spcBef>
              <a:spcAft>
                <a:spcPts val="0"/>
              </a:spcAft>
              <a:buClr>
                <a:schemeClr val="dk1"/>
              </a:buClr>
              <a:buSzPct val="100000"/>
              <a:buChar char="•"/>
            </a:pPr>
            <a:r>
              <a:rPr lang="en-GB"/>
              <a:t>Understand how to normalise a database.</a:t>
            </a:r>
            <a:endParaRPr/>
          </a:p>
          <a:p>
            <a:pPr indent="0" lvl="0" marL="0" rtl="0" algn="l">
              <a:spcBef>
                <a:spcPts val="356"/>
              </a:spcBef>
              <a:spcAft>
                <a:spcPts val="0"/>
              </a:spcAft>
              <a:buClr>
                <a:schemeClr val="dk1"/>
              </a:buClr>
              <a:buSzPct val="100000"/>
              <a:buNone/>
            </a:pPr>
            <a:r>
              <a:t/>
            </a:r>
            <a:endParaRPr b="1" sz="2300"/>
          </a:p>
          <a:p>
            <a:pPr indent="0" lvl="0" marL="0" rtl="0" algn="l">
              <a:spcBef>
                <a:spcPts val="496"/>
              </a:spcBef>
              <a:spcAft>
                <a:spcPts val="0"/>
              </a:spcAft>
              <a:buClr>
                <a:schemeClr val="dk1"/>
              </a:buClr>
              <a:buSzPct val="100000"/>
              <a:buNone/>
            </a:pPr>
            <a:r>
              <a:rPr b="1" lang="en-GB"/>
              <a:t>Success Criteria</a:t>
            </a:r>
            <a:endParaRPr/>
          </a:p>
          <a:p>
            <a:pPr indent="-342900" lvl="0" marL="342900" rtl="0" algn="l">
              <a:spcBef>
                <a:spcPts val="496"/>
              </a:spcBef>
              <a:spcAft>
                <a:spcPts val="0"/>
              </a:spcAft>
              <a:buClr>
                <a:schemeClr val="dk1"/>
              </a:buClr>
              <a:buSzPct val="100000"/>
              <a:buChar char="•"/>
            </a:pPr>
            <a:r>
              <a:rPr lang="en-GB"/>
              <a:t>ALL: Be able to explain the reason for normalisation when designing databases.</a:t>
            </a:r>
            <a:endParaRPr/>
          </a:p>
          <a:p>
            <a:pPr indent="-342900" lvl="0" marL="342900" rtl="0" algn="l">
              <a:spcBef>
                <a:spcPts val="496"/>
              </a:spcBef>
              <a:spcAft>
                <a:spcPts val="0"/>
              </a:spcAft>
              <a:buClr>
                <a:schemeClr val="dk1"/>
              </a:buClr>
              <a:buSzPct val="100000"/>
              <a:buChar char="•"/>
            </a:pPr>
            <a:r>
              <a:rPr lang="en-GB"/>
              <a:t>MOST: Be able restructure a database so that it is in 3rd Normal Form</a:t>
            </a:r>
            <a:endParaRPr/>
          </a:p>
        </p:txBody>
      </p:sp>
      <p:graphicFrame>
        <p:nvGraphicFramePr>
          <p:cNvPr id="195" name="Google Shape;195;p4"/>
          <p:cNvGraphicFramePr/>
          <p:nvPr/>
        </p:nvGraphicFramePr>
        <p:xfrm>
          <a:off x="528182" y="4797152"/>
          <a:ext cx="3000000" cy="3000000"/>
        </p:xfrm>
        <a:graphic>
          <a:graphicData uri="http://schemas.openxmlformats.org/drawingml/2006/table">
            <a:tbl>
              <a:tblPr bandRow="1" firstRow="1">
                <a:noFill/>
                <a:tableStyleId>{DF85B835-437B-4002-B5F2-6BBE56A9C773}</a:tableStyleId>
              </a:tblPr>
              <a:tblGrid>
                <a:gridCol w="2304250"/>
                <a:gridCol w="6048675"/>
              </a:tblGrid>
              <a:tr h="370850">
                <a:tc gridSpan="2">
                  <a:txBody>
                    <a:bodyPr/>
                    <a:lstStyle/>
                    <a:p>
                      <a:pPr indent="0" lvl="0" marL="0" marR="0" rtl="0" algn="l">
                        <a:lnSpc>
                          <a:spcPct val="100000"/>
                        </a:lnSpc>
                        <a:spcBef>
                          <a:spcPts val="0"/>
                        </a:spcBef>
                        <a:spcAft>
                          <a:spcPts val="0"/>
                        </a:spcAft>
                        <a:buClr>
                          <a:schemeClr val="dk1"/>
                        </a:buClr>
                        <a:buSzPts val="1800"/>
                        <a:buFont typeface="Century Gothic"/>
                        <a:buNone/>
                      </a:pPr>
                      <a:r>
                        <a:rPr lang="en-GB" sz="1800" u="none" cap="none" strike="noStrike"/>
                        <a:t>Literacy – Key Words</a:t>
                      </a:r>
                      <a:endParaRPr/>
                    </a:p>
                  </a:txBody>
                  <a:tcPr marT="45725" marB="45725" marR="91450" marL="91450"/>
                </a:tc>
                <a:tc hMerge="1"/>
              </a:tr>
              <a:tr h="421250">
                <a:tc>
                  <a:txBody>
                    <a:bodyPr/>
                    <a:lstStyle/>
                    <a:p>
                      <a:pPr indent="0" lvl="0" marL="0" marR="0" rtl="0" algn="l">
                        <a:spcBef>
                          <a:spcPts val="0"/>
                        </a:spcBef>
                        <a:spcAft>
                          <a:spcPts val="0"/>
                        </a:spcAft>
                        <a:buNone/>
                      </a:pPr>
                      <a:r>
                        <a:rPr lang="en-GB" sz="1600" u="none" cap="none" strike="noStrike"/>
                        <a:t>Normalisation</a:t>
                      </a:r>
                      <a:endParaRPr/>
                    </a:p>
                  </a:txBody>
                  <a:tcPr marT="45725" marB="45725" marR="91450" marL="91450"/>
                </a:tc>
                <a:tc>
                  <a:txBody>
                    <a:bodyPr/>
                    <a:lstStyle/>
                    <a:p>
                      <a:pPr indent="0" lvl="0" marL="0" marR="0" rtl="0" algn="l">
                        <a:spcBef>
                          <a:spcPts val="0"/>
                        </a:spcBef>
                        <a:spcAft>
                          <a:spcPts val="0"/>
                        </a:spcAft>
                        <a:buNone/>
                      </a:pPr>
                      <a:r>
                        <a:rPr lang="en-GB" sz="1600"/>
                        <a:t>the process of restructuring a database in order to reduce data redundancy and improve data integrity.</a:t>
                      </a:r>
                      <a:endParaRPr/>
                    </a:p>
                  </a:txBody>
                  <a:tcPr marT="45725" marB="45725" marR="91450" marL="91450"/>
                </a:tc>
              </a:tr>
              <a:tr h="370850">
                <a:tc>
                  <a:txBody>
                    <a:bodyPr/>
                    <a:lstStyle/>
                    <a:p>
                      <a:pPr indent="0" lvl="0" marL="0" marR="0" rtl="0" algn="l">
                        <a:spcBef>
                          <a:spcPts val="0"/>
                        </a:spcBef>
                        <a:spcAft>
                          <a:spcPts val="0"/>
                        </a:spcAft>
                        <a:buNone/>
                      </a:pPr>
                      <a:r>
                        <a:rPr lang="en-GB" sz="1600"/>
                        <a:t>Relational</a:t>
                      </a:r>
                      <a:r>
                        <a:rPr lang="en-GB" sz="1600"/>
                        <a:t> Database</a:t>
                      </a:r>
                      <a:endParaRPr sz="1600"/>
                    </a:p>
                  </a:txBody>
                  <a:tcPr marT="45725" marB="45725" marR="91450" marL="91450"/>
                </a:tc>
                <a:tc>
                  <a:txBody>
                    <a:bodyPr/>
                    <a:lstStyle/>
                    <a:p>
                      <a:pPr indent="0" lvl="0" marL="0" marR="0" rtl="0" algn="l">
                        <a:spcBef>
                          <a:spcPts val="0"/>
                        </a:spcBef>
                        <a:spcAft>
                          <a:spcPts val="0"/>
                        </a:spcAft>
                        <a:buNone/>
                      </a:pPr>
                      <a:r>
                        <a:rPr lang="en-GB" sz="1600"/>
                        <a:t>A collection of data tables,</a:t>
                      </a:r>
                      <a:r>
                        <a:rPr lang="en-GB" sz="1600"/>
                        <a:t> each relating to an entity, that are linked together.</a:t>
                      </a:r>
                      <a:endParaRPr sz="1600"/>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5"/>
                                        </p:tgtEl>
                                        <p:attrNameLst>
                                          <p:attrName>style.visibility</p:attrName>
                                        </p:attrNameLst>
                                      </p:cBhvr>
                                      <p:to>
                                        <p:strVal val="visible"/>
                                      </p:to>
                                    </p:set>
                                    <p:anim calcmode="lin" valueType="num">
                                      <p:cBhvr additive="base">
                                        <p:cTn dur="500"/>
                                        <p:tgtEl>
                                          <p:spTgt spid="19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5"/>
          <p:cNvSpPr txBox="1"/>
          <p:nvPr>
            <p:ph idx="1" type="body"/>
          </p:nvPr>
        </p:nvSpPr>
        <p:spPr>
          <a:xfrm>
            <a:off x="467544" y="1308799"/>
            <a:ext cx="8496944" cy="5144537"/>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spcBef>
                <a:spcPts val="0"/>
              </a:spcBef>
              <a:spcAft>
                <a:spcPts val="0"/>
              </a:spcAft>
              <a:buClr>
                <a:schemeClr val="dk1"/>
              </a:buClr>
              <a:buSzPct val="100000"/>
              <a:buNone/>
            </a:pPr>
            <a:r>
              <a:rPr b="1" lang="en-GB">
                <a:solidFill>
                  <a:schemeClr val="dk1"/>
                </a:solidFill>
                <a:latin typeface="Century Gothic"/>
                <a:ea typeface="Century Gothic"/>
                <a:cs typeface="Century Gothic"/>
                <a:sym typeface="Century Gothic"/>
              </a:rPr>
              <a:t>Introduction</a:t>
            </a:r>
            <a:endParaRPr/>
          </a:p>
          <a:p>
            <a:pPr indent="0" lvl="0" marL="0" rtl="0" algn="l">
              <a:spcBef>
                <a:spcPts val="400"/>
              </a:spcBef>
              <a:spcAft>
                <a:spcPts val="0"/>
              </a:spcAft>
              <a:buClr>
                <a:schemeClr val="dk1"/>
              </a:buClr>
              <a:buSzPct val="100000"/>
              <a:buNone/>
            </a:pPr>
            <a:r>
              <a:t/>
            </a:r>
            <a:endParaRPr/>
          </a:p>
          <a:p>
            <a:pPr indent="0" lvl="0" marL="0" rtl="0" algn="l">
              <a:spcBef>
                <a:spcPts val="400"/>
              </a:spcBef>
              <a:spcAft>
                <a:spcPts val="0"/>
              </a:spcAft>
              <a:buClr>
                <a:schemeClr val="dk1"/>
              </a:buClr>
              <a:buSzPct val="100000"/>
              <a:buNone/>
            </a:pPr>
            <a:r>
              <a:rPr lang="en-GB">
                <a:solidFill>
                  <a:schemeClr val="dk1"/>
                </a:solidFill>
                <a:latin typeface="Century Gothic"/>
                <a:ea typeface="Century Gothic"/>
                <a:cs typeface="Century Gothic"/>
                <a:sym typeface="Century Gothic"/>
              </a:rPr>
              <a:t>The process of reorganising data in a database so that:</a:t>
            </a:r>
            <a:endParaRPr/>
          </a:p>
          <a:p>
            <a:pPr indent="-342900" lvl="0" marL="342900" rtl="0" algn="l">
              <a:spcBef>
                <a:spcPts val="400"/>
              </a:spcBef>
              <a:spcAft>
                <a:spcPts val="0"/>
              </a:spcAft>
              <a:buClr>
                <a:schemeClr val="dk1"/>
              </a:buClr>
              <a:buSzPct val="100000"/>
              <a:buFont typeface="Century Gothic"/>
              <a:buChar char="-"/>
            </a:pPr>
            <a:r>
              <a:rPr lang="en-GB">
                <a:solidFill>
                  <a:schemeClr val="dk1"/>
                </a:solidFill>
                <a:latin typeface="Century Gothic"/>
                <a:ea typeface="Century Gothic"/>
                <a:cs typeface="Century Gothic"/>
                <a:sym typeface="Century Gothic"/>
              </a:rPr>
              <a:t>there is no data redundancy (no unnecessary duplications of data)</a:t>
            </a:r>
            <a:endParaRPr/>
          </a:p>
          <a:p>
            <a:pPr indent="-342900" lvl="0" marL="342900" rtl="0" algn="l">
              <a:spcBef>
                <a:spcPts val="400"/>
              </a:spcBef>
              <a:spcAft>
                <a:spcPts val="0"/>
              </a:spcAft>
              <a:buClr>
                <a:schemeClr val="dk1"/>
              </a:buClr>
              <a:buSzPct val="100000"/>
              <a:buFont typeface="Century Gothic"/>
              <a:buChar char="-"/>
            </a:pPr>
            <a:r>
              <a:rPr lang="en-GB">
                <a:solidFill>
                  <a:schemeClr val="dk1"/>
                </a:solidFill>
                <a:latin typeface="Century Gothic"/>
                <a:ea typeface="Century Gothic"/>
                <a:cs typeface="Century Gothic"/>
                <a:sym typeface="Century Gothic"/>
              </a:rPr>
              <a:t>The data is logically grouped so that related data is stored together</a:t>
            </a:r>
            <a:endParaRPr/>
          </a:p>
          <a:p>
            <a:pPr indent="0" lvl="0" marL="0" rtl="0" algn="r">
              <a:spcBef>
                <a:spcPts val="400"/>
              </a:spcBef>
              <a:spcAft>
                <a:spcPts val="0"/>
              </a:spcAft>
              <a:buClr>
                <a:schemeClr val="dk1"/>
              </a:buClr>
              <a:buSzPct val="100000"/>
              <a:buNone/>
            </a:pPr>
            <a:r>
              <a:rPr lang="en-GB">
                <a:solidFill>
                  <a:schemeClr val="dk1"/>
                </a:solidFill>
                <a:latin typeface="Century Gothic"/>
                <a:ea typeface="Century Gothic"/>
                <a:cs typeface="Century Gothic"/>
                <a:sym typeface="Century Gothic"/>
              </a:rPr>
              <a:t>…is called normalisation.</a:t>
            </a:r>
            <a:endParaRPr/>
          </a:p>
          <a:p>
            <a:pPr indent="0" lvl="0" marL="0" rtl="0" algn="l">
              <a:spcBef>
                <a:spcPts val="400"/>
              </a:spcBef>
              <a:spcAft>
                <a:spcPts val="0"/>
              </a:spcAft>
              <a:buClr>
                <a:schemeClr val="dk1"/>
              </a:buClr>
              <a:buSzPct val="100000"/>
              <a:buNone/>
            </a:pPr>
            <a:r>
              <a:t/>
            </a:r>
            <a:endParaRPr/>
          </a:p>
          <a:p>
            <a:pPr indent="0" lvl="0" marL="0" rtl="0" algn="l">
              <a:spcBef>
                <a:spcPts val="400"/>
              </a:spcBef>
              <a:spcAft>
                <a:spcPts val="0"/>
              </a:spcAft>
              <a:buClr>
                <a:schemeClr val="dk1"/>
              </a:buClr>
              <a:buSzPct val="100000"/>
              <a:buNone/>
            </a:pPr>
            <a:r>
              <a:rPr lang="en-GB">
                <a:solidFill>
                  <a:schemeClr val="dk1"/>
                </a:solidFill>
                <a:latin typeface="Century Gothic"/>
                <a:ea typeface="Century Gothic"/>
                <a:cs typeface="Century Gothic"/>
                <a:sym typeface="Century Gothic"/>
              </a:rPr>
              <a:t>By carrying out the process of normalisation on a database, we can be assured that the data can be efficiently updated, queried and stored.</a:t>
            </a:r>
            <a:endParaRPr/>
          </a:p>
          <a:p>
            <a:pPr indent="0" lvl="0" marL="0" rtl="0" algn="l">
              <a:spcBef>
                <a:spcPts val="400"/>
              </a:spcBef>
              <a:spcAft>
                <a:spcPts val="0"/>
              </a:spcAft>
              <a:buClr>
                <a:schemeClr val="dk1"/>
              </a:buClr>
              <a:buSzPct val="100000"/>
              <a:buNone/>
            </a:pPr>
            <a:r>
              <a:t/>
            </a:r>
            <a:endParaRPr/>
          </a:p>
          <a:p>
            <a:pPr indent="0" lvl="0" marL="0" rtl="0" algn="l">
              <a:spcBef>
                <a:spcPts val="400"/>
              </a:spcBef>
              <a:spcAft>
                <a:spcPts val="0"/>
              </a:spcAft>
              <a:buClr>
                <a:schemeClr val="dk1"/>
              </a:buClr>
              <a:buSzPct val="100000"/>
              <a:buNone/>
            </a:pPr>
            <a:r>
              <a:rPr lang="en-GB">
                <a:solidFill>
                  <a:schemeClr val="dk1"/>
                </a:solidFill>
                <a:latin typeface="Century Gothic"/>
                <a:ea typeface="Century Gothic"/>
                <a:cs typeface="Century Gothic"/>
                <a:sym typeface="Century Gothic"/>
              </a:rPr>
              <a:t>There are 3 stages of normalisation:</a:t>
            </a:r>
            <a:endParaRPr/>
          </a:p>
          <a:p>
            <a:pPr indent="0" lvl="0" marL="0" rtl="0" algn="ctr">
              <a:spcBef>
                <a:spcPts val="400"/>
              </a:spcBef>
              <a:spcAft>
                <a:spcPts val="0"/>
              </a:spcAft>
              <a:buClr>
                <a:schemeClr val="dk1"/>
              </a:buClr>
              <a:buSzPct val="100000"/>
              <a:buNone/>
            </a:pPr>
            <a:r>
              <a:rPr lang="en-GB">
                <a:solidFill>
                  <a:schemeClr val="dk1"/>
                </a:solidFill>
                <a:latin typeface="Century Gothic"/>
                <a:ea typeface="Century Gothic"/>
                <a:cs typeface="Century Gothic"/>
                <a:sym typeface="Century Gothic"/>
              </a:rPr>
              <a:t>1</a:t>
            </a:r>
            <a:r>
              <a:rPr baseline="30000" lang="en-GB">
                <a:solidFill>
                  <a:schemeClr val="dk1"/>
                </a:solidFill>
                <a:latin typeface="Century Gothic"/>
                <a:ea typeface="Century Gothic"/>
                <a:cs typeface="Century Gothic"/>
                <a:sym typeface="Century Gothic"/>
              </a:rPr>
              <a:t>st</a:t>
            </a:r>
            <a:r>
              <a:rPr lang="en-GB">
                <a:solidFill>
                  <a:schemeClr val="dk1"/>
                </a:solidFill>
                <a:latin typeface="Century Gothic"/>
                <a:ea typeface="Century Gothic"/>
                <a:cs typeface="Century Gothic"/>
                <a:sym typeface="Century Gothic"/>
              </a:rPr>
              <a:t> Normal Form</a:t>
            </a:r>
            <a:endParaRPr/>
          </a:p>
          <a:p>
            <a:pPr indent="0" lvl="0" marL="0" rtl="0" algn="ctr">
              <a:spcBef>
                <a:spcPts val="400"/>
              </a:spcBef>
              <a:spcAft>
                <a:spcPts val="0"/>
              </a:spcAft>
              <a:buClr>
                <a:schemeClr val="dk1"/>
              </a:buClr>
              <a:buSzPct val="100000"/>
              <a:buNone/>
            </a:pPr>
            <a:r>
              <a:rPr lang="en-GB">
                <a:solidFill>
                  <a:schemeClr val="dk1"/>
                </a:solidFill>
                <a:latin typeface="Century Gothic"/>
                <a:ea typeface="Century Gothic"/>
                <a:cs typeface="Century Gothic"/>
                <a:sym typeface="Century Gothic"/>
              </a:rPr>
              <a:t>2</a:t>
            </a:r>
            <a:r>
              <a:rPr baseline="30000" lang="en-GB">
                <a:solidFill>
                  <a:schemeClr val="dk1"/>
                </a:solidFill>
                <a:latin typeface="Century Gothic"/>
                <a:ea typeface="Century Gothic"/>
                <a:cs typeface="Century Gothic"/>
                <a:sym typeface="Century Gothic"/>
              </a:rPr>
              <a:t>nd</a:t>
            </a:r>
            <a:r>
              <a:rPr lang="en-GB">
                <a:solidFill>
                  <a:schemeClr val="dk1"/>
                </a:solidFill>
                <a:latin typeface="Century Gothic"/>
                <a:ea typeface="Century Gothic"/>
                <a:cs typeface="Century Gothic"/>
                <a:sym typeface="Century Gothic"/>
              </a:rPr>
              <a:t> Normal Form</a:t>
            </a:r>
            <a:endParaRPr/>
          </a:p>
          <a:p>
            <a:pPr indent="0" lvl="0" marL="0" rtl="0" algn="ctr">
              <a:spcBef>
                <a:spcPts val="400"/>
              </a:spcBef>
              <a:spcAft>
                <a:spcPts val="0"/>
              </a:spcAft>
              <a:buClr>
                <a:schemeClr val="dk1"/>
              </a:buClr>
              <a:buSzPct val="100000"/>
              <a:buNone/>
            </a:pPr>
            <a:r>
              <a:rPr lang="en-GB">
                <a:solidFill>
                  <a:schemeClr val="dk1"/>
                </a:solidFill>
                <a:latin typeface="Century Gothic"/>
                <a:ea typeface="Century Gothic"/>
                <a:cs typeface="Century Gothic"/>
                <a:sym typeface="Century Gothic"/>
              </a:rPr>
              <a:t>3</a:t>
            </a:r>
            <a:r>
              <a:rPr baseline="30000" lang="en-GB">
                <a:solidFill>
                  <a:schemeClr val="dk1"/>
                </a:solidFill>
                <a:latin typeface="Century Gothic"/>
                <a:ea typeface="Century Gothic"/>
                <a:cs typeface="Century Gothic"/>
                <a:sym typeface="Century Gothic"/>
              </a:rPr>
              <a:t>rd</a:t>
            </a:r>
            <a:r>
              <a:rPr lang="en-GB">
                <a:solidFill>
                  <a:schemeClr val="dk1"/>
                </a:solidFill>
                <a:latin typeface="Century Gothic"/>
                <a:ea typeface="Century Gothic"/>
                <a:cs typeface="Century Gothic"/>
                <a:sym typeface="Century Gothic"/>
              </a:rPr>
              <a:t> Normal Form</a:t>
            </a:r>
            <a:endParaRPr/>
          </a:p>
        </p:txBody>
      </p:sp>
      <p:sp>
        <p:nvSpPr>
          <p:cNvPr id="201" name="Google Shape;201;p5"/>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6"/>
          <p:cNvSpPr txBox="1"/>
          <p:nvPr>
            <p:ph idx="1" type="body"/>
          </p:nvPr>
        </p:nvSpPr>
        <p:spPr>
          <a:xfrm>
            <a:off x="467544" y="1308799"/>
            <a:ext cx="8496944" cy="5109091"/>
          </a:xfrm>
          <a:prstGeom prst="rect">
            <a:avLst/>
          </a:prstGeom>
          <a:solidFill>
            <a:schemeClr val="lt1"/>
          </a:solid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b="1" lang="en-GB">
                <a:solidFill>
                  <a:schemeClr val="dk1"/>
                </a:solidFill>
                <a:latin typeface="Century Gothic"/>
                <a:ea typeface="Century Gothic"/>
                <a:cs typeface="Century Gothic"/>
                <a:sym typeface="Century Gothic"/>
              </a:rPr>
              <a:t>1</a:t>
            </a:r>
            <a:r>
              <a:rPr b="1" baseline="30000" lang="en-GB">
                <a:solidFill>
                  <a:schemeClr val="dk1"/>
                </a:solidFill>
                <a:latin typeface="Century Gothic"/>
                <a:ea typeface="Century Gothic"/>
                <a:cs typeface="Century Gothic"/>
                <a:sym typeface="Century Gothic"/>
              </a:rPr>
              <a:t>st</a:t>
            </a:r>
            <a:r>
              <a:rPr b="1" lang="en-GB">
                <a:solidFill>
                  <a:schemeClr val="dk1"/>
                </a:solidFill>
                <a:latin typeface="Century Gothic"/>
                <a:ea typeface="Century Gothic"/>
                <a:cs typeface="Century Gothic"/>
                <a:sym typeface="Century Gothic"/>
              </a:rPr>
              <a:t> Normal Form</a:t>
            </a:r>
            <a:endParaRPr/>
          </a:p>
          <a:p>
            <a:pPr indent="0" lvl="0" marL="0" rtl="0" algn="l">
              <a:spcBef>
                <a:spcPts val="640"/>
              </a:spcBef>
              <a:spcAft>
                <a:spcPts val="0"/>
              </a:spcAft>
              <a:buClr>
                <a:schemeClr val="dk1"/>
              </a:buClr>
              <a:buSzPts val="3200"/>
              <a:buNone/>
            </a:pPr>
            <a:r>
              <a:t/>
            </a:r>
            <a:endParaRPr/>
          </a:p>
          <a:p>
            <a:pPr indent="0" lvl="0" marL="0" rtl="0" algn="ctr">
              <a:spcBef>
                <a:spcPts val="640"/>
              </a:spcBef>
              <a:spcAft>
                <a:spcPts val="0"/>
              </a:spcAft>
              <a:buClr>
                <a:schemeClr val="dk1"/>
              </a:buClr>
              <a:buSzPts val="3200"/>
              <a:buNone/>
            </a:pPr>
            <a:r>
              <a:rPr lang="en-GB">
                <a:solidFill>
                  <a:schemeClr val="dk1"/>
                </a:solidFill>
                <a:latin typeface="Century Gothic"/>
                <a:ea typeface="Century Gothic"/>
                <a:cs typeface="Century Gothic"/>
                <a:sym typeface="Century Gothic"/>
              </a:rPr>
              <a:t>“A database will be in 1nf it is has no repeating attributes or grouped attributes”.</a:t>
            </a:r>
            <a:endParaRPr/>
          </a:p>
        </p:txBody>
      </p:sp>
      <p:sp>
        <p:nvSpPr>
          <p:cNvPr id="207" name="Google Shape;207;p6"/>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graphicFrame>
        <p:nvGraphicFramePr>
          <p:cNvPr id="212" name="Google Shape;212;p7"/>
          <p:cNvGraphicFramePr/>
          <p:nvPr/>
        </p:nvGraphicFramePr>
        <p:xfrm>
          <a:off x="500188" y="1844824"/>
          <a:ext cx="3000000" cy="3000000"/>
        </p:xfrm>
        <a:graphic>
          <a:graphicData uri="http://schemas.openxmlformats.org/drawingml/2006/table">
            <a:tbl>
              <a:tblPr bandRow="1" firstRow="1">
                <a:noFill/>
                <a:tableStyleId>{95D5A054-5678-46A9-AAA2-D13880E93588}</a:tableStyleId>
              </a:tblPr>
              <a:tblGrid>
                <a:gridCol w="693600"/>
                <a:gridCol w="726550"/>
                <a:gridCol w="707425"/>
                <a:gridCol w="576075"/>
                <a:gridCol w="720075"/>
                <a:gridCol w="829950"/>
                <a:gridCol w="1017175"/>
                <a:gridCol w="723175"/>
                <a:gridCol w="723250"/>
                <a:gridCol w="746375"/>
                <a:gridCol w="1000650"/>
              </a:tblGrid>
              <a:tr h="370850">
                <a:tc>
                  <a:txBody>
                    <a:bodyPr/>
                    <a:lstStyle/>
                    <a:p>
                      <a:pPr indent="0" lvl="0" marL="0" marR="0" rtl="0" algn="l">
                        <a:spcBef>
                          <a:spcPts val="0"/>
                        </a:spcBef>
                        <a:spcAft>
                          <a:spcPts val="0"/>
                        </a:spcAft>
                        <a:buNone/>
                      </a:pPr>
                      <a:r>
                        <a:rPr lang="en-GB" sz="11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1"/>
                          </a:solidFill>
                        </a:rPr>
                        <a:t>Student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1"/>
                          </a:solidFill>
                        </a:rPr>
                        <a:t>Gender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1"/>
                          </a:solidFill>
                        </a:rPr>
                        <a:t>GCSE Score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1"/>
                          </a:solidFill>
                        </a:rPr>
                        <a:t>Support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1"/>
                          </a:solidFill>
                        </a:rPr>
                        <a:t>DOB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1"/>
                          </a:solidFill>
                        </a:rPr>
                        <a:t>Courses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1"/>
                          </a:solidFill>
                        </a:rPr>
                        <a:t>Exam</a:t>
                      </a:r>
                      <a:r>
                        <a:rPr lang="en-GB" sz="1100">
                          <a:solidFill>
                            <a:schemeClr val="dk1"/>
                          </a:solidFill>
                        </a:rPr>
                        <a:t> Boards</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1"/>
                          </a:solidFill>
                        </a:rPr>
                        <a:t>Course</a:t>
                      </a:r>
                      <a:r>
                        <a:rPr lang="en-GB" sz="1100">
                          <a:solidFill>
                            <a:schemeClr val="dk1"/>
                          </a:solidFill>
                        </a:rPr>
                        <a:t> ID</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1"/>
                          </a:solidFill>
                        </a:rPr>
                        <a:t>Teacher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100">
                          <a:solidFill>
                            <a:schemeClr val="dk1"/>
                          </a:solidFill>
                        </a:rPr>
                        <a:t>Teacher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10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Bob</a:t>
                      </a:r>
                      <a:r>
                        <a:rPr lang="en-GB" sz="1000">
                          <a:solidFill>
                            <a:schemeClr val="dk1"/>
                          </a:solidFill>
                        </a:rPr>
                        <a:t> Jones</a:t>
                      </a:r>
                      <a:endParaRPr sz="1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Computer Science, Maths, Physics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OCR, Edexcel, 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CS12, MA31, 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162, 182, 191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Mr Wickins</a:t>
                      </a:r>
                      <a:endParaRPr/>
                    </a:p>
                    <a:p>
                      <a:pPr indent="0" lvl="0" marL="0" marR="0" rtl="0" algn="l">
                        <a:spcBef>
                          <a:spcPts val="0"/>
                        </a:spcBef>
                        <a:spcAft>
                          <a:spcPts val="0"/>
                        </a:spcAft>
                        <a:buNone/>
                      </a:pPr>
                      <a:r>
                        <a:rPr lang="en-GB" sz="1000">
                          <a:solidFill>
                            <a:schemeClr val="dk1"/>
                          </a:solidFill>
                        </a:rPr>
                        <a:t>Mr Parnell</a:t>
                      </a:r>
                      <a:endParaRPr/>
                    </a:p>
                    <a:p>
                      <a:pPr indent="0" lvl="0" marL="0" marR="0" rtl="0" algn="l">
                        <a:spcBef>
                          <a:spcPts val="0"/>
                        </a:spcBef>
                        <a:spcAft>
                          <a:spcPts val="0"/>
                        </a:spcAft>
                        <a:buNone/>
                      </a:pPr>
                      <a:r>
                        <a:rPr lang="en-GB" sz="1000">
                          <a:solidFill>
                            <a:schemeClr val="dk1"/>
                          </a:solidFill>
                        </a:rPr>
                        <a:t>Mr Jolley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10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Century Gothic"/>
                        <a:buNone/>
                      </a:pPr>
                      <a:r>
                        <a:rPr lang="en-GB" sz="10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Century Gothic"/>
                        <a:buNone/>
                      </a:pPr>
                      <a:r>
                        <a:rPr lang="en-GB" sz="10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Century Gothic"/>
                        <a:buNone/>
                      </a:pPr>
                      <a:r>
                        <a:rPr lang="en-GB" sz="10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Computer Science, Geography, Biology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OCR, OCR, 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CS12, GE22. 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Century Gothic"/>
                        <a:buNone/>
                      </a:pPr>
                      <a:r>
                        <a:rPr lang="en-GB" sz="1000">
                          <a:solidFill>
                            <a:schemeClr val="dk1"/>
                          </a:solidFill>
                        </a:rPr>
                        <a:t>162, 216, 111</a:t>
                      </a:r>
                      <a:endParaRPr/>
                    </a:p>
                    <a:p>
                      <a:pPr indent="0" lvl="0" marL="0" marR="0" rtl="0" algn="l">
                        <a:spcBef>
                          <a:spcPts val="0"/>
                        </a:spcBef>
                        <a:spcAft>
                          <a:spcPts val="0"/>
                        </a:spcAft>
                        <a:buNone/>
                      </a:pPr>
                      <a:r>
                        <a:t/>
                      </a:r>
                      <a:endParaRPr sz="1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Mr Wickins</a:t>
                      </a:r>
                      <a:endParaRPr/>
                    </a:p>
                    <a:p>
                      <a:pPr indent="0" lvl="0" marL="0" marR="0" rtl="0" algn="l">
                        <a:spcBef>
                          <a:spcPts val="0"/>
                        </a:spcBef>
                        <a:spcAft>
                          <a:spcPts val="0"/>
                        </a:spcAft>
                        <a:buNone/>
                      </a:pPr>
                      <a:r>
                        <a:rPr lang="en-GB" sz="1000">
                          <a:solidFill>
                            <a:schemeClr val="dk1"/>
                          </a:solidFill>
                        </a:rPr>
                        <a:t>Mrs Youngman</a:t>
                      </a:r>
                      <a:endParaRPr/>
                    </a:p>
                    <a:p>
                      <a:pPr indent="0" lvl="0" marL="0" marR="0" rtl="0" algn="l">
                        <a:spcBef>
                          <a:spcPts val="0"/>
                        </a:spcBef>
                        <a:spcAft>
                          <a:spcPts val="0"/>
                        </a:spcAft>
                        <a:buNone/>
                      </a:pPr>
                      <a:r>
                        <a:rPr lang="en-GB" sz="1000">
                          <a:solidFill>
                            <a:schemeClr val="dk1"/>
                          </a:solidFill>
                        </a:rPr>
                        <a:t>Mrs Lilley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10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Century Gothic"/>
                        <a:buNone/>
                      </a:pPr>
                      <a:r>
                        <a:rPr lang="en-GB" sz="10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Century Gothic"/>
                        <a:buNone/>
                      </a:pPr>
                      <a:r>
                        <a:rPr lang="en-GB" sz="10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Century Gothic"/>
                        <a:buNone/>
                      </a:pPr>
                      <a:r>
                        <a:rPr lang="en-GB" sz="10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Music,</a:t>
                      </a:r>
                      <a:r>
                        <a:rPr lang="en-GB" sz="1000">
                          <a:solidFill>
                            <a:schemeClr val="dk1"/>
                          </a:solidFill>
                        </a:rPr>
                        <a:t> History, Geography</a:t>
                      </a:r>
                      <a:endParaRPr sz="1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Eduqas, AQA, 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MU01,</a:t>
                      </a:r>
                      <a:r>
                        <a:rPr lang="en-GB" sz="1000">
                          <a:solidFill>
                            <a:schemeClr val="dk1"/>
                          </a:solidFill>
                        </a:rPr>
                        <a:t> HI23, GE22</a:t>
                      </a:r>
                      <a:endParaRPr sz="1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142, 161, 216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Mr Hickman</a:t>
                      </a:r>
                      <a:endParaRPr/>
                    </a:p>
                    <a:p>
                      <a:pPr indent="0" lvl="0" marL="0" marR="0" rtl="0" algn="l">
                        <a:spcBef>
                          <a:spcPts val="0"/>
                        </a:spcBef>
                        <a:spcAft>
                          <a:spcPts val="0"/>
                        </a:spcAft>
                        <a:buNone/>
                      </a:pPr>
                      <a:r>
                        <a:rPr lang="en-GB" sz="1000">
                          <a:solidFill>
                            <a:schemeClr val="dk1"/>
                          </a:solidFill>
                        </a:rPr>
                        <a:t>Mr Dale</a:t>
                      </a:r>
                      <a:endParaRPr/>
                    </a:p>
                    <a:p>
                      <a:pPr indent="0" lvl="0" marL="0" marR="0" rtl="0" algn="l">
                        <a:spcBef>
                          <a:spcPts val="0"/>
                        </a:spcBef>
                        <a:spcAft>
                          <a:spcPts val="0"/>
                        </a:spcAft>
                        <a:buNone/>
                      </a:pPr>
                      <a:r>
                        <a:rPr lang="en-GB" sz="1000">
                          <a:solidFill>
                            <a:schemeClr val="dk1"/>
                          </a:solidFill>
                        </a:rPr>
                        <a:t>Mrs Youngman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10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Dave</a:t>
                      </a:r>
                      <a:r>
                        <a:rPr lang="en-GB" sz="1000">
                          <a:solidFill>
                            <a:schemeClr val="dk1"/>
                          </a:solidFill>
                        </a:rPr>
                        <a:t> Smith</a:t>
                      </a:r>
                      <a:endParaRPr sz="1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Century Gothic"/>
                        <a:buNone/>
                      </a:pPr>
                      <a:r>
                        <a:rPr lang="en-GB" sz="10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Century Gothic"/>
                        <a:buNone/>
                      </a:pPr>
                      <a:r>
                        <a:rPr lang="en-GB" sz="10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000"/>
                        <a:buFont typeface="Century Gothic"/>
                        <a:buNone/>
                      </a:pPr>
                      <a:r>
                        <a:rPr lang="en-GB" sz="10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Maths, Physics,</a:t>
                      </a:r>
                      <a:r>
                        <a:rPr lang="en-GB" sz="1000">
                          <a:solidFill>
                            <a:schemeClr val="dk1"/>
                          </a:solidFill>
                        </a:rPr>
                        <a:t> PE</a:t>
                      </a:r>
                      <a:endParaRPr sz="1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Edexcel, AQA,</a:t>
                      </a:r>
                      <a:r>
                        <a:rPr lang="en-GB" sz="1000">
                          <a:solidFill>
                            <a:schemeClr val="dk1"/>
                          </a:solidFill>
                        </a:rPr>
                        <a:t> AQA</a:t>
                      </a:r>
                      <a:endParaRPr sz="1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MA31, PH78, 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182, 191, 210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1000">
                          <a:solidFill>
                            <a:schemeClr val="dk1"/>
                          </a:solidFill>
                        </a:rPr>
                        <a:t>Mr Parnell</a:t>
                      </a:r>
                      <a:endParaRPr/>
                    </a:p>
                    <a:p>
                      <a:pPr indent="0" lvl="0" marL="0" marR="0" rtl="0" algn="l">
                        <a:spcBef>
                          <a:spcPts val="0"/>
                        </a:spcBef>
                        <a:spcAft>
                          <a:spcPts val="0"/>
                        </a:spcAft>
                        <a:buNone/>
                      </a:pPr>
                      <a:r>
                        <a:rPr lang="en-GB" sz="1000">
                          <a:solidFill>
                            <a:schemeClr val="dk1"/>
                          </a:solidFill>
                        </a:rPr>
                        <a:t>Mr Jolley</a:t>
                      </a:r>
                      <a:endParaRPr/>
                    </a:p>
                    <a:p>
                      <a:pPr indent="0" lvl="0" marL="0" marR="0" rtl="0" algn="l">
                        <a:spcBef>
                          <a:spcPts val="0"/>
                        </a:spcBef>
                        <a:spcAft>
                          <a:spcPts val="0"/>
                        </a:spcAft>
                        <a:buNone/>
                      </a:pPr>
                      <a:r>
                        <a:rPr lang="en-GB" sz="1000">
                          <a:solidFill>
                            <a:schemeClr val="dk1"/>
                          </a:solidFill>
                        </a:rPr>
                        <a:t>Mr Williams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3" name="Google Shape;213;p7"/>
          <p:cNvSpPr txBox="1"/>
          <p:nvPr/>
        </p:nvSpPr>
        <p:spPr>
          <a:xfrm>
            <a:off x="467544" y="1268760"/>
            <a:ext cx="849694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Consider the following flat-file database table which contains data about the courses taken by four A-Level students:</a:t>
            </a:r>
            <a:endParaRPr/>
          </a:p>
        </p:txBody>
      </p:sp>
      <p:sp>
        <p:nvSpPr>
          <p:cNvPr id="214" name="Google Shape;214;p7"/>
          <p:cNvSpPr txBox="1"/>
          <p:nvPr/>
        </p:nvSpPr>
        <p:spPr>
          <a:xfrm>
            <a:off x="467544" y="4976148"/>
            <a:ext cx="8496944" cy="1600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In its current form there are several fields which contain grouped attributes. Grouping attributes like this makes searching for specific data quite difficult. For example, if you wanted to find all students that take Computer Science, you couldn’t run the query SELECT * FROM students WHERE Courses = ‘Computer Science’, because each entry in the courses field contains several pieces of data.</a:t>
            </a:r>
            <a:endParaRPr/>
          </a:p>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One alternative would be to reconstruct the table as follows…</a:t>
            </a:r>
            <a:endParaRPr/>
          </a:p>
        </p:txBody>
      </p:sp>
      <p:sp>
        <p:nvSpPr>
          <p:cNvPr id="215" name="Google Shape;215;p7"/>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anim calcmode="lin" valueType="num">
                                      <p:cBhvr additive="base">
                                        <p:cTn dur="500"/>
                                        <p:tgtEl>
                                          <p:spTgt spid="213">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12"/>
                                        </p:tgtEl>
                                        <p:attrNameLst>
                                          <p:attrName>style.visibility</p:attrName>
                                        </p:attrNameLst>
                                      </p:cBhvr>
                                      <p:to>
                                        <p:strVal val="visible"/>
                                      </p:to>
                                    </p:set>
                                    <p:anim calcmode="lin" valueType="num">
                                      <p:cBhvr additive="base">
                                        <p:cTn dur="500"/>
                                        <p:tgtEl>
                                          <p:spTgt spid="21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 calcmode="lin" valueType="num">
                                      <p:cBhvr additive="base">
                                        <p:cTn dur="500"/>
                                        <p:tgtEl>
                                          <p:spTgt spid="21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anim calcmode="lin" valueType="num">
                                      <p:cBhvr additive="base">
                                        <p:cTn dur="500"/>
                                        <p:tgtEl>
                                          <p:spTgt spid="21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anim calcmode="lin" valueType="num">
                                      <p:cBhvr additive="base">
                                        <p:cTn dur="500"/>
                                        <p:tgtEl>
                                          <p:spTgt spid="21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graphicFrame>
        <p:nvGraphicFramePr>
          <p:cNvPr id="220" name="Google Shape;220;p8"/>
          <p:cNvGraphicFramePr/>
          <p:nvPr/>
        </p:nvGraphicFramePr>
        <p:xfrm>
          <a:off x="500188" y="2348880"/>
          <a:ext cx="3000000" cy="3000000"/>
        </p:xfrm>
        <a:graphic>
          <a:graphicData uri="http://schemas.openxmlformats.org/drawingml/2006/table">
            <a:tbl>
              <a:tblPr bandRow="1" firstRow="1">
                <a:noFill/>
                <a:tableStyleId>{95D5A054-5678-46A9-AAA2-D13880E93588}</a:tableStyleId>
              </a:tblPr>
              <a:tblGrid>
                <a:gridCol w="544575"/>
                <a:gridCol w="570425"/>
                <a:gridCol w="536650"/>
                <a:gridCol w="471050"/>
                <a:gridCol w="565350"/>
                <a:gridCol w="721725"/>
                <a:gridCol w="805800"/>
                <a:gridCol w="879050"/>
                <a:gridCol w="879050"/>
                <a:gridCol w="659300"/>
                <a:gridCol w="659300"/>
                <a:gridCol w="586025"/>
                <a:gridCol w="586025"/>
              </a:tblGrid>
              <a:tr h="370850">
                <a:tc>
                  <a:txBody>
                    <a:bodyPr/>
                    <a:lstStyle/>
                    <a:p>
                      <a:pPr indent="0" lvl="0" marL="0" marR="0" rtl="0" algn="l">
                        <a:spcBef>
                          <a:spcPts val="0"/>
                        </a:spcBef>
                        <a:spcAft>
                          <a:spcPts val="0"/>
                        </a:spcAft>
                        <a:buNone/>
                      </a:pPr>
                      <a:r>
                        <a:rPr lang="en-GB" sz="7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700">
                          <a:solidFill>
                            <a:schemeClr val="dk1"/>
                          </a:solidFill>
                        </a:rPr>
                        <a:t>Student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700">
                          <a:solidFill>
                            <a:schemeClr val="dk1"/>
                          </a:solidFill>
                        </a:rPr>
                        <a:t>Gender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700">
                          <a:solidFill>
                            <a:schemeClr val="dk1"/>
                          </a:solidFill>
                        </a:rPr>
                        <a:t>GCSE Score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700">
                          <a:solidFill>
                            <a:schemeClr val="dk1"/>
                          </a:solidFill>
                        </a:rPr>
                        <a:t>Support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700">
                          <a:solidFill>
                            <a:schemeClr val="dk1"/>
                          </a:solidFill>
                        </a:rPr>
                        <a:t>DOB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700">
                          <a:solidFill>
                            <a:schemeClr val="dk1"/>
                          </a:solidFill>
                        </a:rPr>
                        <a:t>Course</a:t>
                      </a:r>
                      <a:r>
                        <a:rPr lang="en-GB" sz="700">
                          <a:solidFill>
                            <a:schemeClr val="dk1"/>
                          </a:solidFill>
                        </a:rPr>
                        <a:t> 1</a:t>
                      </a:r>
                      <a:endParaRPr sz="7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700">
                          <a:solidFill>
                            <a:schemeClr val="dk1"/>
                          </a:solidFill>
                        </a:rPr>
                        <a:t>Course 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700">
                          <a:solidFill>
                            <a:schemeClr val="dk1"/>
                          </a:solidFill>
                        </a:rPr>
                        <a:t>Course 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700">
                          <a:solidFill>
                            <a:schemeClr val="dk1"/>
                          </a:solidFill>
                        </a:rPr>
                        <a:t>Exam</a:t>
                      </a:r>
                      <a:r>
                        <a:rPr lang="en-GB" sz="700">
                          <a:solidFill>
                            <a:schemeClr val="dk1"/>
                          </a:solidFill>
                        </a:rPr>
                        <a:t> Board 1</a:t>
                      </a:r>
                      <a:endParaRPr sz="7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700"/>
                        <a:buFont typeface="Century Gothic"/>
                        <a:buNone/>
                      </a:pPr>
                      <a:r>
                        <a:rPr lang="en-GB" sz="700">
                          <a:solidFill>
                            <a:schemeClr val="dk1"/>
                          </a:solidFill>
                        </a:rPr>
                        <a:t>Exam</a:t>
                      </a:r>
                      <a:r>
                        <a:rPr lang="en-GB" sz="700">
                          <a:solidFill>
                            <a:schemeClr val="dk1"/>
                          </a:solidFill>
                        </a:rPr>
                        <a:t> Board 2</a:t>
                      </a:r>
                      <a:endParaRPr sz="7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700"/>
                        <a:buFont typeface="Century Gothic"/>
                        <a:buNone/>
                      </a:pPr>
                      <a:r>
                        <a:rPr lang="en-GB" sz="700">
                          <a:solidFill>
                            <a:schemeClr val="dk1"/>
                          </a:solidFill>
                        </a:rPr>
                        <a:t>Exam</a:t>
                      </a:r>
                      <a:r>
                        <a:rPr lang="en-GB" sz="700">
                          <a:solidFill>
                            <a:schemeClr val="dk1"/>
                          </a:solidFill>
                        </a:rPr>
                        <a:t> Board 3</a:t>
                      </a:r>
                      <a:endParaRPr sz="7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700"/>
                        <a:buFont typeface="Century Gothic"/>
                        <a:buNone/>
                      </a:pPr>
                      <a:r>
                        <a:rPr lang="en-GB" sz="700">
                          <a:solidFill>
                            <a:schemeClr val="dk1"/>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Computer Science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Maths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Physics</a:t>
                      </a:r>
                      <a:endParaRPr/>
                    </a:p>
                    <a:p>
                      <a:pPr indent="0" lvl="0" marL="0" marR="0" rtl="0" algn="l">
                        <a:spcBef>
                          <a:spcPts val="0"/>
                        </a:spcBef>
                        <a:spcAft>
                          <a:spcPts val="0"/>
                        </a:spcAft>
                        <a:buNone/>
                      </a:pPr>
                      <a:r>
                        <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Edexcel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p>
                      <a:pPr indent="0" lvl="0" marL="0" marR="0" rtl="0" algn="l">
                        <a:spcBef>
                          <a:spcPts val="0"/>
                        </a:spcBef>
                        <a:spcAft>
                          <a:spcPts val="0"/>
                        </a:spcAft>
                        <a:buNone/>
                      </a:pPr>
                      <a:r>
                        <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Computer Science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Geography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Biology</a:t>
                      </a:r>
                      <a:endParaRPr/>
                    </a:p>
                    <a:p>
                      <a:pPr indent="0" lvl="0" marL="0" marR="0" rtl="0" algn="l">
                        <a:spcBef>
                          <a:spcPts val="0"/>
                        </a:spcBef>
                        <a:spcAft>
                          <a:spcPts val="0"/>
                        </a:spcAft>
                        <a:buNone/>
                      </a:pPr>
                      <a:r>
                        <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p>
                      <a:pPr indent="0" lvl="0" marL="0" marR="0" rtl="0" algn="l">
                        <a:spcBef>
                          <a:spcPts val="0"/>
                        </a:spcBef>
                        <a:spcAft>
                          <a:spcPts val="0"/>
                        </a:spcAft>
                        <a:buNone/>
                      </a:pPr>
                      <a:r>
                        <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Music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History</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Geography</a:t>
                      </a:r>
                      <a:endParaRPr sz="900">
                        <a:solidFill>
                          <a:schemeClr val="dk1"/>
                        </a:solidFill>
                      </a:endParaRPr>
                    </a:p>
                    <a:p>
                      <a:pPr indent="0" lvl="0" marL="0" marR="0" rtl="0" algn="l">
                        <a:spcBef>
                          <a:spcPts val="0"/>
                        </a:spcBef>
                        <a:spcAft>
                          <a:spcPts val="0"/>
                        </a:spcAft>
                        <a:buNone/>
                      </a:pPr>
                      <a:r>
                        <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Eduqas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 </a:t>
                      </a:r>
                      <a:endParaRPr/>
                    </a:p>
                    <a:p>
                      <a:pPr indent="0" lvl="0" marL="0" marR="0" rtl="0" algn="l">
                        <a:spcBef>
                          <a:spcPts val="0"/>
                        </a:spcBef>
                        <a:spcAft>
                          <a:spcPts val="0"/>
                        </a:spcAft>
                        <a:buNone/>
                      </a:pPr>
                      <a:r>
                        <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OCR</a:t>
                      </a:r>
                      <a:endParaRPr/>
                    </a:p>
                    <a:p>
                      <a:pPr indent="0" lvl="0" marL="0" marR="0" rtl="0" algn="l">
                        <a:spcBef>
                          <a:spcPts val="0"/>
                        </a:spcBef>
                        <a:spcAft>
                          <a:spcPts val="0"/>
                        </a:spcAft>
                        <a:buNone/>
                      </a:pPr>
                      <a:r>
                        <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Physics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PE</a:t>
                      </a:r>
                      <a:endParaRPr sz="900">
                        <a:solidFill>
                          <a:schemeClr val="dk1"/>
                        </a:solidFill>
                      </a:endParaRPr>
                    </a:p>
                    <a:p>
                      <a:pPr indent="0" lvl="0" marL="0" marR="0" rtl="0" algn="l">
                        <a:spcBef>
                          <a:spcPts val="0"/>
                        </a:spcBef>
                        <a:spcAft>
                          <a:spcPts val="0"/>
                        </a:spcAft>
                        <a:buNone/>
                      </a:pPr>
                      <a:r>
                        <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Edexcel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r>
                        <a:rPr lang="en-GB" sz="900">
                          <a:solidFill>
                            <a:schemeClr val="dk1"/>
                          </a:solidFill>
                        </a:rPr>
                        <a:t> </a:t>
                      </a:r>
                      <a:endParaRPr sz="900">
                        <a:solidFill>
                          <a:schemeClr val="dk1"/>
                        </a:solidFill>
                      </a:endParaRPr>
                    </a:p>
                    <a:p>
                      <a:pPr indent="0" lvl="0" marL="0" marR="0" rtl="0" algn="l">
                        <a:spcBef>
                          <a:spcPts val="0"/>
                        </a:spcBef>
                        <a:spcAft>
                          <a:spcPts val="0"/>
                        </a:spcAft>
                        <a:buNone/>
                      </a:pPr>
                      <a:r>
                        <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sz="900">
                        <a:solidFill>
                          <a:schemeClr val="dk1"/>
                        </a:solidFill>
                      </a:endParaRPr>
                    </a:p>
                    <a:p>
                      <a:pPr indent="0" lvl="0" marL="0" marR="0" rtl="0" algn="l">
                        <a:spcBef>
                          <a:spcPts val="0"/>
                        </a:spcBef>
                        <a:spcAft>
                          <a:spcPts val="0"/>
                        </a:spcAft>
                        <a:buNone/>
                      </a:pPr>
                      <a:r>
                        <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21" name="Google Shape;221;p8"/>
          <p:cNvSpPr txBox="1"/>
          <p:nvPr/>
        </p:nvSpPr>
        <p:spPr>
          <a:xfrm>
            <a:off x="467544" y="1268760"/>
            <a:ext cx="8496944"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So here shows an example of the same database where the grouped attributes have now been moved into separate columns with each field now containing a single piece of data. This means that data in the table is more easily queried (e.g.: you can run the query SELECT * FROM students WHERE Course 1 = ‘Computer Science’).</a:t>
            </a:r>
            <a:endParaRPr/>
          </a:p>
        </p:txBody>
      </p:sp>
      <p:sp>
        <p:nvSpPr>
          <p:cNvPr id="222" name="Google Shape;222;p8"/>
          <p:cNvSpPr txBox="1"/>
          <p:nvPr/>
        </p:nvSpPr>
        <p:spPr>
          <a:xfrm>
            <a:off x="467544" y="4365104"/>
            <a:ext cx="8496944"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However, there is still an issue with the structure of this database. In its current form there are repeated attributes (course 1, course 2, course 3 etc). Tables with repeated attributes like this are also problematic.</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Imagine if some students dropped one or more subjects. The database would begin to have several empty (NULL) fields. </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Worse still, imagine if some students decided that they would take more than 3 courses. We would have to completely restructure the database, which would be very challenging if already filled with lots of data.</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The process of normalisation seeks to solve these issues and we will now look at the first step in normalising this databases so that its design enables the database to be fully efficient.</a:t>
            </a:r>
            <a:endParaRPr/>
          </a:p>
        </p:txBody>
      </p:sp>
      <p:sp>
        <p:nvSpPr>
          <p:cNvPr id="223" name="Google Shape;223;p8"/>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 calcmode="lin" valueType="num">
                                      <p:cBhvr additive="base">
                                        <p:cTn dur="500"/>
                                        <p:tgtEl>
                                          <p:spTgt spid="221">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20"/>
                                        </p:tgtEl>
                                        <p:attrNameLst>
                                          <p:attrName>style.visibility</p:attrName>
                                        </p:attrNameLst>
                                      </p:cBhvr>
                                      <p:to>
                                        <p:strVal val="visible"/>
                                      </p:to>
                                    </p:set>
                                    <p:anim calcmode="lin" valueType="num">
                                      <p:cBhvr additive="base">
                                        <p:cTn dur="500"/>
                                        <p:tgtEl>
                                          <p:spTgt spid="22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anim calcmode="lin" valueType="num">
                                      <p:cBhvr additive="base">
                                        <p:cTn dur="500"/>
                                        <p:tgtEl>
                                          <p:spTgt spid="22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2">
                                            <p:txEl>
                                              <p:pRg end="1" st="1"/>
                                            </p:txEl>
                                          </p:spTgt>
                                        </p:tgtEl>
                                        <p:attrNameLst>
                                          <p:attrName>style.visibility</p:attrName>
                                        </p:attrNameLst>
                                      </p:cBhvr>
                                      <p:to>
                                        <p:strVal val="visible"/>
                                      </p:to>
                                    </p:set>
                                    <p:anim calcmode="lin" valueType="num">
                                      <p:cBhvr additive="base">
                                        <p:cTn dur="500"/>
                                        <p:tgtEl>
                                          <p:spTgt spid="22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2">
                                            <p:txEl>
                                              <p:pRg end="2" st="2"/>
                                            </p:txEl>
                                          </p:spTgt>
                                        </p:tgtEl>
                                        <p:attrNameLst>
                                          <p:attrName>style.visibility</p:attrName>
                                        </p:attrNameLst>
                                      </p:cBhvr>
                                      <p:to>
                                        <p:strVal val="visible"/>
                                      </p:to>
                                    </p:set>
                                    <p:anim calcmode="lin" valueType="num">
                                      <p:cBhvr additive="base">
                                        <p:cTn dur="500"/>
                                        <p:tgtEl>
                                          <p:spTgt spid="22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2">
                                            <p:txEl>
                                              <p:pRg end="3" st="3"/>
                                            </p:txEl>
                                          </p:spTgt>
                                        </p:tgtEl>
                                        <p:attrNameLst>
                                          <p:attrName>style.visibility</p:attrName>
                                        </p:attrNameLst>
                                      </p:cBhvr>
                                      <p:to>
                                        <p:strVal val="visible"/>
                                      </p:to>
                                    </p:set>
                                    <p:anim calcmode="lin" valueType="num">
                                      <p:cBhvr additive="base">
                                        <p:cTn dur="500"/>
                                        <p:tgtEl>
                                          <p:spTgt spid="22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graphicFrame>
        <p:nvGraphicFramePr>
          <p:cNvPr id="228" name="Google Shape;228;p9"/>
          <p:cNvGraphicFramePr/>
          <p:nvPr/>
        </p:nvGraphicFramePr>
        <p:xfrm>
          <a:off x="467544" y="2408272"/>
          <a:ext cx="3000000" cy="3000000"/>
        </p:xfrm>
        <a:graphic>
          <a:graphicData uri="http://schemas.openxmlformats.org/drawingml/2006/table">
            <a:tbl>
              <a:tblPr bandRow="1" firstRow="1">
                <a:noFill/>
                <a:tableStyleId>{95D5A054-5678-46A9-AAA2-D13880E93588}</a:tableStyleId>
              </a:tblPr>
              <a:tblGrid>
                <a:gridCol w="598900"/>
                <a:gridCol w="993400"/>
                <a:gridCol w="653600"/>
                <a:gridCol w="524050"/>
                <a:gridCol w="673775"/>
                <a:gridCol w="757225"/>
                <a:gridCol w="1271700"/>
                <a:gridCol w="648075"/>
                <a:gridCol w="600775"/>
                <a:gridCol w="697500"/>
                <a:gridCol w="1077975"/>
              </a:tblGrid>
              <a:tr h="224775">
                <a:tc>
                  <a:txBody>
                    <a:bodyPr/>
                    <a:lstStyle/>
                    <a:p>
                      <a:pPr indent="0" lvl="0" marL="0" marR="0" rtl="0" algn="l">
                        <a:spcBef>
                          <a:spcPts val="0"/>
                        </a:spcBef>
                        <a:spcAft>
                          <a:spcPts val="0"/>
                        </a:spcAft>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Student</a:t>
                      </a:r>
                      <a:r>
                        <a:rPr lang="en-GB" sz="900">
                          <a:solidFill>
                            <a:schemeClr val="dk1"/>
                          </a:solidFill>
                        </a:rPr>
                        <a:t> Name</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Gender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GCSE Score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Support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DOB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Exam</a:t>
                      </a:r>
                      <a:r>
                        <a:rPr lang="en-GB" sz="900">
                          <a:solidFill>
                            <a:schemeClr val="dk1"/>
                          </a:solidFill>
                        </a:rPr>
                        <a:t> Boards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a:t>
                      </a:r>
                      <a:r>
                        <a:rPr lang="en-GB" sz="900">
                          <a:solidFill>
                            <a:schemeClr val="dk1"/>
                          </a:solidFill>
                        </a:rPr>
                        <a:t> ID</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Computer Science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a:t>
                      </a:r>
                      <a:r>
                        <a:rPr lang="en-GB" sz="900">
                          <a:solidFill>
                            <a:schemeClr val="dk1"/>
                          </a:solidFill>
                        </a:rPr>
                        <a:t> </a:t>
                      </a:r>
                      <a:r>
                        <a:rPr lang="en-GB" sz="900">
                          <a:solidFill>
                            <a:schemeClr val="dk1"/>
                          </a:solidFill>
                        </a:rPr>
                        <a:t>Wickins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Maths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Edexcel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Parnell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Physics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Jolley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Computer Science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 Wickins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Geography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Youngman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Biology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Lilley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Music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Eduqas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142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 Hickman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History</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HI23</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Dale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Geography</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Youngman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Edexcel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 Parnell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Physics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Jolley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PE</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Williams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29" name="Google Shape;229;p9"/>
          <p:cNvSpPr/>
          <p:nvPr/>
        </p:nvSpPr>
        <p:spPr>
          <a:xfrm>
            <a:off x="467544" y="1268760"/>
            <a:ext cx="8496944"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chemeClr val="dk1"/>
                </a:solidFill>
                <a:latin typeface="Century Gothic"/>
                <a:ea typeface="Century Gothic"/>
                <a:cs typeface="Century Gothic"/>
                <a:sym typeface="Century Gothic"/>
              </a:rPr>
              <a:t>First Normal Form:</a:t>
            </a:r>
            <a:endParaRPr/>
          </a:p>
          <a:p>
            <a:pPr indent="0" lvl="0" marL="0" marR="0" rtl="0" algn="ctr">
              <a:spcBef>
                <a:spcPts val="0"/>
              </a:spcBef>
              <a:spcAft>
                <a:spcPts val="0"/>
              </a:spcAft>
              <a:buNone/>
            </a:pPr>
            <a:r>
              <a:rPr b="1" lang="en-GB" sz="1400">
                <a:solidFill>
                  <a:schemeClr val="dk1"/>
                </a:solidFill>
                <a:latin typeface="Century Gothic"/>
                <a:ea typeface="Century Gothic"/>
                <a:cs typeface="Century Gothic"/>
                <a:sym typeface="Century Gothic"/>
              </a:rPr>
              <a:t>“A database will be in ‘1</a:t>
            </a:r>
            <a:r>
              <a:rPr b="1" baseline="30000" lang="en-GB" sz="1400">
                <a:solidFill>
                  <a:schemeClr val="dk1"/>
                </a:solidFill>
                <a:latin typeface="Century Gothic"/>
                <a:ea typeface="Century Gothic"/>
                <a:cs typeface="Century Gothic"/>
                <a:sym typeface="Century Gothic"/>
              </a:rPr>
              <a:t>st</a:t>
            </a:r>
            <a:r>
              <a:rPr b="1" lang="en-GB" sz="1400">
                <a:solidFill>
                  <a:schemeClr val="dk1"/>
                </a:solidFill>
                <a:latin typeface="Century Gothic"/>
                <a:ea typeface="Century Gothic"/>
                <a:cs typeface="Century Gothic"/>
                <a:sym typeface="Century Gothic"/>
              </a:rPr>
              <a:t> Normal Form’ it is has no repeating attributes or grouped attributes”.</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To get the previous database into 1</a:t>
            </a:r>
            <a:r>
              <a:rPr baseline="30000" lang="en-GB" sz="1400">
                <a:solidFill>
                  <a:schemeClr val="dk1"/>
                </a:solidFill>
                <a:latin typeface="Century Gothic"/>
                <a:ea typeface="Century Gothic"/>
                <a:cs typeface="Century Gothic"/>
                <a:sym typeface="Century Gothic"/>
              </a:rPr>
              <a:t>st</a:t>
            </a:r>
            <a:r>
              <a:rPr lang="en-GB" sz="1400">
                <a:solidFill>
                  <a:schemeClr val="dk1"/>
                </a:solidFill>
                <a:latin typeface="Century Gothic"/>
                <a:ea typeface="Century Gothic"/>
                <a:cs typeface="Century Gothic"/>
                <a:sym typeface="Century Gothic"/>
              </a:rPr>
              <a:t> normal form we simply need to increase the number of records the table has so that attributes are no longer grouped or repeated.</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This is demonstrated in the table below which is now in 1</a:t>
            </a:r>
            <a:r>
              <a:rPr baseline="30000" lang="en-GB" sz="1400">
                <a:solidFill>
                  <a:schemeClr val="dk1"/>
                </a:solidFill>
                <a:latin typeface="Century Gothic"/>
                <a:ea typeface="Century Gothic"/>
                <a:cs typeface="Century Gothic"/>
                <a:sym typeface="Century Gothic"/>
              </a:rPr>
              <a:t>st</a:t>
            </a:r>
            <a:r>
              <a:rPr lang="en-GB" sz="1400">
                <a:solidFill>
                  <a:schemeClr val="dk1"/>
                </a:solidFill>
                <a:latin typeface="Century Gothic"/>
                <a:ea typeface="Century Gothic"/>
                <a:cs typeface="Century Gothic"/>
                <a:sym typeface="Century Gothic"/>
              </a:rPr>
              <a:t> normal form:</a:t>
            </a:r>
            <a:endParaRPr/>
          </a:p>
        </p:txBody>
      </p:sp>
      <p:sp>
        <p:nvSpPr>
          <p:cNvPr id="230" name="Google Shape;230;p9"/>
          <p:cNvSpPr/>
          <p:nvPr/>
        </p:nvSpPr>
        <p:spPr>
          <a:xfrm>
            <a:off x="467544" y="5517232"/>
            <a:ext cx="8496944"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This table be easily queried as each field contains a single piece of data and if a student were to either drop a course or enrol in a new course, a record could be deleted/created. There would be no instances of empty fields and no need to restructure the table in the future.</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It is still not perfect though as this table contains a lot of redundant data (same data stored in more than one place in a database)…</a:t>
            </a:r>
            <a:r>
              <a:rPr i="1" lang="en-GB" sz="1400">
                <a:solidFill>
                  <a:schemeClr val="dk1"/>
                </a:solidFill>
                <a:latin typeface="Century Gothic"/>
                <a:ea typeface="Century Gothic"/>
                <a:cs typeface="Century Gothic"/>
                <a:sym typeface="Century Gothic"/>
              </a:rPr>
              <a:t>introducing second normal form!</a:t>
            </a:r>
            <a:endParaRPr/>
          </a:p>
        </p:txBody>
      </p:sp>
      <p:sp>
        <p:nvSpPr>
          <p:cNvPr id="231" name="Google Shape;231;p9"/>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8"/>
                                        </p:tgtEl>
                                        <p:attrNameLst>
                                          <p:attrName>style.visibility</p:attrName>
                                        </p:attrNameLst>
                                      </p:cBhvr>
                                      <p:to>
                                        <p:strVal val="visible"/>
                                      </p:to>
                                    </p:set>
                                    <p:anim calcmode="lin" valueType="num">
                                      <p:cBhvr additive="base">
                                        <p:cTn dur="500"/>
                                        <p:tgtEl>
                                          <p:spTgt spid="2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anim calcmode="lin" valueType="num">
                                      <p:cBhvr additive="base">
                                        <p:cTn dur="500"/>
                                        <p:tgtEl>
                                          <p:spTgt spid="23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anim calcmode="lin" valueType="num">
                                      <p:cBhvr additive="base">
                                        <p:cTn dur="500"/>
                                        <p:tgtEl>
                                          <p:spTgt spid="23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0"/>
          <p:cNvSpPr txBox="1"/>
          <p:nvPr>
            <p:ph idx="1" type="body"/>
          </p:nvPr>
        </p:nvSpPr>
        <p:spPr>
          <a:xfrm>
            <a:off x="467544" y="1308799"/>
            <a:ext cx="8496944" cy="5109091"/>
          </a:xfrm>
          <a:prstGeom prst="rect">
            <a:avLst/>
          </a:prstGeom>
          <a:solidFill>
            <a:schemeClr val="lt1"/>
          </a:solid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b="1" lang="en-GB">
                <a:solidFill>
                  <a:schemeClr val="dk1"/>
                </a:solidFill>
                <a:latin typeface="Century Gothic"/>
                <a:ea typeface="Century Gothic"/>
                <a:cs typeface="Century Gothic"/>
                <a:sym typeface="Century Gothic"/>
              </a:rPr>
              <a:t>2</a:t>
            </a:r>
            <a:r>
              <a:rPr b="1" baseline="30000" lang="en-GB">
                <a:solidFill>
                  <a:schemeClr val="dk1"/>
                </a:solidFill>
                <a:latin typeface="Century Gothic"/>
                <a:ea typeface="Century Gothic"/>
                <a:cs typeface="Century Gothic"/>
                <a:sym typeface="Century Gothic"/>
              </a:rPr>
              <a:t>nd</a:t>
            </a:r>
            <a:r>
              <a:rPr b="1" lang="en-GB">
                <a:solidFill>
                  <a:schemeClr val="dk1"/>
                </a:solidFill>
                <a:latin typeface="Century Gothic"/>
                <a:ea typeface="Century Gothic"/>
                <a:cs typeface="Century Gothic"/>
                <a:sym typeface="Century Gothic"/>
              </a:rPr>
              <a:t> Normal Form</a:t>
            </a:r>
            <a:endParaRPr/>
          </a:p>
          <a:p>
            <a:pPr indent="0" lvl="0" marL="0" rtl="0" algn="l">
              <a:spcBef>
                <a:spcPts val="640"/>
              </a:spcBef>
              <a:spcAft>
                <a:spcPts val="0"/>
              </a:spcAft>
              <a:buClr>
                <a:schemeClr val="dk1"/>
              </a:buClr>
              <a:buSzPts val="3200"/>
              <a:buNone/>
            </a:pPr>
            <a:r>
              <a:t/>
            </a:r>
            <a:endParaRPr/>
          </a:p>
          <a:p>
            <a:pPr indent="0" lvl="0" marL="0" rtl="0" algn="ctr">
              <a:spcBef>
                <a:spcPts val="560"/>
              </a:spcBef>
              <a:spcAft>
                <a:spcPts val="0"/>
              </a:spcAft>
              <a:buClr>
                <a:schemeClr val="dk1"/>
              </a:buClr>
              <a:buSzPts val="2800"/>
              <a:buNone/>
            </a:pPr>
            <a:r>
              <a:rPr lang="en-GB" sz="2800">
                <a:solidFill>
                  <a:schemeClr val="dk1"/>
                </a:solidFill>
                <a:latin typeface="Century Gothic"/>
                <a:ea typeface="Century Gothic"/>
                <a:cs typeface="Century Gothic"/>
                <a:sym typeface="Century Gothic"/>
              </a:rPr>
              <a:t>“A database will be in 2nf it is already in 1nf and is in a state where all of its non key attributes (columns) are dependant on / related to the primary key”.</a:t>
            </a:r>
            <a:endParaRPr/>
          </a:p>
        </p:txBody>
      </p:sp>
      <p:sp>
        <p:nvSpPr>
          <p:cNvPr id="237" name="Google Shape;237;p10"/>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graphicFrame>
        <p:nvGraphicFramePr>
          <p:cNvPr id="242" name="Google Shape;242;p11"/>
          <p:cNvGraphicFramePr/>
          <p:nvPr/>
        </p:nvGraphicFramePr>
        <p:xfrm>
          <a:off x="467543" y="2780928"/>
          <a:ext cx="3000000" cy="3000000"/>
        </p:xfrm>
        <a:graphic>
          <a:graphicData uri="http://schemas.openxmlformats.org/drawingml/2006/table">
            <a:tbl>
              <a:tblPr bandRow="1" firstRow="1">
                <a:noFill/>
                <a:tableStyleId>{95D5A054-5678-46A9-AAA2-D13880E93588}</a:tableStyleId>
              </a:tblPr>
              <a:tblGrid>
                <a:gridCol w="598900"/>
                <a:gridCol w="993400"/>
                <a:gridCol w="653600"/>
                <a:gridCol w="524050"/>
                <a:gridCol w="673775"/>
                <a:gridCol w="757225"/>
                <a:gridCol w="1271700"/>
                <a:gridCol w="648075"/>
                <a:gridCol w="600775"/>
                <a:gridCol w="697500"/>
                <a:gridCol w="1077975"/>
              </a:tblGrid>
              <a:tr h="224775">
                <a:tc>
                  <a:txBody>
                    <a:bodyPr/>
                    <a:lstStyle/>
                    <a:p>
                      <a:pPr indent="0" lvl="0" marL="0" marR="0" rtl="0" algn="l">
                        <a:spcBef>
                          <a:spcPts val="0"/>
                        </a:spcBef>
                        <a:spcAft>
                          <a:spcPts val="0"/>
                        </a:spcAft>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Student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Gender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GCSE Score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Support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DOB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Exam</a:t>
                      </a:r>
                      <a:r>
                        <a:rPr lang="en-GB" sz="900">
                          <a:solidFill>
                            <a:schemeClr val="dk1"/>
                          </a:solidFill>
                        </a:rPr>
                        <a:t> Boards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a:t>
                      </a:r>
                      <a:r>
                        <a:rPr lang="en-GB" sz="900">
                          <a:solidFill>
                            <a:schemeClr val="dk1"/>
                          </a:solidFill>
                        </a:rPr>
                        <a:t> ID</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Computer Science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a:t>
                      </a:r>
                      <a:r>
                        <a:rPr lang="en-GB" sz="900">
                          <a:solidFill>
                            <a:schemeClr val="dk1"/>
                          </a:solidFill>
                        </a:rPr>
                        <a:t> </a:t>
                      </a:r>
                      <a:r>
                        <a:rPr lang="en-GB" sz="900">
                          <a:solidFill>
                            <a:schemeClr val="dk1"/>
                          </a:solidFill>
                        </a:rPr>
                        <a:t>Wickins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Maths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Edexcel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Parnell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Physics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Jolley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Computer Science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 Wickins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Geography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Youngman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Biology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Lilley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Music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Eduqas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142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 Hickman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History</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HI23</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Dale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Geography</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Youngman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Edexcel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 Parnell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Physics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Jolley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PE</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Williams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43" name="Google Shape;243;p11"/>
          <p:cNvSpPr txBox="1"/>
          <p:nvPr/>
        </p:nvSpPr>
        <p:spPr>
          <a:xfrm>
            <a:off x="467544" y="1268760"/>
            <a:ext cx="8496944" cy="15388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So as previously stated, this database (which is in first normal form) is not as efficient as it could be as there is a lot of reductant data. For example, ‘Bob Jones’ has been manually written into this table on three separate occasions which is not best practice because:</a:t>
            </a:r>
            <a:endParaRPr/>
          </a:p>
          <a:p>
            <a:pPr indent="0" lvl="0" marL="0" marR="0" rtl="0" algn="l">
              <a:spcBef>
                <a:spcPts val="0"/>
              </a:spcBef>
              <a:spcAft>
                <a:spcPts val="0"/>
              </a:spcAft>
              <a:buNone/>
            </a:pPr>
            <a:r>
              <a:t/>
            </a:r>
            <a:endParaRPr sz="7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1. Humans are prone to making mistakes and one incorrectly spelt entry would cause the data to be unsearchable</a:t>
            </a:r>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2. More storage is required to store the duplicate data</a:t>
            </a:r>
            <a:endParaRPr/>
          </a:p>
        </p:txBody>
      </p:sp>
      <p:sp>
        <p:nvSpPr>
          <p:cNvPr id="244" name="Google Shape;244;p11"/>
          <p:cNvSpPr/>
          <p:nvPr/>
        </p:nvSpPr>
        <p:spPr>
          <a:xfrm>
            <a:off x="467544" y="5949280"/>
            <a:ext cx="849694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To overcome this problem, we can split this table up so that each entity has its own table and then link them together to form a relational database.</a:t>
            </a:r>
            <a:endParaRPr i="1" sz="1400">
              <a:solidFill>
                <a:schemeClr val="dk1"/>
              </a:solidFill>
              <a:latin typeface="Century Gothic"/>
              <a:ea typeface="Century Gothic"/>
              <a:cs typeface="Century Gothic"/>
              <a:sym typeface="Century Gothic"/>
            </a:endParaRPr>
          </a:p>
        </p:txBody>
      </p:sp>
      <p:sp>
        <p:nvSpPr>
          <p:cNvPr id="245" name="Google Shape;245;p11"/>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 calcmode="lin" valueType="num">
                                      <p:cBhvr additive="base">
                                        <p:cTn dur="500"/>
                                        <p:tgtEl>
                                          <p:spTgt spid="24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 calcmode="lin" valueType="num">
                                      <p:cBhvr additive="base">
                                        <p:cTn dur="500"/>
                                        <p:tgtEl>
                                          <p:spTgt spid="24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 calcmode="lin" valueType="num">
                                      <p:cBhvr additive="base">
                                        <p:cTn dur="500"/>
                                        <p:tgtEl>
                                          <p:spTgt spid="24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anim calcmode="lin" valueType="num">
                                      <p:cBhvr additive="base">
                                        <p:cTn dur="500"/>
                                        <p:tgtEl>
                                          <p:spTgt spid="24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4">
                                            <p:txEl>
                                              <p:pRg end="0" st="0"/>
                                            </p:txEl>
                                          </p:spTgt>
                                        </p:tgtEl>
                                        <p:attrNameLst>
                                          <p:attrName>style.visibility</p:attrName>
                                        </p:attrNameLst>
                                      </p:cBhvr>
                                      <p:to>
                                        <p:strVal val="visible"/>
                                      </p:to>
                                    </p:set>
                                    <p:anim calcmode="lin" valueType="num">
                                      <p:cBhvr additive="base">
                                        <p:cTn dur="500"/>
                                        <p:tgtEl>
                                          <p:spTgt spid="2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graphicFrame>
        <p:nvGraphicFramePr>
          <p:cNvPr id="250" name="Google Shape;250;p12"/>
          <p:cNvGraphicFramePr/>
          <p:nvPr/>
        </p:nvGraphicFramePr>
        <p:xfrm>
          <a:off x="391184" y="2760695"/>
          <a:ext cx="3000000" cy="3000000"/>
        </p:xfrm>
        <a:graphic>
          <a:graphicData uri="http://schemas.openxmlformats.org/drawingml/2006/table">
            <a:tbl>
              <a:tblPr bandRow="1" firstRow="1">
                <a:noFill/>
                <a:tableStyleId>{95D5A054-5678-46A9-AAA2-D13880E93588}</a:tableStyleId>
              </a:tblPr>
              <a:tblGrid>
                <a:gridCol w="1296150"/>
                <a:gridCol w="702075"/>
                <a:gridCol w="667900"/>
                <a:gridCol w="720075"/>
                <a:gridCol w="1078275"/>
              </a:tblGrid>
              <a:tr h="224775">
                <a:tc>
                  <a:txBody>
                    <a:bodyPr/>
                    <a:lstStyle/>
                    <a:p>
                      <a:pPr indent="0" lvl="0" marL="0" marR="0" rtl="0" algn="l">
                        <a:spcBef>
                          <a:spcPts val="0"/>
                        </a:spcBef>
                        <a:spcAft>
                          <a:spcPts val="0"/>
                        </a:spcAft>
                        <a:buNone/>
                      </a:pPr>
                      <a:r>
                        <a:rPr lang="en-GB" sz="900">
                          <a:solidFill>
                            <a:schemeClr val="dk1"/>
                          </a:solidFill>
                        </a:rPr>
                        <a:t>Courses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Exam</a:t>
                      </a:r>
                      <a:r>
                        <a:rPr lang="en-GB" sz="900">
                          <a:solidFill>
                            <a:schemeClr val="dk1"/>
                          </a:solidFill>
                        </a:rPr>
                        <a:t> Boards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a:t>
                      </a:r>
                      <a:r>
                        <a:rPr lang="en-GB" sz="900">
                          <a:solidFill>
                            <a:schemeClr val="dk1"/>
                          </a:solidFill>
                        </a:rPr>
                        <a:t> ID</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Computer Science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a:t>
                      </a:r>
                      <a:r>
                        <a:rPr lang="en-GB" sz="900">
                          <a:solidFill>
                            <a:schemeClr val="dk1"/>
                          </a:solidFill>
                        </a:rPr>
                        <a:t> </a:t>
                      </a:r>
                      <a:r>
                        <a:rPr lang="en-GB" sz="900">
                          <a:solidFill>
                            <a:schemeClr val="dk1"/>
                          </a:solidFill>
                        </a:rPr>
                        <a:t>Wickins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Maths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Edexcel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Parnell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Physics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Jolley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Geography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Youngman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Biology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Lilley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Music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Eduqas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142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 Hickman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History</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HI23</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Dale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PE</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Williams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51" name="Google Shape;251;p12"/>
          <p:cNvGraphicFramePr/>
          <p:nvPr/>
        </p:nvGraphicFramePr>
        <p:xfrm>
          <a:off x="4932040" y="2471560"/>
          <a:ext cx="3000000" cy="3000000"/>
        </p:xfrm>
        <a:graphic>
          <a:graphicData uri="http://schemas.openxmlformats.org/drawingml/2006/table">
            <a:tbl>
              <a:tblPr bandRow="1" firstRow="1">
                <a:noFill/>
                <a:tableStyleId>{95D5A054-5678-46A9-AAA2-D13880E93588}</a:tableStyleId>
              </a:tblPr>
              <a:tblGrid>
                <a:gridCol w="652425"/>
                <a:gridCol w="936100"/>
                <a:gridCol w="648075"/>
                <a:gridCol w="504050"/>
                <a:gridCol w="648075"/>
                <a:gridCol w="720075"/>
              </a:tblGrid>
              <a:tr h="192875">
                <a:tc>
                  <a:txBody>
                    <a:bodyPr/>
                    <a:lstStyle/>
                    <a:p>
                      <a:pPr indent="0" lvl="0" marL="0" marR="0" rtl="0" algn="l">
                        <a:spcBef>
                          <a:spcPts val="0"/>
                        </a:spcBef>
                        <a:spcAft>
                          <a:spcPts val="0"/>
                        </a:spcAft>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Student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Gender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GCSE Score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Support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DOB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928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928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928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928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52" name="Google Shape;252;p12"/>
          <p:cNvGraphicFramePr/>
          <p:nvPr/>
        </p:nvGraphicFramePr>
        <p:xfrm>
          <a:off x="5650295" y="3789040"/>
          <a:ext cx="3000000" cy="3000000"/>
        </p:xfrm>
        <a:graphic>
          <a:graphicData uri="http://schemas.openxmlformats.org/drawingml/2006/table">
            <a:tbl>
              <a:tblPr bandRow="1" firstRow="1">
                <a:noFill/>
                <a:tableStyleId>{95D5A054-5678-46A9-AAA2-D13880E93588}</a:tableStyleId>
              </a:tblPr>
              <a:tblGrid>
                <a:gridCol w="904100"/>
                <a:gridCol w="878100"/>
                <a:gridCol w="890100"/>
              </a:tblGrid>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Enrolment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a:t>
                      </a:r>
                      <a:r>
                        <a:rPr lang="en-GB" sz="900">
                          <a:solidFill>
                            <a:schemeClr val="dk1"/>
                          </a:solidFill>
                        </a:rPr>
                        <a:t> ID</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t>201401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HI23</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53" name="Google Shape;253;p12"/>
          <p:cNvSpPr txBox="1"/>
          <p:nvPr/>
        </p:nvSpPr>
        <p:spPr>
          <a:xfrm>
            <a:off x="463192" y="1290367"/>
            <a:ext cx="8398359"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entury Gothic"/>
                <a:ea typeface="Century Gothic"/>
                <a:cs typeface="Century Gothic"/>
                <a:sym typeface="Century Gothic"/>
              </a:rPr>
              <a:t>Second Normal Form:</a:t>
            </a:r>
            <a:endParaRPr/>
          </a:p>
          <a:p>
            <a:pPr indent="0" lvl="0" marL="0" marR="0" rtl="0" algn="ctr">
              <a:spcBef>
                <a:spcPts val="0"/>
              </a:spcBef>
              <a:spcAft>
                <a:spcPts val="0"/>
              </a:spcAft>
              <a:buNone/>
            </a:pPr>
            <a:r>
              <a:rPr lang="en-GB" sz="1200">
                <a:solidFill>
                  <a:schemeClr val="dk1"/>
                </a:solidFill>
                <a:latin typeface="Century Gothic"/>
                <a:ea typeface="Century Gothic"/>
                <a:cs typeface="Century Gothic"/>
                <a:sym typeface="Century Gothic"/>
              </a:rPr>
              <a:t>As stated earlier, </a:t>
            </a:r>
            <a:r>
              <a:rPr b="1" lang="en-GB" sz="1200">
                <a:solidFill>
                  <a:schemeClr val="dk1"/>
                </a:solidFill>
                <a:latin typeface="Century Gothic"/>
                <a:ea typeface="Century Gothic"/>
                <a:cs typeface="Century Gothic"/>
                <a:sym typeface="Century Gothic"/>
              </a:rPr>
              <a:t>“a database will be in 2</a:t>
            </a:r>
            <a:r>
              <a:rPr b="1" baseline="30000" lang="en-GB" sz="1200">
                <a:solidFill>
                  <a:schemeClr val="dk1"/>
                </a:solidFill>
                <a:latin typeface="Century Gothic"/>
                <a:ea typeface="Century Gothic"/>
                <a:cs typeface="Century Gothic"/>
                <a:sym typeface="Century Gothic"/>
              </a:rPr>
              <a:t>nd</a:t>
            </a:r>
            <a:r>
              <a:rPr b="1" lang="en-GB" sz="1200">
                <a:solidFill>
                  <a:schemeClr val="dk1"/>
                </a:solidFill>
                <a:latin typeface="Century Gothic"/>
                <a:ea typeface="Century Gothic"/>
                <a:cs typeface="Century Gothic"/>
                <a:sym typeface="Century Gothic"/>
              </a:rPr>
              <a:t> Normal Form it is already in 1</a:t>
            </a:r>
            <a:r>
              <a:rPr b="1" baseline="30000" lang="en-GB" sz="1200">
                <a:solidFill>
                  <a:schemeClr val="dk1"/>
                </a:solidFill>
                <a:latin typeface="Century Gothic"/>
                <a:ea typeface="Century Gothic"/>
                <a:cs typeface="Century Gothic"/>
                <a:sym typeface="Century Gothic"/>
              </a:rPr>
              <a:t>st</a:t>
            </a:r>
            <a:r>
              <a:rPr b="1" lang="en-GB" sz="1200">
                <a:solidFill>
                  <a:schemeClr val="dk1"/>
                </a:solidFill>
                <a:latin typeface="Century Gothic"/>
                <a:ea typeface="Century Gothic"/>
                <a:cs typeface="Century Gothic"/>
                <a:sym typeface="Century Gothic"/>
              </a:rPr>
              <a:t> Normal Form and is in a state where all of its non key attributes (columns) are dependant on / related to the primary key”.</a:t>
            </a:r>
            <a:endParaRPr/>
          </a:p>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In other words, each table should hold data about an entity, with each column within the table depending on the primary key.</a:t>
            </a:r>
            <a:endParaRPr/>
          </a:p>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Below is an example of turning the previous flat file data into a relational database by splitting it up into tables about each entity involved:</a:t>
            </a:r>
            <a:endParaRPr/>
          </a:p>
        </p:txBody>
      </p:sp>
      <p:sp>
        <p:nvSpPr>
          <p:cNvPr id="254" name="Google Shape;254;p12"/>
          <p:cNvSpPr txBox="1"/>
          <p:nvPr/>
        </p:nvSpPr>
        <p:spPr>
          <a:xfrm>
            <a:off x="391185" y="5040588"/>
            <a:ext cx="5044912"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But looking at each table you can see that the ‘courses’ table is still not in second normal form.</a:t>
            </a:r>
            <a:endParaRPr/>
          </a:p>
          <a:p>
            <a:pPr indent="0" lvl="0" marL="0" marR="0" rtl="0" algn="l">
              <a:spcBef>
                <a:spcPts val="0"/>
              </a:spcBef>
              <a:spcAft>
                <a:spcPts val="0"/>
              </a:spcAft>
              <a:buNone/>
            </a:pPr>
            <a:r>
              <a:t/>
            </a:r>
            <a:endParaRPr sz="12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A teacher could in theory teach several courses and so a teacher is not dependant on the course ID. It is however dependant on the Teacher ID (a teacher can’t have more than one ID).</a:t>
            </a:r>
            <a:endParaRPr/>
          </a:p>
          <a:p>
            <a:pPr indent="0" lvl="0" marL="0" marR="0" rtl="0" algn="ctr">
              <a:spcBef>
                <a:spcPts val="0"/>
              </a:spcBef>
              <a:spcAft>
                <a:spcPts val="0"/>
              </a:spcAft>
              <a:buNone/>
            </a:pPr>
            <a:r>
              <a:rPr b="1" lang="en-GB" sz="1200">
                <a:solidFill>
                  <a:schemeClr val="dk1"/>
                </a:solidFill>
                <a:latin typeface="Century Gothic"/>
                <a:ea typeface="Century Gothic"/>
                <a:cs typeface="Century Gothic"/>
                <a:sym typeface="Century Gothic"/>
              </a:rPr>
              <a:t>So we can split this table further!</a:t>
            </a:r>
            <a:endParaRPr/>
          </a:p>
        </p:txBody>
      </p:sp>
      <p:sp>
        <p:nvSpPr>
          <p:cNvPr id="255" name="Google Shape;255;p12"/>
          <p:cNvSpPr/>
          <p:nvPr/>
        </p:nvSpPr>
        <p:spPr>
          <a:xfrm>
            <a:off x="5229922" y="2471560"/>
            <a:ext cx="1706137" cy="1398413"/>
          </a:xfrm>
          <a:custGeom>
            <a:rect b="b" l="l" r="r" t="t"/>
            <a:pathLst>
              <a:path extrusionOk="0" h="1398413" w="1706137">
                <a:moveTo>
                  <a:pt x="0" y="26813"/>
                </a:moveTo>
                <a:cubicBezTo>
                  <a:pt x="387505" y="-9429"/>
                  <a:pt x="775010" y="-45670"/>
                  <a:pt x="1059366" y="182930"/>
                </a:cubicBezTo>
                <a:cubicBezTo>
                  <a:pt x="1343722" y="411530"/>
                  <a:pt x="1524929" y="904971"/>
                  <a:pt x="1706137" y="1398413"/>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6" name="Google Shape;256;p12"/>
          <p:cNvSpPr/>
          <p:nvPr/>
        </p:nvSpPr>
        <p:spPr>
          <a:xfrm>
            <a:off x="2650237" y="3012548"/>
            <a:ext cx="5018048" cy="1280548"/>
          </a:xfrm>
          <a:custGeom>
            <a:rect b="b" l="l" r="r" t="t"/>
            <a:pathLst>
              <a:path extrusionOk="0" h="1280548" w="5018048">
                <a:moveTo>
                  <a:pt x="0" y="0"/>
                </a:moveTo>
                <a:cubicBezTo>
                  <a:pt x="1326995" y="534329"/>
                  <a:pt x="2653990" y="1068658"/>
                  <a:pt x="3490331" y="1226634"/>
                </a:cubicBezTo>
                <a:cubicBezTo>
                  <a:pt x="4326672" y="1384610"/>
                  <a:pt x="4672360" y="1166232"/>
                  <a:pt x="5018048" y="947854"/>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7" name="Google Shape;257;p12"/>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0"/>
                                        </p:tgtEl>
                                        <p:attrNameLst>
                                          <p:attrName>style.visibility</p:attrName>
                                        </p:attrNameLst>
                                      </p:cBhvr>
                                      <p:to>
                                        <p:strVal val="visible"/>
                                      </p:to>
                                    </p:set>
                                    <p:anim calcmode="lin" valueType="num">
                                      <p:cBhvr additive="base">
                                        <p:cTn dur="500"/>
                                        <p:tgtEl>
                                          <p:spTgt spid="25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1"/>
                                        </p:tgtEl>
                                        <p:attrNameLst>
                                          <p:attrName>style.visibility</p:attrName>
                                        </p:attrNameLst>
                                      </p:cBhvr>
                                      <p:to>
                                        <p:strVal val="visible"/>
                                      </p:to>
                                    </p:set>
                                    <p:anim calcmode="lin" valueType="num">
                                      <p:cBhvr additive="base">
                                        <p:cTn dur="500"/>
                                        <p:tgtEl>
                                          <p:spTgt spid="25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500"/>
                                        <p:tgtEl>
                                          <p:spTgt spid="25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500"/>
                                        <p:tgtEl>
                                          <p:spTgt spid="2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56"/>
                                        </p:tgtEl>
                                        <p:attrNameLst>
                                          <p:attrName>style.visibility</p:attrName>
                                        </p:attrNameLst>
                                      </p:cBhvr>
                                      <p:to>
                                        <p:strVal val="visible"/>
                                      </p:to>
                                    </p:set>
                                    <p:anim calcmode="lin" valueType="num">
                                      <p:cBhvr additive="base">
                                        <p:cTn dur="500"/>
                                        <p:tgtEl>
                                          <p:spTgt spid="25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anim calcmode="lin" valueType="num">
                                      <p:cBhvr additive="base">
                                        <p:cTn dur="500"/>
                                        <p:tgtEl>
                                          <p:spTgt spid="25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anim calcmode="lin" valueType="num">
                                      <p:cBhvr additive="base">
                                        <p:cTn dur="500"/>
                                        <p:tgtEl>
                                          <p:spTgt spid="25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2" st="2"/>
                                            </p:txEl>
                                          </p:spTgt>
                                        </p:tgtEl>
                                        <p:attrNameLst>
                                          <p:attrName>style.visibility</p:attrName>
                                        </p:attrNameLst>
                                      </p:cBhvr>
                                      <p:to>
                                        <p:strVal val="visible"/>
                                      </p:to>
                                    </p:set>
                                    <p:anim calcmode="lin" valueType="num">
                                      <p:cBhvr additive="base">
                                        <p:cTn dur="500"/>
                                        <p:tgtEl>
                                          <p:spTgt spid="25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xEl>
                                              <p:pRg end="3" st="3"/>
                                            </p:txEl>
                                          </p:spTgt>
                                        </p:tgtEl>
                                        <p:attrNameLst>
                                          <p:attrName>style.visibility</p:attrName>
                                        </p:attrNameLst>
                                      </p:cBhvr>
                                      <p:to>
                                        <p:strVal val="visible"/>
                                      </p:to>
                                    </p:set>
                                    <p:anim calcmode="lin" valueType="num">
                                      <p:cBhvr additive="base">
                                        <p:cTn dur="500"/>
                                        <p:tgtEl>
                                          <p:spTgt spid="25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graphicFrame>
        <p:nvGraphicFramePr>
          <p:cNvPr id="262" name="Google Shape;262;p13"/>
          <p:cNvGraphicFramePr/>
          <p:nvPr/>
        </p:nvGraphicFramePr>
        <p:xfrm>
          <a:off x="4875554" y="1450464"/>
          <a:ext cx="3000000" cy="3000000"/>
        </p:xfrm>
        <a:graphic>
          <a:graphicData uri="http://schemas.openxmlformats.org/drawingml/2006/table">
            <a:tbl>
              <a:tblPr bandRow="1" firstRow="1">
                <a:noFill/>
                <a:tableStyleId>{95D5A054-5678-46A9-AAA2-D13880E93588}</a:tableStyleId>
              </a:tblPr>
              <a:tblGrid>
                <a:gridCol w="792100"/>
                <a:gridCol w="1368150"/>
                <a:gridCol w="792100"/>
                <a:gridCol w="864100"/>
              </a:tblGrid>
              <a:tr h="224775">
                <a:tc>
                  <a:txBody>
                    <a:bodyPr/>
                    <a:lstStyle/>
                    <a:p>
                      <a:pPr indent="0" lvl="0" marL="0" marR="0" rtl="0" algn="l">
                        <a:spcBef>
                          <a:spcPts val="0"/>
                        </a:spcBef>
                        <a:spcAft>
                          <a:spcPts val="0"/>
                        </a:spcAft>
                        <a:buNone/>
                      </a:pPr>
                      <a:r>
                        <a:rPr lang="en-GB" sz="900">
                          <a:solidFill>
                            <a:schemeClr val="dk1"/>
                          </a:solidFill>
                        </a:rPr>
                        <a:t>Course</a:t>
                      </a:r>
                      <a:r>
                        <a:rPr lang="en-GB" sz="900">
                          <a:solidFill>
                            <a:schemeClr val="dk1"/>
                          </a:solidFill>
                        </a:rPr>
                        <a:t> ID</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Exam</a:t>
                      </a:r>
                      <a:r>
                        <a:rPr lang="en-GB" sz="900">
                          <a:solidFill>
                            <a:schemeClr val="dk1"/>
                          </a:solidFill>
                        </a:rPr>
                        <a:t> Boards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Computer Science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Maths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Edexcel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Physics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Geography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Biology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MU01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Music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Eduqas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142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HI23</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History</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PE</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63" name="Google Shape;263;p13"/>
          <p:cNvGraphicFramePr/>
          <p:nvPr/>
        </p:nvGraphicFramePr>
        <p:xfrm>
          <a:off x="779912" y="3068960"/>
          <a:ext cx="3000000" cy="3000000"/>
        </p:xfrm>
        <a:graphic>
          <a:graphicData uri="http://schemas.openxmlformats.org/drawingml/2006/table">
            <a:tbl>
              <a:tblPr bandRow="1" firstRow="1">
                <a:noFill/>
                <a:tableStyleId>{95D5A054-5678-46A9-AAA2-D13880E93588}</a:tableStyleId>
              </a:tblPr>
              <a:tblGrid>
                <a:gridCol w="904100"/>
                <a:gridCol w="878100"/>
                <a:gridCol w="890100"/>
              </a:tblGrid>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Enrolment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a:t>
                      </a:r>
                      <a:r>
                        <a:rPr lang="en-GB" sz="900">
                          <a:solidFill>
                            <a:schemeClr val="dk1"/>
                          </a:solidFill>
                        </a:rPr>
                        <a:t> ID</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t>201401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HI23</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64" name="Google Shape;264;p13"/>
          <p:cNvGraphicFramePr/>
          <p:nvPr/>
        </p:nvGraphicFramePr>
        <p:xfrm>
          <a:off x="6732240" y="4226687"/>
          <a:ext cx="3000000" cy="3000000"/>
        </p:xfrm>
        <a:graphic>
          <a:graphicData uri="http://schemas.openxmlformats.org/drawingml/2006/table">
            <a:tbl>
              <a:tblPr bandRow="1" firstRow="1">
                <a:noFill/>
                <a:tableStyleId>{95D5A054-5678-46A9-AAA2-D13880E93588}</a:tableStyleId>
              </a:tblPr>
              <a:tblGrid>
                <a:gridCol w="792100"/>
                <a:gridCol w="1224125"/>
              </a:tblGrid>
              <a:tr h="224775">
                <a:tc>
                  <a:txBody>
                    <a:bodyPr/>
                    <a:lstStyle/>
                    <a:p>
                      <a:pPr indent="0" lvl="0" marL="0" marR="0" rtl="0" algn="l">
                        <a:spcBef>
                          <a:spcPts val="0"/>
                        </a:spcBef>
                        <a:spcAft>
                          <a:spcPts val="0"/>
                        </a:spcAft>
                        <a:buNone/>
                      </a:pPr>
                      <a:r>
                        <a:rPr lang="en-GB" sz="900">
                          <a:solidFill>
                            <a:schemeClr val="dk1"/>
                          </a:solidFill>
                        </a:rPr>
                        <a:t>Teacher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a:t>
                      </a:r>
                      <a:r>
                        <a:rPr lang="en-GB" sz="900">
                          <a:solidFill>
                            <a:schemeClr val="dk1"/>
                          </a:solidFill>
                        </a:rPr>
                        <a:t> </a:t>
                      </a:r>
                      <a:r>
                        <a:rPr lang="en-GB" sz="900">
                          <a:solidFill>
                            <a:schemeClr val="dk1"/>
                          </a:solidFill>
                        </a:rPr>
                        <a:t>Wickins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Parnell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Jolley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Youngman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Lilley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142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 Hickman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Dale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Williams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65" name="Google Shape;265;p13"/>
          <p:cNvSpPr txBox="1"/>
          <p:nvPr/>
        </p:nvSpPr>
        <p:spPr>
          <a:xfrm>
            <a:off x="3580057" y="3857004"/>
            <a:ext cx="3024336" cy="24929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Now this database is in</a:t>
            </a:r>
            <a:r>
              <a:rPr b="1" lang="en-GB" sz="1200">
                <a:solidFill>
                  <a:schemeClr val="dk1"/>
                </a:solidFill>
                <a:latin typeface="Century Gothic"/>
                <a:ea typeface="Century Gothic"/>
                <a:cs typeface="Century Gothic"/>
                <a:sym typeface="Century Gothic"/>
              </a:rPr>
              <a:t> second normal form</a:t>
            </a:r>
            <a:r>
              <a:rPr lang="en-GB" sz="1200">
                <a:solidFill>
                  <a:schemeClr val="dk1"/>
                </a:solidFill>
                <a:latin typeface="Century Gothic"/>
                <a:ea typeface="Century Gothic"/>
                <a:cs typeface="Century Gothic"/>
                <a:sym typeface="Century Gothic"/>
              </a:rPr>
              <a:t> because it was </a:t>
            </a:r>
            <a:r>
              <a:rPr b="1" lang="en-GB" sz="1200">
                <a:solidFill>
                  <a:schemeClr val="dk1"/>
                </a:solidFill>
                <a:latin typeface="Century Gothic"/>
                <a:ea typeface="Century Gothic"/>
                <a:cs typeface="Century Gothic"/>
                <a:sym typeface="Century Gothic"/>
              </a:rPr>
              <a:t>already in 1</a:t>
            </a:r>
            <a:r>
              <a:rPr b="1" baseline="30000" lang="en-GB" sz="1200">
                <a:solidFill>
                  <a:schemeClr val="dk1"/>
                </a:solidFill>
                <a:latin typeface="Century Gothic"/>
                <a:ea typeface="Century Gothic"/>
                <a:cs typeface="Century Gothic"/>
                <a:sym typeface="Century Gothic"/>
              </a:rPr>
              <a:t>st</a:t>
            </a:r>
            <a:r>
              <a:rPr b="1" lang="en-GB" sz="1200">
                <a:solidFill>
                  <a:schemeClr val="dk1"/>
                </a:solidFill>
                <a:latin typeface="Century Gothic"/>
                <a:ea typeface="Century Gothic"/>
                <a:cs typeface="Century Gothic"/>
                <a:sym typeface="Century Gothic"/>
              </a:rPr>
              <a:t> Normal Form and is now in a state where (for each table) all of its non key attributes (columns) are dependant on / related to the primary key.</a:t>
            </a:r>
            <a:endParaRPr/>
          </a:p>
          <a:p>
            <a:pPr indent="0" lvl="0" marL="0" marR="0" rtl="0" algn="l">
              <a:spcBef>
                <a:spcPts val="0"/>
              </a:spcBef>
              <a:spcAft>
                <a:spcPts val="0"/>
              </a:spcAft>
              <a:buNone/>
            </a:pPr>
            <a:r>
              <a:t/>
            </a:r>
            <a:endParaRPr b="1" sz="12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Now, at this stage, quite often a database is also in third normal form…</a:t>
            </a:r>
            <a:endParaRPr/>
          </a:p>
          <a:p>
            <a:pPr indent="0" lvl="0" marL="0" marR="0" rtl="0" algn="l">
              <a:spcBef>
                <a:spcPts val="0"/>
              </a:spcBef>
              <a:spcAft>
                <a:spcPts val="0"/>
              </a:spcAft>
              <a:buNone/>
            </a:pPr>
            <a:r>
              <a:t/>
            </a:r>
            <a:endParaRPr sz="12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…but we must check! So lets take a look at what 3</a:t>
            </a:r>
            <a:r>
              <a:rPr baseline="30000" lang="en-GB" sz="1200">
                <a:solidFill>
                  <a:schemeClr val="dk1"/>
                </a:solidFill>
                <a:latin typeface="Century Gothic"/>
                <a:ea typeface="Century Gothic"/>
                <a:cs typeface="Century Gothic"/>
                <a:sym typeface="Century Gothic"/>
              </a:rPr>
              <a:t>rd</a:t>
            </a:r>
            <a:r>
              <a:rPr lang="en-GB" sz="1200">
                <a:solidFill>
                  <a:schemeClr val="dk1"/>
                </a:solidFill>
                <a:latin typeface="Century Gothic"/>
                <a:ea typeface="Century Gothic"/>
                <a:cs typeface="Century Gothic"/>
                <a:sym typeface="Century Gothic"/>
              </a:rPr>
              <a:t> normal form is.</a:t>
            </a:r>
            <a:endParaRPr/>
          </a:p>
        </p:txBody>
      </p:sp>
      <p:graphicFrame>
        <p:nvGraphicFramePr>
          <p:cNvPr id="266" name="Google Shape;266;p13"/>
          <p:cNvGraphicFramePr/>
          <p:nvPr/>
        </p:nvGraphicFramePr>
        <p:xfrm>
          <a:off x="479911" y="1450464"/>
          <a:ext cx="3000000" cy="3000000"/>
        </p:xfrm>
        <a:graphic>
          <a:graphicData uri="http://schemas.openxmlformats.org/drawingml/2006/table">
            <a:tbl>
              <a:tblPr bandRow="1" firstRow="1">
                <a:noFill/>
                <a:tableStyleId>{95D5A054-5678-46A9-AAA2-D13880E93588}</a:tableStyleId>
              </a:tblPr>
              <a:tblGrid>
                <a:gridCol w="675575"/>
                <a:gridCol w="896250"/>
                <a:gridCol w="648075"/>
                <a:gridCol w="576075"/>
                <a:gridCol w="648075"/>
                <a:gridCol w="720075"/>
              </a:tblGrid>
              <a:tr h="224775">
                <a:tc>
                  <a:txBody>
                    <a:bodyPr/>
                    <a:lstStyle/>
                    <a:p>
                      <a:pPr indent="0" lvl="0" marL="0" marR="0" rtl="0" algn="l">
                        <a:spcBef>
                          <a:spcPts val="0"/>
                        </a:spcBef>
                        <a:spcAft>
                          <a:spcPts val="0"/>
                        </a:spcAft>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Student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Gender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GCSE Score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Support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DOB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67" name="Google Shape;267;p13"/>
          <p:cNvSpPr/>
          <p:nvPr/>
        </p:nvSpPr>
        <p:spPr>
          <a:xfrm>
            <a:off x="7108958" y="3676454"/>
            <a:ext cx="1111215" cy="537327"/>
          </a:xfrm>
          <a:custGeom>
            <a:rect b="b" l="l" r="r" t="t"/>
            <a:pathLst>
              <a:path extrusionOk="0" h="537327" w="1111215">
                <a:moveTo>
                  <a:pt x="8279" y="537327"/>
                </a:moveTo>
                <a:cubicBezTo>
                  <a:pt x="-5861" y="428133"/>
                  <a:pt x="-20001" y="318940"/>
                  <a:pt x="130828" y="273377"/>
                </a:cubicBezTo>
                <a:cubicBezTo>
                  <a:pt x="281657" y="227814"/>
                  <a:pt x="749854" y="309513"/>
                  <a:pt x="913252" y="263950"/>
                </a:cubicBezTo>
                <a:cubicBezTo>
                  <a:pt x="1076650" y="218387"/>
                  <a:pt x="1093932" y="109193"/>
                  <a:pt x="1111215" y="0"/>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8" name="Google Shape;268;p13"/>
          <p:cNvSpPr/>
          <p:nvPr/>
        </p:nvSpPr>
        <p:spPr>
          <a:xfrm>
            <a:off x="3393649" y="1266229"/>
            <a:ext cx="1857081" cy="1938884"/>
          </a:xfrm>
          <a:custGeom>
            <a:rect b="b" l="l" r="r" t="t"/>
            <a:pathLst>
              <a:path extrusionOk="0" h="1938884" w="1857081">
                <a:moveTo>
                  <a:pt x="1857081" y="185499"/>
                </a:moveTo>
                <a:cubicBezTo>
                  <a:pt x="1846868" y="148577"/>
                  <a:pt x="1836656" y="111656"/>
                  <a:pt x="1762813" y="100658"/>
                </a:cubicBezTo>
                <a:cubicBezTo>
                  <a:pt x="1688970" y="89660"/>
                  <a:pt x="1484722" y="-131870"/>
                  <a:pt x="1414021" y="119511"/>
                </a:cubicBezTo>
                <a:cubicBezTo>
                  <a:pt x="1343320" y="370892"/>
                  <a:pt x="1574277" y="1305717"/>
                  <a:pt x="1338607" y="1608946"/>
                </a:cubicBezTo>
                <a:cubicBezTo>
                  <a:pt x="1102937" y="1912175"/>
                  <a:pt x="551468" y="1925529"/>
                  <a:pt x="0" y="1938884"/>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9" name="Google Shape;269;p13"/>
          <p:cNvSpPr/>
          <p:nvPr/>
        </p:nvSpPr>
        <p:spPr>
          <a:xfrm>
            <a:off x="251502" y="1277651"/>
            <a:ext cx="1794776" cy="1814341"/>
          </a:xfrm>
          <a:custGeom>
            <a:rect b="b" l="l" r="r" t="t"/>
            <a:pathLst>
              <a:path extrusionOk="0" h="1814341" w="1794776">
                <a:moveTo>
                  <a:pt x="559203" y="145796"/>
                </a:moveTo>
                <a:cubicBezTo>
                  <a:pt x="525423" y="114373"/>
                  <a:pt x="491644" y="82951"/>
                  <a:pt x="417801" y="79809"/>
                </a:cubicBezTo>
                <a:cubicBezTo>
                  <a:pt x="343958" y="76667"/>
                  <a:pt x="166419" y="-126010"/>
                  <a:pt x="116143" y="126943"/>
                </a:cubicBezTo>
                <a:cubicBezTo>
                  <a:pt x="65867" y="379896"/>
                  <a:pt x="-117956" y="1360283"/>
                  <a:pt x="116143" y="1597524"/>
                </a:cubicBezTo>
                <a:cubicBezTo>
                  <a:pt x="350242" y="1834765"/>
                  <a:pt x="1241075" y="1514254"/>
                  <a:pt x="1520737" y="1550390"/>
                </a:cubicBezTo>
                <a:cubicBezTo>
                  <a:pt x="1800399" y="1586526"/>
                  <a:pt x="1797256" y="1700433"/>
                  <a:pt x="1794114" y="1814341"/>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70" name="Google Shape;270;p13"/>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 calcmode="lin" valueType="num">
                                      <p:cBhvr additive="base">
                                        <p:cTn dur="500"/>
                                        <p:tgtEl>
                                          <p:spTgt spid="26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anim calcmode="lin" valueType="num">
                                      <p:cBhvr additive="base">
                                        <p:cTn dur="500"/>
                                        <p:tgtEl>
                                          <p:spTgt spid="26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anim calcmode="lin" valueType="num">
                                      <p:cBhvr additive="base">
                                        <p:cTn dur="500"/>
                                        <p:tgtEl>
                                          <p:spTgt spid="26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anim calcmode="lin" valueType="num">
                                      <p:cBhvr additive="base">
                                        <p:cTn dur="500"/>
                                        <p:tgtEl>
                                          <p:spTgt spid="26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4" st="4"/>
                                            </p:txEl>
                                          </p:spTgt>
                                        </p:tgtEl>
                                        <p:attrNameLst>
                                          <p:attrName>style.visibility</p:attrName>
                                        </p:attrNameLst>
                                      </p:cBhvr>
                                      <p:to>
                                        <p:strVal val="visible"/>
                                      </p:to>
                                    </p:set>
                                    <p:anim calcmode="lin" valueType="num">
                                      <p:cBhvr additive="base">
                                        <p:cTn dur="500"/>
                                        <p:tgtEl>
                                          <p:spTgt spid="26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4"/>
          <p:cNvSpPr txBox="1"/>
          <p:nvPr>
            <p:ph idx="1" type="body"/>
          </p:nvPr>
        </p:nvSpPr>
        <p:spPr>
          <a:xfrm>
            <a:off x="467544" y="1325279"/>
            <a:ext cx="8496944" cy="5109091"/>
          </a:xfrm>
          <a:prstGeom prst="rect">
            <a:avLst/>
          </a:prstGeom>
          <a:solidFill>
            <a:schemeClr val="lt1"/>
          </a:solid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chemeClr val="dk1"/>
              </a:buClr>
              <a:buSzPct val="100000"/>
              <a:buNone/>
            </a:pPr>
            <a:r>
              <a:rPr b="1" lang="en-GB">
                <a:solidFill>
                  <a:schemeClr val="dk1"/>
                </a:solidFill>
                <a:latin typeface="Century Gothic"/>
                <a:ea typeface="Century Gothic"/>
                <a:cs typeface="Century Gothic"/>
                <a:sym typeface="Century Gothic"/>
              </a:rPr>
              <a:t>3</a:t>
            </a:r>
            <a:r>
              <a:rPr b="1" baseline="30000" lang="en-GB">
                <a:solidFill>
                  <a:schemeClr val="dk1"/>
                </a:solidFill>
                <a:latin typeface="Century Gothic"/>
                <a:ea typeface="Century Gothic"/>
                <a:cs typeface="Century Gothic"/>
                <a:sym typeface="Century Gothic"/>
              </a:rPr>
              <a:t>rd</a:t>
            </a:r>
            <a:r>
              <a:rPr b="1" lang="en-GB">
                <a:solidFill>
                  <a:schemeClr val="dk1"/>
                </a:solidFill>
                <a:latin typeface="Century Gothic"/>
                <a:ea typeface="Century Gothic"/>
                <a:cs typeface="Century Gothic"/>
                <a:sym typeface="Century Gothic"/>
              </a:rPr>
              <a:t> Normal Form</a:t>
            </a:r>
            <a:endParaRPr/>
          </a:p>
          <a:p>
            <a:pPr indent="0" lvl="0" marL="0" rtl="0" algn="l">
              <a:spcBef>
                <a:spcPts val="592"/>
              </a:spcBef>
              <a:spcAft>
                <a:spcPts val="0"/>
              </a:spcAft>
              <a:buClr>
                <a:schemeClr val="dk1"/>
              </a:buClr>
              <a:buSzPct val="100000"/>
              <a:buNone/>
            </a:pPr>
            <a:r>
              <a:t/>
            </a:r>
            <a:endParaRPr/>
          </a:p>
          <a:p>
            <a:pPr indent="0" lvl="0" marL="0" rtl="0" algn="ctr">
              <a:spcBef>
                <a:spcPts val="592"/>
              </a:spcBef>
              <a:spcAft>
                <a:spcPts val="0"/>
              </a:spcAft>
              <a:buClr>
                <a:schemeClr val="dk1"/>
              </a:buClr>
              <a:buSzPct val="100000"/>
              <a:buNone/>
            </a:pPr>
            <a:r>
              <a:rPr lang="en-GB">
                <a:solidFill>
                  <a:schemeClr val="dk1"/>
                </a:solidFill>
                <a:latin typeface="Century Gothic"/>
                <a:ea typeface="Century Gothic"/>
                <a:cs typeface="Century Gothic"/>
                <a:sym typeface="Century Gothic"/>
              </a:rPr>
              <a:t>“A database will be in 3nf it is already in 2nf and contains no attributes that (in addition to the primary key) ALSO depend on another attribute in the table”.</a:t>
            </a:r>
            <a:endParaRPr/>
          </a:p>
          <a:p>
            <a:pPr indent="0" lvl="0" marL="0" rtl="0" algn="l">
              <a:spcBef>
                <a:spcPts val="592"/>
              </a:spcBef>
              <a:spcAft>
                <a:spcPts val="0"/>
              </a:spcAft>
              <a:buClr>
                <a:schemeClr val="dk1"/>
              </a:buClr>
              <a:buSzPct val="100000"/>
              <a:buNone/>
            </a:pPr>
            <a:r>
              <a:t/>
            </a:r>
            <a:endParaRPr/>
          </a:p>
          <a:p>
            <a:pPr indent="0" lvl="0" marL="0" rtl="0" algn="ctr">
              <a:spcBef>
                <a:spcPts val="592"/>
              </a:spcBef>
              <a:spcAft>
                <a:spcPts val="0"/>
              </a:spcAft>
              <a:buClr>
                <a:schemeClr val="dk1"/>
              </a:buClr>
              <a:buSzPct val="100000"/>
              <a:buNone/>
            </a:pPr>
            <a:r>
              <a:rPr lang="en-GB">
                <a:solidFill>
                  <a:schemeClr val="dk1"/>
                </a:solidFill>
                <a:latin typeface="Century Gothic"/>
                <a:ea typeface="Century Gothic"/>
                <a:cs typeface="Century Gothic"/>
                <a:sym typeface="Century Gothic"/>
              </a:rPr>
              <a:t>“In 3</a:t>
            </a:r>
            <a:r>
              <a:rPr baseline="30000" lang="en-GB">
                <a:solidFill>
                  <a:schemeClr val="dk1"/>
                </a:solidFill>
                <a:latin typeface="Century Gothic"/>
                <a:ea typeface="Century Gothic"/>
                <a:cs typeface="Century Gothic"/>
                <a:sym typeface="Century Gothic"/>
              </a:rPr>
              <a:t>rd</a:t>
            </a:r>
            <a:r>
              <a:rPr lang="en-GB">
                <a:solidFill>
                  <a:schemeClr val="dk1"/>
                </a:solidFill>
                <a:latin typeface="Century Gothic"/>
                <a:ea typeface="Century Gothic"/>
                <a:cs typeface="Century Gothic"/>
                <a:sym typeface="Century Gothic"/>
              </a:rPr>
              <a:t> NF all of its attributes (columns) are non-transiently dependant on the primary key”.</a:t>
            </a:r>
            <a:endParaRPr/>
          </a:p>
        </p:txBody>
      </p:sp>
      <p:sp>
        <p:nvSpPr>
          <p:cNvPr id="276" name="Google Shape;276;p14"/>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graphicFrame>
        <p:nvGraphicFramePr>
          <p:cNvPr id="281" name="Google Shape;281;p15"/>
          <p:cNvGraphicFramePr/>
          <p:nvPr/>
        </p:nvGraphicFramePr>
        <p:xfrm>
          <a:off x="4932040" y="1772816"/>
          <a:ext cx="3000000" cy="3000000"/>
        </p:xfrm>
        <a:graphic>
          <a:graphicData uri="http://schemas.openxmlformats.org/drawingml/2006/table">
            <a:tbl>
              <a:tblPr bandRow="1" firstRow="1">
                <a:noFill/>
                <a:tableStyleId>{95D5A054-5678-46A9-AAA2-D13880E93588}</a:tableStyleId>
              </a:tblPr>
              <a:tblGrid>
                <a:gridCol w="792100"/>
                <a:gridCol w="1368150"/>
                <a:gridCol w="792100"/>
                <a:gridCol w="864100"/>
              </a:tblGrid>
              <a:tr h="224775">
                <a:tc>
                  <a:txBody>
                    <a:bodyPr/>
                    <a:lstStyle/>
                    <a:p>
                      <a:pPr indent="0" lvl="0" marL="0" marR="0" rtl="0" algn="l">
                        <a:spcBef>
                          <a:spcPts val="0"/>
                        </a:spcBef>
                        <a:spcAft>
                          <a:spcPts val="0"/>
                        </a:spcAft>
                        <a:buNone/>
                      </a:pPr>
                      <a:r>
                        <a:rPr lang="en-GB" sz="900">
                          <a:solidFill>
                            <a:schemeClr val="dk1"/>
                          </a:solidFill>
                        </a:rPr>
                        <a:t>Course</a:t>
                      </a:r>
                      <a:r>
                        <a:rPr lang="en-GB" sz="900">
                          <a:solidFill>
                            <a:schemeClr val="dk1"/>
                          </a:solidFill>
                        </a:rPr>
                        <a:t> ID</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Exam</a:t>
                      </a:r>
                      <a:r>
                        <a:rPr lang="en-GB" sz="900">
                          <a:solidFill>
                            <a:schemeClr val="dk1"/>
                          </a:solidFill>
                        </a:rPr>
                        <a:t> Boards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Computer Science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Maths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Edexcel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Physics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Geography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Biology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MU01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Music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Eduqas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142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HI23</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History</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PE</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82" name="Google Shape;282;p15"/>
          <p:cNvGraphicFramePr/>
          <p:nvPr/>
        </p:nvGraphicFramePr>
        <p:xfrm>
          <a:off x="1547664" y="3516595"/>
          <a:ext cx="3000000" cy="3000000"/>
        </p:xfrm>
        <a:graphic>
          <a:graphicData uri="http://schemas.openxmlformats.org/drawingml/2006/table">
            <a:tbl>
              <a:tblPr bandRow="1" firstRow="1">
                <a:noFill/>
                <a:tableStyleId>{95D5A054-5678-46A9-AAA2-D13880E93588}</a:tableStyleId>
              </a:tblPr>
              <a:tblGrid>
                <a:gridCol w="904100"/>
                <a:gridCol w="878100"/>
                <a:gridCol w="890100"/>
              </a:tblGrid>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Enrolment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a:t>
                      </a:r>
                      <a:r>
                        <a:rPr lang="en-GB" sz="900">
                          <a:solidFill>
                            <a:schemeClr val="dk1"/>
                          </a:solidFill>
                        </a:rPr>
                        <a:t> ID</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t>201401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HI23</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83" name="Google Shape;283;p15"/>
          <p:cNvGraphicFramePr/>
          <p:nvPr/>
        </p:nvGraphicFramePr>
        <p:xfrm>
          <a:off x="5580112" y="4365104"/>
          <a:ext cx="3000000" cy="3000000"/>
        </p:xfrm>
        <a:graphic>
          <a:graphicData uri="http://schemas.openxmlformats.org/drawingml/2006/table">
            <a:tbl>
              <a:tblPr bandRow="1" firstRow="1">
                <a:noFill/>
                <a:tableStyleId>{95D5A054-5678-46A9-AAA2-D13880E93588}</a:tableStyleId>
              </a:tblPr>
              <a:tblGrid>
                <a:gridCol w="792100"/>
                <a:gridCol w="1224125"/>
              </a:tblGrid>
              <a:tr h="224775">
                <a:tc>
                  <a:txBody>
                    <a:bodyPr/>
                    <a:lstStyle/>
                    <a:p>
                      <a:pPr indent="0" lvl="0" marL="0" marR="0" rtl="0" algn="l">
                        <a:spcBef>
                          <a:spcPts val="0"/>
                        </a:spcBef>
                        <a:spcAft>
                          <a:spcPts val="0"/>
                        </a:spcAft>
                        <a:buNone/>
                      </a:pPr>
                      <a:r>
                        <a:rPr lang="en-GB" sz="900">
                          <a:solidFill>
                            <a:schemeClr val="dk1"/>
                          </a:solidFill>
                        </a:rPr>
                        <a:t>Teacher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a:t>
                      </a:r>
                      <a:r>
                        <a:rPr lang="en-GB" sz="900">
                          <a:solidFill>
                            <a:schemeClr val="dk1"/>
                          </a:solidFill>
                        </a:rPr>
                        <a:t> </a:t>
                      </a:r>
                      <a:r>
                        <a:rPr lang="en-GB" sz="900">
                          <a:solidFill>
                            <a:schemeClr val="dk1"/>
                          </a:solidFill>
                        </a:rPr>
                        <a:t>Wickins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Parnell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Jolley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Youngman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Lilley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142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 Hickman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Dale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Williams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84" name="Google Shape;284;p15"/>
          <p:cNvGraphicFramePr/>
          <p:nvPr/>
        </p:nvGraphicFramePr>
        <p:xfrm>
          <a:off x="479911" y="1450464"/>
          <a:ext cx="3000000" cy="3000000"/>
        </p:xfrm>
        <a:graphic>
          <a:graphicData uri="http://schemas.openxmlformats.org/drawingml/2006/table">
            <a:tbl>
              <a:tblPr bandRow="1" firstRow="1">
                <a:noFill/>
                <a:tableStyleId>{95D5A054-5678-46A9-AAA2-D13880E93588}</a:tableStyleId>
              </a:tblPr>
              <a:tblGrid>
                <a:gridCol w="675575"/>
                <a:gridCol w="674825"/>
                <a:gridCol w="732775"/>
                <a:gridCol w="555125"/>
                <a:gridCol w="645700"/>
                <a:gridCol w="720075"/>
              </a:tblGrid>
              <a:tr h="224775">
                <a:tc>
                  <a:txBody>
                    <a:bodyPr/>
                    <a:lstStyle/>
                    <a:p>
                      <a:pPr indent="0" lvl="0" marL="0" marR="0" rtl="0" algn="l">
                        <a:spcBef>
                          <a:spcPts val="0"/>
                        </a:spcBef>
                        <a:spcAft>
                          <a:spcPts val="0"/>
                        </a:spcAft>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Student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Gender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GCSE Score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Support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DOB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85" name="Google Shape;285;p15"/>
          <p:cNvSpPr txBox="1"/>
          <p:nvPr/>
        </p:nvSpPr>
        <p:spPr>
          <a:xfrm>
            <a:off x="4992043" y="2996952"/>
            <a:ext cx="3696416" cy="830997"/>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entury Gothic"/>
                <a:ea typeface="Century Gothic"/>
                <a:cs typeface="Century Gothic"/>
                <a:sym typeface="Century Gothic"/>
              </a:rPr>
              <a:t>The course, exam board and teacher ID all depend on the Course ID.</a:t>
            </a:r>
            <a:endParaRPr/>
          </a:p>
          <a:p>
            <a:pPr indent="0" lvl="0" marL="0" marR="0" rtl="0" algn="ctr">
              <a:spcBef>
                <a:spcPts val="0"/>
              </a:spcBef>
              <a:spcAft>
                <a:spcPts val="0"/>
              </a:spcAft>
              <a:buNone/>
            </a:pPr>
            <a:r>
              <a:t/>
            </a:r>
            <a:endParaRPr sz="1200">
              <a:solidFill>
                <a:schemeClr val="dk1"/>
              </a:solidFill>
              <a:latin typeface="Century Gothic"/>
              <a:ea typeface="Century Gothic"/>
              <a:cs typeface="Century Gothic"/>
              <a:sym typeface="Century Gothic"/>
            </a:endParaRPr>
          </a:p>
          <a:p>
            <a:pPr indent="0" lvl="0" marL="0" marR="0" rtl="0" algn="ctr">
              <a:spcBef>
                <a:spcPts val="0"/>
              </a:spcBef>
              <a:spcAft>
                <a:spcPts val="0"/>
              </a:spcAft>
              <a:buNone/>
            </a:pPr>
            <a:r>
              <a:rPr lang="en-GB" sz="1200">
                <a:solidFill>
                  <a:schemeClr val="dk1"/>
                </a:solidFill>
                <a:latin typeface="Century Gothic"/>
                <a:ea typeface="Century Gothic"/>
                <a:cs typeface="Century Gothic"/>
                <a:sym typeface="Century Gothic"/>
              </a:rPr>
              <a:t>They do not </a:t>
            </a:r>
            <a:r>
              <a:rPr b="1" lang="en-GB" sz="1200">
                <a:solidFill>
                  <a:schemeClr val="dk1"/>
                </a:solidFill>
                <a:latin typeface="Century Gothic"/>
                <a:ea typeface="Century Gothic"/>
                <a:cs typeface="Century Gothic"/>
                <a:sym typeface="Century Gothic"/>
              </a:rPr>
              <a:t>also</a:t>
            </a:r>
            <a:r>
              <a:rPr lang="en-GB" sz="1200">
                <a:solidFill>
                  <a:schemeClr val="dk1"/>
                </a:solidFill>
                <a:latin typeface="Century Gothic"/>
                <a:ea typeface="Century Gothic"/>
                <a:cs typeface="Century Gothic"/>
                <a:sym typeface="Century Gothic"/>
              </a:rPr>
              <a:t> depend any other column.</a:t>
            </a:r>
            <a:endParaRPr/>
          </a:p>
        </p:txBody>
      </p:sp>
      <p:sp>
        <p:nvSpPr>
          <p:cNvPr id="286" name="Google Shape;286;p15"/>
          <p:cNvSpPr txBox="1"/>
          <p:nvPr/>
        </p:nvSpPr>
        <p:spPr>
          <a:xfrm>
            <a:off x="4860032" y="5405586"/>
            <a:ext cx="3696416" cy="830997"/>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entury Gothic"/>
                <a:ea typeface="Century Gothic"/>
                <a:cs typeface="Century Gothic"/>
                <a:sym typeface="Century Gothic"/>
              </a:rPr>
              <a:t>The teacher name depends on the Teacher ID.</a:t>
            </a:r>
            <a:endParaRPr/>
          </a:p>
          <a:p>
            <a:pPr indent="0" lvl="0" marL="0" marR="0" rtl="0" algn="ctr">
              <a:spcBef>
                <a:spcPts val="0"/>
              </a:spcBef>
              <a:spcAft>
                <a:spcPts val="0"/>
              </a:spcAft>
              <a:buNone/>
            </a:pPr>
            <a:r>
              <a:t/>
            </a:r>
            <a:endParaRPr sz="1200">
              <a:solidFill>
                <a:schemeClr val="dk1"/>
              </a:solidFill>
              <a:latin typeface="Century Gothic"/>
              <a:ea typeface="Century Gothic"/>
              <a:cs typeface="Century Gothic"/>
              <a:sym typeface="Century Gothic"/>
            </a:endParaRPr>
          </a:p>
          <a:p>
            <a:pPr indent="0" lvl="0" marL="0" marR="0" rtl="0" algn="ctr">
              <a:spcBef>
                <a:spcPts val="0"/>
              </a:spcBef>
              <a:spcAft>
                <a:spcPts val="0"/>
              </a:spcAft>
              <a:buNone/>
            </a:pPr>
            <a:r>
              <a:rPr lang="en-GB" sz="1200">
                <a:solidFill>
                  <a:schemeClr val="dk1"/>
                </a:solidFill>
                <a:latin typeface="Century Gothic"/>
                <a:ea typeface="Century Gothic"/>
                <a:cs typeface="Century Gothic"/>
                <a:sym typeface="Century Gothic"/>
              </a:rPr>
              <a:t>It does not </a:t>
            </a:r>
            <a:r>
              <a:rPr b="1" lang="en-GB" sz="1200">
                <a:solidFill>
                  <a:schemeClr val="dk1"/>
                </a:solidFill>
                <a:latin typeface="Century Gothic"/>
                <a:ea typeface="Century Gothic"/>
                <a:cs typeface="Century Gothic"/>
                <a:sym typeface="Century Gothic"/>
              </a:rPr>
              <a:t>also</a:t>
            </a:r>
            <a:r>
              <a:rPr lang="en-GB" sz="1200">
                <a:solidFill>
                  <a:schemeClr val="dk1"/>
                </a:solidFill>
                <a:latin typeface="Century Gothic"/>
                <a:ea typeface="Century Gothic"/>
                <a:cs typeface="Century Gothic"/>
                <a:sym typeface="Century Gothic"/>
              </a:rPr>
              <a:t> depend any other column (well, in this case there aren’t any!).</a:t>
            </a:r>
            <a:endParaRPr/>
          </a:p>
        </p:txBody>
      </p:sp>
      <p:sp>
        <p:nvSpPr>
          <p:cNvPr id="287" name="Google Shape;287;p15"/>
          <p:cNvSpPr txBox="1"/>
          <p:nvPr/>
        </p:nvSpPr>
        <p:spPr>
          <a:xfrm>
            <a:off x="1163616" y="4388668"/>
            <a:ext cx="3696416" cy="830997"/>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entury Gothic"/>
                <a:ea typeface="Century Gothic"/>
                <a:cs typeface="Century Gothic"/>
                <a:sym typeface="Century Gothic"/>
              </a:rPr>
              <a:t>The Student ID and the Course ID both depend on the Enrolment ID.</a:t>
            </a:r>
            <a:endParaRPr/>
          </a:p>
          <a:p>
            <a:pPr indent="0" lvl="0" marL="0" marR="0" rtl="0" algn="ctr">
              <a:spcBef>
                <a:spcPts val="0"/>
              </a:spcBef>
              <a:spcAft>
                <a:spcPts val="0"/>
              </a:spcAft>
              <a:buNone/>
            </a:pPr>
            <a:r>
              <a:t/>
            </a:r>
            <a:endParaRPr sz="1200">
              <a:solidFill>
                <a:schemeClr val="dk1"/>
              </a:solidFill>
              <a:latin typeface="Century Gothic"/>
              <a:ea typeface="Century Gothic"/>
              <a:cs typeface="Century Gothic"/>
              <a:sym typeface="Century Gothic"/>
            </a:endParaRPr>
          </a:p>
          <a:p>
            <a:pPr indent="0" lvl="0" marL="0" marR="0" rtl="0" algn="ctr">
              <a:spcBef>
                <a:spcPts val="0"/>
              </a:spcBef>
              <a:spcAft>
                <a:spcPts val="0"/>
              </a:spcAft>
              <a:buNone/>
            </a:pPr>
            <a:r>
              <a:rPr lang="en-GB" sz="1200">
                <a:solidFill>
                  <a:schemeClr val="dk1"/>
                </a:solidFill>
                <a:latin typeface="Century Gothic"/>
                <a:ea typeface="Century Gothic"/>
                <a:cs typeface="Century Gothic"/>
                <a:sym typeface="Century Gothic"/>
              </a:rPr>
              <a:t>They do not </a:t>
            </a:r>
            <a:r>
              <a:rPr b="1" lang="en-GB" sz="1200">
                <a:solidFill>
                  <a:schemeClr val="dk1"/>
                </a:solidFill>
                <a:latin typeface="Century Gothic"/>
                <a:ea typeface="Century Gothic"/>
                <a:cs typeface="Century Gothic"/>
                <a:sym typeface="Century Gothic"/>
              </a:rPr>
              <a:t>also</a:t>
            </a:r>
            <a:r>
              <a:rPr lang="en-GB" sz="1200">
                <a:solidFill>
                  <a:schemeClr val="dk1"/>
                </a:solidFill>
                <a:latin typeface="Century Gothic"/>
                <a:ea typeface="Century Gothic"/>
                <a:cs typeface="Century Gothic"/>
                <a:sym typeface="Century Gothic"/>
              </a:rPr>
              <a:t> depend another column.</a:t>
            </a:r>
            <a:endParaRPr/>
          </a:p>
        </p:txBody>
      </p:sp>
      <p:sp>
        <p:nvSpPr>
          <p:cNvPr id="288" name="Google Shape;288;p15"/>
          <p:cNvSpPr txBox="1"/>
          <p:nvPr/>
        </p:nvSpPr>
        <p:spPr>
          <a:xfrm>
            <a:off x="633740" y="2373748"/>
            <a:ext cx="3696416" cy="1015663"/>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entury Gothic"/>
                <a:ea typeface="Century Gothic"/>
                <a:cs typeface="Century Gothic"/>
                <a:sym typeface="Century Gothic"/>
              </a:rPr>
              <a:t>The Student Name, Gender, GCSE Score, Supprt and DOB all depend on the Student ID.</a:t>
            </a:r>
            <a:endParaRPr/>
          </a:p>
          <a:p>
            <a:pPr indent="0" lvl="0" marL="0" marR="0" rtl="0" algn="ctr">
              <a:spcBef>
                <a:spcPts val="0"/>
              </a:spcBef>
              <a:spcAft>
                <a:spcPts val="0"/>
              </a:spcAft>
              <a:buNone/>
            </a:pPr>
            <a:r>
              <a:rPr b="1" lang="en-GB" sz="1200">
                <a:solidFill>
                  <a:schemeClr val="dk1"/>
                </a:solidFill>
                <a:latin typeface="Century Gothic"/>
                <a:ea typeface="Century Gothic"/>
                <a:cs typeface="Century Gothic"/>
                <a:sym typeface="Century Gothic"/>
              </a:rPr>
              <a:t>HOWEVER</a:t>
            </a:r>
            <a:endParaRPr/>
          </a:p>
          <a:p>
            <a:pPr indent="0" lvl="0" marL="0" marR="0" rtl="0" algn="ctr">
              <a:spcBef>
                <a:spcPts val="0"/>
              </a:spcBef>
              <a:spcAft>
                <a:spcPts val="0"/>
              </a:spcAft>
              <a:buNone/>
            </a:pPr>
            <a:r>
              <a:rPr lang="en-GB" sz="1200">
                <a:solidFill>
                  <a:schemeClr val="dk1"/>
                </a:solidFill>
                <a:latin typeface="Century Gothic"/>
                <a:ea typeface="Century Gothic"/>
                <a:cs typeface="Century Gothic"/>
                <a:sym typeface="Century Gothic"/>
              </a:rPr>
              <a:t>The Support </a:t>
            </a:r>
            <a:r>
              <a:rPr b="1" lang="en-GB" sz="1200">
                <a:solidFill>
                  <a:schemeClr val="dk1"/>
                </a:solidFill>
                <a:latin typeface="Century Gothic"/>
                <a:ea typeface="Century Gothic"/>
                <a:cs typeface="Century Gothic"/>
                <a:sym typeface="Century Gothic"/>
              </a:rPr>
              <a:t>also</a:t>
            </a:r>
            <a:r>
              <a:rPr lang="en-GB" sz="1200">
                <a:solidFill>
                  <a:schemeClr val="dk1"/>
                </a:solidFill>
                <a:latin typeface="Century Gothic"/>
                <a:ea typeface="Century Gothic"/>
                <a:cs typeface="Century Gothic"/>
                <a:sym typeface="Century Gothic"/>
              </a:rPr>
              <a:t> depends on another column – the GCSE Score!</a:t>
            </a:r>
            <a:endParaRPr/>
          </a:p>
        </p:txBody>
      </p:sp>
      <p:sp>
        <p:nvSpPr>
          <p:cNvPr id="289" name="Google Shape;289;p15"/>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500"/>
                                        <p:tgtEl>
                                          <p:spTgt spid="28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500"/>
                                        <p:tgtEl>
                                          <p:spTgt spid="2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graphicFrame>
        <p:nvGraphicFramePr>
          <p:cNvPr id="294" name="Google Shape;294;p16"/>
          <p:cNvGraphicFramePr/>
          <p:nvPr/>
        </p:nvGraphicFramePr>
        <p:xfrm>
          <a:off x="899592" y="3728065"/>
          <a:ext cx="3000000" cy="3000000"/>
        </p:xfrm>
        <a:graphic>
          <a:graphicData uri="http://schemas.openxmlformats.org/drawingml/2006/table">
            <a:tbl>
              <a:tblPr bandRow="1" firstRow="1">
                <a:noFill/>
                <a:tableStyleId>{95D5A054-5678-46A9-AAA2-D13880E93588}</a:tableStyleId>
              </a:tblPr>
              <a:tblGrid>
                <a:gridCol w="767750"/>
                <a:gridCol w="932075"/>
                <a:gridCol w="667600"/>
                <a:gridCol w="818325"/>
                <a:gridCol w="818325"/>
              </a:tblGrid>
              <a:tr h="224775">
                <a:tc>
                  <a:txBody>
                    <a:bodyPr/>
                    <a:lstStyle/>
                    <a:p>
                      <a:pPr indent="0" lvl="0" marL="0" marR="0" rtl="0" algn="l">
                        <a:spcBef>
                          <a:spcPts val="0"/>
                        </a:spcBef>
                        <a:spcAft>
                          <a:spcPts val="0"/>
                        </a:spcAft>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Student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Gender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DOB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Support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95" name="Google Shape;295;p16"/>
          <p:cNvGraphicFramePr/>
          <p:nvPr/>
        </p:nvGraphicFramePr>
        <p:xfrm>
          <a:off x="5940152" y="3719132"/>
          <a:ext cx="3000000" cy="3000000"/>
        </p:xfrm>
        <a:graphic>
          <a:graphicData uri="http://schemas.openxmlformats.org/drawingml/2006/table">
            <a:tbl>
              <a:tblPr bandRow="1" firstRow="1">
                <a:noFill/>
                <a:tableStyleId>{95D5A054-5678-46A9-AAA2-D13880E93588}</a:tableStyleId>
              </a:tblPr>
              <a:tblGrid>
                <a:gridCol w="766900"/>
                <a:gridCol w="766900"/>
                <a:gridCol w="770425"/>
              </a:tblGrid>
              <a:tr h="224775">
                <a:tc>
                  <a:txBody>
                    <a:bodyPr/>
                    <a:lstStyle/>
                    <a:p>
                      <a:pPr indent="0" lvl="0" marL="0" marR="0" rtl="0" algn="l">
                        <a:spcBef>
                          <a:spcPts val="0"/>
                        </a:spcBef>
                        <a:spcAft>
                          <a:spcPts val="0"/>
                        </a:spcAft>
                        <a:buNone/>
                      </a:pPr>
                      <a:r>
                        <a:rPr lang="en-GB" sz="900">
                          <a:solidFill>
                            <a:schemeClr val="dk1"/>
                          </a:solidFill>
                        </a:rPr>
                        <a:t>Support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GCSE Score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Support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96" name="Google Shape;296;p16"/>
          <p:cNvSpPr/>
          <p:nvPr/>
        </p:nvSpPr>
        <p:spPr>
          <a:xfrm>
            <a:off x="4426399" y="3510915"/>
            <a:ext cx="1791093" cy="197447"/>
          </a:xfrm>
          <a:custGeom>
            <a:rect b="b" l="l" r="r" t="t"/>
            <a:pathLst>
              <a:path extrusionOk="0" h="197447" w="1791093">
                <a:moveTo>
                  <a:pt x="1791093" y="188021"/>
                </a:moveTo>
                <a:cubicBezTo>
                  <a:pt x="1717250" y="132246"/>
                  <a:pt x="1643407" y="76471"/>
                  <a:pt x="1414021" y="46619"/>
                </a:cubicBezTo>
                <a:cubicBezTo>
                  <a:pt x="1184635" y="16767"/>
                  <a:pt x="650449" y="-16227"/>
                  <a:pt x="414779" y="8911"/>
                </a:cubicBezTo>
                <a:cubicBezTo>
                  <a:pt x="179109" y="34049"/>
                  <a:pt x="89554" y="115748"/>
                  <a:pt x="0" y="197447"/>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97" name="Google Shape;297;p16"/>
          <p:cNvSpPr txBox="1"/>
          <p:nvPr/>
        </p:nvSpPr>
        <p:spPr>
          <a:xfrm>
            <a:off x="463192" y="1290367"/>
            <a:ext cx="8398359"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chemeClr val="dk1"/>
                </a:solidFill>
                <a:latin typeface="Century Gothic"/>
                <a:ea typeface="Century Gothic"/>
                <a:cs typeface="Century Gothic"/>
                <a:sym typeface="Century Gothic"/>
              </a:rPr>
              <a:t>Third Normal Form:</a:t>
            </a:r>
            <a:endParaRPr/>
          </a:p>
          <a:p>
            <a:pPr indent="0" lvl="0" marL="0" marR="0" rtl="0" algn="ctr">
              <a:spcBef>
                <a:spcPts val="0"/>
              </a:spcBef>
              <a:spcAft>
                <a:spcPts val="0"/>
              </a:spcAft>
              <a:buNone/>
            </a:pPr>
            <a:r>
              <a:rPr lang="en-GB" sz="1400">
                <a:solidFill>
                  <a:schemeClr val="dk1"/>
                </a:solidFill>
                <a:latin typeface="Century Gothic"/>
                <a:ea typeface="Century Gothic"/>
                <a:cs typeface="Century Gothic"/>
                <a:sym typeface="Century Gothic"/>
              </a:rPr>
              <a:t>As stated earlier, </a:t>
            </a:r>
            <a:r>
              <a:rPr b="1" lang="en-GB" sz="1400">
                <a:solidFill>
                  <a:schemeClr val="dk1"/>
                </a:solidFill>
                <a:latin typeface="Century Gothic"/>
                <a:ea typeface="Century Gothic"/>
                <a:cs typeface="Century Gothic"/>
                <a:sym typeface="Century Gothic"/>
              </a:rPr>
              <a:t>“A database will be in 3</a:t>
            </a:r>
            <a:r>
              <a:rPr b="1" baseline="30000" lang="en-GB" sz="1400">
                <a:solidFill>
                  <a:schemeClr val="dk1"/>
                </a:solidFill>
                <a:latin typeface="Century Gothic"/>
                <a:ea typeface="Century Gothic"/>
                <a:cs typeface="Century Gothic"/>
                <a:sym typeface="Century Gothic"/>
              </a:rPr>
              <a:t>rd</a:t>
            </a:r>
            <a:r>
              <a:rPr b="1" lang="en-GB" sz="1400">
                <a:solidFill>
                  <a:schemeClr val="dk1"/>
                </a:solidFill>
                <a:latin typeface="Century Gothic"/>
                <a:ea typeface="Century Gothic"/>
                <a:cs typeface="Century Gothic"/>
                <a:sym typeface="Century Gothic"/>
              </a:rPr>
              <a:t> Normal Form it is already in 2</a:t>
            </a:r>
            <a:r>
              <a:rPr b="1" baseline="30000" lang="en-GB" sz="1400">
                <a:solidFill>
                  <a:schemeClr val="dk1"/>
                </a:solidFill>
                <a:latin typeface="Century Gothic"/>
                <a:ea typeface="Century Gothic"/>
                <a:cs typeface="Century Gothic"/>
                <a:sym typeface="Century Gothic"/>
              </a:rPr>
              <a:t>nd</a:t>
            </a:r>
            <a:r>
              <a:rPr b="1" lang="en-GB" sz="1400">
                <a:solidFill>
                  <a:schemeClr val="dk1"/>
                </a:solidFill>
                <a:latin typeface="Century Gothic"/>
                <a:ea typeface="Century Gothic"/>
                <a:cs typeface="Century Gothic"/>
                <a:sym typeface="Century Gothic"/>
              </a:rPr>
              <a:t> Normal Form and contains no attributes that (in addition to the primary key) ALSO depend on another attribute in the table”.</a:t>
            </a:r>
            <a:endParaRPr/>
          </a:p>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GB" sz="1400">
                <a:solidFill>
                  <a:schemeClr val="dk1"/>
                </a:solidFill>
                <a:latin typeface="Century Gothic"/>
                <a:ea typeface="Century Gothic"/>
                <a:cs typeface="Century Gothic"/>
                <a:sym typeface="Century Gothic"/>
              </a:rPr>
              <a:t>Below is an example of getting the previous ‘student table’, which was in second normal form, into third normal form. By splitting the table further, we now can say that each table contains no attributes that (in addition to the primary key) ALSO depend on another attribute in the table as we have removed the Support and GCSE Score fields.</a:t>
            </a:r>
            <a:endParaRPr/>
          </a:p>
        </p:txBody>
      </p:sp>
      <p:sp>
        <p:nvSpPr>
          <p:cNvPr id="298" name="Google Shape;298;p16"/>
          <p:cNvSpPr txBox="1"/>
          <p:nvPr/>
        </p:nvSpPr>
        <p:spPr>
          <a:xfrm>
            <a:off x="463192" y="5672281"/>
            <a:ext cx="475688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chemeClr val="dk1"/>
                </a:solidFill>
                <a:latin typeface="Century Gothic"/>
                <a:ea typeface="Century Gothic"/>
                <a:cs typeface="Century Gothic"/>
                <a:sym typeface="Century Gothic"/>
              </a:rPr>
              <a:t>So, our database is now in Third Normal Form…</a:t>
            </a:r>
            <a:endParaRPr sz="1400">
              <a:solidFill>
                <a:schemeClr val="dk1"/>
              </a:solidFill>
              <a:latin typeface="Century Gothic"/>
              <a:ea typeface="Century Gothic"/>
              <a:cs typeface="Century Gothic"/>
              <a:sym typeface="Century Gothic"/>
            </a:endParaRPr>
          </a:p>
        </p:txBody>
      </p:sp>
      <p:sp>
        <p:nvSpPr>
          <p:cNvPr id="299" name="Google Shape;299;p16"/>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5"/>
                                        </p:tgtEl>
                                        <p:attrNameLst>
                                          <p:attrName>style.visibility</p:attrName>
                                        </p:attrNameLst>
                                      </p:cBhvr>
                                      <p:to>
                                        <p:strVal val="visible"/>
                                      </p:to>
                                    </p:set>
                                    <p:anim calcmode="lin" valueType="num">
                                      <p:cBhvr additive="base">
                                        <p:cTn dur="500"/>
                                        <p:tgtEl>
                                          <p:spTgt spid="2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8">
                                            <p:txEl>
                                              <p:pRg end="0" st="0"/>
                                            </p:txEl>
                                          </p:spTgt>
                                        </p:tgtEl>
                                        <p:attrNameLst>
                                          <p:attrName>style.visibility</p:attrName>
                                        </p:attrNameLst>
                                      </p:cBhvr>
                                      <p:to>
                                        <p:strVal val="visible"/>
                                      </p:to>
                                    </p:set>
                                    <p:anim calcmode="lin" valueType="num">
                                      <p:cBhvr additive="base">
                                        <p:cTn dur="500"/>
                                        <p:tgtEl>
                                          <p:spTgt spid="29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graphicFrame>
        <p:nvGraphicFramePr>
          <p:cNvPr id="304" name="Google Shape;304;p17"/>
          <p:cNvGraphicFramePr/>
          <p:nvPr/>
        </p:nvGraphicFramePr>
        <p:xfrm>
          <a:off x="611560" y="1584552"/>
          <a:ext cx="3000000" cy="3000000"/>
        </p:xfrm>
        <a:graphic>
          <a:graphicData uri="http://schemas.openxmlformats.org/drawingml/2006/table">
            <a:tbl>
              <a:tblPr bandRow="1" firstRow="1">
                <a:noFill/>
                <a:tableStyleId>{95D5A054-5678-46A9-AAA2-D13880E93588}</a:tableStyleId>
              </a:tblPr>
              <a:tblGrid>
                <a:gridCol w="767750"/>
                <a:gridCol w="932075"/>
                <a:gridCol w="667600"/>
                <a:gridCol w="818325"/>
                <a:gridCol w="818325"/>
              </a:tblGrid>
              <a:tr h="224775">
                <a:tc>
                  <a:txBody>
                    <a:bodyPr/>
                    <a:lstStyle/>
                    <a:p>
                      <a:pPr indent="0" lvl="0" marL="0" marR="0" rtl="0" algn="l">
                        <a:spcBef>
                          <a:spcPts val="0"/>
                        </a:spcBef>
                        <a:spcAft>
                          <a:spcPts val="0"/>
                        </a:spcAft>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Student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Gender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DOB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Support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Bob</a:t>
                      </a:r>
                      <a:r>
                        <a:rPr lang="en-GB" sz="900">
                          <a:solidFill>
                            <a:schemeClr val="dk1"/>
                          </a:solidFill>
                        </a:rPr>
                        <a:t> Jones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25/08/01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Sally Rose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02/10/00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Jayne Durkin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17/03/01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Dave</a:t>
                      </a:r>
                      <a:r>
                        <a:rPr lang="en-GB" sz="900">
                          <a:solidFill>
                            <a:schemeClr val="dk1"/>
                          </a:solidFill>
                        </a:rPr>
                        <a:t> Smith</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12/09/00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305" name="Google Shape;305;p17"/>
          <p:cNvGraphicFramePr/>
          <p:nvPr/>
        </p:nvGraphicFramePr>
        <p:xfrm>
          <a:off x="3963780" y="4365104"/>
          <a:ext cx="3000000" cy="3000000"/>
        </p:xfrm>
        <a:graphic>
          <a:graphicData uri="http://schemas.openxmlformats.org/drawingml/2006/table">
            <a:tbl>
              <a:tblPr bandRow="1" firstRow="1">
                <a:noFill/>
                <a:tableStyleId>{95D5A054-5678-46A9-AAA2-D13880E93588}</a:tableStyleId>
              </a:tblPr>
              <a:tblGrid>
                <a:gridCol w="766900"/>
                <a:gridCol w="766900"/>
                <a:gridCol w="770425"/>
              </a:tblGrid>
              <a:tr h="224775">
                <a:tc>
                  <a:txBody>
                    <a:bodyPr/>
                    <a:lstStyle/>
                    <a:p>
                      <a:pPr indent="0" lvl="0" marL="0" marR="0" rtl="0" algn="l">
                        <a:spcBef>
                          <a:spcPts val="0"/>
                        </a:spcBef>
                        <a:spcAft>
                          <a:spcPts val="0"/>
                        </a:spcAft>
                        <a:buNone/>
                      </a:pPr>
                      <a:r>
                        <a:rPr lang="en-GB" sz="900">
                          <a:solidFill>
                            <a:schemeClr val="dk1"/>
                          </a:solidFill>
                        </a:rPr>
                        <a:t>Support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GCSE Score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Support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143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306" name="Google Shape;306;p17"/>
          <p:cNvGraphicFramePr/>
          <p:nvPr/>
        </p:nvGraphicFramePr>
        <p:xfrm>
          <a:off x="4995234" y="1594480"/>
          <a:ext cx="3000000" cy="3000000"/>
        </p:xfrm>
        <a:graphic>
          <a:graphicData uri="http://schemas.openxmlformats.org/drawingml/2006/table">
            <a:tbl>
              <a:tblPr bandRow="1" firstRow="1">
                <a:noFill/>
                <a:tableStyleId>{95D5A054-5678-46A9-AAA2-D13880E93588}</a:tableStyleId>
              </a:tblPr>
              <a:tblGrid>
                <a:gridCol w="792100"/>
                <a:gridCol w="1368150"/>
                <a:gridCol w="792100"/>
                <a:gridCol w="864100"/>
              </a:tblGrid>
              <a:tr h="224775">
                <a:tc>
                  <a:txBody>
                    <a:bodyPr/>
                    <a:lstStyle/>
                    <a:p>
                      <a:pPr indent="0" lvl="0" marL="0" marR="0" rtl="0" algn="l">
                        <a:spcBef>
                          <a:spcPts val="0"/>
                        </a:spcBef>
                        <a:spcAft>
                          <a:spcPts val="0"/>
                        </a:spcAft>
                        <a:buNone/>
                      </a:pPr>
                      <a:r>
                        <a:rPr lang="en-GB" sz="900">
                          <a:solidFill>
                            <a:schemeClr val="dk1"/>
                          </a:solidFill>
                        </a:rPr>
                        <a:t>Course</a:t>
                      </a:r>
                      <a:r>
                        <a:rPr lang="en-GB" sz="900">
                          <a:solidFill>
                            <a:schemeClr val="dk1"/>
                          </a:solidFill>
                        </a:rPr>
                        <a:t> ID</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Exam</a:t>
                      </a:r>
                      <a:r>
                        <a:rPr lang="en-GB" sz="900">
                          <a:solidFill>
                            <a:schemeClr val="dk1"/>
                          </a:solidFill>
                        </a:rPr>
                        <a:t> Boards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Computer Science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Maths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Edexcel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Physics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Geography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OCR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Biology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MU01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Music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Eduqas</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142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HI23</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History</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PE</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AQA</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307" name="Google Shape;307;p17"/>
          <p:cNvGraphicFramePr/>
          <p:nvPr/>
        </p:nvGraphicFramePr>
        <p:xfrm>
          <a:off x="899592" y="3212976"/>
          <a:ext cx="3000000" cy="3000000"/>
        </p:xfrm>
        <a:graphic>
          <a:graphicData uri="http://schemas.openxmlformats.org/drawingml/2006/table">
            <a:tbl>
              <a:tblPr bandRow="1" firstRow="1">
                <a:noFill/>
                <a:tableStyleId>{95D5A054-5678-46A9-AAA2-D13880E93588}</a:tableStyleId>
              </a:tblPr>
              <a:tblGrid>
                <a:gridCol w="904100"/>
                <a:gridCol w="878100"/>
                <a:gridCol w="890100"/>
              </a:tblGrid>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Enrolment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Student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Course</a:t>
                      </a:r>
                      <a:r>
                        <a:rPr lang="en-GB" sz="900">
                          <a:solidFill>
                            <a:schemeClr val="dk1"/>
                          </a:solidFill>
                        </a:rPr>
                        <a:t> ID</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t>201401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CS12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BI61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MU01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HI23</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GE22</a:t>
                      </a:r>
                      <a:endParaRPr sz="9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MA31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PH78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201412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13004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PE52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308" name="Google Shape;308;p17"/>
          <p:cNvGraphicFramePr/>
          <p:nvPr/>
        </p:nvGraphicFramePr>
        <p:xfrm>
          <a:off x="6851920" y="4370703"/>
          <a:ext cx="3000000" cy="3000000"/>
        </p:xfrm>
        <a:graphic>
          <a:graphicData uri="http://schemas.openxmlformats.org/drawingml/2006/table">
            <a:tbl>
              <a:tblPr bandRow="1" firstRow="1">
                <a:noFill/>
                <a:tableStyleId>{95D5A054-5678-46A9-AAA2-D13880E93588}</a:tableStyleId>
              </a:tblPr>
              <a:tblGrid>
                <a:gridCol w="792100"/>
                <a:gridCol w="1224125"/>
              </a:tblGrid>
              <a:tr h="224775">
                <a:tc>
                  <a:txBody>
                    <a:bodyPr/>
                    <a:lstStyle/>
                    <a:p>
                      <a:pPr indent="0" lvl="0" marL="0" marR="0" rtl="0" algn="l">
                        <a:spcBef>
                          <a:spcPts val="0"/>
                        </a:spcBef>
                        <a:spcAft>
                          <a:spcPts val="0"/>
                        </a:spcAft>
                        <a:buNone/>
                      </a:pPr>
                      <a:r>
                        <a:rPr lang="en-GB" sz="900">
                          <a:solidFill>
                            <a:schemeClr val="dk1"/>
                          </a:solidFill>
                        </a:rPr>
                        <a:t>Teacher ID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Teacher Name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162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a:t>
                      </a:r>
                      <a:r>
                        <a:rPr lang="en-GB" sz="900">
                          <a:solidFill>
                            <a:schemeClr val="dk1"/>
                          </a:solidFill>
                        </a:rPr>
                        <a:t> </a:t>
                      </a:r>
                      <a:r>
                        <a:rPr lang="en-GB" sz="900">
                          <a:solidFill>
                            <a:schemeClr val="dk1"/>
                          </a:solidFill>
                        </a:rPr>
                        <a:t>Wickins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182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Parnell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191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Jolley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Youngman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111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Mrs Lilley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0475">
                <a:tc>
                  <a:txBody>
                    <a:bodyPr/>
                    <a:lstStyle/>
                    <a:p>
                      <a:pPr indent="0" lvl="0" marL="0" marR="0" rtl="0" algn="l">
                        <a:spcBef>
                          <a:spcPts val="0"/>
                        </a:spcBef>
                        <a:spcAft>
                          <a:spcPts val="0"/>
                        </a:spcAft>
                        <a:buNone/>
                      </a:pPr>
                      <a:r>
                        <a:rPr lang="en-GB" sz="900">
                          <a:solidFill>
                            <a:schemeClr val="dk1"/>
                          </a:solidFill>
                        </a:rPr>
                        <a:t>142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solidFill>
                            <a:schemeClr val="dk1"/>
                          </a:solidFill>
                        </a:rPr>
                        <a:t>Mr Hickman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spcBef>
                          <a:spcPts val="0"/>
                        </a:spcBef>
                        <a:spcAft>
                          <a:spcPts val="0"/>
                        </a:spcAft>
                        <a:buNone/>
                      </a:pPr>
                      <a:r>
                        <a:rPr lang="en-GB" sz="900">
                          <a:solidFill>
                            <a:schemeClr val="dk1"/>
                          </a:solidFill>
                        </a:rPr>
                        <a:t>161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Dale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47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210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solidFill>
                            <a:schemeClr val="dk1"/>
                          </a:solidFill>
                        </a:rPr>
                        <a:t>Mr Williams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09" name="Google Shape;309;p17"/>
          <p:cNvSpPr/>
          <p:nvPr/>
        </p:nvSpPr>
        <p:spPr>
          <a:xfrm>
            <a:off x="7228638" y="3820470"/>
            <a:ext cx="1111215" cy="537327"/>
          </a:xfrm>
          <a:custGeom>
            <a:rect b="b" l="l" r="r" t="t"/>
            <a:pathLst>
              <a:path extrusionOk="0" h="537327" w="1111215">
                <a:moveTo>
                  <a:pt x="8279" y="537327"/>
                </a:moveTo>
                <a:cubicBezTo>
                  <a:pt x="-5861" y="428133"/>
                  <a:pt x="-20001" y="318940"/>
                  <a:pt x="130828" y="273377"/>
                </a:cubicBezTo>
                <a:cubicBezTo>
                  <a:pt x="281657" y="227814"/>
                  <a:pt x="749854" y="309513"/>
                  <a:pt x="913252" y="263950"/>
                </a:cubicBezTo>
                <a:cubicBezTo>
                  <a:pt x="1076650" y="218387"/>
                  <a:pt x="1093932" y="109193"/>
                  <a:pt x="1111215" y="0"/>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10" name="Google Shape;310;p17"/>
          <p:cNvSpPr/>
          <p:nvPr/>
        </p:nvSpPr>
        <p:spPr>
          <a:xfrm>
            <a:off x="3513329" y="1410245"/>
            <a:ext cx="1857081" cy="1938884"/>
          </a:xfrm>
          <a:custGeom>
            <a:rect b="b" l="l" r="r" t="t"/>
            <a:pathLst>
              <a:path extrusionOk="0" h="1938884" w="1857081">
                <a:moveTo>
                  <a:pt x="1857081" y="185499"/>
                </a:moveTo>
                <a:cubicBezTo>
                  <a:pt x="1846868" y="148577"/>
                  <a:pt x="1836656" y="111656"/>
                  <a:pt x="1762813" y="100658"/>
                </a:cubicBezTo>
                <a:cubicBezTo>
                  <a:pt x="1688970" y="89660"/>
                  <a:pt x="1484722" y="-131870"/>
                  <a:pt x="1414021" y="119511"/>
                </a:cubicBezTo>
                <a:cubicBezTo>
                  <a:pt x="1343320" y="370892"/>
                  <a:pt x="1574277" y="1305717"/>
                  <a:pt x="1338607" y="1608946"/>
                </a:cubicBezTo>
                <a:cubicBezTo>
                  <a:pt x="1102937" y="1912175"/>
                  <a:pt x="551468" y="1925529"/>
                  <a:pt x="0" y="1938884"/>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11" name="Google Shape;311;p17"/>
          <p:cNvSpPr/>
          <p:nvPr/>
        </p:nvSpPr>
        <p:spPr>
          <a:xfrm>
            <a:off x="371182" y="1421667"/>
            <a:ext cx="1794776" cy="1814341"/>
          </a:xfrm>
          <a:custGeom>
            <a:rect b="b" l="l" r="r" t="t"/>
            <a:pathLst>
              <a:path extrusionOk="0" h="1814341" w="1794776">
                <a:moveTo>
                  <a:pt x="559203" y="145796"/>
                </a:moveTo>
                <a:cubicBezTo>
                  <a:pt x="525423" y="114373"/>
                  <a:pt x="491644" y="82951"/>
                  <a:pt x="417801" y="79809"/>
                </a:cubicBezTo>
                <a:cubicBezTo>
                  <a:pt x="343958" y="76667"/>
                  <a:pt x="166419" y="-126010"/>
                  <a:pt x="116143" y="126943"/>
                </a:cubicBezTo>
                <a:cubicBezTo>
                  <a:pt x="65867" y="379896"/>
                  <a:pt x="-117956" y="1360283"/>
                  <a:pt x="116143" y="1597524"/>
                </a:cubicBezTo>
                <a:cubicBezTo>
                  <a:pt x="350242" y="1834765"/>
                  <a:pt x="1241075" y="1514254"/>
                  <a:pt x="1520737" y="1550390"/>
                </a:cubicBezTo>
                <a:cubicBezTo>
                  <a:pt x="1800399" y="1586526"/>
                  <a:pt x="1797256" y="1700433"/>
                  <a:pt x="1794114" y="1814341"/>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12" name="Google Shape;312;p17"/>
          <p:cNvSpPr/>
          <p:nvPr/>
        </p:nvSpPr>
        <p:spPr>
          <a:xfrm>
            <a:off x="4204355" y="1289532"/>
            <a:ext cx="621373" cy="3065652"/>
          </a:xfrm>
          <a:custGeom>
            <a:rect b="b" l="l" r="r" t="t"/>
            <a:pathLst>
              <a:path extrusionOk="0" h="3065652" w="621373">
                <a:moveTo>
                  <a:pt x="103694" y="3065652"/>
                </a:moveTo>
                <a:cubicBezTo>
                  <a:pt x="315797" y="2522039"/>
                  <a:pt x="527900" y="1978426"/>
                  <a:pt x="593888" y="1481948"/>
                </a:cubicBezTo>
                <a:cubicBezTo>
                  <a:pt x="659876" y="985470"/>
                  <a:pt x="598601" y="289457"/>
                  <a:pt x="499620" y="86781"/>
                </a:cubicBezTo>
                <a:cubicBezTo>
                  <a:pt x="400639" y="-115895"/>
                  <a:pt x="200319" y="74998"/>
                  <a:pt x="0" y="265891"/>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13" name="Google Shape;313;p17"/>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8"/>
          <p:cNvSpPr txBox="1"/>
          <p:nvPr>
            <p:ph idx="1" type="body"/>
          </p:nvPr>
        </p:nvSpPr>
        <p:spPr>
          <a:xfrm>
            <a:off x="467544" y="1325279"/>
            <a:ext cx="8496944" cy="5109091"/>
          </a:xfrm>
          <a:prstGeom prst="rect">
            <a:avLst/>
          </a:prstGeom>
          <a:solidFill>
            <a:schemeClr val="lt1"/>
          </a:solid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chemeClr val="dk1"/>
              </a:buClr>
              <a:buSzPct val="100000"/>
              <a:buNone/>
            </a:pPr>
            <a:r>
              <a:rPr b="1" lang="en-GB">
                <a:solidFill>
                  <a:schemeClr val="dk1"/>
                </a:solidFill>
                <a:latin typeface="Century Gothic"/>
                <a:ea typeface="Century Gothic"/>
                <a:cs typeface="Century Gothic"/>
                <a:sym typeface="Century Gothic"/>
              </a:rPr>
              <a:t>Summary</a:t>
            </a:r>
            <a:endParaRPr/>
          </a:p>
          <a:p>
            <a:pPr indent="0" lvl="0" marL="0" rtl="0" algn="l">
              <a:spcBef>
                <a:spcPts val="496"/>
              </a:spcBef>
              <a:spcAft>
                <a:spcPts val="0"/>
              </a:spcAft>
              <a:buClr>
                <a:schemeClr val="dk1"/>
              </a:buClr>
              <a:buSzPct val="100000"/>
              <a:buNone/>
            </a:pPr>
            <a:r>
              <a:t/>
            </a:r>
            <a:endParaRPr/>
          </a:p>
          <a:p>
            <a:pPr indent="0" lvl="0" marL="0" rtl="0" algn="l">
              <a:spcBef>
                <a:spcPts val="496"/>
              </a:spcBef>
              <a:spcAft>
                <a:spcPts val="0"/>
              </a:spcAft>
              <a:buClr>
                <a:schemeClr val="dk1"/>
              </a:buClr>
              <a:buSzPct val="100000"/>
              <a:buNone/>
            </a:pPr>
            <a:r>
              <a:rPr lang="en-GB">
                <a:solidFill>
                  <a:schemeClr val="dk1"/>
                </a:solidFill>
                <a:latin typeface="Century Gothic"/>
                <a:ea typeface="Century Gothic"/>
                <a:cs typeface="Century Gothic"/>
                <a:sym typeface="Century Gothic"/>
              </a:rPr>
              <a:t>1NF: “A database will be in 1nf it is has no repeating attributes or grouped attributes”.</a:t>
            </a:r>
            <a:endParaRPr/>
          </a:p>
          <a:p>
            <a:pPr indent="0" lvl="0" marL="0" rtl="0" algn="l">
              <a:spcBef>
                <a:spcPts val="496"/>
              </a:spcBef>
              <a:spcAft>
                <a:spcPts val="0"/>
              </a:spcAft>
              <a:buClr>
                <a:schemeClr val="dk1"/>
              </a:buClr>
              <a:buSzPct val="100000"/>
              <a:buNone/>
            </a:pPr>
            <a:r>
              <a:t/>
            </a:r>
            <a:endParaRPr/>
          </a:p>
          <a:p>
            <a:pPr indent="0" lvl="0" marL="0" rtl="0" algn="l">
              <a:spcBef>
                <a:spcPts val="496"/>
              </a:spcBef>
              <a:spcAft>
                <a:spcPts val="0"/>
              </a:spcAft>
              <a:buClr>
                <a:schemeClr val="dk1"/>
              </a:buClr>
              <a:buSzPct val="100000"/>
              <a:buNone/>
            </a:pPr>
            <a:r>
              <a:rPr lang="en-GB">
                <a:solidFill>
                  <a:schemeClr val="dk1"/>
                </a:solidFill>
                <a:latin typeface="Century Gothic"/>
                <a:ea typeface="Century Gothic"/>
                <a:cs typeface="Century Gothic"/>
                <a:sym typeface="Century Gothic"/>
              </a:rPr>
              <a:t>2NF: “A database will be in 2nf it is already in 1nf and is in a state where all of its non key attributes (columns) are dependant on / related to the primary key”.</a:t>
            </a:r>
            <a:endParaRPr/>
          </a:p>
          <a:p>
            <a:pPr indent="0" lvl="0" marL="0" rtl="0" algn="l">
              <a:spcBef>
                <a:spcPts val="496"/>
              </a:spcBef>
              <a:spcAft>
                <a:spcPts val="0"/>
              </a:spcAft>
              <a:buClr>
                <a:schemeClr val="dk1"/>
              </a:buClr>
              <a:buSzPct val="100000"/>
              <a:buNone/>
            </a:pPr>
            <a:r>
              <a:t/>
            </a:r>
            <a:endParaRPr/>
          </a:p>
          <a:p>
            <a:pPr indent="0" lvl="0" marL="0" rtl="0" algn="l">
              <a:spcBef>
                <a:spcPts val="496"/>
              </a:spcBef>
              <a:spcAft>
                <a:spcPts val="0"/>
              </a:spcAft>
              <a:buClr>
                <a:schemeClr val="dk1"/>
              </a:buClr>
              <a:buSzPct val="100000"/>
              <a:buNone/>
            </a:pPr>
            <a:r>
              <a:rPr lang="en-GB">
                <a:solidFill>
                  <a:schemeClr val="dk1"/>
                </a:solidFill>
                <a:latin typeface="Century Gothic"/>
                <a:ea typeface="Century Gothic"/>
                <a:cs typeface="Century Gothic"/>
                <a:sym typeface="Century Gothic"/>
              </a:rPr>
              <a:t>3NF: “A database will be in 3nf it is already in 2nf and contains no attributes that (in addition to the primary key) are ALSO depend on another attribute in the table”.</a:t>
            </a:r>
            <a:endParaRPr/>
          </a:p>
        </p:txBody>
      </p:sp>
      <p:sp>
        <p:nvSpPr>
          <p:cNvPr id="319" name="Google Shape;319;p18"/>
          <p:cNvSpPr txBox="1"/>
          <p:nvPr>
            <p:ph type="title"/>
          </p:nvPr>
        </p:nvSpPr>
        <p:spPr>
          <a:xfrm>
            <a:off x="467544" y="358165"/>
            <a:ext cx="8496944" cy="854968"/>
          </a:xfrm>
          <a:prstGeom prst="rect">
            <a:avLst/>
          </a:prstGeom>
          <a:solidFill>
            <a:schemeClr val="lt1"/>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entury Gothic"/>
              <a:buNone/>
            </a:pPr>
            <a:r>
              <a:rPr lang="en-GB" sz="3600">
                <a:solidFill>
                  <a:schemeClr val="dk1"/>
                </a:solidFill>
                <a:latin typeface="Century Gothic"/>
                <a:ea typeface="Century Gothic"/>
                <a:cs typeface="Century Gothic"/>
                <a:sym typeface="Century Gothic"/>
              </a:rPr>
              <a:t>Normalisation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4" name="Shape 324"/>
        <p:cNvGrpSpPr/>
        <p:nvPr/>
      </p:nvGrpSpPr>
      <p:grpSpPr>
        <a:xfrm>
          <a:off x="0" y="0"/>
          <a:ext cx="0" cy="0"/>
          <a:chOff x="0" y="0"/>
          <a:chExt cx="0" cy="0"/>
        </a:xfrm>
      </p:grpSpPr>
      <p:sp>
        <p:nvSpPr>
          <p:cNvPr id="325" name="Google Shape;325;g37d9d1ac514_2_77"/>
          <p:cNvSpPr txBox="1"/>
          <p:nvPr/>
        </p:nvSpPr>
        <p:spPr>
          <a:xfrm>
            <a:off x="675273" y="1550689"/>
            <a:ext cx="7793455" cy="730158"/>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0070C0"/>
              </a:buClr>
              <a:buSzPts val="2000"/>
              <a:buFont typeface="Arial"/>
              <a:buNone/>
            </a:pPr>
            <a:r>
              <a:rPr b="1" i="0" lang="en-GB" sz="2000" u="none" cap="none" strike="noStrike">
                <a:solidFill>
                  <a:srgbClr val="0070C0"/>
                </a:solidFill>
                <a:latin typeface="PT Sans"/>
                <a:ea typeface="PT Sans"/>
                <a:cs typeface="PT Sans"/>
                <a:sym typeface="PT Sans"/>
              </a:rPr>
              <a:t>Normalisation</a:t>
            </a:r>
            <a:r>
              <a:rPr b="0" i="0" lang="en-GB" sz="2000" u="none" cap="none" strike="noStrike">
                <a:solidFill>
                  <a:schemeClr val="dk1"/>
                </a:solidFill>
                <a:latin typeface="PT Sans"/>
                <a:ea typeface="PT Sans"/>
                <a:cs typeface="PT Sans"/>
                <a:sym typeface="PT Sans"/>
              </a:rPr>
              <a:t> is the process of structuring the data in a database to ensure that is it stored efficiently.</a:t>
            </a:r>
            <a:endParaRPr b="0" i="0" sz="2000" u="none" cap="none" strike="noStrike">
              <a:solidFill>
                <a:schemeClr val="dk1"/>
              </a:solidFill>
              <a:latin typeface="PT Sans"/>
              <a:ea typeface="PT Sans"/>
              <a:cs typeface="PT Sans"/>
              <a:sym typeface="PT Sans"/>
            </a:endParaRPr>
          </a:p>
        </p:txBody>
      </p:sp>
      <p:sp>
        <p:nvSpPr>
          <p:cNvPr id="326" name="Google Shape;326;g37d9d1ac514_2_77"/>
          <p:cNvSpPr txBox="1"/>
          <p:nvPr>
            <p:ph type="title"/>
          </p:nvPr>
        </p:nvSpPr>
        <p:spPr>
          <a:xfrm>
            <a:off x="628650" y="500593"/>
            <a:ext cx="7886700" cy="132556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PT Sans"/>
              <a:buNone/>
            </a:pPr>
            <a:r>
              <a:rPr lang="en-GB">
                <a:solidFill>
                  <a:schemeClr val="dk1"/>
                </a:solidFill>
                <a:latin typeface="PT Sans"/>
                <a:ea typeface="PT Sans"/>
                <a:cs typeface="PT Sans"/>
                <a:sym typeface="PT Sans"/>
              </a:rPr>
              <a:t>Normalisation</a:t>
            </a:r>
            <a:endParaRPr/>
          </a:p>
        </p:txBody>
      </p:sp>
      <p:sp>
        <p:nvSpPr>
          <p:cNvPr id="327" name="Google Shape;327;g37d9d1ac514_2_77"/>
          <p:cNvSpPr txBox="1"/>
          <p:nvPr/>
        </p:nvSpPr>
        <p:spPr>
          <a:xfrm>
            <a:off x="668969" y="2691750"/>
            <a:ext cx="7793455" cy="424879"/>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1" i="0" lang="en-GB" sz="2000" u="none" cap="none" strike="noStrike">
                <a:solidFill>
                  <a:schemeClr val="dk1"/>
                </a:solidFill>
                <a:latin typeface="PT Sans"/>
                <a:ea typeface="PT Sans"/>
                <a:cs typeface="PT Sans"/>
                <a:sym typeface="PT Sans"/>
              </a:rPr>
              <a:t>Key Terms</a:t>
            </a:r>
            <a:endParaRPr/>
          </a:p>
        </p:txBody>
      </p:sp>
      <p:grpSp>
        <p:nvGrpSpPr>
          <p:cNvPr id="328" name="Google Shape;328;g37d9d1ac514_2_77"/>
          <p:cNvGrpSpPr/>
          <p:nvPr/>
        </p:nvGrpSpPr>
        <p:grpSpPr>
          <a:xfrm>
            <a:off x="668969" y="3254968"/>
            <a:ext cx="7793454" cy="730158"/>
            <a:chOff x="668969" y="2982404"/>
            <a:chExt cx="7793454" cy="730158"/>
          </a:xfrm>
        </p:grpSpPr>
        <p:sp>
          <p:nvSpPr>
            <p:cNvPr id="329" name="Google Shape;329;g37d9d1ac514_2_77"/>
            <p:cNvSpPr txBox="1"/>
            <p:nvPr/>
          </p:nvSpPr>
          <p:spPr>
            <a:xfrm>
              <a:off x="2490537" y="2982404"/>
              <a:ext cx="5971886" cy="730158"/>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This is when fields are needlessly repeated across different tables.</a:t>
              </a:r>
              <a:endParaRPr b="0" i="0" sz="2000" u="none" cap="none" strike="noStrike">
                <a:solidFill>
                  <a:schemeClr val="dk1"/>
                </a:solidFill>
                <a:latin typeface="PT Sans"/>
                <a:ea typeface="PT Sans"/>
                <a:cs typeface="PT Sans"/>
                <a:sym typeface="PT Sans"/>
              </a:endParaRPr>
            </a:p>
          </p:txBody>
        </p:sp>
        <p:sp>
          <p:nvSpPr>
            <p:cNvPr id="330" name="Google Shape;330;g37d9d1ac514_2_77"/>
            <p:cNvSpPr txBox="1"/>
            <p:nvPr/>
          </p:nvSpPr>
          <p:spPr>
            <a:xfrm>
              <a:off x="668969" y="2982404"/>
              <a:ext cx="1821568" cy="730158"/>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2000"/>
                <a:buFont typeface="Arial"/>
                <a:buNone/>
              </a:pPr>
              <a:r>
                <a:rPr b="0" i="0" lang="en-GB" sz="2000" u="none" cap="none" strike="noStrike">
                  <a:solidFill>
                    <a:schemeClr val="lt1"/>
                  </a:solidFill>
                  <a:latin typeface="PT Sans"/>
                  <a:ea typeface="PT Sans"/>
                  <a:cs typeface="PT Sans"/>
                  <a:sym typeface="PT Sans"/>
                </a:rPr>
                <a:t>Data Redundancy</a:t>
              </a:r>
              <a:endParaRPr b="0" i="0" sz="2000" u="none" cap="none" strike="noStrike">
                <a:solidFill>
                  <a:schemeClr val="lt1"/>
                </a:solidFill>
                <a:latin typeface="PT Sans"/>
                <a:ea typeface="PT Sans"/>
                <a:cs typeface="PT Sans"/>
                <a:sym typeface="PT Sans"/>
              </a:endParaRPr>
            </a:p>
          </p:txBody>
        </p:sp>
      </p:grpSp>
      <p:grpSp>
        <p:nvGrpSpPr>
          <p:cNvPr id="331" name="Google Shape;331;g37d9d1ac514_2_77"/>
          <p:cNvGrpSpPr/>
          <p:nvPr/>
        </p:nvGrpSpPr>
        <p:grpSpPr>
          <a:xfrm>
            <a:off x="668969" y="4181881"/>
            <a:ext cx="7793454" cy="1080251"/>
            <a:chOff x="668969" y="3842642"/>
            <a:chExt cx="7793454" cy="1276771"/>
          </a:xfrm>
        </p:grpSpPr>
        <p:sp>
          <p:nvSpPr>
            <p:cNvPr id="332" name="Google Shape;332;g37d9d1ac514_2_77"/>
            <p:cNvSpPr txBox="1"/>
            <p:nvPr/>
          </p:nvSpPr>
          <p:spPr>
            <a:xfrm>
              <a:off x="2490537" y="3842642"/>
              <a:ext cx="5971886" cy="1276771"/>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Data stored at an atomic level cannot be decomposed further; for example, a name being split into the fields </a:t>
              </a:r>
              <a:r>
                <a:rPr b="1" i="0" lang="en-GB" sz="2000" u="none" cap="none" strike="noStrike">
                  <a:solidFill>
                    <a:schemeClr val="dk1"/>
                  </a:solidFill>
                  <a:latin typeface="PT Sans"/>
                  <a:ea typeface="PT Sans"/>
                  <a:cs typeface="PT Sans"/>
                  <a:sym typeface="PT Sans"/>
                </a:rPr>
                <a:t>Title</a:t>
              </a:r>
              <a:r>
                <a:rPr b="0" i="0" lang="en-GB" sz="2000" u="none" cap="none" strike="noStrike">
                  <a:solidFill>
                    <a:schemeClr val="dk1"/>
                  </a:solidFill>
                  <a:latin typeface="PT Sans"/>
                  <a:ea typeface="PT Sans"/>
                  <a:cs typeface="PT Sans"/>
                  <a:sym typeface="PT Sans"/>
                </a:rPr>
                <a:t>, </a:t>
              </a:r>
              <a:r>
                <a:rPr b="1" i="0" lang="en-GB" sz="2000" u="none" cap="none" strike="noStrike">
                  <a:solidFill>
                    <a:schemeClr val="dk1"/>
                  </a:solidFill>
                  <a:latin typeface="PT Sans"/>
                  <a:ea typeface="PT Sans"/>
                  <a:cs typeface="PT Sans"/>
                  <a:sym typeface="PT Sans"/>
                </a:rPr>
                <a:t>FirstName</a:t>
              </a:r>
              <a:r>
                <a:rPr b="0" i="0" lang="en-GB" sz="2000" u="none" cap="none" strike="noStrike">
                  <a:solidFill>
                    <a:schemeClr val="dk1"/>
                  </a:solidFill>
                  <a:latin typeface="PT Sans"/>
                  <a:ea typeface="PT Sans"/>
                  <a:cs typeface="PT Sans"/>
                  <a:sym typeface="PT Sans"/>
                </a:rPr>
                <a:t> and </a:t>
              </a:r>
              <a:r>
                <a:rPr b="1" i="0" lang="en-GB" sz="2000" u="none" cap="none" strike="noStrike">
                  <a:solidFill>
                    <a:schemeClr val="dk1"/>
                  </a:solidFill>
                  <a:latin typeface="PT Sans"/>
                  <a:ea typeface="PT Sans"/>
                  <a:cs typeface="PT Sans"/>
                  <a:sym typeface="PT Sans"/>
                </a:rPr>
                <a:t>LastName</a:t>
              </a:r>
              <a:r>
                <a:rPr b="0" i="0" lang="en-GB" sz="2000" u="none" cap="none" strike="noStrike">
                  <a:solidFill>
                    <a:schemeClr val="dk1"/>
                  </a:solidFill>
                  <a:latin typeface="PT Sans"/>
                  <a:ea typeface="PT Sans"/>
                  <a:cs typeface="PT Sans"/>
                  <a:sym typeface="PT Sans"/>
                </a:rPr>
                <a:t>.</a:t>
              </a:r>
              <a:endParaRPr b="0" i="0" sz="2000" u="none" cap="none" strike="noStrike">
                <a:solidFill>
                  <a:schemeClr val="dk1"/>
                </a:solidFill>
                <a:latin typeface="PT Sans"/>
                <a:ea typeface="PT Sans"/>
                <a:cs typeface="PT Sans"/>
                <a:sym typeface="PT Sans"/>
              </a:endParaRPr>
            </a:p>
          </p:txBody>
        </p:sp>
        <p:sp>
          <p:nvSpPr>
            <p:cNvPr id="333" name="Google Shape;333;g37d9d1ac514_2_77"/>
            <p:cNvSpPr txBox="1"/>
            <p:nvPr/>
          </p:nvSpPr>
          <p:spPr>
            <a:xfrm>
              <a:off x="668969" y="3842643"/>
              <a:ext cx="1821568" cy="1276770"/>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2000"/>
                <a:buFont typeface="Arial"/>
                <a:buNone/>
              </a:pPr>
              <a:r>
                <a:rPr b="0" i="0" lang="en-GB" sz="2000" u="none" cap="none" strike="noStrike">
                  <a:solidFill>
                    <a:schemeClr val="lt1"/>
                  </a:solidFill>
                  <a:latin typeface="PT Sans"/>
                  <a:ea typeface="PT Sans"/>
                  <a:cs typeface="PT Sans"/>
                  <a:sym typeface="PT Sans"/>
                </a:rPr>
                <a:t>Atomic Level</a:t>
              </a:r>
              <a:endParaRPr/>
            </a:p>
          </p:txBody>
        </p:sp>
      </p:grpSp>
      <p:grpSp>
        <p:nvGrpSpPr>
          <p:cNvPr id="334" name="Google Shape;334;g37d9d1ac514_2_77"/>
          <p:cNvGrpSpPr/>
          <p:nvPr/>
        </p:nvGrpSpPr>
        <p:grpSpPr>
          <a:xfrm>
            <a:off x="668969" y="5464907"/>
            <a:ext cx="7793454" cy="730158"/>
            <a:chOff x="668969" y="2982404"/>
            <a:chExt cx="7793454" cy="730158"/>
          </a:xfrm>
        </p:grpSpPr>
        <p:sp>
          <p:nvSpPr>
            <p:cNvPr id="335" name="Google Shape;335;g37d9d1ac514_2_77"/>
            <p:cNvSpPr txBox="1"/>
            <p:nvPr/>
          </p:nvSpPr>
          <p:spPr>
            <a:xfrm>
              <a:off x="2490537" y="2982404"/>
              <a:ext cx="5971886" cy="730158"/>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A database that has been normalised is in normal form.</a:t>
              </a:r>
              <a:endParaRPr b="0" i="0" sz="2000" u="none" cap="none" strike="noStrike">
                <a:solidFill>
                  <a:schemeClr val="dk1"/>
                </a:solidFill>
                <a:latin typeface="PT Sans"/>
                <a:ea typeface="PT Sans"/>
                <a:cs typeface="PT Sans"/>
                <a:sym typeface="PT Sans"/>
              </a:endParaRPr>
            </a:p>
          </p:txBody>
        </p:sp>
        <p:sp>
          <p:nvSpPr>
            <p:cNvPr id="336" name="Google Shape;336;g37d9d1ac514_2_77"/>
            <p:cNvSpPr txBox="1"/>
            <p:nvPr/>
          </p:nvSpPr>
          <p:spPr>
            <a:xfrm>
              <a:off x="668969" y="2982404"/>
              <a:ext cx="1821568" cy="730158"/>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2000"/>
                <a:buFont typeface="Arial"/>
                <a:buNone/>
              </a:pPr>
              <a:r>
                <a:rPr b="0" i="0" lang="en-GB" sz="2000" u="none" cap="none" strike="noStrike">
                  <a:solidFill>
                    <a:schemeClr val="lt1"/>
                  </a:solidFill>
                  <a:latin typeface="PT Sans"/>
                  <a:ea typeface="PT Sans"/>
                  <a:cs typeface="PT Sans"/>
                  <a:sym typeface="PT Sans"/>
                </a:rPr>
                <a:t>Normal Form</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
                                        <p:tgtEl>
                                          <p:spTgt spid="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1" name="Shape 341"/>
        <p:cNvGrpSpPr/>
        <p:nvPr/>
      </p:nvGrpSpPr>
      <p:grpSpPr>
        <a:xfrm>
          <a:off x="0" y="0"/>
          <a:ext cx="0" cy="0"/>
          <a:chOff x="0" y="0"/>
          <a:chExt cx="0" cy="0"/>
        </a:xfrm>
      </p:grpSpPr>
      <p:sp>
        <p:nvSpPr>
          <p:cNvPr id="342" name="Google Shape;342;g37d9d1ac514_2_95"/>
          <p:cNvSpPr txBox="1"/>
          <p:nvPr/>
        </p:nvSpPr>
        <p:spPr>
          <a:xfrm>
            <a:off x="675273" y="1550689"/>
            <a:ext cx="7793455" cy="730158"/>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There are different levels of normal form, each with different requirements.</a:t>
            </a:r>
            <a:endParaRPr b="0" i="0" sz="2000" u="none" cap="none" strike="noStrike">
              <a:solidFill>
                <a:schemeClr val="dk1"/>
              </a:solidFill>
              <a:latin typeface="PT Sans"/>
              <a:ea typeface="PT Sans"/>
              <a:cs typeface="PT Sans"/>
              <a:sym typeface="PT Sans"/>
            </a:endParaRPr>
          </a:p>
        </p:txBody>
      </p:sp>
      <p:sp>
        <p:nvSpPr>
          <p:cNvPr id="343" name="Google Shape;343;g37d9d1ac514_2_95"/>
          <p:cNvSpPr txBox="1"/>
          <p:nvPr>
            <p:ph type="title"/>
          </p:nvPr>
        </p:nvSpPr>
        <p:spPr>
          <a:xfrm>
            <a:off x="628650" y="500593"/>
            <a:ext cx="7886700" cy="132556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PT Sans"/>
              <a:buNone/>
            </a:pPr>
            <a:r>
              <a:rPr lang="en-GB">
                <a:solidFill>
                  <a:schemeClr val="dk1"/>
                </a:solidFill>
                <a:latin typeface="PT Sans"/>
                <a:ea typeface="PT Sans"/>
                <a:cs typeface="PT Sans"/>
                <a:sym typeface="PT Sans"/>
              </a:rPr>
              <a:t>First Normal Form (1NF)</a:t>
            </a:r>
            <a:endParaRPr/>
          </a:p>
        </p:txBody>
      </p:sp>
      <p:sp>
        <p:nvSpPr>
          <p:cNvPr id="344" name="Google Shape;344;g37d9d1ac514_2_95"/>
          <p:cNvSpPr txBox="1"/>
          <p:nvPr/>
        </p:nvSpPr>
        <p:spPr>
          <a:xfrm>
            <a:off x="668969" y="2726918"/>
            <a:ext cx="7793455" cy="424879"/>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2000"/>
              <a:buFont typeface="Arial"/>
              <a:buNone/>
            </a:pPr>
            <a:r>
              <a:rPr b="0" i="0" lang="en-GB" sz="2000" u="none" cap="none" strike="noStrike">
                <a:solidFill>
                  <a:schemeClr val="lt1"/>
                </a:solidFill>
                <a:latin typeface="PT Sans"/>
                <a:ea typeface="PT Sans"/>
                <a:cs typeface="PT Sans"/>
                <a:sym typeface="PT Sans"/>
              </a:rPr>
              <a:t>Requirements</a:t>
            </a:r>
            <a:endParaRPr/>
          </a:p>
        </p:txBody>
      </p:sp>
      <p:sp>
        <p:nvSpPr>
          <p:cNvPr id="345" name="Google Shape;345;g37d9d1ac514_2_95"/>
          <p:cNvSpPr txBox="1"/>
          <p:nvPr/>
        </p:nvSpPr>
        <p:spPr>
          <a:xfrm>
            <a:off x="668969" y="3307719"/>
            <a:ext cx="7793455" cy="4752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There is no repeated data and only one value per field.</a:t>
            </a:r>
            <a:endParaRPr b="0" i="0" sz="2000" u="none" cap="none" strike="noStrike">
              <a:solidFill>
                <a:schemeClr val="dk1"/>
              </a:solidFill>
              <a:latin typeface="PT Sans"/>
              <a:ea typeface="PT Sans"/>
              <a:cs typeface="PT Sans"/>
              <a:sym typeface="PT Sans"/>
            </a:endParaRPr>
          </a:p>
        </p:txBody>
      </p:sp>
      <p:sp>
        <p:nvSpPr>
          <p:cNvPr id="346" name="Google Shape;346;g37d9d1ac514_2_95"/>
          <p:cNvSpPr txBox="1"/>
          <p:nvPr/>
        </p:nvSpPr>
        <p:spPr>
          <a:xfrm>
            <a:off x="668968" y="4026729"/>
            <a:ext cx="7793455" cy="475271"/>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The data is atomic.</a:t>
            </a:r>
            <a:endParaRPr b="0" i="0" sz="2000" u="none" cap="none" strike="noStrike">
              <a:solidFill>
                <a:schemeClr val="dk1"/>
              </a:solidFill>
              <a:latin typeface="PT Sans"/>
              <a:ea typeface="PT Sans"/>
              <a:cs typeface="PT Sans"/>
              <a:sym typeface="PT Sans"/>
            </a:endParaRPr>
          </a:p>
        </p:txBody>
      </p:sp>
      <p:sp>
        <p:nvSpPr>
          <p:cNvPr id="347" name="Google Shape;347;g37d9d1ac514_2_95"/>
          <p:cNvSpPr txBox="1"/>
          <p:nvPr/>
        </p:nvSpPr>
        <p:spPr>
          <a:xfrm>
            <a:off x="668968" y="4745810"/>
            <a:ext cx="7793455" cy="4752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Each record is unique.</a:t>
            </a:r>
            <a:endParaRPr b="0" i="0" sz="2000" u="none" cap="none" strike="noStrike">
              <a:solidFill>
                <a:schemeClr val="dk1"/>
              </a:solidFill>
              <a:latin typeface="PT Sans"/>
              <a:ea typeface="PT Sans"/>
              <a:cs typeface="PT Sans"/>
              <a:sym typeface="PT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2" name="Shape 352"/>
        <p:cNvGrpSpPr/>
        <p:nvPr/>
      </p:nvGrpSpPr>
      <p:grpSpPr>
        <a:xfrm>
          <a:off x="0" y="0"/>
          <a:ext cx="0" cy="0"/>
          <a:chOff x="0" y="0"/>
          <a:chExt cx="0" cy="0"/>
        </a:xfrm>
      </p:grpSpPr>
      <p:sp>
        <p:nvSpPr>
          <p:cNvPr id="353" name="Google Shape;353;g37d9d1ac514_2_106"/>
          <p:cNvSpPr txBox="1"/>
          <p:nvPr/>
        </p:nvSpPr>
        <p:spPr>
          <a:xfrm>
            <a:off x="675273" y="1550689"/>
            <a:ext cx="7793455" cy="730158"/>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Here is an example of repeated data. There are multiple fields that contain email addresses (the same type of data).</a:t>
            </a:r>
            <a:endParaRPr b="0" i="0" sz="2000" u="none" cap="none" strike="noStrike">
              <a:solidFill>
                <a:schemeClr val="dk1"/>
              </a:solidFill>
              <a:latin typeface="PT Sans"/>
              <a:ea typeface="PT Sans"/>
              <a:cs typeface="PT Sans"/>
              <a:sym typeface="PT Sans"/>
            </a:endParaRPr>
          </a:p>
        </p:txBody>
      </p:sp>
      <p:sp>
        <p:nvSpPr>
          <p:cNvPr id="354" name="Google Shape;354;g37d9d1ac514_2_106"/>
          <p:cNvSpPr txBox="1"/>
          <p:nvPr>
            <p:ph type="title"/>
          </p:nvPr>
        </p:nvSpPr>
        <p:spPr>
          <a:xfrm>
            <a:off x="628650" y="500593"/>
            <a:ext cx="7886700" cy="132556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PT Sans"/>
              <a:buNone/>
            </a:pPr>
            <a:r>
              <a:rPr lang="en-GB">
                <a:solidFill>
                  <a:schemeClr val="dk1"/>
                </a:solidFill>
                <a:latin typeface="PT Sans"/>
                <a:ea typeface="PT Sans"/>
                <a:cs typeface="PT Sans"/>
                <a:sym typeface="PT Sans"/>
              </a:rPr>
              <a:t>1NF Example</a:t>
            </a:r>
            <a:endParaRPr/>
          </a:p>
        </p:txBody>
      </p:sp>
      <p:graphicFrame>
        <p:nvGraphicFramePr>
          <p:cNvPr id="355" name="Google Shape;355;g37d9d1ac514_2_106"/>
          <p:cNvGraphicFramePr/>
          <p:nvPr/>
        </p:nvGraphicFramePr>
        <p:xfrm>
          <a:off x="675273" y="2630503"/>
          <a:ext cx="3000000" cy="3000000"/>
        </p:xfrm>
        <a:graphic>
          <a:graphicData uri="http://schemas.openxmlformats.org/drawingml/2006/table">
            <a:tbl>
              <a:tblPr>
                <a:noFill/>
                <a:tableStyleId>{D7DB10CA-DD5D-463B-A3AA-64187586B431}</a:tableStyleId>
              </a:tblPr>
              <a:tblGrid>
                <a:gridCol w="1069300"/>
                <a:gridCol w="1034725"/>
                <a:gridCol w="1070800"/>
                <a:gridCol w="2141625"/>
                <a:gridCol w="2483300"/>
              </a:tblGrid>
              <a:tr h="382300">
                <a:tc>
                  <a:txBody>
                    <a:bodyPr/>
                    <a:lstStyle/>
                    <a:p>
                      <a:pPr indent="0" lvl="0" marL="0" marR="0" rtl="0" algn="l">
                        <a:spcBef>
                          <a:spcPts val="0"/>
                        </a:spcBef>
                        <a:spcAft>
                          <a:spcPts val="0"/>
                        </a:spcAft>
                        <a:buClr>
                          <a:srgbClr val="FFFFFF"/>
                        </a:buClr>
                        <a:buSzPts val="1400"/>
                        <a:buFont typeface="PT Sans"/>
                        <a:buNone/>
                      </a:pPr>
                      <a:r>
                        <a:rPr b="1" lang="en-GB" sz="1400" u="none" cap="none" strike="noStrike">
                          <a:solidFill>
                            <a:srgbClr val="FFFFFF"/>
                          </a:solidFill>
                          <a:latin typeface="PT Sans"/>
                          <a:ea typeface="PT Sans"/>
                          <a:cs typeface="PT Sans"/>
                          <a:sym typeface="PT Sans"/>
                        </a:rPr>
                        <a:t>StudentID</a:t>
                      </a:r>
                      <a:endParaRPr b="1" sz="1400" u="none" cap="none" strike="noStrike">
                        <a:solidFill>
                          <a:srgbClr val="FFFFFF"/>
                        </a:solidFill>
                        <a:latin typeface="PT Sans"/>
                        <a:ea typeface="PT Sans"/>
                        <a:cs typeface="PT Sans"/>
                        <a:sym typeface="PT Sans"/>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l">
                        <a:spcBef>
                          <a:spcPts val="0"/>
                        </a:spcBef>
                        <a:spcAft>
                          <a:spcPts val="0"/>
                        </a:spcAft>
                        <a:buClr>
                          <a:srgbClr val="FFFFFF"/>
                        </a:buClr>
                        <a:buSzPts val="1400"/>
                        <a:buFont typeface="PT Sans"/>
                        <a:buNone/>
                      </a:pPr>
                      <a:r>
                        <a:rPr b="1" lang="en-GB" sz="1400" u="none" cap="none" strike="noStrike">
                          <a:solidFill>
                            <a:srgbClr val="FFFFFF"/>
                          </a:solidFill>
                          <a:latin typeface="PT Sans"/>
                          <a:ea typeface="PT Sans"/>
                          <a:cs typeface="PT Sans"/>
                          <a:sym typeface="PT Sans"/>
                        </a:rPr>
                        <a:t>FirstName</a:t>
                      </a:r>
                      <a:endParaRPr b="1" sz="1400" u="none" cap="none" strike="noStrike">
                        <a:solidFill>
                          <a:srgbClr val="FFFFFF"/>
                        </a:solidFill>
                        <a:latin typeface="PT Sans"/>
                        <a:ea typeface="PT Sans"/>
                        <a:cs typeface="PT Sans"/>
                        <a:sym typeface="PT Sans"/>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l">
                        <a:spcBef>
                          <a:spcPts val="0"/>
                        </a:spcBef>
                        <a:spcAft>
                          <a:spcPts val="0"/>
                        </a:spcAft>
                        <a:buClr>
                          <a:srgbClr val="FFFFFF"/>
                        </a:buClr>
                        <a:buSzPts val="1400"/>
                        <a:buFont typeface="PT Sans"/>
                        <a:buNone/>
                      </a:pPr>
                      <a:r>
                        <a:rPr b="1" lang="en-GB" sz="1400" u="none" cap="none" strike="noStrike">
                          <a:solidFill>
                            <a:srgbClr val="FFFFFF"/>
                          </a:solidFill>
                          <a:latin typeface="PT Sans"/>
                          <a:ea typeface="PT Sans"/>
                          <a:cs typeface="PT Sans"/>
                          <a:sym typeface="PT Sans"/>
                        </a:rPr>
                        <a:t>LastName</a:t>
                      </a:r>
                      <a:endParaRPr b="1" sz="1400" u="none" cap="none" strike="noStrike">
                        <a:solidFill>
                          <a:srgbClr val="FFFFFF"/>
                        </a:solidFill>
                        <a:latin typeface="PT Sans"/>
                        <a:ea typeface="PT Sans"/>
                        <a:cs typeface="PT Sans"/>
                        <a:sym typeface="PT Sans"/>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l">
                        <a:spcBef>
                          <a:spcPts val="0"/>
                        </a:spcBef>
                        <a:spcAft>
                          <a:spcPts val="0"/>
                        </a:spcAft>
                        <a:buClr>
                          <a:srgbClr val="FFFFFF"/>
                        </a:buClr>
                        <a:buSzPts val="1400"/>
                        <a:buFont typeface="PT Sans"/>
                        <a:buNone/>
                      </a:pPr>
                      <a:r>
                        <a:rPr b="1" lang="en-GB" sz="1400" u="none" cap="none" strike="noStrike">
                          <a:solidFill>
                            <a:srgbClr val="FFFFFF"/>
                          </a:solidFill>
                          <a:latin typeface="PT Sans"/>
                          <a:ea typeface="PT Sans"/>
                          <a:cs typeface="PT Sans"/>
                          <a:sym typeface="PT Sans"/>
                        </a:rPr>
                        <a:t>Email1</a:t>
                      </a:r>
                      <a:endParaRPr b="1" sz="1400" u="none" cap="none" strike="noStrike">
                        <a:solidFill>
                          <a:srgbClr val="FFFFFF"/>
                        </a:solidFill>
                        <a:latin typeface="PT Sans"/>
                        <a:ea typeface="PT Sans"/>
                        <a:cs typeface="PT Sans"/>
                        <a:sym typeface="PT Sans"/>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l">
                        <a:spcBef>
                          <a:spcPts val="0"/>
                        </a:spcBef>
                        <a:spcAft>
                          <a:spcPts val="0"/>
                        </a:spcAft>
                        <a:buClr>
                          <a:srgbClr val="FFFFFF"/>
                        </a:buClr>
                        <a:buSzPts val="1400"/>
                        <a:buFont typeface="PT Sans"/>
                        <a:buNone/>
                      </a:pPr>
                      <a:r>
                        <a:rPr b="1" lang="en-GB" sz="1400" u="none" cap="none" strike="noStrike">
                          <a:solidFill>
                            <a:srgbClr val="FFFFFF"/>
                          </a:solidFill>
                          <a:latin typeface="PT Sans"/>
                          <a:ea typeface="PT Sans"/>
                          <a:cs typeface="PT Sans"/>
                          <a:sym typeface="PT Sans"/>
                        </a:rPr>
                        <a:t>Email2</a:t>
                      </a:r>
                      <a:endParaRPr b="1" sz="1400" u="none" cap="none" strike="noStrike">
                        <a:solidFill>
                          <a:srgbClr val="FFFFFF"/>
                        </a:solidFill>
                        <a:latin typeface="PT Sans"/>
                        <a:ea typeface="PT Sans"/>
                        <a:cs typeface="PT Sans"/>
                        <a:sym typeface="PT Sans"/>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382300">
                <a:tc>
                  <a:txBody>
                    <a:bodyPr/>
                    <a:lstStyle/>
                    <a:p>
                      <a:pPr indent="0" lvl="0" marL="0" marR="0" rtl="0" algn="l">
                        <a:spcBef>
                          <a:spcPts val="0"/>
                        </a:spcBef>
                        <a:spcAft>
                          <a:spcPts val="0"/>
                        </a:spcAft>
                        <a:buClr>
                          <a:schemeClr val="dk1"/>
                        </a:buClr>
                        <a:buSzPts val="1400"/>
                        <a:buFont typeface="PT Sans"/>
                        <a:buNone/>
                      </a:pPr>
                      <a:r>
                        <a:rPr lang="en-GB" sz="1400" u="none" cap="none" strike="noStrike">
                          <a:latin typeface="PT Sans"/>
                          <a:ea typeface="PT Sans"/>
                          <a:cs typeface="PT Sans"/>
                          <a:sym typeface="PT Sans"/>
                        </a:rPr>
                        <a:t>1</a:t>
                      </a:r>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PT Sans"/>
                        <a:buNone/>
                      </a:pPr>
                      <a:r>
                        <a:rPr lang="en-GB" sz="1400" u="none" cap="none" strike="noStrike">
                          <a:latin typeface="PT Sans"/>
                          <a:ea typeface="PT Sans"/>
                          <a:cs typeface="PT Sans"/>
                          <a:sym typeface="PT Sans"/>
                        </a:rPr>
                        <a:t>John</a:t>
                      </a:r>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PT Sans"/>
                        <a:buNone/>
                      </a:pPr>
                      <a:r>
                        <a:rPr lang="en-GB" sz="1400" u="none" cap="none" strike="noStrike">
                          <a:latin typeface="PT Sans"/>
                          <a:ea typeface="PT Sans"/>
                          <a:cs typeface="PT Sans"/>
                          <a:sym typeface="PT Sans"/>
                        </a:rPr>
                        <a:t>Curtis</a:t>
                      </a:r>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PT Sans"/>
                        <a:buNone/>
                      </a:pPr>
                      <a:r>
                        <a:rPr lang="en-GB" sz="1400" u="none" cap="none" strike="noStrike">
                          <a:latin typeface="PT Sans"/>
                          <a:ea typeface="PT Sans"/>
                          <a:cs typeface="PT Sans"/>
                          <a:sym typeface="PT Sans"/>
                        </a:rPr>
                        <a:t>jcurtis@hotmail.com</a:t>
                      </a:r>
                      <a:endParaRPr sz="1400" u="none" cap="none" strike="noStrike">
                        <a:latin typeface="PT Sans"/>
                        <a:ea typeface="PT Sans"/>
                        <a:cs typeface="PT Sans"/>
                        <a:sym typeface="PT Sans"/>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PT Sans"/>
                        <a:buNone/>
                      </a:pPr>
                      <a:r>
                        <a:rPr lang="en-GB" sz="1400" u="none" cap="none" strike="noStrike">
                          <a:latin typeface="PT Sans"/>
                          <a:ea typeface="PT Sans"/>
                          <a:cs typeface="PT Sans"/>
                          <a:sym typeface="PT Sans"/>
                        </a:rPr>
                        <a:t>jcurtis@gmail.com</a:t>
                      </a:r>
                      <a:endParaRPr sz="1400" u="none" cap="none" strike="noStrike">
                        <a:latin typeface="PT Sans"/>
                        <a:ea typeface="PT Sans"/>
                        <a:cs typeface="PT Sans"/>
                        <a:sym typeface="PT Sans"/>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2300">
                <a:tc>
                  <a:txBody>
                    <a:bodyPr/>
                    <a:lstStyle/>
                    <a:p>
                      <a:pPr indent="0" lvl="0" marL="0" marR="0" rtl="0" algn="l">
                        <a:spcBef>
                          <a:spcPts val="0"/>
                        </a:spcBef>
                        <a:spcAft>
                          <a:spcPts val="0"/>
                        </a:spcAft>
                        <a:buClr>
                          <a:schemeClr val="dk1"/>
                        </a:buClr>
                        <a:buSzPts val="1400"/>
                        <a:buFont typeface="PT Sans"/>
                        <a:buNone/>
                      </a:pPr>
                      <a:r>
                        <a:rPr lang="en-GB" sz="1400" u="none" cap="none" strike="noStrike">
                          <a:latin typeface="PT Sans"/>
                          <a:ea typeface="PT Sans"/>
                          <a:cs typeface="PT Sans"/>
                          <a:sym typeface="PT Sans"/>
                        </a:rPr>
                        <a:t>2</a:t>
                      </a:r>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PT Sans"/>
                        <a:buNone/>
                      </a:pPr>
                      <a:r>
                        <a:rPr lang="en-GB" sz="1400" u="none" cap="none" strike="noStrike">
                          <a:latin typeface="PT Sans"/>
                          <a:ea typeface="PT Sans"/>
                          <a:cs typeface="PT Sans"/>
                          <a:sym typeface="PT Sans"/>
                        </a:rPr>
                        <a:t>Ben</a:t>
                      </a:r>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PT Sans"/>
                        <a:buNone/>
                      </a:pPr>
                      <a:r>
                        <a:rPr lang="en-GB" sz="1400" u="none" cap="none" strike="noStrike">
                          <a:latin typeface="PT Sans"/>
                          <a:ea typeface="PT Sans"/>
                          <a:cs typeface="PT Sans"/>
                          <a:sym typeface="PT Sans"/>
                        </a:rPr>
                        <a:t>Jackson</a:t>
                      </a:r>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PT Sans"/>
                        <a:buNone/>
                      </a:pPr>
                      <a:r>
                        <a:rPr lang="en-GB" sz="1400" u="none" cap="none" strike="noStrike">
                          <a:latin typeface="PT Sans"/>
                          <a:ea typeface="PT Sans"/>
                          <a:cs typeface="PT Sans"/>
                          <a:sym typeface="PT Sans"/>
                        </a:rPr>
                        <a:t>bjackson@me.com</a:t>
                      </a:r>
                      <a:endParaRPr sz="1400" u="none" cap="none" strike="noStrike">
                        <a:latin typeface="PT Sans"/>
                        <a:ea typeface="PT Sans"/>
                        <a:cs typeface="PT Sans"/>
                        <a:sym typeface="PT Sans"/>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PT Sans"/>
                        <a:buNone/>
                      </a:pPr>
                      <a:r>
                        <a:rPr lang="en-GB" sz="1400" u="none" cap="none" strike="noStrike">
                          <a:latin typeface="PT Sans"/>
                          <a:ea typeface="PT Sans"/>
                          <a:cs typeface="PT Sans"/>
                          <a:sym typeface="PT Sans"/>
                        </a:rPr>
                        <a:t>bjackson@gmail.com</a:t>
                      </a:r>
                      <a:endParaRPr sz="1400" u="none" cap="none" strike="noStrike">
                        <a:latin typeface="PT Sans"/>
                        <a:ea typeface="PT Sans"/>
                        <a:cs typeface="PT Sans"/>
                        <a:sym typeface="PT Sans"/>
                      </a:endParaRPr>
                    </a:p>
                  </a:txBody>
                  <a:tcPr marT="91425" marB="914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0" name="Shape 360"/>
        <p:cNvGrpSpPr/>
        <p:nvPr/>
      </p:nvGrpSpPr>
      <p:grpSpPr>
        <a:xfrm>
          <a:off x="0" y="0"/>
          <a:ext cx="0" cy="0"/>
          <a:chOff x="0" y="0"/>
          <a:chExt cx="0" cy="0"/>
        </a:xfrm>
      </p:grpSpPr>
      <p:sp>
        <p:nvSpPr>
          <p:cNvPr id="361" name="Google Shape;361;g37d9d1ac514_2_114"/>
          <p:cNvSpPr txBox="1"/>
          <p:nvPr>
            <p:ph type="title"/>
          </p:nvPr>
        </p:nvSpPr>
        <p:spPr>
          <a:xfrm>
            <a:off x="628650" y="500593"/>
            <a:ext cx="7886700" cy="132556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PT Sans"/>
              <a:buNone/>
            </a:pPr>
            <a:r>
              <a:rPr lang="en-GB">
                <a:solidFill>
                  <a:schemeClr val="dk1"/>
                </a:solidFill>
                <a:latin typeface="PT Sans"/>
                <a:ea typeface="PT Sans"/>
                <a:cs typeface="PT Sans"/>
                <a:sym typeface="PT Sans"/>
              </a:rPr>
              <a:t>Second Normal Form (2NF)</a:t>
            </a:r>
            <a:endParaRPr/>
          </a:p>
        </p:txBody>
      </p:sp>
      <p:sp>
        <p:nvSpPr>
          <p:cNvPr id="362" name="Google Shape;362;g37d9d1ac514_2_114"/>
          <p:cNvSpPr txBox="1"/>
          <p:nvPr/>
        </p:nvSpPr>
        <p:spPr>
          <a:xfrm>
            <a:off x="668969" y="1637130"/>
            <a:ext cx="7793455" cy="424879"/>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2000"/>
              <a:buFont typeface="Arial"/>
              <a:buNone/>
            </a:pPr>
            <a:r>
              <a:rPr b="0" i="0" lang="en-GB" sz="2000" u="none" cap="none" strike="noStrike">
                <a:solidFill>
                  <a:schemeClr val="lt1"/>
                </a:solidFill>
                <a:latin typeface="PT Sans"/>
                <a:ea typeface="PT Sans"/>
                <a:cs typeface="PT Sans"/>
                <a:sym typeface="PT Sans"/>
              </a:rPr>
              <a:t>Requirements</a:t>
            </a:r>
            <a:endParaRPr/>
          </a:p>
        </p:txBody>
      </p:sp>
      <p:sp>
        <p:nvSpPr>
          <p:cNvPr id="363" name="Google Shape;363;g37d9d1ac514_2_114"/>
          <p:cNvSpPr txBox="1"/>
          <p:nvPr/>
        </p:nvSpPr>
        <p:spPr>
          <a:xfrm>
            <a:off x="668969" y="2244308"/>
            <a:ext cx="7793455" cy="542849"/>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Meets the requirements for 1NF.</a:t>
            </a:r>
            <a:endParaRPr b="0" i="0" sz="2000" u="none" cap="none" strike="noStrike">
              <a:solidFill>
                <a:schemeClr val="dk1"/>
              </a:solidFill>
              <a:latin typeface="PT Sans"/>
              <a:ea typeface="PT Sans"/>
              <a:cs typeface="PT Sans"/>
              <a:sym typeface="PT Sans"/>
            </a:endParaRPr>
          </a:p>
        </p:txBody>
      </p:sp>
      <p:sp>
        <p:nvSpPr>
          <p:cNvPr id="364" name="Google Shape;364;g37d9d1ac514_2_114"/>
          <p:cNvSpPr txBox="1"/>
          <p:nvPr/>
        </p:nvSpPr>
        <p:spPr>
          <a:xfrm>
            <a:off x="668969" y="2962693"/>
            <a:ext cx="7793455" cy="727935"/>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All non-key attributes should depend on all parts of the primary key. This can be achieved by creating more tables.</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7d9d1ac514_2_123"/>
          <p:cNvSpPr txBox="1"/>
          <p:nvPr/>
        </p:nvSpPr>
        <p:spPr>
          <a:xfrm>
            <a:off x="612000" y="1550688"/>
            <a:ext cx="7920000" cy="671514"/>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1800"/>
              <a:buFont typeface="Arial"/>
              <a:buNone/>
            </a:pPr>
            <a:r>
              <a:rPr b="0" i="0" lang="en-GB" sz="1800" u="none" cap="none" strike="noStrike">
                <a:solidFill>
                  <a:schemeClr val="dk1"/>
                </a:solidFill>
                <a:latin typeface="PT Sans"/>
                <a:ea typeface="PT Sans"/>
                <a:cs typeface="PT Sans"/>
                <a:sym typeface="PT Sans"/>
              </a:rPr>
              <a:t>This </a:t>
            </a:r>
            <a:r>
              <a:rPr b="1" i="0" lang="en-GB" sz="1800" u="none" cap="none" strike="noStrike">
                <a:solidFill>
                  <a:schemeClr val="dk1"/>
                </a:solidFill>
                <a:latin typeface="PT Sans"/>
                <a:ea typeface="PT Sans"/>
                <a:cs typeface="PT Sans"/>
                <a:sym typeface="PT Sans"/>
              </a:rPr>
              <a:t>Student</a:t>
            </a:r>
            <a:r>
              <a:rPr b="0" i="0" lang="en-GB" sz="1800" u="none" cap="none" strike="noStrike">
                <a:solidFill>
                  <a:schemeClr val="dk1"/>
                </a:solidFill>
                <a:latin typeface="PT Sans"/>
                <a:ea typeface="PT Sans"/>
                <a:cs typeface="PT Sans"/>
                <a:sym typeface="PT Sans"/>
              </a:rPr>
              <a:t> table contains data about each student’s teacher. The </a:t>
            </a:r>
            <a:r>
              <a:rPr b="0" i="1" lang="en-GB" sz="1800" u="none" cap="none" strike="noStrike">
                <a:solidFill>
                  <a:schemeClr val="dk1"/>
                </a:solidFill>
                <a:latin typeface="PT Sans"/>
                <a:ea typeface="PT Sans"/>
                <a:cs typeface="PT Sans"/>
                <a:sym typeface="PT Sans"/>
              </a:rPr>
              <a:t>TeacherTitle</a:t>
            </a:r>
            <a:r>
              <a:rPr b="0" i="0" lang="en-GB" sz="1800" u="none" cap="none" strike="noStrike">
                <a:solidFill>
                  <a:schemeClr val="dk1"/>
                </a:solidFill>
                <a:latin typeface="PT Sans"/>
                <a:ea typeface="PT Sans"/>
                <a:cs typeface="PT Sans"/>
                <a:sym typeface="PT Sans"/>
              </a:rPr>
              <a:t> and </a:t>
            </a:r>
            <a:r>
              <a:rPr b="0" i="1" lang="en-GB" sz="1800" u="none" cap="none" strike="noStrike">
                <a:solidFill>
                  <a:schemeClr val="dk1"/>
                </a:solidFill>
                <a:latin typeface="PT Sans"/>
                <a:ea typeface="PT Sans"/>
                <a:cs typeface="PT Sans"/>
                <a:sym typeface="PT Sans"/>
              </a:rPr>
              <a:t>TeacherName</a:t>
            </a:r>
            <a:r>
              <a:rPr b="0" i="0" lang="en-GB" sz="1800" u="none" cap="none" strike="noStrike">
                <a:solidFill>
                  <a:schemeClr val="dk1"/>
                </a:solidFill>
                <a:latin typeface="PT Sans"/>
                <a:ea typeface="PT Sans"/>
                <a:cs typeface="PT Sans"/>
                <a:sym typeface="PT Sans"/>
              </a:rPr>
              <a:t> fields don’t depend on the primary key (</a:t>
            </a:r>
            <a:r>
              <a:rPr b="0" i="1" lang="en-GB" sz="1800" u="none" cap="none" strike="noStrike">
                <a:solidFill>
                  <a:schemeClr val="dk1"/>
                </a:solidFill>
                <a:latin typeface="PT Sans"/>
                <a:ea typeface="PT Sans"/>
                <a:cs typeface="PT Sans"/>
                <a:sym typeface="PT Sans"/>
              </a:rPr>
              <a:t>StudentID</a:t>
            </a:r>
            <a:r>
              <a:rPr b="0" i="0" lang="en-GB" sz="1800" u="none" cap="none" strike="noStrike">
                <a:solidFill>
                  <a:schemeClr val="dk1"/>
                </a:solidFill>
                <a:latin typeface="PT Sans"/>
                <a:ea typeface="PT Sans"/>
                <a:cs typeface="PT Sans"/>
                <a:sym typeface="PT Sans"/>
              </a:rPr>
              <a:t>).</a:t>
            </a:r>
            <a:endParaRPr b="0" i="0" sz="1800" u="none" cap="none" strike="noStrike">
              <a:solidFill>
                <a:schemeClr val="dk1"/>
              </a:solidFill>
              <a:latin typeface="PT Sans"/>
              <a:ea typeface="PT Sans"/>
              <a:cs typeface="PT Sans"/>
              <a:sym typeface="PT Sans"/>
            </a:endParaRPr>
          </a:p>
        </p:txBody>
      </p:sp>
      <p:sp>
        <p:nvSpPr>
          <p:cNvPr id="371" name="Google Shape;371;g37d9d1ac514_2_123"/>
          <p:cNvSpPr txBox="1"/>
          <p:nvPr>
            <p:ph type="title"/>
          </p:nvPr>
        </p:nvSpPr>
        <p:spPr>
          <a:xfrm>
            <a:off x="628650" y="500593"/>
            <a:ext cx="7886700" cy="132556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PT Sans"/>
              <a:buNone/>
            </a:pPr>
            <a:r>
              <a:rPr lang="en-GB">
                <a:solidFill>
                  <a:schemeClr val="dk1"/>
                </a:solidFill>
                <a:latin typeface="PT Sans"/>
                <a:ea typeface="PT Sans"/>
                <a:cs typeface="PT Sans"/>
                <a:sym typeface="PT Sans"/>
              </a:rPr>
              <a:t>2NF Example</a:t>
            </a:r>
            <a:endParaRPr/>
          </a:p>
        </p:txBody>
      </p:sp>
      <p:graphicFrame>
        <p:nvGraphicFramePr>
          <p:cNvPr id="372" name="Google Shape;372;g37d9d1ac514_2_123"/>
          <p:cNvGraphicFramePr/>
          <p:nvPr/>
        </p:nvGraphicFramePr>
        <p:xfrm>
          <a:off x="629553" y="3173609"/>
          <a:ext cx="3000000" cy="3000000"/>
        </p:xfrm>
        <a:graphic>
          <a:graphicData uri="http://schemas.openxmlformats.org/drawingml/2006/table">
            <a:tbl>
              <a:tblPr bandRow="1">
                <a:noFill/>
                <a:tableStyleId>{FC9F5B3E-929D-4EAA-BB65-2A9E7A6D8BE9}</a:tableStyleId>
              </a:tblPr>
              <a:tblGrid>
                <a:gridCol w="1480525"/>
                <a:gridCol w="1506625"/>
                <a:gridCol w="1618700"/>
                <a:gridCol w="1593800"/>
                <a:gridCol w="1593800"/>
              </a:tblGrid>
              <a:tr h="302400">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StudentID</a:t>
                      </a:r>
                      <a:endParaRPr b="1" sz="1400" u="none" cap="none" strike="noStrike">
                        <a:solidFill>
                          <a:schemeClr val="lt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FirstName</a:t>
                      </a:r>
                      <a:endParaRPr b="1" sz="1400" u="none" cap="none" strike="noStrike">
                        <a:solidFill>
                          <a:schemeClr val="lt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LastName</a:t>
                      </a:r>
                      <a:endParaRPr b="1" sz="1400" u="none" cap="none" strike="noStrike">
                        <a:solidFill>
                          <a:schemeClr val="lt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TeacherTitle</a:t>
                      </a:r>
                      <a:endParaRPr b="1" sz="1400" u="none" cap="none" strike="noStrike">
                        <a:solidFill>
                          <a:schemeClr val="lt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TeacherName</a:t>
                      </a:r>
                      <a:endParaRPr b="1" sz="1400" u="none" cap="none" strike="noStrike">
                        <a:solidFill>
                          <a:schemeClr val="lt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001</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Alex</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Bennett</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Mr</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Ford</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002</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James</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Hadwen</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Mr</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Smith</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003</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Eloise</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Roberts</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Mr</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Ford</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004</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Patrick</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Dua-Brown</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Mrs</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Patel</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373" name="Google Shape;373;g37d9d1ac514_2_123"/>
          <p:cNvSpPr txBox="1"/>
          <p:nvPr/>
        </p:nvSpPr>
        <p:spPr>
          <a:xfrm>
            <a:off x="612000" y="2511299"/>
            <a:ext cx="7920000" cy="447475"/>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They should therefore be in a separate table called </a:t>
            </a:r>
            <a:r>
              <a:rPr b="1" i="0" lang="en-GB" sz="2000" u="none" cap="none" strike="noStrike">
                <a:solidFill>
                  <a:schemeClr val="dk1"/>
                </a:solidFill>
                <a:latin typeface="PT Sans"/>
                <a:ea typeface="PT Sans"/>
                <a:cs typeface="PT Sans"/>
                <a:sym typeface="PT Sans"/>
              </a:rPr>
              <a:t>Teacher</a:t>
            </a:r>
            <a:r>
              <a:rPr b="0" i="0" lang="en-GB" sz="2000" u="none" cap="none" strike="noStrike">
                <a:solidFill>
                  <a:schemeClr val="dk1"/>
                </a:solidFill>
                <a:latin typeface="PT Sans"/>
                <a:ea typeface="PT Sans"/>
                <a:cs typeface="PT Sans"/>
                <a:sym typeface="PT Sans"/>
              </a:rPr>
              <a:t>.</a:t>
            </a:r>
            <a:endParaRPr b="0" i="0" sz="2000" u="none" cap="none" strike="noStrike">
              <a:solidFill>
                <a:schemeClr val="dk1"/>
              </a:solidFill>
              <a:latin typeface="PT Sans"/>
              <a:ea typeface="PT Sans"/>
              <a:cs typeface="PT Sans"/>
              <a:sym typeface="PT Sans"/>
            </a:endParaRPr>
          </a:p>
        </p:txBody>
      </p:sp>
      <p:graphicFrame>
        <p:nvGraphicFramePr>
          <p:cNvPr id="374" name="Google Shape;374;g37d9d1ac514_2_123"/>
          <p:cNvGraphicFramePr/>
          <p:nvPr/>
        </p:nvGraphicFramePr>
        <p:xfrm>
          <a:off x="629553" y="4986706"/>
          <a:ext cx="3000000" cy="3000000"/>
        </p:xfrm>
        <a:graphic>
          <a:graphicData uri="http://schemas.openxmlformats.org/drawingml/2006/table">
            <a:tbl>
              <a:tblPr bandRow="1">
                <a:noFill/>
                <a:tableStyleId>{FC9F5B3E-929D-4EAA-BB65-2A9E7A6D8BE9}</a:tableStyleId>
              </a:tblPr>
              <a:tblGrid>
                <a:gridCol w="1618700"/>
                <a:gridCol w="1593800"/>
                <a:gridCol w="1593800"/>
              </a:tblGrid>
              <a:tr h="302400">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TeacherID</a:t>
                      </a:r>
                      <a:endParaRPr b="1" sz="1400" u="none" cap="none" strike="noStrike">
                        <a:solidFill>
                          <a:schemeClr val="lt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TeacherTitle</a:t>
                      </a:r>
                      <a:endParaRPr b="1" sz="1400" u="none" cap="none" strike="noStrike">
                        <a:solidFill>
                          <a:schemeClr val="lt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TeacherName</a:t>
                      </a:r>
                      <a:endParaRPr b="1" sz="1400" u="none" cap="none" strike="noStrike">
                        <a:solidFill>
                          <a:schemeClr val="lt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001</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Mr</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Ford</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002</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Mr</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Smith</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003</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Mrs</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Patel</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graphicFrame>
        <p:nvGraphicFramePr>
          <p:cNvPr id="375" name="Google Shape;375;g37d9d1ac514_2_123"/>
          <p:cNvGraphicFramePr/>
          <p:nvPr/>
        </p:nvGraphicFramePr>
        <p:xfrm>
          <a:off x="5233881" y="3173608"/>
          <a:ext cx="3000000" cy="3000000"/>
        </p:xfrm>
        <a:graphic>
          <a:graphicData uri="http://schemas.openxmlformats.org/drawingml/2006/table">
            <a:tbl>
              <a:tblPr bandRow="1">
                <a:noFill/>
                <a:tableStyleId>{FC9F5B3E-929D-4EAA-BB65-2A9E7A6D8BE9}</a:tableStyleId>
              </a:tblPr>
              <a:tblGrid>
                <a:gridCol w="1618700"/>
              </a:tblGrid>
              <a:tr h="302400">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TeacherID</a:t>
                      </a:r>
                      <a:endParaRPr b="1" sz="1400" u="none" cap="none" strike="noStrike">
                        <a:solidFill>
                          <a:schemeClr val="lt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001</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002</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001</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24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003</a:t>
                      </a:r>
                      <a:endParaRPr b="0" sz="1400" u="none" cap="none" strike="noStrike">
                        <a:solidFill>
                          <a:schemeClr val="dk1"/>
                        </a:solidFill>
                        <a:latin typeface="PT Sans"/>
                        <a:ea typeface="PT Sans"/>
                        <a:cs typeface="PT Sans"/>
                        <a:sym typeface="PT San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376" name="Google Shape;376;g37d9d1ac514_2_123"/>
          <p:cNvSpPr/>
          <p:nvPr/>
        </p:nvSpPr>
        <p:spPr>
          <a:xfrm>
            <a:off x="6858000" y="3151447"/>
            <a:ext cx="1606550" cy="157941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T Sans"/>
              <a:ea typeface="PT Sans"/>
              <a:cs typeface="PT Sans"/>
              <a:sym typeface="PT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1" name="Shape 381"/>
        <p:cNvGrpSpPr/>
        <p:nvPr/>
      </p:nvGrpSpPr>
      <p:grpSpPr>
        <a:xfrm>
          <a:off x="0" y="0"/>
          <a:ext cx="0" cy="0"/>
          <a:chOff x="0" y="0"/>
          <a:chExt cx="0" cy="0"/>
        </a:xfrm>
      </p:grpSpPr>
      <p:sp>
        <p:nvSpPr>
          <p:cNvPr id="382" name="Google Shape;382;g37d9d1ac514_2_135"/>
          <p:cNvSpPr txBox="1"/>
          <p:nvPr>
            <p:ph type="title"/>
          </p:nvPr>
        </p:nvSpPr>
        <p:spPr>
          <a:xfrm>
            <a:off x="628650" y="500593"/>
            <a:ext cx="7886700" cy="132556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PT Sans"/>
              <a:buNone/>
            </a:pPr>
            <a:r>
              <a:rPr lang="en-GB">
                <a:solidFill>
                  <a:schemeClr val="dk1"/>
                </a:solidFill>
                <a:latin typeface="PT Sans"/>
                <a:ea typeface="PT Sans"/>
                <a:cs typeface="PT Sans"/>
                <a:sym typeface="PT Sans"/>
              </a:rPr>
              <a:t>Third Normal Form (3NF)</a:t>
            </a:r>
            <a:endParaRPr/>
          </a:p>
        </p:txBody>
      </p:sp>
      <p:sp>
        <p:nvSpPr>
          <p:cNvPr id="383" name="Google Shape;383;g37d9d1ac514_2_135"/>
          <p:cNvSpPr txBox="1"/>
          <p:nvPr/>
        </p:nvSpPr>
        <p:spPr>
          <a:xfrm>
            <a:off x="668969" y="1637130"/>
            <a:ext cx="7793455" cy="424879"/>
          </a:xfrm>
          <a:prstGeom prst="rect">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2000"/>
              <a:buFont typeface="Arial"/>
              <a:buNone/>
            </a:pPr>
            <a:r>
              <a:rPr b="0" i="0" lang="en-GB" sz="2000" u="none" cap="none" strike="noStrike">
                <a:solidFill>
                  <a:schemeClr val="lt1"/>
                </a:solidFill>
                <a:latin typeface="PT Sans"/>
                <a:ea typeface="PT Sans"/>
                <a:cs typeface="PT Sans"/>
                <a:sym typeface="PT Sans"/>
              </a:rPr>
              <a:t>Requirements</a:t>
            </a:r>
            <a:endParaRPr/>
          </a:p>
        </p:txBody>
      </p:sp>
      <p:sp>
        <p:nvSpPr>
          <p:cNvPr id="384" name="Google Shape;384;g37d9d1ac514_2_135"/>
          <p:cNvSpPr txBox="1"/>
          <p:nvPr/>
        </p:nvSpPr>
        <p:spPr>
          <a:xfrm>
            <a:off x="668969" y="2271914"/>
            <a:ext cx="7793455" cy="542849"/>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Meets the requirements for 2NF.</a:t>
            </a:r>
            <a:endParaRPr b="0" i="0" sz="2000" u="none" cap="none" strike="noStrike">
              <a:solidFill>
                <a:schemeClr val="dk1"/>
              </a:solidFill>
              <a:latin typeface="PT Sans"/>
              <a:ea typeface="PT Sans"/>
              <a:cs typeface="PT Sans"/>
              <a:sym typeface="PT Sans"/>
            </a:endParaRPr>
          </a:p>
        </p:txBody>
      </p:sp>
      <p:sp>
        <p:nvSpPr>
          <p:cNvPr id="385" name="Google Shape;385;g37d9d1ac514_2_135"/>
          <p:cNvSpPr txBox="1"/>
          <p:nvPr/>
        </p:nvSpPr>
        <p:spPr>
          <a:xfrm>
            <a:off x="668969" y="3050616"/>
            <a:ext cx="7793455" cy="646777"/>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Non-key attributes should not depend on other non-key attributes.</a:t>
            </a:r>
            <a:endParaRPr b="0" i="0" sz="2000" u="none" cap="none" strike="noStrike">
              <a:solidFill>
                <a:schemeClr val="dk1"/>
              </a:solidFill>
              <a:latin typeface="PT Sans"/>
              <a:ea typeface="PT Sans"/>
              <a:cs typeface="PT Sans"/>
              <a:sym typeface="PT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0" name="Shape 390"/>
        <p:cNvGrpSpPr/>
        <p:nvPr/>
      </p:nvGrpSpPr>
      <p:grpSpPr>
        <a:xfrm>
          <a:off x="0" y="0"/>
          <a:ext cx="0" cy="0"/>
          <a:chOff x="0" y="0"/>
          <a:chExt cx="0" cy="0"/>
        </a:xfrm>
      </p:grpSpPr>
      <p:sp>
        <p:nvSpPr>
          <p:cNvPr id="391" name="Google Shape;391;g37d9d1ac514_2_144"/>
          <p:cNvSpPr txBox="1"/>
          <p:nvPr/>
        </p:nvSpPr>
        <p:spPr>
          <a:xfrm>
            <a:off x="675273" y="1550689"/>
            <a:ext cx="7793455" cy="629768"/>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The </a:t>
            </a:r>
            <a:r>
              <a:rPr b="0" i="1" lang="en-GB" sz="2000" u="none" cap="none" strike="noStrike">
                <a:solidFill>
                  <a:schemeClr val="dk1"/>
                </a:solidFill>
                <a:latin typeface="PT Sans"/>
                <a:ea typeface="PT Sans"/>
                <a:cs typeface="PT Sans"/>
                <a:sym typeface="PT Sans"/>
              </a:rPr>
              <a:t>FormRoom</a:t>
            </a:r>
            <a:r>
              <a:rPr b="0" i="0" lang="en-GB" sz="2000" u="none" cap="none" strike="noStrike">
                <a:solidFill>
                  <a:schemeClr val="dk1"/>
                </a:solidFill>
                <a:latin typeface="PT Sans"/>
                <a:ea typeface="PT Sans"/>
                <a:cs typeface="PT Sans"/>
                <a:sym typeface="PT Sans"/>
              </a:rPr>
              <a:t> field in the </a:t>
            </a:r>
            <a:r>
              <a:rPr b="1" i="0" lang="en-GB" sz="2000" u="none" cap="none" strike="noStrike">
                <a:solidFill>
                  <a:schemeClr val="dk1"/>
                </a:solidFill>
                <a:latin typeface="PT Sans"/>
                <a:ea typeface="PT Sans"/>
                <a:cs typeface="PT Sans"/>
                <a:sym typeface="PT Sans"/>
              </a:rPr>
              <a:t>Teacher</a:t>
            </a:r>
            <a:r>
              <a:rPr b="0" i="0" lang="en-GB" sz="2000" u="none" cap="none" strike="noStrike">
                <a:solidFill>
                  <a:schemeClr val="dk1"/>
                </a:solidFill>
                <a:latin typeface="PT Sans"/>
                <a:ea typeface="PT Sans"/>
                <a:cs typeface="PT Sans"/>
                <a:sym typeface="PT Sans"/>
              </a:rPr>
              <a:t> table depends on the </a:t>
            </a:r>
            <a:r>
              <a:rPr b="0" i="1" lang="en-GB" sz="2000" u="none" cap="none" strike="noStrike">
                <a:solidFill>
                  <a:schemeClr val="dk1"/>
                </a:solidFill>
                <a:latin typeface="PT Sans"/>
                <a:ea typeface="PT Sans"/>
                <a:cs typeface="PT Sans"/>
                <a:sym typeface="PT Sans"/>
              </a:rPr>
              <a:t>Form</a:t>
            </a:r>
            <a:r>
              <a:rPr b="0" i="0" lang="en-GB" sz="2000" u="none" cap="none" strike="noStrike">
                <a:solidFill>
                  <a:schemeClr val="dk1"/>
                </a:solidFill>
                <a:latin typeface="PT Sans"/>
                <a:ea typeface="PT Sans"/>
                <a:cs typeface="PT Sans"/>
                <a:sym typeface="PT Sans"/>
              </a:rPr>
              <a:t> field.</a:t>
            </a:r>
            <a:endParaRPr b="0" i="0" sz="2000" u="none" cap="none" strike="noStrike">
              <a:solidFill>
                <a:schemeClr val="dk1"/>
              </a:solidFill>
              <a:latin typeface="PT Sans"/>
              <a:ea typeface="PT Sans"/>
              <a:cs typeface="PT Sans"/>
              <a:sym typeface="PT Sans"/>
            </a:endParaRPr>
          </a:p>
        </p:txBody>
      </p:sp>
      <p:sp>
        <p:nvSpPr>
          <p:cNvPr id="392" name="Google Shape;392;g37d9d1ac514_2_144"/>
          <p:cNvSpPr txBox="1"/>
          <p:nvPr>
            <p:ph type="title"/>
          </p:nvPr>
        </p:nvSpPr>
        <p:spPr>
          <a:xfrm>
            <a:off x="628650" y="500593"/>
            <a:ext cx="7886700" cy="132556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PT Sans"/>
              <a:buNone/>
            </a:pPr>
            <a:r>
              <a:rPr lang="en-GB">
                <a:solidFill>
                  <a:schemeClr val="dk1"/>
                </a:solidFill>
                <a:latin typeface="PT Sans"/>
                <a:ea typeface="PT Sans"/>
                <a:cs typeface="PT Sans"/>
                <a:sym typeface="PT Sans"/>
              </a:rPr>
              <a:t>3NF Example</a:t>
            </a:r>
            <a:endParaRPr/>
          </a:p>
        </p:txBody>
      </p:sp>
      <p:graphicFrame>
        <p:nvGraphicFramePr>
          <p:cNvPr id="393" name="Google Shape;393;g37d9d1ac514_2_144"/>
          <p:cNvGraphicFramePr/>
          <p:nvPr/>
        </p:nvGraphicFramePr>
        <p:xfrm>
          <a:off x="672800" y="3047545"/>
          <a:ext cx="3000000" cy="3000000"/>
        </p:xfrm>
        <a:graphic>
          <a:graphicData uri="http://schemas.openxmlformats.org/drawingml/2006/table">
            <a:tbl>
              <a:tblPr bandRow="1">
                <a:noFill/>
                <a:tableStyleId>{FC9F5B3E-929D-4EAA-BB65-2A9E7A6D8BE9}</a:tableStyleId>
              </a:tblPr>
              <a:tblGrid>
                <a:gridCol w="1370625"/>
                <a:gridCol w="1394800"/>
                <a:gridCol w="1498525"/>
                <a:gridCol w="1498525"/>
              </a:tblGrid>
              <a:tr h="283925">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StudentID</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FirstName</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LastName</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TeacherID</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289025">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001</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Alex</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Bennett</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001</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89025">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002</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James</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Hadwen</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002</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89025">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003</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Eloise</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Roberts</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001</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89025">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004</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Patrick</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Dua-Brown</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003</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394" name="Google Shape;394;g37d9d1ac514_2_144"/>
          <p:cNvSpPr txBox="1"/>
          <p:nvPr/>
        </p:nvSpPr>
        <p:spPr>
          <a:xfrm>
            <a:off x="675273" y="2339242"/>
            <a:ext cx="7793455" cy="498909"/>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000"/>
              <a:buFont typeface="Arial"/>
              <a:buNone/>
            </a:pPr>
            <a:r>
              <a:rPr b="0" i="0" lang="en-GB" sz="2000" u="none" cap="none" strike="noStrike">
                <a:solidFill>
                  <a:schemeClr val="dk1"/>
                </a:solidFill>
                <a:latin typeface="PT Sans"/>
                <a:ea typeface="PT Sans"/>
                <a:cs typeface="PT Sans"/>
                <a:sym typeface="PT Sans"/>
              </a:rPr>
              <a:t>To solve this we can create a separate table called </a:t>
            </a:r>
            <a:r>
              <a:rPr b="1" i="0" lang="en-GB" sz="2000" u="none" cap="none" strike="noStrike">
                <a:solidFill>
                  <a:schemeClr val="dk1"/>
                </a:solidFill>
                <a:latin typeface="PT Sans"/>
                <a:ea typeface="PT Sans"/>
                <a:cs typeface="PT Sans"/>
                <a:sym typeface="PT Sans"/>
              </a:rPr>
              <a:t>Form</a:t>
            </a:r>
            <a:r>
              <a:rPr b="0" i="0" lang="en-GB" sz="2000" u="none" cap="none" strike="noStrike">
                <a:solidFill>
                  <a:schemeClr val="dk1"/>
                </a:solidFill>
                <a:latin typeface="PT Sans"/>
                <a:ea typeface="PT Sans"/>
                <a:cs typeface="PT Sans"/>
                <a:sym typeface="PT Sans"/>
              </a:rPr>
              <a:t>.</a:t>
            </a:r>
            <a:endParaRPr b="0" i="0" sz="2000" u="none" cap="none" strike="noStrike">
              <a:solidFill>
                <a:schemeClr val="dk1"/>
              </a:solidFill>
              <a:latin typeface="PT Sans"/>
              <a:ea typeface="PT Sans"/>
              <a:cs typeface="PT Sans"/>
              <a:sym typeface="PT Sans"/>
            </a:endParaRPr>
          </a:p>
        </p:txBody>
      </p:sp>
      <p:graphicFrame>
        <p:nvGraphicFramePr>
          <p:cNvPr id="395" name="Google Shape;395;g37d9d1ac514_2_144"/>
          <p:cNvGraphicFramePr/>
          <p:nvPr/>
        </p:nvGraphicFramePr>
        <p:xfrm>
          <a:off x="675273" y="4762055"/>
          <a:ext cx="3000000" cy="3000000"/>
        </p:xfrm>
        <a:graphic>
          <a:graphicData uri="http://schemas.openxmlformats.org/drawingml/2006/table">
            <a:tbl>
              <a:tblPr bandRow="1">
                <a:noFill/>
                <a:tableStyleId>{FC9F5B3E-929D-4EAA-BB65-2A9E7A6D8BE9}</a:tableStyleId>
              </a:tblPr>
              <a:tblGrid>
                <a:gridCol w="1134700"/>
                <a:gridCol w="1305700"/>
                <a:gridCol w="1416125"/>
                <a:gridCol w="735650"/>
                <a:gridCol w="1167825"/>
              </a:tblGrid>
              <a:tr h="279000">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TeacherID</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TeacherTitle</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TeacherName</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Form</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FormRoom</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2790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001</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Mr</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Ford</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7SFD</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87</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790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002</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Mr</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Smith</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7ASM</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10</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790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003</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Mrs</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Patel</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7APT</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14</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graphicFrame>
        <p:nvGraphicFramePr>
          <p:cNvPr id="396" name="Google Shape;396;g37d9d1ac514_2_144"/>
          <p:cNvGraphicFramePr/>
          <p:nvPr/>
        </p:nvGraphicFramePr>
        <p:xfrm>
          <a:off x="6565249" y="4757436"/>
          <a:ext cx="3000000" cy="3000000"/>
        </p:xfrm>
        <a:graphic>
          <a:graphicData uri="http://schemas.openxmlformats.org/drawingml/2006/table">
            <a:tbl>
              <a:tblPr bandRow="1">
                <a:noFill/>
                <a:tableStyleId>{FC9F5B3E-929D-4EAA-BB65-2A9E7A6D8BE9}</a:tableStyleId>
              </a:tblPr>
              <a:tblGrid>
                <a:gridCol w="735650"/>
                <a:gridCol w="1167825"/>
              </a:tblGrid>
              <a:tr h="279000">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Form</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GB" sz="1400" u="none" cap="none" strike="noStrike">
                          <a:solidFill>
                            <a:schemeClr val="lt1"/>
                          </a:solidFill>
                          <a:latin typeface="PT Sans"/>
                          <a:ea typeface="PT Sans"/>
                          <a:cs typeface="PT Sans"/>
                          <a:sym typeface="PT Sans"/>
                        </a:rPr>
                        <a:t>FormRoom</a:t>
                      </a:r>
                      <a:endParaRPr b="1" sz="1400" u="none" cap="none" strike="noStrike">
                        <a:solidFill>
                          <a:schemeClr val="lt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2790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7SFD</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87</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790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7ASM</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10</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79000">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7APT</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400" u="none" cap="none" strike="noStrike">
                          <a:solidFill>
                            <a:schemeClr val="dk1"/>
                          </a:solidFill>
                          <a:latin typeface="PT Sans"/>
                          <a:ea typeface="PT Sans"/>
                          <a:cs typeface="PT Sans"/>
                          <a:sym typeface="PT Sans"/>
                        </a:rPr>
                        <a:t>14</a:t>
                      </a:r>
                      <a:endParaRPr b="0" sz="1400" u="none" cap="none" strike="noStrike">
                        <a:solidFill>
                          <a:schemeClr val="dk1"/>
                        </a:solidFill>
                        <a:latin typeface="PT Sans"/>
                        <a:ea typeface="PT Sans"/>
                        <a:cs typeface="PT Sans"/>
                        <a:sym typeface="PT Sans"/>
                      </a:endParaRPr>
                    </a:p>
                  </a:txBody>
                  <a:tcPr marT="36000" marB="360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397" name="Google Shape;397;g37d9d1ac514_2_144"/>
          <p:cNvSpPr/>
          <p:nvPr/>
        </p:nvSpPr>
        <p:spPr>
          <a:xfrm>
            <a:off x="5273964" y="4726132"/>
            <a:ext cx="1256145" cy="12838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2013-09-11T18:04:43Z</dcterms:created>
  <dc:creator>Sam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167548</vt:lpwstr>
  </property>
  <property fmtid="{D5CDD505-2E9C-101B-9397-08002B2CF9AE}" pid="3" name="NXPowerLiteSettings">
    <vt:lpwstr>C74006B004C800</vt:lpwstr>
  </property>
  <property fmtid="{D5CDD505-2E9C-101B-9397-08002B2CF9AE}" pid="4" name="NXPowerLiteVersion">
    <vt:lpwstr>S7.0.8</vt:lpwstr>
  </property>
</Properties>
</file>