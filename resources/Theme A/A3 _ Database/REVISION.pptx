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Lexend"/>
      <p:regular r:id="rId20"/>
      <p:bold r:id="rId21"/>
    </p:embeddedFon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22" Type="http://schemas.openxmlformats.org/officeDocument/2006/relationships/font" Target="fonts/RobotoMono-regular.fntdata"/><Relationship Id="rId21" Type="http://schemas.openxmlformats.org/officeDocument/2006/relationships/font" Target="fonts/Lexend-bold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dea9a05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1dea9a0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1dea9a05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1dea9a05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1dea9a05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1dea9a05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1dea9a05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1dea9a05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1dea9a05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1dea9a05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1dea9a054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1dea9a054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1dea9a054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1dea9a054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1dea9a054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1dea9a054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1dea9a054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1dea9a054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1dea9a054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1dea9a054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1dea9a054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1dea9a054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1dea9a054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1dea9a054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1dea9a054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1dea9a054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hyperlink" Target="https://u.ae/en/about-the-uae/digital-uae" TargetMode="External"/><Relationship Id="rId7" Type="http://schemas.openxmlformats.org/officeDocument/2006/relationships/hyperlink" Target="https://u.ae/en/about-the-uae/digital-uae" TargetMode="External"/><Relationship Id="rId8" Type="http://schemas.openxmlformats.org/officeDocument/2006/relationships/hyperlink" Target="https://smartdubai.a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REVISION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MANIPULATION AND CONSIDERING DATABASE NEEDS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27" y="88361"/>
            <a:ext cx="1368278" cy="1368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856050" y="466200"/>
            <a:ext cx="743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" sz="3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Now Activity (</a:t>
            </a:r>
            <a:r>
              <a:rPr b="1" lang="en" sz="3100" u="sng"/>
              <a:t>5 mins)</a:t>
            </a:r>
            <a:endParaRPr b="1" i="0" sz="31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91100" y="1375800"/>
            <a:ext cx="7431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1134925" y="1413900"/>
            <a:ext cx="4506600" cy="2503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lang="en">
                <a:solidFill>
                  <a:srgbClr val="FF0000"/>
                </a:solidFill>
              </a:rPr>
              <a:t>What SQL keyword do you use to specify the columns you want to retrieve (e.g., </a:t>
            </a:r>
            <a:r>
              <a:rPr lang="en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FirstName</a:t>
            </a:r>
            <a:r>
              <a:rPr lang="en">
                <a:solidFill>
                  <a:srgbClr val="FF0000"/>
                </a:solidFill>
              </a:rPr>
              <a:t>, </a:t>
            </a:r>
            <a:r>
              <a:rPr lang="en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r>
              <a:rPr lang="en">
                <a:solidFill>
                  <a:srgbClr val="FF0000"/>
                </a:solidFill>
              </a:rPr>
              <a:t>)?</a:t>
            </a:r>
            <a:endParaRPr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lang="en">
                <a:solidFill>
                  <a:srgbClr val="FF0000"/>
                </a:solidFill>
              </a:rPr>
              <a:t>What SQL keyword do you use to specify the table you want to get data from?</a:t>
            </a:r>
            <a:endParaRPr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lang="en">
                <a:solidFill>
                  <a:srgbClr val="FF0000"/>
                </a:solidFill>
              </a:rPr>
              <a:t>Write the complete SQL query to select </a:t>
            </a:r>
            <a:r>
              <a:rPr i="1" lang="en">
                <a:solidFill>
                  <a:srgbClr val="FF0000"/>
                </a:solidFill>
              </a:rPr>
              <a:t>only</a:t>
            </a:r>
            <a:r>
              <a:rPr lang="en">
                <a:solidFill>
                  <a:srgbClr val="FF0000"/>
                </a:solidFill>
              </a:rPr>
              <a:t> the </a:t>
            </a:r>
            <a:r>
              <a:rPr lang="en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Productname</a:t>
            </a:r>
            <a:r>
              <a:rPr lang="en">
                <a:solidFill>
                  <a:srgbClr val="FF0000"/>
                </a:solidFill>
              </a:rPr>
              <a:t> and </a:t>
            </a:r>
            <a:r>
              <a:rPr lang="en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">
                <a:solidFill>
                  <a:srgbClr val="FF0000"/>
                </a:solidFill>
              </a:rPr>
              <a:t> from a single table named </a:t>
            </a:r>
            <a:r>
              <a:rPr lang="en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Products</a:t>
            </a:r>
            <a:r>
              <a:rPr lang="en">
                <a:solidFill>
                  <a:srgbClr val="FF0000"/>
                </a:solidFill>
              </a:rPr>
              <a:t>.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5641525" y="1413900"/>
            <a:ext cx="2363700" cy="25038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500">
                <a:latin typeface="Trebuchet MS"/>
                <a:ea typeface="Trebuchet MS"/>
                <a:cs typeface="Trebuchet MS"/>
                <a:sym typeface="Trebuchet MS"/>
              </a:rPr>
              <a:t>TOK </a:t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what extent can data manipulation be considered an objective process when human judgment influences how databases are designed and interpreted?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0" y="4152200"/>
            <a:ext cx="9144000" cy="9540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lang="en" sz="1300">
                <a:solidFill>
                  <a:schemeClr val="dk1"/>
                </a:solidFill>
              </a:rPr>
              <a:t>To learn how to retrieve and modify data from related tables using INSERT , UPDATE &amp; DELETE</a:t>
            </a:r>
            <a:endParaRPr i="0" sz="16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5612725" y="4158100"/>
            <a:ext cx="3531300" cy="9540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identify the Primary Key and Foreign Key that link the table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I can write a SELECT statement that uses update /insert</a:t>
            </a: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0" y="4152200"/>
            <a:ext cx="9144000" cy="9540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lang="en" sz="1300">
                <a:solidFill>
                  <a:schemeClr val="dk1"/>
                </a:solidFill>
              </a:rPr>
              <a:t>To learn how to retrieve and modify data from related tables using INSERT , UPDATE &amp; DELETE</a:t>
            </a:r>
            <a:endParaRPr i="0" sz="16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5612725" y="4158100"/>
            <a:ext cx="3531300" cy="9540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identify the Primary Key and Foreign Key that link the table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I can write a SELECT statement that uses update /insert</a:t>
            </a: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0" y="0"/>
            <a:ext cx="4413300" cy="349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UAE Link / UAE Context Question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Link to UAE: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Data manipulation and database design are key parts of the UAE’s </a:t>
            </a:r>
            <a:r>
              <a:rPr b="1" lang="en" sz="1100">
                <a:solidFill>
                  <a:schemeClr val="dk1"/>
                </a:solidFill>
              </a:rPr>
              <a:t>digital transformation</a:t>
            </a:r>
            <a:r>
              <a:rPr lang="en" sz="1100">
                <a:solidFill>
                  <a:schemeClr val="dk1"/>
                </a:solidFill>
              </a:rPr>
              <a:t> strategy — especially under initiatives like </a:t>
            </a:r>
            <a:r>
              <a:rPr b="1" lang="en" sz="1100">
                <a:solidFill>
                  <a:schemeClr val="dk1"/>
                </a:solidFill>
              </a:rPr>
              <a:t>UAE Digital Government Strategy 2025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Smart Dubai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UAE Question: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How do initiatives like Smart Dubai or UAE Pass use data manipulation and database management to improve public services and citizen experience?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Possible references: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https://u.ae/en/about-the-uae/digital-uae</a:t>
            </a:r>
            <a:br>
              <a:rPr lang="en" sz="1100" u="sng">
                <a:solidFill>
                  <a:schemeClr val="hlink"/>
                </a:solidFill>
                <a:hlinkClick r:id="rId7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u="sng">
                <a:solidFill>
                  <a:schemeClr val="hlink"/>
                </a:solidFill>
                <a:hlinkClick r:id="rId8"/>
              </a:rPr>
              <a:t>https://smartdubai.ae</a:t>
            </a:r>
            <a:endParaRPr sz="1100" u="sng">
              <a:solidFill>
                <a:schemeClr val="hlink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4774350" y="147650"/>
            <a:ext cx="3000000" cy="14814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Interdisciplinary Question: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How can mathematical logic and ethical considerations combine when designing and manipulating databases for business or government use?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4774350" y="1960600"/>
            <a:ext cx="3000000" cy="14814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Real-life Question: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How does effective data manipulation support accurate decision-making in UAE businesses and government institutions?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/>
          <p:nvPr/>
        </p:nvSpPr>
        <p:spPr>
          <a:xfrm>
            <a:off x="0" y="4152200"/>
            <a:ext cx="9144000" cy="9540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lang="en" sz="1300">
                <a:solidFill>
                  <a:schemeClr val="dk1"/>
                </a:solidFill>
              </a:rPr>
              <a:t>To learn how to retrieve and modify data from related tables using INSERT , UPDATE &amp; DELETE</a:t>
            </a:r>
            <a:endParaRPr i="0" sz="16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612725" y="4158100"/>
            <a:ext cx="3531300" cy="9540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identify the Primary Key and Foreign Key that link the table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I can write a SELECT statement that uses update /insert</a:t>
            </a: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52400"/>
            <a:ext cx="7255660" cy="384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0" y="4152200"/>
            <a:ext cx="9144000" cy="9540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lang="en" sz="1300">
                <a:solidFill>
                  <a:schemeClr val="dk1"/>
                </a:solidFill>
              </a:rPr>
              <a:t>To learn how to retrieve and modify data from related tables using INSERT , UPDATE &amp; DELETE</a:t>
            </a:r>
            <a:endParaRPr i="0" sz="16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5612725" y="4158100"/>
            <a:ext cx="3531300" cy="9540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identify the Primary Key and Foreign Key that link the table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I can write a SELECT statement that uses update /insert</a:t>
            </a: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52400"/>
            <a:ext cx="8039025" cy="3215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/>
          <p:nvPr/>
        </p:nvSpPr>
        <p:spPr>
          <a:xfrm>
            <a:off x="0" y="4152200"/>
            <a:ext cx="9144000" cy="9540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lang="en" sz="1300">
                <a:solidFill>
                  <a:schemeClr val="dk1"/>
                </a:solidFill>
              </a:rPr>
              <a:t>To learn how to retrieve and modify data from related tables using INSERT , UPDATE &amp; DELETE</a:t>
            </a:r>
            <a:endParaRPr i="0" sz="16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5612725" y="4158100"/>
            <a:ext cx="3531300" cy="9540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identify the Primary Key and Foreign Key that link the table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I can write a SELECT statement that uses update /insert</a:t>
            </a: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52400"/>
            <a:ext cx="8039025" cy="3663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0" y="4152200"/>
            <a:ext cx="9144000" cy="9540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lang="en" sz="1300">
                <a:solidFill>
                  <a:schemeClr val="dk1"/>
                </a:solidFill>
              </a:rPr>
              <a:t>To learn how to retrieve and modify data from related tables using INSERT , UPDATE &amp; DELETE</a:t>
            </a:r>
            <a:endParaRPr i="0" sz="16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5612725" y="4158100"/>
            <a:ext cx="3531300" cy="9540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identify the Primary Key and Foreign Key that link the table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I can write a SELECT statement that uses update /insert</a:t>
            </a: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52400"/>
            <a:ext cx="8039025" cy="3104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/>
          <p:nvPr/>
        </p:nvSpPr>
        <p:spPr>
          <a:xfrm>
            <a:off x="0" y="4152200"/>
            <a:ext cx="9144000" cy="9540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lang="en" sz="1300">
                <a:solidFill>
                  <a:schemeClr val="dk1"/>
                </a:solidFill>
              </a:rPr>
              <a:t>To learn how to retrieve and modify data from related tables using INSERT , UPDATE &amp; DELETE</a:t>
            </a:r>
            <a:endParaRPr i="0" sz="16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5612725" y="4158100"/>
            <a:ext cx="3531300" cy="9540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identify the Primary Key and Foreign Key that link the table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I can write a SELECT statement that uses update /insert</a:t>
            </a: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2" name="Google Shape;15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52400"/>
            <a:ext cx="8039024" cy="3024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/>
          <p:nvPr/>
        </p:nvSpPr>
        <p:spPr>
          <a:xfrm>
            <a:off x="0" y="4152200"/>
            <a:ext cx="9144000" cy="9540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lang="en" sz="1300">
                <a:solidFill>
                  <a:schemeClr val="dk1"/>
                </a:solidFill>
              </a:rPr>
              <a:t>To learn how to retrieve and modify data from related tables using INSERT , UPDATE &amp; DELETE</a:t>
            </a:r>
            <a:endParaRPr i="0" sz="16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5612725" y="4158100"/>
            <a:ext cx="3531300" cy="9540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identify the Primary Key and Foreign Key that link the table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I can write a SELECT statement that uses update /insert</a:t>
            </a: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1320600" y="1131475"/>
            <a:ext cx="5406000" cy="10992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STUDENTS WORKING ON THE WORKSHEET CHALLENGES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/>
          <p:nvPr/>
        </p:nvSpPr>
        <p:spPr>
          <a:xfrm>
            <a:off x="0" y="4152200"/>
            <a:ext cx="9144000" cy="9540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lang="en" sz="1300">
                <a:solidFill>
                  <a:schemeClr val="dk1"/>
                </a:solidFill>
              </a:rPr>
              <a:t>To learn how to retrieve and modify data from related tables using INSERT , UPDATE &amp; DELETE</a:t>
            </a:r>
            <a:endParaRPr i="0" sz="16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5612725" y="4158100"/>
            <a:ext cx="3531300" cy="9540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identify the Primary Key and Foreign Key that link the table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I can write a SELECT statement that uses update /insert</a:t>
            </a: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935175" y="484000"/>
            <a:ext cx="6579000" cy="29685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🟢 </a:t>
            </a:r>
            <a:endParaRPr b="1" sz="13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What does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</a:t>
            </a:r>
            <a:r>
              <a:rPr lang="en">
                <a:solidFill>
                  <a:schemeClr val="dk1"/>
                </a:solidFill>
              </a:rPr>
              <a:t> command do in a database?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Write an SQL statement to add a new record for a student named </a:t>
            </a:r>
            <a:r>
              <a:rPr i="1" lang="en">
                <a:solidFill>
                  <a:schemeClr val="dk1"/>
                </a:solidFill>
              </a:rPr>
              <a:t>“Ali Khan”</a:t>
            </a:r>
            <a:r>
              <a:rPr lang="en">
                <a:solidFill>
                  <a:schemeClr val="dk1"/>
                </a:solidFill>
              </a:rPr>
              <a:t> with ID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110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What could happen if you forget to include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">
                <a:solidFill>
                  <a:schemeClr val="dk1"/>
                </a:solidFill>
              </a:rPr>
              <a:t> clause in an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r>
              <a:rPr lang="en">
                <a:solidFill>
                  <a:schemeClr val="dk1"/>
                </a:solidFill>
              </a:rPr>
              <a:t> command?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Why is it important to check data types before inserting new values?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/>
          <p:nvPr/>
        </p:nvSpPr>
        <p:spPr>
          <a:xfrm>
            <a:off x="0" y="4152200"/>
            <a:ext cx="9144000" cy="9540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lang="en" sz="1300">
                <a:solidFill>
                  <a:schemeClr val="dk1"/>
                </a:solidFill>
              </a:rPr>
              <a:t>To learn how to retrieve and modify data from related tables using INSERT , UPDATE &amp; DELETE</a:t>
            </a:r>
            <a:endParaRPr i="0" sz="16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5612725" y="4158100"/>
            <a:ext cx="3531300" cy="9540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identify the Primary Key and Foreign Key that link the table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I can write a SELECT statement that uses update /insert</a:t>
            </a: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861225" y="100625"/>
            <a:ext cx="7276500" cy="3464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🟡 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Write SQL commands to: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Add a new student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StudentID=120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FirstName='Mariam'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LastName='Omar'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AdvisorID=25</a:t>
            </a:r>
            <a:r>
              <a:rPr lang="en" sz="1100">
                <a:solidFill>
                  <a:schemeClr val="dk1"/>
                </a:solidFill>
              </a:rPr>
              <a:t>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Update Mariam’s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AdvisorID</a:t>
            </a:r>
            <a:r>
              <a:rPr lang="en" sz="1100">
                <a:solidFill>
                  <a:schemeClr val="dk1"/>
                </a:solidFill>
              </a:rPr>
              <a:t>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30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Delete Mariam’s record afterward.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Explain how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r>
              <a:rPr lang="en" sz="1100">
                <a:solidFill>
                  <a:schemeClr val="dk1"/>
                </a:solidFill>
              </a:rPr>
              <a:t> commands can affect data integrity if used incorrectly.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How can database permissions help prevent accidental data loss?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Give one example from the UAE context (e.g., Smart Dubai, UAE PASS) where data manipulation helps improve citizen services.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4"/>
          <p:cNvSpPr/>
          <p:nvPr/>
        </p:nvSpPr>
        <p:spPr>
          <a:xfrm>
            <a:off x="0" y="4152200"/>
            <a:ext cx="9144000" cy="9540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lang="en" sz="1300">
                <a:solidFill>
                  <a:schemeClr val="dk1"/>
                </a:solidFill>
              </a:rPr>
              <a:t>To learn how to retrieve and modify data from related tables using INSERT , UPDATE &amp; DELETE</a:t>
            </a:r>
            <a:endParaRPr i="0" sz="16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5612725" y="4158100"/>
            <a:ext cx="3531300" cy="9540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identify the Primary Key and Foreign Key that link the table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I can write a SELECT statement that uses update /insert</a:t>
            </a: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287125" y="360950"/>
            <a:ext cx="7620900" cy="3201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the ethical issues involved in deleting or altering personal data from government databases.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the TOK question: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“To what extent can data manipulation be considered objective when human judgment influences database design?”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 ways in which bias can enter database manipulation and how it can be minimized.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you are designing a database for the Ministry of Education — how would you ensure fair and transparent data handling?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/>
          <p:nvPr/>
        </p:nvSpPr>
        <p:spPr>
          <a:xfrm>
            <a:off x="0" y="4152200"/>
            <a:ext cx="9144000" cy="9540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5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lang="en" sz="1300">
                <a:solidFill>
                  <a:schemeClr val="dk1"/>
                </a:solidFill>
              </a:rPr>
              <a:t>To learn how to retrieve and modify data from related tables using INSERT , UPDATE &amp; DELETE</a:t>
            </a:r>
            <a:endParaRPr i="0" sz="16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5612725" y="4158100"/>
            <a:ext cx="3531300" cy="9540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identify the Primary Key and Foreign Key that link the table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I can write a SELECT statement that uses update /insert</a:t>
            </a: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3035225" y="713675"/>
            <a:ext cx="3000000" cy="523200"/>
          </a:xfrm>
          <a:prstGeom prst="rect">
            <a:avLst/>
          </a:prstGeom>
          <a:solidFill>
            <a:srgbClr val="76A5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“Fix the Error”</a:t>
            </a:r>
            <a:endParaRPr sz="2200"/>
          </a:p>
        </p:txBody>
      </p:sp>
      <p:sp>
        <p:nvSpPr>
          <p:cNvPr id="218" name="Google Shape;218;p25"/>
          <p:cNvSpPr txBox="1"/>
          <p:nvPr/>
        </p:nvSpPr>
        <p:spPr>
          <a:xfrm>
            <a:off x="2977800" y="1632475"/>
            <a:ext cx="3000000" cy="615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Student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AdvisorID = 15;</a:t>
            </a:r>
            <a:endParaRPr/>
          </a:p>
        </p:txBody>
      </p:sp>
      <p:sp>
        <p:nvSpPr>
          <p:cNvPr id="219" name="Google Shape;219;p25"/>
          <p:cNvSpPr txBox="1"/>
          <p:nvPr/>
        </p:nvSpPr>
        <p:spPr>
          <a:xfrm>
            <a:off x="2928600" y="2502000"/>
            <a:ext cx="3000000" cy="6156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wrong with this command, and how can you fix it?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/>
          <p:nvPr/>
        </p:nvSpPr>
        <p:spPr>
          <a:xfrm>
            <a:off x="0" y="4152200"/>
            <a:ext cx="9144000" cy="9540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 </a:t>
            </a:r>
            <a:r>
              <a:rPr lang="en" sz="1300">
                <a:solidFill>
                  <a:schemeClr val="dk1"/>
                </a:solidFill>
              </a:rPr>
              <a:t>To learn how to retrieve and modify data from related tables using INSERT , UPDATE &amp; DELETE</a:t>
            </a:r>
            <a:endParaRPr i="0" sz="16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5612725" y="4158100"/>
            <a:ext cx="3531300" cy="9540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000"/>
              <a:t>I can identify the Primary Key and Foreign Key that link the table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900"/>
              <a:t>I can write a SELECT statement that uses update /insert</a:t>
            </a:r>
            <a:br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