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h/I07WtToXsSCmRSNspT3YnygB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8fa397a04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a8fa397a0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8fa397a04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a8fa397a04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8fa397a04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a8fa397a04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8fa397a04_1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a8fa397a04_1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8fa397a04_1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a8fa397a04_1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20.jp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20.jp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290075" y="203425"/>
            <a:ext cx="8631000" cy="110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14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 A </a:t>
            </a:r>
            <a:r>
              <a:rPr b="1" lang="en" sz="1800"/>
              <a:t>and B - Mini Project </a:t>
            </a:r>
            <a:endParaRPr b="1" sz="1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" sz="1800"/>
              <a:t>IA Criterion A Submission</a:t>
            </a:r>
            <a:endParaRPr b="1" sz="1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290075" y="2548938"/>
            <a:ext cx="4875000" cy="61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93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concepts:Systems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290075" y="3380213"/>
            <a:ext cx="4875000" cy="64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/>
              <a:t>     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Related concepts: Functionality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290081" y="4241175"/>
            <a:ext cx="8499000" cy="69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 Link :To what extent does the ambiguity of human language limit the precision of computational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023" y="2663789"/>
            <a:ext cx="387250" cy="38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550" y="3388200"/>
            <a:ext cx="640200" cy="6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/>
          <p:nvPr/>
        </p:nvSpPr>
        <p:spPr>
          <a:xfrm>
            <a:off x="290075" y="1486075"/>
            <a:ext cx="8631000" cy="7620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143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Statement of Inquiry:</a:t>
            </a:r>
            <a:r>
              <a:rPr b="1" lang="en" sz="1200"/>
              <a:t> Effective systems are developed through constant communication to ensure they address the specific needs of a community.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irates International School, Meadows (Fees &amp; Reviews ..." id="61" name="Google Shape;6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652" y="321797"/>
            <a:ext cx="863414" cy="86341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"/>
          <p:cNvSpPr/>
          <p:nvPr/>
        </p:nvSpPr>
        <p:spPr>
          <a:xfrm>
            <a:off x="5425005" y="2548932"/>
            <a:ext cx="3363900" cy="61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ATL Skill: Commun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ication and thinking skills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5425004" y="3411232"/>
            <a:ext cx="3429000" cy="61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 Learner Profile:Communicators, Inquirers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8fa397a04_1_0"/>
          <p:cNvSpPr txBox="1"/>
          <p:nvPr/>
        </p:nvSpPr>
        <p:spPr>
          <a:xfrm>
            <a:off x="146450" y="919775"/>
            <a:ext cx="8019900" cy="3022500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one starter question </a:t>
            </a:r>
            <a:r>
              <a:rPr b="0" i="0" lang="en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according to your level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discuss in your table </a:t>
            </a:r>
            <a:r>
              <a:rPr b="0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a8fa397a04_1_0"/>
          <p:cNvSpPr txBox="1"/>
          <p:nvPr/>
        </p:nvSpPr>
        <p:spPr>
          <a:xfrm>
            <a:off x="37200" y="22900"/>
            <a:ext cx="91068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a8fa397a04_1_0"/>
          <p:cNvSpPr/>
          <p:nvPr/>
        </p:nvSpPr>
        <p:spPr>
          <a:xfrm>
            <a:off x="71525" y="0"/>
            <a:ext cx="8034600" cy="81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Do Now Activity</a:t>
            </a:r>
            <a:endParaRPr b="1" i="0" sz="33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8fa397a04_1_0"/>
          <p:cNvSpPr/>
          <p:nvPr/>
        </p:nvSpPr>
        <p:spPr>
          <a:xfrm>
            <a:off x="622550" y="1487750"/>
            <a:ext cx="7067700" cy="646500"/>
          </a:xfrm>
          <a:prstGeom prst="rect">
            <a:avLst/>
          </a:prstGeom>
          <a:solidFill>
            <a:srgbClr val="EA9999"/>
          </a:solidFill>
          <a:ln cap="flat" cmpd="sng" w="10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25" lIns="102825" spcFirstLastPara="1" rIns="102825" wrap="square" tIns="10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9"/>
              <a:buFont typeface="Arial"/>
              <a:buNone/>
            </a:pPr>
            <a:r>
              <a:rPr b="1" i="0" lang="en" sz="15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 1: </a:t>
            </a:r>
            <a:r>
              <a:rPr i="0" lang="en" sz="1374" u="none" cap="none" strike="noStrike">
                <a:solidFill>
                  <a:schemeClr val="dk1"/>
                </a:solidFill>
              </a:rPr>
              <a:t>Why is it risky for a programmer to start coding a solution immediately without talking to the client first? </a:t>
            </a:r>
            <a:r>
              <a:rPr b="1" i="0" lang="en" sz="15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57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a8fa397a04_1_0"/>
          <p:cNvSpPr/>
          <p:nvPr/>
        </p:nvSpPr>
        <p:spPr>
          <a:xfrm>
            <a:off x="565212" y="2301243"/>
            <a:ext cx="7067700" cy="646500"/>
          </a:xfrm>
          <a:prstGeom prst="rect">
            <a:avLst/>
          </a:prstGeom>
          <a:solidFill>
            <a:srgbClr val="FFF2CC"/>
          </a:solidFill>
          <a:ln cap="flat" cmpd="sng" w="10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25" lIns="102825" spcFirstLastPara="1" rIns="102825" wrap="square" tIns="10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9"/>
              <a:buFont typeface="Arial"/>
              <a:buNone/>
            </a:pPr>
            <a:r>
              <a:rPr b="1" i="0" lang="en" sz="15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Level 2: </a:t>
            </a:r>
            <a:r>
              <a:rPr i="0" lang="en" sz="1274" u="none" cap="none" strike="noStrike">
                <a:solidFill>
                  <a:srgbClr val="000000"/>
                </a:solidFill>
              </a:rPr>
              <a:t>How can a developer figure out the difference between what a client says they want (e.g., 'make it look cool') and what they actually need (e.g., 'it must calculate taxes correctly') </a:t>
            </a:r>
            <a:endParaRPr b="0" i="0" sz="12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a8fa397a04_1_0"/>
          <p:cNvSpPr/>
          <p:nvPr/>
        </p:nvSpPr>
        <p:spPr>
          <a:xfrm>
            <a:off x="565211" y="3195198"/>
            <a:ext cx="7067700" cy="646500"/>
          </a:xfrm>
          <a:prstGeom prst="rect">
            <a:avLst/>
          </a:prstGeom>
          <a:solidFill>
            <a:srgbClr val="D9EAD3"/>
          </a:solidFill>
          <a:ln cap="flat" cmpd="sng" w="10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25" lIns="102825" spcFirstLastPara="1" rIns="102825" wrap="square" tIns="10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9"/>
              <a:buFont typeface="Arial"/>
              <a:buNone/>
            </a:pPr>
            <a:r>
              <a:rPr b="1" i="0" lang="en" sz="15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Level 3:</a:t>
            </a:r>
            <a:r>
              <a:rPr lang="en" sz="1174"/>
              <a:t>Discuss a real-world app or system you use (e.g., a school portal, a video game, or social media update) that you find frustrating. Do you think the developers failed to understand the specific needs of their community? What went wrong?</a:t>
            </a:r>
            <a:endParaRPr b="0" i="0" sz="11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a8fa397a04_1_0"/>
          <p:cNvSpPr txBox="1"/>
          <p:nvPr/>
        </p:nvSpPr>
        <p:spPr>
          <a:xfrm>
            <a:off x="8386400" y="459412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g3a8fa397a04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6400" y="14713"/>
            <a:ext cx="731725" cy="1003682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" name="Google Shape;76;g3a8fa397a04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2802" y="2603592"/>
            <a:ext cx="778900" cy="1276347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" name="Google Shape;77;g3a8fa397a04_1_0"/>
          <p:cNvPicPr preferRelativeResize="0"/>
          <p:nvPr/>
        </p:nvPicPr>
        <p:blipFill rotWithShape="1">
          <a:blip r:embed="rId5">
            <a:alphaModFix/>
          </a:blip>
          <a:srcRect b="6151" l="6579" r="4481" t="11038"/>
          <a:stretch/>
        </p:blipFill>
        <p:spPr>
          <a:xfrm>
            <a:off x="6725375" y="24013"/>
            <a:ext cx="731725" cy="7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a8fa397a04_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2812" y="3911787"/>
            <a:ext cx="778892" cy="125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a8fa397a04_1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16650" y="1061188"/>
            <a:ext cx="871200" cy="149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a8fa397a04_1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8932" y="132502"/>
            <a:ext cx="702463" cy="54979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8fa397a04_1_0"/>
          <p:cNvSpPr txBox="1"/>
          <p:nvPr/>
        </p:nvSpPr>
        <p:spPr>
          <a:xfrm>
            <a:off x="251275" y="4047250"/>
            <a:ext cx="3843300" cy="1096200"/>
          </a:xfrm>
          <a:prstGeom prst="rect">
            <a:avLst/>
          </a:prstGeom>
          <a:solidFill>
            <a:srgbClr val="EFEFEF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Intentions: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To understand the role of the client in the software development lifecycle (SDLC).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To analyze a real-world scenario and identify the specific problem (The "Rationale").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a8fa397a04_1_0"/>
          <p:cNvSpPr txBox="1"/>
          <p:nvPr/>
        </p:nvSpPr>
        <p:spPr>
          <a:xfrm>
            <a:off x="4248100" y="4047250"/>
            <a:ext cx="3754500" cy="1096200"/>
          </a:xfrm>
          <a:prstGeom prst="rect">
            <a:avLst/>
          </a:prstGeom>
          <a:solidFill>
            <a:srgbClr val="EFEFEF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 Criteria: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I can write a clear "Scenario" paragraph that identifies the client, the current system, and the inadequacy.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I can produce a "Rationale for Proposed Solution" that explains </a:t>
            </a:r>
            <a:r>
              <a:rPr i="1" lang="en" sz="1000">
                <a:solidFill>
                  <a:schemeClr val="dk1"/>
                </a:solidFill>
              </a:rPr>
              <a:t>why</a:t>
            </a:r>
            <a:r>
              <a:rPr lang="en" sz="1000">
                <a:solidFill>
                  <a:schemeClr val="dk1"/>
                </a:solidFill>
              </a:rPr>
              <a:t> my software choice (e.g., Python, Java, Web) is the best fit.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1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8fa397a04_1_63"/>
          <p:cNvSpPr txBox="1"/>
          <p:nvPr/>
        </p:nvSpPr>
        <p:spPr>
          <a:xfrm>
            <a:off x="5082456" y="2429135"/>
            <a:ext cx="11262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825" lIns="68825" spcFirstLastPara="1" rIns="68825" wrap="square" tIns="68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2"/>
              <a:buFont typeface="Arial"/>
              <a:buNone/>
            </a:pPr>
            <a:r>
              <a:rPr b="0" i="0" lang="en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Vestibulum congue </a:t>
            </a:r>
            <a:endParaRPr b="0" i="0" sz="752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g3a8fa397a04_1_63"/>
          <p:cNvSpPr/>
          <p:nvPr/>
        </p:nvSpPr>
        <p:spPr>
          <a:xfrm rot="-2700000">
            <a:off x="3796826" y="1419968"/>
            <a:ext cx="996596" cy="994051"/>
          </a:xfrm>
          <a:prstGeom prst="ellipse">
            <a:avLst/>
          </a:prstGeom>
          <a:solidFill>
            <a:srgbClr val="D786E4"/>
          </a:solidFill>
          <a:ln>
            <a:noFill/>
          </a:ln>
        </p:spPr>
        <p:txBody>
          <a:bodyPr anchorCtr="0" anchor="ctr" bIns="34400" lIns="68825" spcFirstLastPara="1" rIns="68825" wrap="square" tIns="34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g3a8fa397a04_1_63"/>
          <p:cNvGrpSpPr/>
          <p:nvPr/>
        </p:nvGrpSpPr>
        <p:grpSpPr>
          <a:xfrm>
            <a:off x="2299032" y="1075367"/>
            <a:ext cx="2064310" cy="2008242"/>
            <a:chOff x="1917433" y="1453654"/>
            <a:chExt cx="2742177" cy="2667697"/>
          </a:xfrm>
        </p:grpSpPr>
        <p:sp>
          <p:nvSpPr>
            <p:cNvPr id="90" name="Google Shape;90;g3a8fa397a04_1_63"/>
            <p:cNvSpPr/>
            <p:nvPr/>
          </p:nvSpPr>
          <p:spPr>
            <a:xfrm rot="-2700000">
              <a:off x="2440767" y="1711670"/>
              <a:ext cx="1621029" cy="2151664"/>
            </a:xfrm>
            <a:custGeom>
              <a:rect b="b" l="l" r="r" t="t"/>
              <a:pathLst>
                <a:path extrusionOk="0" h="332" w="250">
                  <a:moveTo>
                    <a:pt x="32" y="286"/>
                  </a:moveTo>
                  <a:cubicBezTo>
                    <a:pt x="32" y="157"/>
                    <a:pt x="127" y="49"/>
                    <a:pt x="250" y="29"/>
                  </a:cubicBezTo>
                  <a:cubicBezTo>
                    <a:pt x="245" y="19"/>
                    <a:pt x="239" y="9"/>
                    <a:pt x="232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02"/>
                    <a:pt x="1" y="317"/>
                    <a:pt x="3" y="332"/>
                  </a:cubicBezTo>
                  <a:cubicBezTo>
                    <a:pt x="13" y="325"/>
                    <a:pt x="23" y="319"/>
                    <a:pt x="33" y="314"/>
                  </a:cubicBezTo>
                  <a:cubicBezTo>
                    <a:pt x="33" y="305"/>
                    <a:pt x="32" y="296"/>
                    <a:pt x="32" y="286"/>
                  </a:cubicBezTo>
                  <a:close/>
                </a:path>
              </a:pathLst>
            </a:custGeom>
            <a:solidFill>
              <a:srgbClr val="D786E4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3a8fa397a04_1_63"/>
            <p:cNvSpPr/>
            <p:nvPr/>
          </p:nvSpPr>
          <p:spPr>
            <a:xfrm rot="-2700000">
              <a:off x="2689034" y="1771298"/>
              <a:ext cx="1575643" cy="1769691"/>
            </a:xfrm>
            <a:custGeom>
              <a:rect b="b" l="l" r="r" t="t"/>
              <a:pathLst>
                <a:path extrusionOk="0" h="285" w="254">
                  <a:moveTo>
                    <a:pt x="200" y="153"/>
                  </a:move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0" y="41"/>
                    <a:pt x="218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267"/>
                    <a:pt x="1" y="276"/>
                    <a:pt x="1" y="285"/>
                  </a:cubicBezTo>
                  <a:cubicBezTo>
                    <a:pt x="43" y="263"/>
                    <a:pt x="90" y="251"/>
                    <a:pt x="140" y="250"/>
                  </a:cubicBezTo>
                  <a:cubicBezTo>
                    <a:pt x="142" y="211"/>
                    <a:pt x="164" y="174"/>
                    <a:pt x="200" y="153"/>
                  </a:cubicBezTo>
                  <a:close/>
                </a:path>
              </a:pathLst>
            </a:custGeom>
            <a:solidFill>
              <a:srgbClr val="701C7F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3a8fa397a04_1_63"/>
            <p:cNvSpPr txBox="1"/>
            <p:nvPr/>
          </p:nvSpPr>
          <p:spPr>
            <a:xfrm rot="-5400000">
              <a:off x="2686908" y="2290153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2"/>
                <a:buFont typeface="Arial"/>
                <a:buNone/>
              </a:pPr>
              <a:r>
                <a:rPr b="0" i="0" lang="en" sz="752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Vestibulum congue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3" name="Google Shape;93;g3a8fa397a04_1_63"/>
          <p:cNvGrpSpPr/>
          <p:nvPr/>
        </p:nvGrpSpPr>
        <p:grpSpPr>
          <a:xfrm>
            <a:off x="3453811" y="1847886"/>
            <a:ext cx="2009316" cy="2066967"/>
            <a:chOff x="3451410" y="2479847"/>
            <a:chExt cx="2669123" cy="2745705"/>
          </a:xfrm>
        </p:grpSpPr>
        <p:sp>
          <p:nvSpPr>
            <p:cNvPr id="94" name="Google Shape;94;g3a8fa397a04_1_63"/>
            <p:cNvSpPr/>
            <p:nvPr/>
          </p:nvSpPr>
          <p:spPr>
            <a:xfrm rot="-2700000">
              <a:off x="3709147" y="3080460"/>
              <a:ext cx="2153650" cy="1621060"/>
            </a:xfrm>
            <a:custGeom>
              <a:rect b="b" l="l" r="r" t="t"/>
              <a:pathLst>
                <a:path extrusionOk="0" h="250" w="333">
                  <a:moveTo>
                    <a:pt x="287" y="218"/>
                  </a:moveTo>
                  <a:cubicBezTo>
                    <a:pt x="157" y="218"/>
                    <a:pt x="50" y="124"/>
                    <a:pt x="30" y="0"/>
                  </a:cubicBezTo>
                  <a:cubicBezTo>
                    <a:pt x="19" y="5"/>
                    <a:pt x="10" y="11"/>
                    <a:pt x="0" y="18"/>
                  </a:cubicBezTo>
                  <a:cubicBezTo>
                    <a:pt x="28" y="151"/>
                    <a:pt x="146" y="250"/>
                    <a:pt x="287" y="250"/>
                  </a:cubicBezTo>
                  <a:cubicBezTo>
                    <a:pt x="302" y="250"/>
                    <a:pt x="318" y="249"/>
                    <a:pt x="333" y="247"/>
                  </a:cubicBezTo>
                  <a:cubicBezTo>
                    <a:pt x="326" y="237"/>
                    <a:pt x="320" y="227"/>
                    <a:pt x="315" y="217"/>
                  </a:cubicBezTo>
                  <a:cubicBezTo>
                    <a:pt x="306" y="218"/>
                    <a:pt x="296" y="218"/>
                    <a:pt x="287" y="218"/>
                  </a:cubicBezTo>
                  <a:close/>
                </a:path>
              </a:pathLst>
            </a:custGeom>
            <a:solidFill>
              <a:srgbClr val="D786E4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8fa397a04_1_63"/>
            <p:cNvSpPr/>
            <p:nvPr/>
          </p:nvSpPr>
          <p:spPr>
            <a:xfrm rot="-2700000">
              <a:off x="3773733" y="2873178"/>
              <a:ext cx="1764275" cy="1573502"/>
            </a:xfrm>
            <a:custGeom>
              <a:rect b="b" l="l" r="r" t="t"/>
              <a:pathLst>
                <a:path extrusionOk="0" h="254" w="285">
                  <a:moveTo>
                    <a:pt x="152" y="54"/>
                  </a:moveTo>
                  <a:cubicBezTo>
                    <a:pt x="142" y="37"/>
                    <a:pt x="137" y="19"/>
                    <a:pt x="136" y="0"/>
                  </a:cubicBezTo>
                  <a:cubicBezTo>
                    <a:pt x="86" y="1"/>
                    <a:pt x="40" y="14"/>
                    <a:pt x="0" y="36"/>
                  </a:cubicBezTo>
                  <a:cubicBezTo>
                    <a:pt x="20" y="160"/>
                    <a:pt x="127" y="254"/>
                    <a:pt x="257" y="254"/>
                  </a:cubicBezTo>
                  <a:cubicBezTo>
                    <a:pt x="266" y="254"/>
                    <a:pt x="276" y="254"/>
                    <a:pt x="285" y="253"/>
                  </a:cubicBezTo>
                  <a:cubicBezTo>
                    <a:pt x="263" y="211"/>
                    <a:pt x="251" y="164"/>
                    <a:pt x="250" y="115"/>
                  </a:cubicBezTo>
                  <a:cubicBezTo>
                    <a:pt x="210" y="112"/>
                    <a:pt x="173" y="91"/>
                    <a:pt x="152" y="54"/>
                  </a:cubicBezTo>
                  <a:close/>
                </a:path>
              </a:pathLst>
            </a:custGeom>
            <a:solidFill>
              <a:srgbClr val="771E86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8fa397a04_1_63"/>
            <p:cNvSpPr txBox="1"/>
            <p:nvPr/>
          </p:nvSpPr>
          <p:spPr>
            <a:xfrm>
              <a:off x="3823936" y="3427182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2"/>
                <a:buFont typeface="Arial"/>
                <a:buNone/>
              </a:pPr>
              <a:r>
                <a:rPr b="0" i="0" lang="en" sz="752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Vestibulum congue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7" name="Google Shape;97;g3a8fa397a04_1_63"/>
          <p:cNvGrpSpPr/>
          <p:nvPr/>
        </p:nvGrpSpPr>
        <p:grpSpPr>
          <a:xfrm>
            <a:off x="4229434" y="750459"/>
            <a:ext cx="2066291" cy="2006184"/>
            <a:chOff x="4481729" y="1022053"/>
            <a:chExt cx="2744808" cy="2664963"/>
          </a:xfrm>
        </p:grpSpPr>
        <p:sp>
          <p:nvSpPr>
            <p:cNvPr id="98" name="Google Shape;98;g3a8fa397a04_1_63"/>
            <p:cNvSpPr/>
            <p:nvPr/>
          </p:nvSpPr>
          <p:spPr>
            <a:xfrm rot="-2700000">
              <a:off x="5085474" y="1278703"/>
              <a:ext cx="1617163" cy="2151664"/>
            </a:xfrm>
            <a:custGeom>
              <a:rect b="b" l="l" r="r" t="t"/>
              <a:pathLst>
                <a:path extrusionOk="0" h="332" w="250">
                  <a:moveTo>
                    <a:pt x="218" y="45"/>
                  </a:moveTo>
                  <a:cubicBezTo>
                    <a:pt x="218" y="175"/>
                    <a:pt x="123" y="282"/>
                    <a:pt x="0" y="303"/>
                  </a:cubicBezTo>
                  <a:cubicBezTo>
                    <a:pt x="5" y="313"/>
                    <a:pt x="11" y="323"/>
                    <a:pt x="18" y="332"/>
                  </a:cubicBezTo>
                  <a:cubicBezTo>
                    <a:pt x="150" y="304"/>
                    <a:pt x="250" y="186"/>
                    <a:pt x="250" y="45"/>
                  </a:cubicBezTo>
                  <a:cubicBezTo>
                    <a:pt x="250" y="30"/>
                    <a:pt x="248" y="15"/>
                    <a:pt x="246" y="0"/>
                  </a:cubicBezTo>
                  <a:cubicBezTo>
                    <a:pt x="237" y="6"/>
                    <a:pt x="226" y="12"/>
                    <a:pt x="216" y="18"/>
                  </a:cubicBezTo>
                  <a:cubicBezTo>
                    <a:pt x="217" y="27"/>
                    <a:pt x="218" y="36"/>
                    <a:pt x="218" y="45"/>
                  </a:cubicBezTo>
                  <a:close/>
                </a:path>
              </a:pathLst>
            </a:custGeom>
            <a:solidFill>
              <a:srgbClr val="D786E4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8fa397a04_1_63"/>
            <p:cNvSpPr/>
            <p:nvPr/>
          </p:nvSpPr>
          <p:spPr>
            <a:xfrm rot="-2700000">
              <a:off x="4874704" y="1604373"/>
              <a:ext cx="1579339" cy="1765685"/>
            </a:xfrm>
            <a:custGeom>
              <a:rect b="b" l="l" r="r" t="t"/>
              <a:pathLst>
                <a:path extrusionOk="0" h="285" w="254">
                  <a:moveTo>
                    <a:pt x="53" y="133"/>
                  </a:moveTo>
                  <a:cubicBezTo>
                    <a:pt x="37" y="142"/>
                    <a:pt x="18" y="148"/>
                    <a:pt x="0" y="149"/>
                  </a:cubicBezTo>
                  <a:cubicBezTo>
                    <a:pt x="1" y="198"/>
                    <a:pt x="14" y="244"/>
                    <a:pt x="36" y="285"/>
                  </a:cubicBezTo>
                  <a:cubicBezTo>
                    <a:pt x="159" y="264"/>
                    <a:pt x="254" y="157"/>
                    <a:pt x="254" y="27"/>
                  </a:cubicBezTo>
                  <a:cubicBezTo>
                    <a:pt x="254" y="18"/>
                    <a:pt x="253" y="9"/>
                    <a:pt x="252" y="0"/>
                  </a:cubicBezTo>
                  <a:cubicBezTo>
                    <a:pt x="211" y="21"/>
                    <a:pt x="164" y="34"/>
                    <a:pt x="114" y="34"/>
                  </a:cubicBezTo>
                  <a:cubicBezTo>
                    <a:pt x="112" y="74"/>
                    <a:pt x="90" y="111"/>
                    <a:pt x="53" y="133"/>
                  </a:cubicBezTo>
                  <a:close/>
                </a:path>
              </a:pathLst>
            </a:custGeom>
            <a:solidFill>
              <a:srgbClr val="80209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8fa397a04_1_63"/>
            <p:cNvSpPr txBox="1"/>
            <p:nvPr/>
          </p:nvSpPr>
          <p:spPr>
            <a:xfrm rot="5400000">
              <a:off x="4960966" y="2290154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2"/>
                <a:buFont typeface="Arial"/>
                <a:buNone/>
              </a:pPr>
              <a:r>
                <a:rPr b="0" i="0" lang="en" sz="752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Vestibulum congue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1" name="Google Shape;101;g3a8fa397a04_1_63"/>
          <p:cNvGrpSpPr/>
          <p:nvPr/>
        </p:nvGrpSpPr>
        <p:grpSpPr>
          <a:xfrm>
            <a:off x="3133690" y="-76672"/>
            <a:ext cx="1998703" cy="2062734"/>
            <a:chOff x="3026171" y="-76686"/>
            <a:chExt cx="2655025" cy="2740083"/>
          </a:xfrm>
        </p:grpSpPr>
        <p:sp>
          <p:nvSpPr>
            <p:cNvPr id="102" name="Google Shape;102;g3a8fa397a04_1_63"/>
            <p:cNvSpPr/>
            <p:nvPr/>
          </p:nvSpPr>
          <p:spPr>
            <a:xfrm rot="-2700000">
              <a:off x="3282650" y="444474"/>
              <a:ext cx="2142068" cy="1612705"/>
            </a:xfrm>
            <a:custGeom>
              <a:rect b="b" l="l" r="r" t="t"/>
              <a:pathLst>
                <a:path extrusionOk="0" h="249" w="331">
                  <a:moveTo>
                    <a:pt x="45" y="32"/>
                  </a:moveTo>
                  <a:cubicBezTo>
                    <a:pt x="174" y="32"/>
                    <a:pt x="281" y="126"/>
                    <a:pt x="302" y="249"/>
                  </a:cubicBezTo>
                  <a:cubicBezTo>
                    <a:pt x="312" y="244"/>
                    <a:pt x="322" y="238"/>
                    <a:pt x="331" y="231"/>
                  </a:cubicBezTo>
                  <a:cubicBezTo>
                    <a:pt x="303" y="99"/>
                    <a:pt x="186" y="0"/>
                    <a:pt x="45" y="0"/>
                  </a:cubicBezTo>
                  <a:cubicBezTo>
                    <a:pt x="29" y="0"/>
                    <a:pt x="14" y="1"/>
                    <a:pt x="0" y="3"/>
                  </a:cubicBezTo>
                  <a:cubicBezTo>
                    <a:pt x="6" y="13"/>
                    <a:pt x="12" y="23"/>
                    <a:pt x="17" y="33"/>
                  </a:cubicBezTo>
                  <a:cubicBezTo>
                    <a:pt x="26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D786E4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g3a8fa397a04_1_63"/>
            <p:cNvSpPr/>
            <p:nvPr/>
          </p:nvSpPr>
          <p:spPr>
            <a:xfrm rot="-2700000">
              <a:off x="3599956" y="695260"/>
              <a:ext cx="1767975" cy="1573496"/>
            </a:xfrm>
            <a:custGeom>
              <a:rect b="b" l="l" r="r" t="t"/>
              <a:pathLst>
                <a:path extrusionOk="0" h="253" w="285">
                  <a:moveTo>
                    <a:pt x="28" y="0"/>
                  </a:moveTo>
                  <a:cubicBezTo>
                    <a:pt x="19" y="0"/>
                    <a:pt x="9" y="0"/>
                    <a:pt x="0" y="1"/>
                  </a:cubicBezTo>
                  <a:cubicBezTo>
                    <a:pt x="22" y="43"/>
                    <a:pt x="34" y="90"/>
                    <a:pt x="35" y="140"/>
                  </a:cubicBezTo>
                  <a:cubicBezTo>
                    <a:pt x="74" y="142"/>
                    <a:pt x="112" y="163"/>
                    <a:pt x="133" y="200"/>
                  </a:cubicBezTo>
                  <a:cubicBezTo>
                    <a:pt x="143" y="217"/>
                    <a:pt x="148" y="235"/>
                    <a:pt x="149" y="253"/>
                  </a:cubicBezTo>
                  <a:cubicBezTo>
                    <a:pt x="198" y="252"/>
                    <a:pt x="244" y="239"/>
                    <a:pt x="285" y="217"/>
                  </a:cubicBezTo>
                  <a:cubicBezTo>
                    <a:pt x="264" y="94"/>
                    <a:pt x="157" y="0"/>
                    <a:pt x="28" y="0"/>
                  </a:cubicBezTo>
                  <a:close/>
                </a:path>
              </a:pathLst>
            </a:custGeom>
            <a:solidFill>
              <a:srgbClr val="561561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8fa397a04_1_63"/>
            <p:cNvSpPr txBox="1"/>
            <p:nvPr/>
          </p:nvSpPr>
          <p:spPr>
            <a:xfrm>
              <a:off x="3823913" y="1153125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2"/>
                <a:buFont typeface="Arial"/>
                <a:buNone/>
              </a:pPr>
              <a:r>
                <a:rPr b="0" i="0" lang="en" sz="752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Vestibulum congue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5" name="Google Shape;105;g3a8fa397a04_1_63"/>
          <p:cNvSpPr/>
          <p:nvPr/>
        </p:nvSpPr>
        <p:spPr>
          <a:xfrm rot="-2700000">
            <a:off x="3796826" y="1419968"/>
            <a:ext cx="996596" cy="994051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34400" lIns="68825" spcFirstLastPara="1" rIns="68825" wrap="square" tIns="34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g3a8fa397a04_1_63"/>
          <p:cNvGrpSpPr/>
          <p:nvPr/>
        </p:nvGrpSpPr>
        <p:grpSpPr>
          <a:xfrm>
            <a:off x="2299032" y="1075367"/>
            <a:ext cx="2064310" cy="2008242"/>
            <a:chOff x="1917433" y="1453654"/>
            <a:chExt cx="2742177" cy="2667697"/>
          </a:xfrm>
        </p:grpSpPr>
        <p:sp>
          <p:nvSpPr>
            <p:cNvPr id="107" name="Google Shape;107;g3a8fa397a04_1_63"/>
            <p:cNvSpPr/>
            <p:nvPr/>
          </p:nvSpPr>
          <p:spPr>
            <a:xfrm rot="-2700000">
              <a:off x="2440767" y="1711670"/>
              <a:ext cx="1621029" cy="2151664"/>
            </a:xfrm>
            <a:custGeom>
              <a:rect b="b" l="l" r="r" t="t"/>
              <a:pathLst>
                <a:path extrusionOk="0" h="332" w="250">
                  <a:moveTo>
                    <a:pt x="32" y="286"/>
                  </a:moveTo>
                  <a:cubicBezTo>
                    <a:pt x="32" y="157"/>
                    <a:pt x="127" y="49"/>
                    <a:pt x="250" y="29"/>
                  </a:cubicBezTo>
                  <a:cubicBezTo>
                    <a:pt x="245" y="19"/>
                    <a:pt x="239" y="9"/>
                    <a:pt x="232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02"/>
                    <a:pt x="1" y="317"/>
                    <a:pt x="3" y="332"/>
                  </a:cubicBezTo>
                  <a:cubicBezTo>
                    <a:pt x="13" y="325"/>
                    <a:pt x="23" y="319"/>
                    <a:pt x="33" y="314"/>
                  </a:cubicBezTo>
                  <a:cubicBezTo>
                    <a:pt x="33" y="305"/>
                    <a:pt x="32" y="296"/>
                    <a:pt x="32" y="286"/>
                  </a:cubicBezTo>
                  <a:close/>
                </a:path>
              </a:pathLst>
            </a:custGeom>
            <a:solidFill>
              <a:srgbClr val="FF99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a8fa397a04_1_63"/>
            <p:cNvSpPr/>
            <p:nvPr/>
          </p:nvSpPr>
          <p:spPr>
            <a:xfrm rot="-2700000">
              <a:off x="2689034" y="1771298"/>
              <a:ext cx="1575643" cy="1769691"/>
            </a:xfrm>
            <a:custGeom>
              <a:rect b="b" l="l" r="r" t="t"/>
              <a:pathLst>
                <a:path extrusionOk="0" h="285" w="254">
                  <a:moveTo>
                    <a:pt x="200" y="153"/>
                  </a:move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0" y="41"/>
                    <a:pt x="218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267"/>
                    <a:pt x="1" y="276"/>
                    <a:pt x="1" y="285"/>
                  </a:cubicBezTo>
                  <a:cubicBezTo>
                    <a:pt x="43" y="263"/>
                    <a:pt x="90" y="251"/>
                    <a:pt x="140" y="250"/>
                  </a:cubicBezTo>
                  <a:cubicBezTo>
                    <a:pt x="142" y="211"/>
                    <a:pt x="164" y="174"/>
                    <a:pt x="200" y="153"/>
                  </a:cubicBezTo>
                  <a:close/>
                </a:path>
              </a:pathLst>
            </a:custGeom>
            <a:solidFill>
              <a:srgbClr val="FF99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3"/>
                <a:buFont typeface="Arial"/>
                <a:buNone/>
              </a:pPr>
              <a:r>
                <a:t/>
              </a:r>
              <a:endParaRPr b="0" i="0" sz="10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a8fa397a04_1_63"/>
            <p:cNvSpPr txBox="1"/>
            <p:nvPr/>
          </p:nvSpPr>
          <p:spPr>
            <a:xfrm rot="-5400000">
              <a:off x="2686908" y="2290153"/>
              <a:ext cx="1496100" cy="563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2"/>
                <a:buFont typeface="Arial"/>
                <a:buNone/>
              </a:pPr>
              <a:r>
                <a:rPr b="0" i="0" lang="en" sz="752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i="0" lang="en" sz="13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Explain  </a:t>
              </a:r>
              <a:endParaRPr b="1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" name="Google Shape;110;g3a8fa397a04_1_63"/>
          <p:cNvGrpSpPr/>
          <p:nvPr/>
        </p:nvGrpSpPr>
        <p:grpSpPr>
          <a:xfrm>
            <a:off x="3453811" y="1847886"/>
            <a:ext cx="2009316" cy="2066967"/>
            <a:chOff x="3451410" y="2479847"/>
            <a:chExt cx="2669123" cy="2745705"/>
          </a:xfrm>
        </p:grpSpPr>
        <p:sp>
          <p:nvSpPr>
            <p:cNvPr id="111" name="Google Shape;111;g3a8fa397a04_1_63"/>
            <p:cNvSpPr/>
            <p:nvPr/>
          </p:nvSpPr>
          <p:spPr>
            <a:xfrm rot="-2700000">
              <a:off x="3709147" y="3080460"/>
              <a:ext cx="2153650" cy="1621060"/>
            </a:xfrm>
            <a:custGeom>
              <a:rect b="b" l="l" r="r" t="t"/>
              <a:pathLst>
                <a:path extrusionOk="0" h="250" w="333">
                  <a:moveTo>
                    <a:pt x="287" y="218"/>
                  </a:moveTo>
                  <a:cubicBezTo>
                    <a:pt x="157" y="218"/>
                    <a:pt x="50" y="124"/>
                    <a:pt x="30" y="0"/>
                  </a:cubicBezTo>
                  <a:cubicBezTo>
                    <a:pt x="19" y="5"/>
                    <a:pt x="10" y="11"/>
                    <a:pt x="0" y="18"/>
                  </a:cubicBezTo>
                  <a:cubicBezTo>
                    <a:pt x="28" y="151"/>
                    <a:pt x="146" y="250"/>
                    <a:pt x="287" y="250"/>
                  </a:cubicBezTo>
                  <a:cubicBezTo>
                    <a:pt x="302" y="250"/>
                    <a:pt x="318" y="249"/>
                    <a:pt x="333" y="247"/>
                  </a:cubicBezTo>
                  <a:cubicBezTo>
                    <a:pt x="326" y="237"/>
                    <a:pt x="320" y="227"/>
                    <a:pt x="315" y="217"/>
                  </a:cubicBezTo>
                  <a:cubicBezTo>
                    <a:pt x="306" y="218"/>
                    <a:pt x="296" y="218"/>
                    <a:pt x="287" y="218"/>
                  </a:cubicBezTo>
                  <a:close/>
                </a:path>
              </a:pathLst>
            </a:custGeom>
            <a:solidFill>
              <a:srgbClr val="4185F2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a8fa397a04_1_63"/>
            <p:cNvSpPr/>
            <p:nvPr/>
          </p:nvSpPr>
          <p:spPr>
            <a:xfrm rot="-2700000">
              <a:off x="3773733" y="2873178"/>
              <a:ext cx="1764275" cy="1573502"/>
            </a:xfrm>
            <a:custGeom>
              <a:rect b="b" l="l" r="r" t="t"/>
              <a:pathLst>
                <a:path extrusionOk="0" h="254" w="285">
                  <a:moveTo>
                    <a:pt x="152" y="54"/>
                  </a:moveTo>
                  <a:cubicBezTo>
                    <a:pt x="142" y="37"/>
                    <a:pt x="137" y="19"/>
                    <a:pt x="136" y="0"/>
                  </a:cubicBezTo>
                  <a:cubicBezTo>
                    <a:pt x="86" y="1"/>
                    <a:pt x="40" y="14"/>
                    <a:pt x="0" y="36"/>
                  </a:cubicBezTo>
                  <a:cubicBezTo>
                    <a:pt x="20" y="160"/>
                    <a:pt x="127" y="254"/>
                    <a:pt x="257" y="254"/>
                  </a:cubicBezTo>
                  <a:cubicBezTo>
                    <a:pt x="266" y="254"/>
                    <a:pt x="276" y="254"/>
                    <a:pt x="285" y="253"/>
                  </a:cubicBezTo>
                  <a:cubicBezTo>
                    <a:pt x="263" y="211"/>
                    <a:pt x="251" y="164"/>
                    <a:pt x="250" y="115"/>
                  </a:cubicBezTo>
                  <a:cubicBezTo>
                    <a:pt x="210" y="112"/>
                    <a:pt x="173" y="91"/>
                    <a:pt x="152" y="54"/>
                  </a:cubicBezTo>
                  <a:close/>
                </a:path>
              </a:pathLst>
            </a:custGeom>
            <a:solidFill>
              <a:srgbClr val="4185F2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a8fa397a04_1_63"/>
            <p:cNvSpPr txBox="1"/>
            <p:nvPr/>
          </p:nvSpPr>
          <p:spPr>
            <a:xfrm>
              <a:off x="3823936" y="3427182"/>
              <a:ext cx="1496100" cy="563100"/>
            </a:xfrm>
            <a:prstGeom prst="rect">
              <a:avLst/>
            </a:prstGeom>
            <a:solidFill>
              <a:srgbClr val="4185F2"/>
            </a:solidFill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Link with the problem</a:t>
              </a:r>
              <a:r>
                <a:rPr b="0" i="0" lang="en" sz="752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4" name="Google Shape;114;g3a8fa397a04_1_63"/>
          <p:cNvGrpSpPr/>
          <p:nvPr/>
        </p:nvGrpSpPr>
        <p:grpSpPr>
          <a:xfrm>
            <a:off x="4229434" y="750459"/>
            <a:ext cx="2066291" cy="2006184"/>
            <a:chOff x="4481729" y="1022053"/>
            <a:chExt cx="2744808" cy="2664963"/>
          </a:xfrm>
        </p:grpSpPr>
        <p:sp>
          <p:nvSpPr>
            <p:cNvPr id="115" name="Google Shape;115;g3a8fa397a04_1_63"/>
            <p:cNvSpPr/>
            <p:nvPr/>
          </p:nvSpPr>
          <p:spPr>
            <a:xfrm rot="-2700000">
              <a:off x="5085474" y="1278703"/>
              <a:ext cx="1617163" cy="2151664"/>
            </a:xfrm>
            <a:custGeom>
              <a:rect b="b" l="l" r="r" t="t"/>
              <a:pathLst>
                <a:path extrusionOk="0" h="332" w="250">
                  <a:moveTo>
                    <a:pt x="218" y="45"/>
                  </a:moveTo>
                  <a:cubicBezTo>
                    <a:pt x="218" y="175"/>
                    <a:pt x="123" y="282"/>
                    <a:pt x="0" y="303"/>
                  </a:cubicBezTo>
                  <a:cubicBezTo>
                    <a:pt x="5" y="313"/>
                    <a:pt x="11" y="323"/>
                    <a:pt x="18" y="332"/>
                  </a:cubicBezTo>
                  <a:cubicBezTo>
                    <a:pt x="150" y="304"/>
                    <a:pt x="250" y="186"/>
                    <a:pt x="250" y="45"/>
                  </a:cubicBezTo>
                  <a:cubicBezTo>
                    <a:pt x="250" y="30"/>
                    <a:pt x="248" y="15"/>
                    <a:pt x="246" y="0"/>
                  </a:cubicBezTo>
                  <a:cubicBezTo>
                    <a:pt x="237" y="6"/>
                    <a:pt x="226" y="12"/>
                    <a:pt x="216" y="18"/>
                  </a:cubicBezTo>
                  <a:cubicBezTo>
                    <a:pt x="217" y="27"/>
                    <a:pt x="218" y="36"/>
                    <a:pt x="218" y="45"/>
                  </a:cubicBezTo>
                  <a:close/>
                </a:path>
              </a:pathLst>
            </a:custGeom>
            <a:solidFill>
              <a:srgbClr val="93C47D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a8fa397a04_1_63"/>
            <p:cNvSpPr/>
            <p:nvPr/>
          </p:nvSpPr>
          <p:spPr>
            <a:xfrm rot="-2700000">
              <a:off x="4874704" y="1604373"/>
              <a:ext cx="1579339" cy="1765685"/>
            </a:xfrm>
            <a:custGeom>
              <a:rect b="b" l="l" r="r" t="t"/>
              <a:pathLst>
                <a:path extrusionOk="0" h="285" w="254">
                  <a:moveTo>
                    <a:pt x="53" y="133"/>
                  </a:moveTo>
                  <a:cubicBezTo>
                    <a:pt x="37" y="142"/>
                    <a:pt x="18" y="148"/>
                    <a:pt x="0" y="149"/>
                  </a:cubicBezTo>
                  <a:cubicBezTo>
                    <a:pt x="1" y="198"/>
                    <a:pt x="14" y="244"/>
                    <a:pt x="36" y="285"/>
                  </a:cubicBezTo>
                  <a:cubicBezTo>
                    <a:pt x="159" y="264"/>
                    <a:pt x="254" y="157"/>
                    <a:pt x="254" y="27"/>
                  </a:cubicBezTo>
                  <a:cubicBezTo>
                    <a:pt x="254" y="18"/>
                    <a:pt x="253" y="9"/>
                    <a:pt x="252" y="0"/>
                  </a:cubicBezTo>
                  <a:cubicBezTo>
                    <a:pt x="211" y="21"/>
                    <a:pt x="164" y="34"/>
                    <a:pt x="114" y="34"/>
                  </a:cubicBezTo>
                  <a:cubicBezTo>
                    <a:pt x="112" y="74"/>
                    <a:pt x="90" y="111"/>
                    <a:pt x="53" y="133"/>
                  </a:cubicBezTo>
                  <a:close/>
                </a:path>
              </a:pathLst>
            </a:custGeom>
            <a:solidFill>
              <a:srgbClr val="93C47D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3"/>
                <a:buFont typeface="Arial"/>
                <a:buNone/>
              </a:pPr>
              <a:r>
                <a:t/>
              </a:r>
              <a:endParaRPr b="0" i="0" sz="10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a8fa397a04_1_63"/>
            <p:cNvSpPr txBox="1"/>
            <p:nvPr/>
          </p:nvSpPr>
          <p:spPr>
            <a:xfrm rot="5400000">
              <a:off x="4960966" y="2290154"/>
              <a:ext cx="1496100" cy="563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Share Evidence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8" name="Google Shape;118;g3a8fa397a04_1_63"/>
          <p:cNvGrpSpPr/>
          <p:nvPr/>
        </p:nvGrpSpPr>
        <p:grpSpPr>
          <a:xfrm>
            <a:off x="3133690" y="-76672"/>
            <a:ext cx="1998703" cy="2062734"/>
            <a:chOff x="3026171" y="-76686"/>
            <a:chExt cx="2655025" cy="2740083"/>
          </a:xfrm>
        </p:grpSpPr>
        <p:sp>
          <p:nvSpPr>
            <p:cNvPr id="119" name="Google Shape;119;g3a8fa397a04_1_63"/>
            <p:cNvSpPr/>
            <p:nvPr/>
          </p:nvSpPr>
          <p:spPr>
            <a:xfrm rot="-2700000">
              <a:off x="3282650" y="444474"/>
              <a:ext cx="2142068" cy="1612705"/>
            </a:xfrm>
            <a:custGeom>
              <a:rect b="b" l="l" r="r" t="t"/>
              <a:pathLst>
                <a:path extrusionOk="0" h="249" w="331">
                  <a:moveTo>
                    <a:pt x="45" y="32"/>
                  </a:moveTo>
                  <a:cubicBezTo>
                    <a:pt x="174" y="32"/>
                    <a:pt x="281" y="126"/>
                    <a:pt x="302" y="249"/>
                  </a:cubicBezTo>
                  <a:cubicBezTo>
                    <a:pt x="312" y="244"/>
                    <a:pt x="322" y="238"/>
                    <a:pt x="331" y="231"/>
                  </a:cubicBezTo>
                  <a:cubicBezTo>
                    <a:pt x="303" y="99"/>
                    <a:pt x="186" y="0"/>
                    <a:pt x="45" y="0"/>
                  </a:cubicBezTo>
                  <a:cubicBezTo>
                    <a:pt x="29" y="0"/>
                    <a:pt x="14" y="1"/>
                    <a:pt x="0" y="3"/>
                  </a:cubicBezTo>
                  <a:cubicBezTo>
                    <a:pt x="6" y="13"/>
                    <a:pt x="12" y="23"/>
                    <a:pt x="17" y="33"/>
                  </a:cubicBezTo>
                  <a:cubicBezTo>
                    <a:pt x="26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a8fa397a04_1_63"/>
            <p:cNvSpPr/>
            <p:nvPr/>
          </p:nvSpPr>
          <p:spPr>
            <a:xfrm rot="-2700000">
              <a:off x="3599956" y="695260"/>
              <a:ext cx="1767975" cy="1573496"/>
            </a:xfrm>
            <a:custGeom>
              <a:rect b="b" l="l" r="r" t="t"/>
              <a:pathLst>
                <a:path extrusionOk="0" h="253" w="285">
                  <a:moveTo>
                    <a:pt x="28" y="0"/>
                  </a:moveTo>
                  <a:cubicBezTo>
                    <a:pt x="19" y="0"/>
                    <a:pt x="9" y="0"/>
                    <a:pt x="0" y="1"/>
                  </a:cubicBezTo>
                  <a:cubicBezTo>
                    <a:pt x="22" y="43"/>
                    <a:pt x="34" y="90"/>
                    <a:pt x="35" y="140"/>
                  </a:cubicBezTo>
                  <a:cubicBezTo>
                    <a:pt x="74" y="142"/>
                    <a:pt x="112" y="163"/>
                    <a:pt x="133" y="200"/>
                  </a:cubicBezTo>
                  <a:cubicBezTo>
                    <a:pt x="143" y="217"/>
                    <a:pt x="148" y="235"/>
                    <a:pt x="149" y="253"/>
                  </a:cubicBezTo>
                  <a:cubicBezTo>
                    <a:pt x="198" y="252"/>
                    <a:pt x="244" y="239"/>
                    <a:pt x="285" y="217"/>
                  </a:cubicBezTo>
                  <a:cubicBezTo>
                    <a:pt x="264" y="94"/>
                    <a:pt x="157" y="0"/>
                    <a:pt x="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a8fa397a04_1_63"/>
            <p:cNvSpPr txBox="1"/>
            <p:nvPr/>
          </p:nvSpPr>
          <p:spPr>
            <a:xfrm>
              <a:off x="3823913" y="1153125"/>
              <a:ext cx="1496100" cy="5631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Problem Statement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22" name="Google Shape;122;g3a8fa397a04_1_63"/>
          <p:cNvCxnSpPr/>
          <p:nvPr/>
        </p:nvCxnSpPr>
        <p:spPr>
          <a:xfrm flipH="1" rot="10800000">
            <a:off x="4524850" y="696425"/>
            <a:ext cx="27909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" name="Google Shape;123;g3a8fa397a04_1_63"/>
          <p:cNvSpPr txBox="1"/>
          <p:nvPr/>
        </p:nvSpPr>
        <p:spPr>
          <a:xfrm>
            <a:off x="6363218" y="248787"/>
            <a:ext cx="1025100" cy="529200"/>
          </a:xfrm>
          <a:prstGeom prst="rect">
            <a:avLst/>
          </a:prstGeom>
          <a:solidFill>
            <a:srgbClr val="EE381A"/>
          </a:solidFill>
          <a:ln>
            <a:noFill/>
          </a:ln>
        </p:spPr>
        <p:txBody>
          <a:bodyPr anchorCtr="0" anchor="t" bIns="68825" lIns="68825" spcFirstLastPara="1" rIns="68825" wrap="square" tIns="68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- Task 1</a:t>
            </a:r>
            <a:r>
              <a:rPr b="1" i="0" lang="en" sz="135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" sz="135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5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g3a8fa397a04_1_63"/>
          <p:cNvCxnSpPr/>
          <p:nvPr/>
        </p:nvCxnSpPr>
        <p:spPr>
          <a:xfrm flipH="1" rot="10800000">
            <a:off x="5082459" y="1286118"/>
            <a:ext cx="12756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5" name="Google Shape;125;g3a8fa397a04_1_63"/>
          <p:cNvSpPr txBox="1"/>
          <p:nvPr/>
        </p:nvSpPr>
        <p:spPr>
          <a:xfrm>
            <a:off x="6363225" y="1022625"/>
            <a:ext cx="1275600" cy="5829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68825" lIns="68825" spcFirstLastPara="1" rIns="68825" wrap="square" tIns="68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Create/ Apply - Task 2 </a:t>
            </a:r>
            <a:r>
              <a:rPr b="0" i="0" lang="en" sz="13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g3a8fa397a04_1_63"/>
          <p:cNvCxnSpPr/>
          <p:nvPr/>
        </p:nvCxnSpPr>
        <p:spPr>
          <a:xfrm flipH="1" rot="10800000">
            <a:off x="5132655" y="2880451"/>
            <a:ext cx="12756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7" name="Google Shape;127;g3a8fa397a04_1_63"/>
          <p:cNvSpPr txBox="1"/>
          <p:nvPr/>
        </p:nvSpPr>
        <p:spPr>
          <a:xfrm>
            <a:off x="6408276" y="2655324"/>
            <a:ext cx="1025100" cy="529200"/>
          </a:xfrm>
          <a:prstGeom prst="rect">
            <a:avLst/>
          </a:prstGeom>
          <a:solidFill>
            <a:srgbClr val="4185F2"/>
          </a:solidFill>
          <a:ln>
            <a:noFill/>
          </a:ln>
        </p:spPr>
        <p:txBody>
          <a:bodyPr anchorCtr="0" anchor="t" bIns="68825" lIns="68825" spcFirstLastPara="1" rIns="68825" wrap="square" tIns="68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Reflect - Plenary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g3a8fa397a04_1_63"/>
          <p:cNvCxnSpPr/>
          <p:nvPr/>
        </p:nvCxnSpPr>
        <p:spPr>
          <a:xfrm flipH="1" rot="10800000">
            <a:off x="1807957" y="1433337"/>
            <a:ext cx="12756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9" name="Google Shape;129;g3a8fa397a04_1_63"/>
          <p:cNvSpPr txBox="1"/>
          <p:nvPr/>
        </p:nvSpPr>
        <p:spPr>
          <a:xfrm>
            <a:off x="915101" y="1255432"/>
            <a:ext cx="1025100" cy="529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68825" lIns="68825" spcFirstLastPara="1" rIns="68825" wrap="square" tIns="68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Explore - Task 1 &amp; 2</a:t>
            </a:r>
            <a:r>
              <a:rPr b="0" i="0" lang="en" sz="135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5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a8fa397a04_1_63"/>
          <p:cNvSpPr txBox="1"/>
          <p:nvPr/>
        </p:nvSpPr>
        <p:spPr>
          <a:xfrm>
            <a:off x="5455175" y="204450"/>
            <a:ext cx="48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a8fa397a04_1_63"/>
          <p:cNvSpPr txBox="1"/>
          <p:nvPr/>
        </p:nvSpPr>
        <p:spPr>
          <a:xfrm>
            <a:off x="-53475" y="-3750"/>
            <a:ext cx="3231600" cy="5931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Computational  thinking  Cycle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a8fa397a04_1_63"/>
          <p:cNvSpPr txBox="1"/>
          <p:nvPr/>
        </p:nvSpPr>
        <p:spPr>
          <a:xfrm>
            <a:off x="3745675" y="1605425"/>
            <a:ext cx="1003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25" lIns="68825" spcFirstLastPara="1" rIns="68825" wrap="square" tIns="68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CS THINKING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a8fa397a04_1_63"/>
          <p:cNvSpPr txBox="1"/>
          <p:nvPr/>
        </p:nvSpPr>
        <p:spPr>
          <a:xfrm>
            <a:off x="251275" y="4047250"/>
            <a:ext cx="3843300" cy="1096200"/>
          </a:xfrm>
          <a:prstGeom prst="rect">
            <a:avLst/>
          </a:prstGeom>
          <a:solidFill>
            <a:srgbClr val="EFEFEF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Intentions: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a8fa397a04_1_63"/>
          <p:cNvSpPr txBox="1"/>
          <p:nvPr/>
        </p:nvSpPr>
        <p:spPr>
          <a:xfrm>
            <a:off x="4248100" y="4047250"/>
            <a:ext cx="3754500" cy="1096200"/>
          </a:xfrm>
          <a:prstGeom prst="rect">
            <a:avLst/>
          </a:prstGeom>
          <a:solidFill>
            <a:srgbClr val="EFEFEF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 Criteria: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1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3a8fa397a04_1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6400" y="14713"/>
            <a:ext cx="731725" cy="1003682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6" name="Google Shape;136;g3a8fa397a04_1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6400" y="1088175"/>
            <a:ext cx="773100" cy="133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a8fa397a04_1_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8527" y="2488692"/>
            <a:ext cx="778900" cy="1276347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8" name="Google Shape;138;g3a8fa397a04_1_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2825" y="3765062"/>
            <a:ext cx="778892" cy="125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a8fa397a04_1_63"/>
          <p:cNvPicPr preferRelativeResize="0"/>
          <p:nvPr/>
        </p:nvPicPr>
        <p:blipFill rotWithShape="1">
          <a:blip r:embed="rId7">
            <a:alphaModFix/>
          </a:blip>
          <a:srcRect b="80427" l="0" r="3278" t="0"/>
          <a:stretch/>
        </p:blipFill>
        <p:spPr>
          <a:xfrm>
            <a:off x="3512436" y="187951"/>
            <a:ext cx="469934" cy="32254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a8fa397a04_1_63"/>
          <p:cNvSpPr txBox="1"/>
          <p:nvPr/>
        </p:nvSpPr>
        <p:spPr>
          <a:xfrm>
            <a:off x="3910443" y="221389"/>
            <a:ext cx="10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3a8fa397a04_1_63"/>
          <p:cNvPicPr preferRelativeResize="0"/>
          <p:nvPr/>
        </p:nvPicPr>
        <p:blipFill rotWithShape="1">
          <a:blip r:embed="rId7">
            <a:alphaModFix/>
          </a:blip>
          <a:srcRect b="53204" l="0" r="3278" t="22537"/>
          <a:stretch/>
        </p:blipFill>
        <p:spPr>
          <a:xfrm>
            <a:off x="5812897" y="1717106"/>
            <a:ext cx="469935" cy="39978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a8fa397a04_1_63"/>
          <p:cNvSpPr txBox="1"/>
          <p:nvPr/>
        </p:nvSpPr>
        <p:spPr>
          <a:xfrm>
            <a:off x="6213133" y="1768202"/>
            <a:ext cx="135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a8fa397a04_1_63"/>
          <p:cNvPicPr preferRelativeResize="0"/>
          <p:nvPr/>
        </p:nvPicPr>
        <p:blipFill rotWithShape="1">
          <a:blip r:embed="rId7">
            <a:alphaModFix/>
          </a:blip>
          <a:srcRect b="27636" l="3278" r="-7" t="48105"/>
          <a:stretch/>
        </p:blipFill>
        <p:spPr>
          <a:xfrm>
            <a:off x="1036408" y="2116904"/>
            <a:ext cx="469935" cy="39978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a8fa397a04_1_63"/>
          <p:cNvSpPr txBox="1"/>
          <p:nvPr/>
        </p:nvSpPr>
        <p:spPr>
          <a:xfrm>
            <a:off x="1448283" y="2176202"/>
            <a:ext cx="146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g3a8fa397a04_1_63"/>
          <p:cNvPicPr preferRelativeResize="0"/>
          <p:nvPr/>
        </p:nvPicPr>
        <p:blipFill rotWithShape="1">
          <a:blip r:embed="rId7">
            <a:alphaModFix/>
          </a:blip>
          <a:srcRect b="0" l="0" r="3278" t="75355"/>
          <a:stretch/>
        </p:blipFill>
        <p:spPr>
          <a:xfrm>
            <a:off x="3745672" y="3401401"/>
            <a:ext cx="469934" cy="40612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a8fa397a04_1_63"/>
          <p:cNvSpPr txBox="1"/>
          <p:nvPr/>
        </p:nvSpPr>
        <p:spPr>
          <a:xfrm>
            <a:off x="4168039" y="3467397"/>
            <a:ext cx="10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a8fa397a04_1_63"/>
          <p:cNvSpPr/>
          <p:nvPr/>
        </p:nvSpPr>
        <p:spPr>
          <a:xfrm>
            <a:off x="204525" y="2655325"/>
            <a:ext cx="2929200" cy="122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IDU /TOK Link : </a:t>
            </a:r>
            <a:r>
              <a:rPr b="1" lang="en">
                <a:solidFill>
                  <a:schemeClr val="dk1"/>
                </a:solidFill>
              </a:rPr>
              <a:t>To what extent does the ambiguity of human language limit the precision of computational logic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g3a8fa397a04_1_63"/>
          <p:cNvGrpSpPr/>
          <p:nvPr/>
        </p:nvGrpSpPr>
        <p:grpSpPr>
          <a:xfrm>
            <a:off x="145825" y="2253625"/>
            <a:ext cx="702600" cy="401700"/>
            <a:chOff x="5774050" y="132500"/>
            <a:chExt cx="702600" cy="401700"/>
          </a:xfrm>
        </p:grpSpPr>
        <p:sp>
          <p:nvSpPr>
            <p:cNvPr id="149" name="Google Shape;149;g3a8fa397a04_1_63"/>
            <p:cNvSpPr/>
            <p:nvPr/>
          </p:nvSpPr>
          <p:spPr>
            <a:xfrm>
              <a:off x="5774050" y="132500"/>
              <a:ext cx="702600" cy="401700"/>
            </a:xfrm>
            <a:prstGeom prst="cloudCallout">
              <a:avLst>
                <a:gd fmla="val -20833" name="adj1"/>
                <a:gd fmla="val 62500" name="adj2"/>
              </a:avLst>
            </a:prstGeom>
            <a:solidFill>
              <a:srgbClr val="EE381A"/>
            </a:solidFill>
            <a:ln cap="flat" cmpd="sng" w="107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3a8fa397a04_1_63"/>
            <p:cNvSpPr txBox="1"/>
            <p:nvPr/>
          </p:nvSpPr>
          <p:spPr>
            <a:xfrm>
              <a:off x="5885950" y="153800"/>
              <a:ext cx="4788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H.O.T</a:t>
              </a:r>
              <a:endParaRPr b="1" i="0" sz="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8fa397a04_1_173"/>
          <p:cNvSpPr/>
          <p:nvPr/>
        </p:nvSpPr>
        <p:spPr>
          <a:xfrm>
            <a:off x="16225" y="8125"/>
            <a:ext cx="9144000" cy="67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Task 1: Inquiring and Exploring - {THINK -PAIR -SHARE}</a:t>
            </a:r>
            <a:r>
              <a:rPr b="1" i="0" lang="en" sz="22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200" u="none" cap="none" strike="noStrik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g3a8fa397a04_1_173"/>
          <p:cNvGrpSpPr/>
          <p:nvPr/>
        </p:nvGrpSpPr>
        <p:grpSpPr>
          <a:xfrm>
            <a:off x="6822625" y="681625"/>
            <a:ext cx="2337300" cy="4461932"/>
            <a:chOff x="6822925" y="681625"/>
            <a:chExt cx="2337300" cy="4461932"/>
          </a:xfrm>
        </p:grpSpPr>
        <p:sp>
          <p:nvSpPr>
            <p:cNvPr id="157" name="Google Shape;157;g3a8fa397a04_1_173"/>
            <p:cNvSpPr/>
            <p:nvPr/>
          </p:nvSpPr>
          <p:spPr>
            <a:xfrm>
              <a:off x="6822925" y="1256499"/>
              <a:ext cx="2337300" cy="1295700"/>
            </a:xfrm>
            <a:prstGeom prst="rect">
              <a:avLst/>
            </a:prstGeom>
            <a:solidFill>
              <a:srgbClr val="EA9999"/>
            </a:solidFill>
            <a:ln cap="flat" cmpd="sng" w="2857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a8fa397a04_1_173"/>
            <p:cNvSpPr/>
            <p:nvPr/>
          </p:nvSpPr>
          <p:spPr>
            <a:xfrm>
              <a:off x="6822925" y="3847857"/>
              <a:ext cx="2337300" cy="1295700"/>
            </a:xfrm>
            <a:prstGeom prst="rect">
              <a:avLst/>
            </a:prstGeom>
            <a:solidFill>
              <a:srgbClr val="B6D7A8"/>
            </a:solidFill>
            <a:ln cap="flat" cmpd="sng" w="2857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3a8fa397a04_1_173"/>
            <p:cNvSpPr/>
            <p:nvPr/>
          </p:nvSpPr>
          <p:spPr>
            <a:xfrm>
              <a:off x="6822925" y="2552178"/>
              <a:ext cx="2337300" cy="1295700"/>
            </a:xfrm>
            <a:prstGeom prst="rect">
              <a:avLst/>
            </a:prstGeom>
            <a:solidFill>
              <a:srgbClr val="FFE599"/>
            </a:solidFill>
            <a:ln cap="flat" cmpd="sng" w="2857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a8fa397a04_1_173"/>
            <p:cNvSpPr/>
            <p:nvPr/>
          </p:nvSpPr>
          <p:spPr>
            <a:xfrm>
              <a:off x="6822925" y="681625"/>
              <a:ext cx="2337300" cy="5559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3C78D8"/>
                  </a:solidFill>
                  <a:latin typeface="Arial"/>
                  <a:ea typeface="Arial"/>
                  <a:cs typeface="Arial"/>
                  <a:sym typeface="Arial"/>
                </a:rPr>
                <a:t>Progress check (3 mins)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g3a8fa397a04_1_173"/>
          <p:cNvSpPr txBox="1"/>
          <p:nvPr/>
        </p:nvSpPr>
        <p:spPr>
          <a:xfrm>
            <a:off x="25" y="681625"/>
            <a:ext cx="682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a8fa397a04_1_173"/>
          <p:cNvPicPr preferRelativeResize="0"/>
          <p:nvPr/>
        </p:nvPicPr>
        <p:blipFill rotWithShape="1">
          <a:blip r:embed="rId3">
            <a:alphaModFix/>
          </a:blip>
          <a:srcRect b="0" l="5012" r="7335" t="3530"/>
          <a:stretch/>
        </p:blipFill>
        <p:spPr>
          <a:xfrm>
            <a:off x="8357950" y="8125"/>
            <a:ext cx="629265" cy="6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a8fa397a04_1_173"/>
          <p:cNvSpPr txBox="1"/>
          <p:nvPr/>
        </p:nvSpPr>
        <p:spPr>
          <a:xfrm>
            <a:off x="113125" y="747025"/>
            <a:ext cx="6596400" cy="858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FF0000"/>
                </a:solidFill>
              </a:rPr>
              <a:t>TASK 1 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Based on your mini project - students will be able to choose one of the best project </a:t>
            </a:r>
            <a:r>
              <a:rPr b="1" lang="en">
                <a:solidFill>
                  <a:schemeClr val="dk1"/>
                </a:solidFill>
              </a:rPr>
              <a:t>across</a:t>
            </a:r>
            <a:r>
              <a:rPr b="1" lang="en">
                <a:solidFill>
                  <a:schemeClr val="dk1"/>
                </a:solidFill>
              </a:rPr>
              <a:t> the table and discuss on the same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g3a8fa397a04_1_1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8375" y="3051300"/>
            <a:ext cx="661063" cy="1193964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65" name="Google Shape;165;g3a8fa397a04_1_173"/>
          <p:cNvGrpSpPr/>
          <p:nvPr/>
        </p:nvGrpSpPr>
        <p:grpSpPr>
          <a:xfrm>
            <a:off x="6822925" y="681625"/>
            <a:ext cx="2337300" cy="4461932"/>
            <a:chOff x="6822925" y="681625"/>
            <a:chExt cx="2337300" cy="4461932"/>
          </a:xfrm>
        </p:grpSpPr>
        <p:sp>
          <p:nvSpPr>
            <p:cNvPr id="166" name="Google Shape;166;g3a8fa397a04_1_173"/>
            <p:cNvSpPr/>
            <p:nvPr/>
          </p:nvSpPr>
          <p:spPr>
            <a:xfrm>
              <a:off x="6822925" y="1256499"/>
              <a:ext cx="2337300" cy="1295700"/>
            </a:xfrm>
            <a:prstGeom prst="rect">
              <a:avLst/>
            </a:prstGeom>
            <a:solidFill>
              <a:srgbClr val="EA9999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3-4</a:t>
              </a:r>
              <a:r>
                <a:rPr b="0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3a8fa397a04_1_173"/>
            <p:cNvSpPr/>
            <p:nvPr/>
          </p:nvSpPr>
          <p:spPr>
            <a:xfrm>
              <a:off x="6822925" y="3847857"/>
              <a:ext cx="2337300" cy="1295700"/>
            </a:xfrm>
            <a:prstGeom prst="rect">
              <a:avLst/>
            </a:prstGeom>
            <a:solidFill>
              <a:srgbClr val="B6D7A8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7-8</a:t>
              </a:r>
              <a:endParaRPr b="1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3a8fa397a04_1_173"/>
            <p:cNvSpPr/>
            <p:nvPr/>
          </p:nvSpPr>
          <p:spPr>
            <a:xfrm>
              <a:off x="6822925" y="2552178"/>
              <a:ext cx="2337300" cy="1295700"/>
            </a:xfrm>
            <a:prstGeom prst="rect">
              <a:avLst/>
            </a:prstGeom>
            <a:solidFill>
              <a:srgbClr val="FFE599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5-6</a:t>
              </a:r>
              <a:endParaRPr b="1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3a8fa397a04_1_173"/>
            <p:cNvSpPr/>
            <p:nvPr/>
          </p:nvSpPr>
          <p:spPr>
            <a:xfrm>
              <a:off x="6822925" y="681625"/>
              <a:ext cx="2337300" cy="5559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Progress check with rubrics </a:t>
              </a:r>
              <a:r>
                <a:rPr b="1" i="0" lang="en" sz="1800" u="none" cap="none" strike="noStrike">
                  <a:solidFill>
                    <a:srgbClr val="3C78D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" name="Google Shape;170;g3a8fa397a04_1_173"/>
          <p:cNvGrpSpPr/>
          <p:nvPr/>
        </p:nvGrpSpPr>
        <p:grpSpPr>
          <a:xfrm>
            <a:off x="612325" y="1617250"/>
            <a:ext cx="5316672" cy="1607077"/>
            <a:chOff x="0" y="0"/>
            <a:chExt cx="5292327" cy="1313508"/>
          </a:xfrm>
        </p:grpSpPr>
        <p:sp>
          <p:nvSpPr>
            <p:cNvPr id="171" name="Google Shape;171;g3a8fa397a04_1_173"/>
            <p:cNvSpPr/>
            <p:nvPr/>
          </p:nvSpPr>
          <p:spPr>
            <a:xfrm>
              <a:off x="0" y="0"/>
              <a:ext cx="1720200" cy="1276500"/>
            </a:xfrm>
            <a:prstGeom prst="roundRect">
              <a:avLst>
                <a:gd fmla="val 5000" name="adj"/>
              </a:avLst>
            </a:prstGeom>
            <a:solidFill>
              <a:srgbClr val="EE381A"/>
            </a:solidFill>
            <a:ln cap="flat" cmpd="sng" w="228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a8fa397a04_1_173"/>
            <p:cNvSpPr txBox="1"/>
            <p:nvPr/>
          </p:nvSpPr>
          <p:spPr>
            <a:xfrm rot="-5400000">
              <a:off x="-351299" y="351433"/>
              <a:ext cx="1046700" cy="34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55975" wrap="square" tIns="4317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rPr b="1" i="0" lang="en" sz="125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Table  1</a:t>
              </a:r>
              <a:endParaRPr b="1" i="0" sz="12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3a8fa397a04_1_173"/>
            <p:cNvSpPr/>
            <p:nvPr/>
          </p:nvSpPr>
          <p:spPr>
            <a:xfrm>
              <a:off x="344016" y="0"/>
              <a:ext cx="1281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3a8fa397a04_1_173"/>
            <p:cNvSpPr txBox="1"/>
            <p:nvPr/>
          </p:nvSpPr>
          <p:spPr>
            <a:xfrm>
              <a:off x="344016" y="0"/>
              <a:ext cx="1281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3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9"/>
                <a:buFont typeface="Arial"/>
                <a:buNone/>
              </a:pPr>
              <a:r>
                <a:t/>
              </a:r>
              <a:endParaRPr b="0" i="0" sz="9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a8fa397a04_1_173"/>
            <p:cNvSpPr/>
            <p:nvPr/>
          </p:nvSpPr>
          <p:spPr>
            <a:xfrm>
              <a:off x="1780687" y="0"/>
              <a:ext cx="1720200" cy="1276500"/>
            </a:xfrm>
            <a:prstGeom prst="roundRect">
              <a:avLst>
                <a:gd fmla="val 5000" name="adj"/>
              </a:avLst>
            </a:prstGeom>
            <a:solidFill>
              <a:srgbClr val="FFC000"/>
            </a:solidFill>
            <a:ln cap="flat" cmpd="sng" w="228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3a8fa397a04_1_173"/>
            <p:cNvSpPr txBox="1"/>
            <p:nvPr/>
          </p:nvSpPr>
          <p:spPr>
            <a:xfrm rot="-5400000">
              <a:off x="1429387" y="351433"/>
              <a:ext cx="1046700" cy="34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55975" wrap="square" tIns="4317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rPr b="1" i="0" lang="en" sz="125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Table 2</a:t>
              </a:r>
              <a:endParaRPr b="1" i="0" sz="12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3a8fa397a04_1_173"/>
            <p:cNvSpPr/>
            <p:nvPr/>
          </p:nvSpPr>
          <p:spPr>
            <a:xfrm rot="5400000">
              <a:off x="1695482" y="965387"/>
              <a:ext cx="187610" cy="258012"/>
            </a:xfrm>
            <a:prstGeom prst="flowChartExtract">
              <a:avLst/>
            </a:prstGeom>
            <a:solidFill>
              <a:srgbClr val="0070C0"/>
            </a:solidFill>
            <a:ln cap="flat" cmpd="sng" w="22850">
              <a:solidFill>
                <a:srgbClr val="4185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3a8fa397a04_1_173"/>
            <p:cNvSpPr/>
            <p:nvPr/>
          </p:nvSpPr>
          <p:spPr>
            <a:xfrm>
              <a:off x="2124704" y="0"/>
              <a:ext cx="1281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3a8fa397a04_1_173"/>
            <p:cNvSpPr txBox="1"/>
            <p:nvPr/>
          </p:nvSpPr>
          <p:spPr>
            <a:xfrm>
              <a:off x="2051488" y="79608"/>
              <a:ext cx="1281600" cy="12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3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44"/>
                <a:buFont typeface="Arial"/>
                <a:buNone/>
              </a:pPr>
              <a:r>
                <a:rPr b="1" lang="en" sz="1544"/>
                <a:t>Explain in detail the impact of the problem in the society</a:t>
              </a:r>
              <a:r>
                <a:rPr b="1" lang="en" sz="1844"/>
                <a:t> </a:t>
              </a:r>
              <a:endParaRPr b="1" i="0" sz="18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a8fa397a04_1_173"/>
            <p:cNvSpPr/>
            <p:nvPr/>
          </p:nvSpPr>
          <p:spPr>
            <a:xfrm>
              <a:off x="3560974" y="0"/>
              <a:ext cx="1720200" cy="1276500"/>
            </a:xfrm>
            <a:prstGeom prst="roundRect">
              <a:avLst>
                <a:gd fmla="val 5000" name="adj"/>
              </a:avLst>
            </a:prstGeom>
            <a:solidFill>
              <a:srgbClr val="00B050"/>
            </a:solidFill>
            <a:ln cap="flat" cmpd="sng" w="228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a8fa397a04_1_173"/>
            <p:cNvSpPr txBox="1"/>
            <p:nvPr/>
          </p:nvSpPr>
          <p:spPr>
            <a:xfrm rot="-5400000">
              <a:off x="3209675" y="351433"/>
              <a:ext cx="1046700" cy="34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55975" wrap="square" tIns="4317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rPr b="1" i="0" lang="en" sz="125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Table  3</a:t>
              </a:r>
              <a:endParaRPr b="1" i="0" sz="12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a8fa397a04_1_173"/>
            <p:cNvSpPr/>
            <p:nvPr/>
          </p:nvSpPr>
          <p:spPr>
            <a:xfrm rot="5400000">
              <a:off x="3475769" y="965387"/>
              <a:ext cx="187610" cy="258012"/>
            </a:xfrm>
            <a:prstGeom prst="flowChartExtract">
              <a:avLst/>
            </a:prstGeom>
            <a:solidFill>
              <a:srgbClr val="0070C0"/>
            </a:solidFill>
            <a:ln cap="flat" cmpd="sng" w="22850">
              <a:solidFill>
                <a:srgbClr val="4185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a8fa397a04_1_173"/>
            <p:cNvSpPr/>
            <p:nvPr/>
          </p:nvSpPr>
          <p:spPr>
            <a:xfrm>
              <a:off x="3904991" y="0"/>
              <a:ext cx="1281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3a8fa397a04_1_173"/>
            <p:cNvSpPr txBox="1"/>
            <p:nvPr/>
          </p:nvSpPr>
          <p:spPr>
            <a:xfrm>
              <a:off x="3863727" y="8214"/>
              <a:ext cx="1428600" cy="11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3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44"/>
                <a:buFont typeface="Arial"/>
                <a:buNone/>
              </a:pPr>
              <a:r>
                <a:rPr b="1" lang="en" sz="1244"/>
                <a:t>Explain in detail the logic and programming skills for the problem solved </a:t>
              </a:r>
              <a:endParaRPr b="1" i="0" sz="12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44"/>
                <a:buFont typeface="Arial"/>
                <a:buNone/>
              </a:pPr>
              <a:r>
                <a:t/>
              </a:r>
              <a:endParaRPr b="1" i="0" sz="1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5" name="Google Shape;185;g3a8fa397a04_1_1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4900" y="1584419"/>
            <a:ext cx="688013" cy="118428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a8fa397a04_1_173"/>
          <p:cNvSpPr txBox="1"/>
          <p:nvPr/>
        </p:nvSpPr>
        <p:spPr>
          <a:xfrm>
            <a:off x="0" y="3224425"/>
            <a:ext cx="1530600" cy="521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NOW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a8fa397a04_1_173"/>
          <p:cNvSpPr txBox="1"/>
          <p:nvPr/>
        </p:nvSpPr>
        <p:spPr>
          <a:xfrm>
            <a:off x="397225" y="3897925"/>
            <a:ext cx="1818000" cy="108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 and Discuss the task in Pair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a8fa397a04_1_173"/>
          <p:cNvSpPr txBox="1"/>
          <p:nvPr/>
        </p:nvSpPr>
        <p:spPr>
          <a:xfrm>
            <a:off x="2422200" y="3941700"/>
            <a:ext cx="1530600" cy="108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Initiate completing the task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a8fa397a04_1_173"/>
          <p:cNvSpPr txBox="1"/>
          <p:nvPr/>
        </p:nvSpPr>
        <p:spPr>
          <a:xfrm>
            <a:off x="4232075" y="3941700"/>
            <a:ext cx="1530600" cy="108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 in table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g3a8fa397a04_1_173"/>
          <p:cNvPicPr preferRelativeResize="0"/>
          <p:nvPr/>
        </p:nvPicPr>
        <p:blipFill rotWithShape="1">
          <a:blip r:embed="rId6">
            <a:alphaModFix/>
          </a:blip>
          <a:srcRect b="20039" l="18726" r="19223" t="12283"/>
          <a:stretch/>
        </p:blipFill>
        <p:spPr>
          <a:xfrm>
            <a:off x="1720354" y="3993652"/>
            <a:ext cx="336148" cy="387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a8fa397a04_1_173"/>
          <p:cNvPicPr preferRelativeResize="0"/>
          <p:nvPr/>
        </p:nvPicPr>
        <p:blipFill rotWithShape="1">
          <a:blip r:embed="rId6">
            <a:alphaModFix/>
          </a:blip>
          <a:srcRect b="20039" l="18726" r="19223" t="12283"/>
          <a:stretch/>
        </p:blipFill>
        <p:spPr>
          <a:xfrm>
            <a:off x="3550229" y="3993652"/>
            <a:ext cx="336148" cy="387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a8fa397a04_1_173"/>
          <p:cNvPicPr preferRelativeResize="0"/>
          <p:nvPr/>
        </p:nvPicPr>
        <p:blipFill rotWithShape="1">
          <a:blip r:embed="rId6">
            <a:alphaModFix/>
          </a:blip>
          <a:srcRect b="20039" l="18726" r="19223" t="12283"/>
          <a:stretch/>
        </p:blipFill>
        <p:spPr>
          <a:xfrm>
            <a:off x="5380091" y="4195727"/>
            <a:ext cx="336148" cy="387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a8fa397a04_1_173"/>
          <p:cNvPicPr preferRelativeResize="0"/>
          <p:nvPr/>
        </p:nvPicPr>
        <p:blipFill rotWithShape="1">
          <a:blip r:embed="rId7">
            <a:alphaModFix/>
          </a:blip>
          <a:srcRect b="80427" l="0" r="3278" t="0"/>
          <a:stretch/>
        </p:blipFill>
        <p:spPr>
          <a:xfrm>
            <a:off x="69161" y="1738476"/>
            <a:ext cx="469934" cy="32254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a8fa397a04_1_173"/>
          <p:cNvSpPr txBox="1"/>
          <p:nvPr/>
        </p:nvSpPr>
        <p:spPr>
          <a:xfrm>
            <a:off x="836450" y="1605850"/>
            <a:ext cx="1435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/>
              <a:t>Explain the need for problem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a8fa397a04_1_173"/>
          <p:cNvSpPr/>
          <p:nvPr/>
        </p:nvSpPr>
        <p:spPr>
          <a:xfrm>
            <a:off x="1580350" y="3211351"/>
            <a:ext cx="1660800" cy="7389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a8fa397a04_1_173"/>
          <p:cNvSpPr txBox="1"/>
          <p:nvPr/>
        </p:nvSpPr>
        <p:spPr>
          <a:xfrm>
            <a:off x="1955975" y="3239388"/>
            <a:ext cx="10605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 to Bio Science , Design 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g3a8fa397a04_1_173"/>
          <p:cNvGrpSpPr/>
          <p:nvPr/>
        </p:nvGrpSpPr>
        <p:grpSpPr>
          <a:xfrm>
            <a:off x="3952800" y="2429338"/>
            <a:ext cx="702600" cy="401700"/>
            <a:chOff x="5774050" y="132500"/>
            <a:chExt cx="702600" cy="401700"/>
          </a:xfrm>
        </p:grpSpPr>
        <p:sp>
          <p:nvSpPr>
            <p:cNvPr id="198" name="Google Shape;198;g3a8fa397a04_1_173"/>
            <p:cNvSpPr/>
            <p:nvPr/>
          </p:nvSpPr>
          <p:spPr>
            <a:xfrm>
              <a:off x="5774050" y="132500"/>
              <a:ext cx="702600" cy="401700"/>
            </a:xfrm>
            <a:prstGeom prst="cloudCallout">
              <a:avLst>
                <a:gd fmla="val -20833" name="adj1"/>
                <a:gd fmla="val 62500" name="adj2"/>
              </a:avLst>
            </a:prstGeom>
            <a:solidFill>
              <a:srgbClr val="EE381A"/>
            </a:solidFill>
            <a:ln cap="flat" cmpd="sng" w="107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3a8fa397a04_1_173"/>
            <p:cNvSpPr txBox="1"/>
            <p:nvPr/>
          </p:nvSpPr>
          <p:spPr>
            <a:xfrm>
              <a:off x="5885950" y="153800"/>
              <a:ext cx="4788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H.O.T</a:t>
              </a:r>
              <a:endParaRPr b="1" i="0" sz="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g3a8fa397a04_1_173"/>
          <p:cNvSpPr txBox="1"/>
          <p:nvPr/>
        </p:nvSpPr>
        <p:spPr>
          <a:xfrm>
            <a:off x="7043400" y="4380900"/>
            <a:ext cx="210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WAGOLL (WHAT A GOOD ONE LOOK LIKE)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8fa397a04_1_263"/>
          <p:cNvSpPr/>
          <p:nvPr/>
        </p:nvSpPr>
        <p:spPr>
          <a:xfrm>
            <a:off x="0" y="154925"/>
            <a:ext cx="9144000" cy="67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Task 2: (Challenging Task)</a:t>
            </a:r>
            <a:r>
              <a:rPr b="1" i="0" lang="en" sz="22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200" u="none" cap="none" strike="noStrik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g3a8fa397a04_1_263"/>
          <p:cNvGrpSpPr/>
          <p:nvPr/>
        </p:nvGrpSpPr>
        <p:grpSpPr>
          <a:xfrm>
            <a:off x="6822925" y="717550"/>
            <a:ext cx="2337300" cy="4461932"/>
            <a:chOff x="6822925" y="681625"/>
            <a:chExt cx="2337300" cy="4461932"/>
          </a:xfrm>
        </p:grpSpPr>
        <p:sp>
          <p:nvSpPr>
            <p:cNvPr id="207" name="Google Shape;207;g3a8fa397a04_1_263"/>
            <p:cNvSpPr/>
            <p:nvPr/>
          </p:nvSpPr>
          <p:spPr>
            <a:xfrm>
              <a:off x="6822925" y="1256499"/>
              <a:ext cx="2337300" cy="1295700"/>
            </a:xfrm>
            <a:prstGeom prst="rect">
              <a:avLst/>
            </a:prstGeom>
            <a:solidFill>
              <a:srgbClr val="EA9999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3-4</a:t>
              </a:r>
              <a:r>
                <a:rPr b="0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a8fa397a04_1_263"/>
            <p:cNvSpPr/>
            <p:nvPr/>
          </p:nvSpPr>
          <p:spPr>
            <a:xfrm>
              <a:off x="6822925" y="3847857"/>
              <a:ext cx="2337300" cy="1295700"/>
            </a:xfrm>
            <a:prstGeom prst="rect">
              <a:avLst/>
            </a:prstGeom>
            <a:solidFill>
              <a:srgbClr val="B6D7A8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7-8</a:t>
              </a:r>
              <a:endParaRPr b="1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a8fa397a04_1_263"/>
            <p:cNvSpPr/>
            <p:nvPr/>
          </p:nvSpPr>
          <p:spPr>
            <a:xfrm>
              <a:off x="6822925" y="2552178"/>
              <a:ext cx="2337300" cy="1295700"/>
            </a:xfrm>
            <a:prstGeom prst="rect">
              <a:avLst/>
            </a:prstGeom>
            <a:solidFill>
              <a:srgbClr val="FFE599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5-6</a:t>
              </a:r>
              <a:endParaRPr b="1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3a8fa397a04_1_263"/>
            <p:cNvSpPr/>
            <p:nvPr/>
          </p:nvSpPr>
          <p:spPr>
            <a:xfrm>
              <a:off x="6822925" y="681625"/>
              <a:ext cx="2337300" cy="5559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Progress check with rubrics  </a:t>
              </a:r>
              <a:endParaRPr b="0" i="0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1" name="Google Shape;211;g3a8fa397a04_1_263"/>
          <p:cNvPicPr preferRelativeResize="0"/>
          <p:nvPr/>
        </p:nvPicPr>
        <p:blipFill rotWithShape="1">
          <a:blip r:embed="rId3">
            <a:alphaModFix/>
          </a:blip>
          <a:srcRect b="0" l="5012" r="7335" t="3530"/>
          <a:stretch/>
        </p:blipFill>
        <p:spPr>
          <a:xfrm>
            <a:off x="6822925" y="8125"/>
            <a:ext cx="629271" cy="6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a8fa397a04_1_2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8902" y="3902076"/>
            <a:ext cx="729838" cy="1195952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3" name="Google Shape;213;g3a8fa397a04_1_263"/>
          <p:cNvSpPr txBox="1"/>
          <p:nvPr/>
        </p:nvSpPr>
        <p:spPr>
          <a:xfrm>
            <a:off x="145025" y="3553525"/>
            <a:ext cx="5759700" cy="1478100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Extension :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IB/TOK Link (Analyse):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To what extent does the ambiguity of human language limit the precision of computational logic</a:t>
            </a:r>
            <a:endParaRPr b="0" i="0" sz="18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a8fa397a04_1_263"/>
          <p:cNvSpPr txBox="1"/>
          <p:nvPr/>
        </p:nvSpPr>
        <p:spPr>
          <a:xfrm>
            <a:off x="0" y="681625"/>
            <a:ext cx="4982400" cy="521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NOW  { HL - Task 1 / SL - Task 2 } </a:t>
            </a: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3a8fa397a04_1_263"/>
          <p:cNvPicPr preferRelativeResize="0"/>
          <p:nvPr/>
        </p:nvPicPr>
        <p:blipFill rotWithShape="1">
          <a:blip r:embed="rId5">
            <a:alphaModFix/>
          </a:blip>
          <a:srcRect b="20039" l="18726" r="19223" t="12283"/>
          <a:stretch/>
        </p:blipFill>
        <p:spPr>
          <a:xfrm>
            <a:off x="8807854" y="828427"/>
            <a:ext cx="336148" cy="387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a8fa397a04_1_263"/>
          <p:cNvPicPr preferRelativeResize="0"/>
          <p:nvPr/>
        </p:nvPicPr>
        <p:blipFill rotWithShape="1">
          <a:blip r:embed="rId6">
            <a:alphaModFix/>
          </a:blip>
          <a:srcRect b="27636" l="3278" r="-7" t="48105"/>
          <a:stretch/>
        </p:blipFill>
        <p:spPr>
          <a:xfrm>
            <a:off x="5369624" y="754374"/>
            <a:ext cx="629275" cy="53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a8fa397a04_1_263"/>
          <p:cNvPicPr preferRelativeResize="0"/>
          <p:nvPr/>
        </p:nvPicPr>
        <p:blipFill rotWithShape="1">
          <a:blip r:embed="rId6">
            <a:alphaModFix/>
          </a:blip>
          <a:srcRect b="53204" l="0" r="3278" t="22537"/>
          <a:stretch/>
        </p:blipFill>
        <p:spPr>
          <a:xfrm>
            <a:off x="6122152" y="754373"/>
            <a:ext cx="629250" cy="5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a8fa397a04_1_263"/>
          <p:cNvSpPr txBox="1"/>
          <p:nvPr/>
        </p:nvSpPr>
        <p:spPr>
          <a:xfrm>
            <a:off x="90300" y="1289725"/>
            <a:ext cx="6606600" cy="2177100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Task A : HL - </a:t>
            </a:r>
            <a:r>
              <a:rPr b="1" lang="en" sz="1200">
                <a:solidFill>
                  <a:schemeClr val="dk2"/>
                </a:solidFill>
              </a:rPr>
              <a:t>Understand your project and define the complexity in the </a:t>
            </a:r>
            <a:r>
              <a:rPr b="1" lang="en" sz="1200">
                <a:solidFill>
                  <a:schemeClr val="dk2"/>
                </a:solidFill>
              </a:rPr>
              <a:t>programming</a:t>
            </a:r>
            <a:r>
              <a:rPr b="1" lang="en" sz="1200">
                <a:solidFill>
                  <a:schemeClr val="dk2"/>
                </a:solidFill>
              </a:rPr>
              <a:t> </a:t>
            </a:r>
            <a:endParaRPr b="1" sz="12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2"/>
                </a:solidFill>
              </a:rPr>
              <a:t>Add another slide describing the complexity of programming learnt </a:t>
            </a:r>
            <a:endParaRPr b="1" sz="12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Task B :  SL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2"/>
                </a:solidFill>
              </a:rPr>
              <a:t>Understand your project and define the complexity in the programming 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2"/>
                </a:solidFill>
              </a:rPr>
              <a:t>Add another slide describing the complexity of programming learnt 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g3a8fa397a04_1_263"/>
          <p:cNvGrpSpPr/>
          <p:nvPr/>
        </p:nvGrpSpPr>
        <p:grpSpPr>
          <a:xfrm>
            <a:off x="6152859" y="2215951"/>
            <a:ext cx="567841" cy="324654"/>
            <a:chOff x="5774050" y="132500"/>
            <a:chExt cx="702600" cy="401700"/>
          </a:xfrm>
        </p:grpSpPr>
        <p:sp>
          <p:nvSpPr>
            <p:cNvPr id="220" name="Google Shape;220;g3a8fa397a04_1_263"/>
            <p:cNvSpPr/>
            <p:nvPr/>
          </p:nvSpPr>
          <p:spPr>
            <a:xfrm>
              <a:off x="5774050" y="132500"/>
              <a:ext cx="702600" cy="401700"/>
            </a:xfrm>
            <a:prstGeom prst="cloudCallout">
              <a:avLst>
                <a:gd fmla="val -20833" name="adj1"/>
                <a:gd fmla="val 62500" name="adj2"/>
              </a:avLst>
            </a:prstGeom>
            <a:solidFill>
              <a:srgbClr val="EE381A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900" lIns="73900" spcFirstLastPara="1" rIns="73900" wrap="square" tIns="73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1"/>
                <a:buFont typeface="Arial"/>
                <a:buNone/>
              </a:pPr>
              <a:r>
                <a:t/>
              </a:r>
              <a:endParaRPr b="0" i="0" sz="1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a8fa397a04_1_263"/>
            <p:cNvSpPr txBox="1"/>
            <p:nvPr/>
          </p:nvSpPr>
          <p:spPr>
            <a:xfrm>
              <a:off x="5885950" y="153800"/>
              <a:ext cx="4788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3900" lIns="73900" spcFirstLastPara="1" rIns="73900" wrap="square" tIns="7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6"/>
                <a:buFont typeface="Arial"/>
                <a:buNone/>
              </a:pPr>
              <a:r>
                <a:rPr b="1" i="0" lang="en" sz="64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H.O.T</a:t>
              </a:r>
              <a:endParaRPr b="1" i="0" sz="32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g3a8fa397a04_1_263"/>
          <p:cNvSpPr txBox="1"/>
          <p:nvPr/>
        </p:nvSpPr>
        <p:spPr>
          <a:xfrm>
            <a:off x="7043400" y="4380900"/>
            <a:ext cx="210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WAGOLL (WHAT A GOOD ONE LOOK LIKE)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8fa397a04_1_325"/>
          <p:cNvSpPr/>
          <p:nvPr/>
        </p:nvSpPr>
        <p:spPr>
          <a:xfrm>
            <a:off x="16225" y="8125"/>
            <a:ext cx="9144000" cy="67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Plenary: Evaluate </a:t>
            </a:r>
            <a:endParaRPr b="1" i="0" sz="22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g3a8fa397a04_1_3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0174" y="1614625"/>
            <a:ext cx="642725" cy="65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a8fa397a04_1_325"/>
          <p:cNvPicPr preferRelativeResize="0"/>
          <p:nvPr/>
        </p:nvPicPr>
        <p:blipFill rotWithShape="1">
          <a:blip r:embed="rId4">
            <a:alphaModFix/>
          </a:blip>
          <a:srcRect b="6151" l="6579" r="4481" t="11038"/>
          <a:stretch/>
        </p:blipFill>
        <p:spPr>
          <a:xfrm>
            <a:off x="8348900" y="8123"/>
            <a:ext cx="642713" cy="6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a8fa397a04_1_3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4325" y="2571738"/>
            <a:ext cx="1114425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a8fa397a04_1_325"/>
          <p:cNvSpPr txBox="1"/>
          <p:nvPr/>
        </p:nvSpPr>
        <p:spPr>
          <a:xfrm>
            <a:off x="745550" y="1275650"/>
            <a:ext cx="4802400" cy="19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Evaluate your mini project against the rubrics provided and self assess the project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