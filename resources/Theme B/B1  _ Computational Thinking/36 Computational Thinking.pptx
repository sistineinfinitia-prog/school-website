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9144000"/>
  <p:notesSz cx="6797675" cy="9926625"/>
  <p:embeddedFontLs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6" roundtripDataSignature="AMtx7mh2vSPfDs7ovu6Yc1x/I3gxVRQl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ACBB37-8842-423F-9AEF-C83996F3B3BD}">
  <a:tblStyle styleId="{09ACBB37-8842-423F-9AEF-C83996F3B3BD}"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3E9"/>
          </a:solidFill>
        </a:fill>
      </a:tcStyle>
    </a:wholeTbl>
    <a:band1H>
      <a:tcTxStyle/>
      <a:tcStyle>
        <a:fill>
          <a:solidFill>
            <a:srgbClr val="DEE7D0"/>
          </a:solidFill>
        </a:fill>
      </a:tcStyle>
    </a:band1H>
    <a:band2H>
      <a:tcTxStyle/>
    </a:band2H>
    <a:band1V>
      <a:tcTxStyle/>
      <a:tcStyle>
        <a:fill>
          <a:solidFill>
            <a:srgbClr val="DEE7D0"/>
          </a:solidFill>
        </a:fill>
      </a:tcStyle>
    </a:band1V>
    <a:band2V>
      <a:tcTxStyle/>
    </a:band2V>
    <a:lastCol>
      <a:tcTxStyle b="on" i="off">
        <a:font>
          <a:latin typeface="Century Gothic"/>
          <a:ea typeface="Century Gothic"/>
          <a:cs typeface="Century Gothic"/>
        </a:font>
        <a:schemeClr val="lt1"/>
      </a:tcTxStyle>
      <a:tcStyle>
        <a:fill>
          <a:solidFill>
            <a:schemeClr val="accent3"/>
          </a:solidFill>
        </a:fill>
      </a:tcStyle>
    </a:lastCol>
    <a:firstCol>
      <a:tcTxStyle b="on" i="off">
        <a:font>
          <a:latin typeface="Century Gothic"/>
          <a:ea typeface="Century Gothic"/>
          <a:cs typeface="Century Gothic"/>
        </a:font>
        <a:schemeClr val="lt1"/>
      </a:tcTxStyle>
      <a:tcStyle>
        <a:fill>
          <a:solidFill>
            <a:schemeClr val="accent3"/>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 styleId="{C57F9B6F-DDD0-4501-975B-34DC31508166}"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CenturyGothic-regular.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CenturyGothic-italic.fntdata"/><Relationship Id="rId21" Type="http://schemas.openxmlformats.org/officeDocument/2006/relationships/slide" Target="slides/slide15.xml"/><Relationship Id="rId43" Type="http://schemas.openxmlformats.org/officeDocument/2006/relationships/font" Target="fonts/CenturyGothic-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659" cy="49633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0"/>
            <a:ext cx="2945659" cy="496332"/>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3"/>
            <a:ext cx="2945659" cy="4963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1: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1: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78" name="Google Shape;78;p1:notes"/>
          <p:cNvSpPr txBox="1"/>
          <p:nvPr>
            <p:ph idx="11" type="ftr"/>
          </p:nvPr>
        </p:nvSpPr>
        <p:spPr>
          <a:xfrm>
            <a:off x="0" y="9428583"/>
            <a:ext cx="2945659" cy="49633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GB"/>
              <a:t>***Single User Licence: Do Not Redistribute / Do Not Share Online***</a:t>
            </a:r>
            <a:endParaRPr/>
          </a:p>
        </p:txBody>
      </p:sp>
      <p:sp>
        <p:nvSpPr>
          <p:cNvPr id="79" name="Google Shape;79;p1:notes"/>
          <p:cNvSpPr txBox="1"/>
          <p:nvPr>
            <p:ph idx="3" type="hdr"/>
          </p:nvPr>
        </p:nvSpPr>
        <p:spPr>
          <a:xfrm>
            <a:off x="0" y="0"/>
            <a:ext cx="2945659" cy="496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(c)www.revisecomputersciencealevel.com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0: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2: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3: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4: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5: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6: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6: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7: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7: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8: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9: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9: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0: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0: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21: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1: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2: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3: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24: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5: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25: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6: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26: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7: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27: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8: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28: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9: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29: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0: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0: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1: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31: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32: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33: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4: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5: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35: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3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0" name="Google Shape;20;p3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entury Gothic"/>
                <a:ea typeface="Century Gothic"/>
                <a:cs typeface="Century Gothic"/>
                <a:sym typeface="Century Gothic"/>
              </a:defRPr>
            </a:lvl1pPr>
            <a:lvl2pPr indent="0" lvl="1" marL="0" marR="0" rtl="0" algn="l">
              <a:spcBef>
                <a:spcPts val="0"/>
              </a:spcBef>
              <a:buNone/>
              <a:defRPr b="0" i="0" sz="1800" u="none" cap="none" strike="noStrike">
                <a:solidFill>
                  <a:schemeClr val="dk1"/>
                </a:solidFill>
                <a:latin typeface="Century Gothic"/>
                <a:ea typeface="Century Gothic"/>
                <a:cs typeface="Century Gothic"/>
                <a:sym typeface="Century Gothic"/>
              </a:defRPr>
            </a:lvl2pPr>
            <a:lvl3pPr indent="0" lvl="2" marL="0" marR="0" rtl="0" algn="l">
              <a:spcBef>
                <a:spcPts val="0"/>
              </a:spcBef>
              <a:buNone/>
              <a:defRPr b="0" i="0" sz="1800" u="none" cap="none" strike="noStrike">
                <a:solidFill>
                  <a:schemeClr val="dk1"/>
                </a:solidFill>
                <a:latin typeface="Century Gothic"/>
                <a:ea typeface="Century Gothic"/>
                <a:cs typeface="Century Gothic"/>
                <a:sym typeface="Century Gothic"/>
              </a:defRPr>
            </a:lvl3pPr>
            <a:lvl4pPr indent="0" lvl="3" marL="0" marR="0" rtl="0" algn="l">
              <a:spcBef>
                <a:spcPts val="0"/>
              </a:spcBef>
              <a:buNone/>
              <a:defRPr b="0" i="0" sz="1800" u="none" cap="none" strike="noStrike">
                <a:solidFill>
                  <a:schemeClr val="dk1"/>
                </a:solidFill>
                <a:latin typeface="Century Gothic"/>
                <a:ea typeface="Century Gothic"/>
                <a:cs typeface="Century Gothic"/>
                <a:sym typeface="Century Gothic"/>
              </a:defRPr>
            </a:lvl4pPr>
            <a:lvl5pPr indent="0" lvl="4" marL="0" marR="0" rtl="0" algn="l">
              <a:spcBef>
                <a:spcPts val="0"/>
              </a:spcBef>
              <a:buNone/>
              <a:defRPr b="0" i="0" sz="1800" u="none" cap="none" strike="noStrike">
                <a:solidFill>
                  <a:schemeClr val="dk1"/>
                </a:solidFill>
                <a:latin typeface="Century Gothic"/>
                <a:ea typeface="Century Gothic"/>
                <a:cs typeface="Century Gothic"/>
                <a:sym typeface="Century Gothic"/>
              </a:defRPr>
            </a:lvl5pPr>
            <a:lvl6pPr indent="0" lvl="5" marL="0" marR="0" rtl="0" algn="l">
              <a:spcBef>
                <a:spcPts val="0"/>
              </a:spcBef>
              <a:buNone/>
              <a:defRPr b="0" i="0" sz="1800" u="none" cap="none" strike="noStrike">
                <a:solidFill>
                  <a:schemeClr val="dk1"/>
                </a:solidFill>
                <a:latin typeface="Century Gothic"/>
                <a:ea typeface="Century Gothic"/>
                <a:cs typeface="Century Gothic"/>
                <a:sym typeface="Century Gothic"/>
              </a:defRPr>
            </a:lvl6pPr>
            <a:lvl7pPr indent="0" lvl="6" marL="0" marR="0" rtl="0" algn="l">
              <a:spcBef>
                <a:spcPts val="0"/>
              </a:spcBef>
              <a:buNone/>
              <a:defRPr b="0" i="0" sz="1800" u="none" cap="none" strike="noStrike">
                <a:solidFill>
                  <a:schemeClr val="dk1"/>
                </a:solidFill>
                <a:latin typeface="Century Gothic"/>
                <a:ea typeface="Century Gothic"/>
                <a:cs typeface="Century Gothic"/>
                <a:sym typeface="Century Gothic"/>
              </a:defRPr>
            </a:lvl7pPr>
            <a:lvl8pPr indent="0" lvl="7" marL="0" marR="0" rtl="0" algn="l">
              <a:spcBef>
                <a:spcPts val="0"/>
              </a:spcBef>
              <a:buNone/>
              <a:defRPr b="0" i="0" sz="1800" u="none" cap="none" strike="noStrike">
                <a:solidFill>
                  <a:schemeClr val="dk1"/>
                </a:solidFill>
                <a:latin typeface="Century Gothic"/>
                <a:ea typeface="Century Gothic"/>
                <a:cs typeface="Century Gothic"/>
                <a:sym typeface="Century Gothic"/>
              </a:defRPr>
            </a:lvl8pPr>
            <a:lvl9pPr indent="0" lvl="8" marL="0" marR="0" rtl="0" algn="l">
              <a:spcBef>
                <a:spcPts val="0"/>
              </a:spcBef>
              <a:buNone/>
              <a:defRPr b="0" i="0" sz="1800" u="none" cap="none" strike="noStrike">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body"/>
          </p:nvPr>
        </p:nvSpPr>
        <p:spPr>
          <a:xfrm>
            <a:off x="467544" y="1268760"/>
            <a:ext cx="8496944" cy="517058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5" name="Google Shape;25;p3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entury Gothic"/>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9" name="Google Shape;29;p3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0" name="Google Shape;30;p3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40"/>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4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4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41"/>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0" name="Google Shape;40;p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1" name="Google Shape;41;p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2" name="Google Shape;42;p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3" name="Google Shape;43;p4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4" name="Google Shape;44;p4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2"/>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4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1" name="Google Shape;51;p4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entury Gothic"/>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5" name="Google Shape;55;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6" name="Google Shape;56;p4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7" name="Google Shape;57;p4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entury Gothic"/>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5"/>
          <p:cNvSpPr/>
          <p:nvPr>
            <p:ph idx="2" type="pic"/>
          </p:nvPr>
        </p:nvSpPr>
        <p:spPr>
          <a:xfrm>
            <a:off x="1792288" y="612775"/>
            <a:ext cx="5486400" cy="4114800"/>
          </a:xfrm>
          <a:prstGeom prst="rect">
            <a:avLst/>
          </a:prstGeom>
          <a:noFill/>
          <a:ln>
            <a:noFill/>
          </a:ln>
        </p:spPr>
      </p:sp>
      <p:sp>
        <p:nvSpPr>
          <p:cNvPr id="61" name="Google Shape;61;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63" name="Google Shape;63;p4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46"/>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6"/>
          <p:cNvSpPr txBox="1"/>
          <p:nvPr>
            <p:ph idx="1" type="body"/>
          </p:nvPr>
        </p:nvSpPr>
        <p:spPr>
          <a:xfrm rot="5400000">
            <a:off x="2130723" y="-394419"/>
            <a:ext cx="5170586" cy="849694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 name="Google Shape;67;p4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68" name="Google Shape;68;p4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9" name="Shape 69"/>
        <p:cNvGrpSpPr/>
        <p:nvPr/>
      </p:nvGrpSpPr>
      <p:grpSpPr>
        <a:xfrm>
          <a:off x="0" y="0"/>
          <a:ext cx="0" cy="0"/>
          <a:chOff x="0" y="0"/>
          <a:chExt cx="0" cy="0"/>
        </a:xfrm>
      </p:grpSpPr>
      <p:sp>
        <p:nvSpPr>
          <p:cNvPr id="70" name="Google Shape;70;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4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73" name="Google Shape;73;p4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467544" y="1268760"/>
            <a:ext cx="8496944" cy="5170586"/>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entury Gothic"/>
                <a:ea typeface="Century Gothic"/>
                <a:cs typeface="Century Gothic"/>
                <a:sym typeface="Century Gothic"/>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entury Gothic"/>
                <a:ea typeface="Century Gothic"/>
                <a:cs typeface="Century Gothic"/>
                <a:sym typeface="Century Gothic"/>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9pPr>
          </a:lstStyle>
          <a:p/>
        </p:txBody>
      </p:sp>
      <p:sp>
        <p:nvSpPr>
          <p:cNvPr id="12" name="Google Shape;12;p36"/>
          <p:cNvSpPr/>
          <p:nvPr/>
        </p:nvSpPr>
        <p:spPr>
          <a:xfrm>
            <a:off x="0" y="0"/>
            <a:ext cx="323528" cy="6858000"/>
          </a:xfrm>
          <a:prstGeom prst="rect">
            <a:avLst/>
          </a:prstGeom>
          <a:solidFill>
            <a:srgbClr val="2ABF7B"/>
          </a:solidFill>
          <a:ln cap="flat" cmpd="sng" w="25400">
            <a:solidFill>
              <a:srgbClr val="2ABF7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 name="Google Shape;13;p36"/>
          <p:cNvSpPr txBox="1"/>
          <p:nvPr/>
        </p:nvSpPr>
        <p:spPr>
          <a:xfrm>
            <a:off x="1223628" y="-27384"/>
            <a:ext cx="6696744"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1800" u="sng" cap="none" strike="noStrike">
                <a:solidFill>
                  <a:srgbClr val="D8D8D8"/>
                </a:solidFill>
                <a:latin typeface="Arial"/>
                <a:ea typeface="Arial"/>
                <a:cs typeface="Arial"/>
                <a:sym typeface="Arial"/>
              </a:rPr>
              <a:t>A-Level Computer Science</a:t>
            </a:r>
            <a:endParaRPr/>
          </a:p>
        </p:txBody>
      </p:sp>
      <p:pic>
        <p:nvPicPr>
          <p:cNvPr id="14" name="Google Shape;14;p36"/>
          <p:cNvPicPr preferRelativeResize="0"/>
          <p:nvPr/>
        </p:nvPicPr>
        <p:blipFill rotWithShape="1">
          <a:blip r:embed="rId1">
            <a:alphaModFix/>
          </a:blip>
          <a:srcRect b="0" l="0" r="0" t="0"/>
          <a:stretch/>
        </p:blipFill>
        <p:spPr>
          <a:xfrm>
            <a:off x="473952" y="6430957"/>
            <a:ext cx="1522512" cy="377582"/>
          </a:xfrm>
          <a:prstGeom prst="rect">
            <a:avLst/>
          </a:prstGeom>
          <a:noFill/>
          <a:ln>
            <a:noFill/>
          </a:ln>
        </p:spPr>
      </p:pic>
      <p:sp>
        <p:nvSpPr>
          <p:cNvPr id="15" name="Google Shape;15;p36"/>
          <p:cNvSpPr txBox="1"/>
          <p:nvPr/>
        </p:nvSpPr>
        <p:spPr>
          <a:xfrm>
            <a:off x="6092326" y="6507215"/>
            <a:ext cx="287290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400" u="none" cap="none" strike="noStrike">
                <a:solidFill>
                  <a:schemeClr val="dk1"/>
                </a:solidFill>
                <a:latin typeface="Century Gothic"/>
                <a:ea typeface="Century Gothic"/>
                <a:cs typeface="Century Gothic"/>
                <a:sym typeface="Century Gothic"/>
              </a:rPr>
              <a:t>www.computerscienceuk.com</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2.jpg"/><Relationship Id="rId6" Type="http://schemas.openxmlformats.org/officeDocument/2006/relationships/image" Target="../media/image5.jp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23.jpg"/><Relationship Id="rId5"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
          <p:cNvSpPr txBox="1"/>
          <p:nvPr>
            <p:ph idx="1" type="subTitle"/>
          </p:nvPr>
        </p:nvSpPr>
        <p:spPr>
          <a:xfrm>
            <a:off x="609600" y="4221088"/>
            <a:ext cx="8305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GB"/>
              <a:t>www.computerscienceuk.com</a:t>
            </a:r>
            <a:endParaRPr/>
          </a:p>
        </p:txBody>
      </p:sp>
      <p:pic>
        <p:nvPicPr>
          <p:cNvPr descr="Revise Computer Science – A-Level " id="82" name="Google Shape;82;p1"/>
          <p:cNvPicPr preferRelativeResize="0"/>
          <p:nvPr/>
        </p:nvPicPr>
        <p:blipFill rotWithShape="1">
          <a:blip r:embed="rId3">
            <a:alphaModFix/>
          </a:blip>
          <a:srcRect b="0" l="0" r="0" t="0"/>
          <a:stretch/>
        </p:blipFill>
        <p:spPr>
          <a:xfrm>
            <a:off x="3752949" y="1171120"/>
            <a:ext cx="1638102" cy="13650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Gothic"/>
              <a:buNone/>
            </a:pPr>
            <a:r>
              <a:rPr lang="en-GB"/>
              <a:t>Activity 1</a:t>
            </a:r>
            <a:endParaRPr/>
          </a:p>
        </p:txBody>
      </p:sp>
      <p:sp>
        <p:nvSpPr>
          <p:cNvPr id="88" name="Google Shape;88;p2"/>
          <p:cNvSpPr txBox="1"/>
          <p:nvPr>
            <p:ph idx="1" type="body"/>
          </p:nvPr>
        </p:nvSpPr>
        <p:spPr>
          <a:xfrm>
            <a:off x="467544" y="1268760"/>
            <a:ext cx="8136904" cy="517058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GB"/>
              <a:t>	</a:t>
            </a:r>
            <a:endParaRPr/>
          </a:p>
        </p:txBody>
      </p:sp>
      <p:pic>
        <p:nvPicPr>
          <p:cNvPr id="89" name="Google Shape;89;p2"/>
          <p:cNvPicPr preferRelativeResize="0"/>
          <p:nvPr/>
        </p:nvPicPr>
        <p:blipFill rotWithShape="1">
          <a:blip r:embed="rId3">
            <a:alphaModFix/>
          </a:blip>
          <a:srcRect b="0" l="0" r="0" t="0"/>
          <a:stretch/>
        </p:blipFill>
        <p:spPr>
          <a:xfrm>
            <a:off x="7851818" y="194683"/>
            <a:ext cx="956388" cy="1018450"/>
          </a:xfrm>
          <a:prstGeom prst="rect">
            <a:avLst/>
          </a:prstGeom>
          <a:noFill/>
          <a:ln>
            <a:noFill/>
          </a:ln>
        </p:spPr>
      </p:pic>
      <p:pic>
        <p:nvPicPr>
          <p:cNvPr id="90" name="Google Shape;90;p2"/>
          <p:cNvPicPr preferRelativeResize="0"/>
          <p:nvPr/>
        </p:nvPicPr>
        <p:blipFill rotWithShape="1">
          <a:blip r:embed="rId4">
            <a:alphaModFix/>
          </a:blip>
          <a:srcRect b="0" l="0" r="0" t="0"/>
          <a:stretch/>
        </p:blipFill>
        <p:spPr>
          <a:xfrm>
            <a:off x="685800" y="194163"/>
            <a:ext cx="949825" cy="949825"/>
          </a:xfrm>
          <a:prstGeom prst="rect">
            <a:avLst/>
          </a:prstGeom>
          <a:noFill/>
          <a:ln>
            <a:noFill/>
          </a:ln>
        </p:spPr>
      </p:pic>
      <p:sp>
        <p:nvSpPr>
          <p:cNvPr id="91" name="Google Shape;91;p2"/>
          <p:cNvSpPr txBox="1"/>
          <p:nvPr/>
        </p:nvSpPr>
        <p:spPr>
          <a:xfrm>
            <a:off x="565212" y="1122804"/>
            <a:ext cx="12410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3 minutes</a:t>
            </a:r>
            <a:endParaRPr/>
          </a:p>
        </p:txBody>
      </p:sp>
      <p:sp>
        <p:nvSpPr>
          <p:cNvPr id="92" name="Google Shape;92;p2"/>
          <p:cNvSpPr/>
          <p:nvPr/>
        </p:nvSpPr>
        <p:spPr>
          <a:xfrm>
            <a:off x="908112" y="2514600"/>
            <a:ext cx="7543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entury Gothic"/>
                <a:ea typeface="Century Gothic"/>
                <a:cs typeface="Century Gothic"/>
                <a:sym typeface="Century Gothic"/>
              </a:rPr>
              <a:t>When you find yourself with a problem (lost keys, can’t remember how to complete a homework assignment etc)…</a:t>
            </a:r>
            <a:endParaRPr/>
          </a:p>
          <a:p>
            <a:pPr indent="0" lvl="0" marL="0" marR="0" rtl="0" algn="l">
              <a:spcBef>
                <a:spcPts val="0"/>
              </a:spcBef>
              <a:spcAft>
                <a:spcPts val="0"/>
              </a:spcAft>
              <a:buNone/>
            </a:pPr>
            <a:r>
              <a:t/>
            </a:r>
            <a:endParaRPr sz="2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i="1" lang="en-GB" sz="2400">
                <a:solidFill>
                  <a:schemeClr val="dk1"/>
                </a:solidFill>
                <a:latin typeface="Century Gothic"/>
                <a:ea typeface="Century Gothic"/>
                <a:cs typeface="Century Gothic"/>
                <a:sym typeface="Century Gothic"/>
              </a:rPr>
              <a:t>…how do you think </a:t>
            </a:r>
            <a:r>
              <a:rPr lang="en-GB" sz="2400">
                <a:solidFill>
                  <a:schemeClr val="dk1"/>
                </a:solidFill>
                <a:latin typeface="Century Gothic"/>
                <a:ea typeface="Century Gothic"/>
                <a:cs typeface="Century Gothic"/>
                <a:sym typeface="Century Gothic"/>
              </a:rPr>
              <a:t>about solving the problem?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467544" y="354772"/>
            <a:ext cx="8592168" cy="3600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entury Gothic"/>
              <a:buNone/>
            </a:pPr>
            <a:r>
              <a:rPr lang="en-GB"/>
              <a:t>Learning Habits</a:t>
            </a:r>
            <a:endParaRPr/>
          </a:p>
        </p:txBody>
      </p:sp>
      <p:sp>
        <p:nvSpPr>
          <p:cNvPr id="98" name="Google Shape;98;p3"/>
          <p:cNvSpPr/>
          <p:nvPr/>
        </p:nvSpPr>
        <p:spPr>
          <a:xfrm>
            <a:off x="546625" y="3784769"/>
            <a:ext cx="236341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Collaboration</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Working effectively with others</a:t>
            </a:r>
            <a:endParaRPr/>
          </a:p>
        </p:txBody>
      </p:sp>
      <p:sp>
        <p:nvSpPr>
          <p:cNvPr id="99" name="Google Shape;99;p3"/>
          <p:cNvSpPr/>
          <p:nvPr/>
        </p:nvSpPr>
        <p:spPr>
          <a:xfrm>
            <a:off x="558800" y="2968188"/>
            <a:ext cx="15905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Listening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…to understand</a:t>
            </a:r>
            <a:endParaRPr/>
          </a:p>
        </p:txBody>
      </p:sp>
      <p:sp>
        <p:nvSpPr>
          <p:cNvPr id="100" name="Google Shape;100;p3"/>
          <p:cNvSpPr/>
          <p:nvPr/>
        </p:nvSpPr>
        <p:spPr>
          <a:xfrm>
            <a:off x="548360" y="2236974"/>
            <a:ext cx="235192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Empathising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…with feelings and views</a:t>
            </a:r>
            <a:endParaRPr/>
          </a:p>
        </p:txBody>
      </p:sp>
      <p:sp>
        <p:nvSpPr>
          <p:cNvPr id="101" name="Google Shape;101;p3"/>
          <p:cNvSpPr/>
          <p:nvPr/>
        </p:nvSpPr>
        <p:spPr>
          <a:xfrm>
            <a:off x="6527152" y="4310670"/>
            <a:ext cx="253256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Imitation</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Picking up good habits from others</a:t>
            </a:r>
            <a:endParaRPr/>
          </a:p>
        </p:txBody>
      </p:sp>
      <p:sp>
        <p:nvSpPr>
          <p:cNvPr id="102" name="Google Shape;102;p3"/>
          <p:cNvSpPr/>
          <p:nvPr/>
        </p:nvSpPr>
        <p:spPr>
          <a:xfrm>
            <a:off x="483244" y="4712768"/>
            <a:ext cx="457200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Independence:</a:t>
            </a:r>
            <a:endParaRPr b="1"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Working effectively alone</a:t>
            </a:r>
            <a:endParaRPr/>
          </a:p>
        </p:txBody>
      </p:sp>
      <p:sp>
        <p:nvSpPr>
          <p:cNvPr id="103" name="Google Shape;103;p3"/>
          <p:cNvSpPr/>
          <p:nvPr/>
        </p:nvSpPr>
        <p:spPr>
          <a:xfrm>
            <a:off x="6421314" y="2540067"/>
            <a:ext cx="241176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Questioning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Asking questions to get below the surface</a:t>
            </a:r>
            <a:endParaRPr/>
          </a:p>
        </p:txBody>
      </p:sp>
      <p:sp>
        <p:nvSpPr>
          <p:cNvPr id="104" name="Google Shape;104;p3"/>
          <p:cNvSpPr/>
          <p:nvPr/>
        </p:nvSpPr>
        <p:spPr>
          <a:xfrm>
            <a:off x="2630639" y="2958739"/>
            <a:ext cx="3711004"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Imagining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…how things could be and seeing a range of possibilities</a:t>
            </a:r>
            <a:endParaRPr/>
          </a:p>
        </p:txBody>
      </p:sp>
      <p:sp>
        <p:nvSpPr>
          <p:cNvPr id="105" name="Google Shape;105;p3"/>
          <p:cNvSpPr/>
          <p:nvPr/>
        </p:nvSpPr>
        <p:spPr>
          <a:xfrm>
            <a:off x="6398742" y="1466781"/>
            <a:ext cx="291581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Reasoning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Thinking rigorously, methodically and giving explanations.</a:t>
            </a:r>
            <a:endParaRPr/>
          </a:p>
        </p:txBody>
      </p:sp>
      <p:sp>
        <p:nvSpPr>
          <p:cNvPr id="106" name="Google Shape;106;p3"/>
          <p:cNvSpPr/>
          <p:nvPr/>
        </p:nvSpPr>
        <p:spPr>
          <a:xfrm>
            <a:off x="6167812" y="5278446"/>
            <a:ext cx="280831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Capitalising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Using resources purposefully</a:t>
            </a:r>
            <a:endParaRPr/>
          </a:p>
        </p:txBody>
      </p:sp>
      <p:sp>
        <p:nvSpPr>
          <p:cNvPr id="107" name="Google Shape;107;p3"/>
          <p:cNvSpPr/>
          <p:nvPr/>
        </p:nvSpPr>
        <p:spPr>
          <a:xfrm>
            <a:off x="3503711" y="4722201"/>
            <a:ext cx="4572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Managing distractions…</a:t>
            </a:r>
            <a:endParaRPr/>
          </a:p>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a:t>
            </a:r>
            <a:r>
              <a:rPr lang="en-GB" sz="1400">
                <a:solidFill>
                  <a:schemeClr val="dk1"/>
                </a:solidFill>
                <a:latin typeface="Century Gothic"/>
                <a:ea typeface="Century Gothic"/>
                <a:cs typeface="Century Gothic"/>
                <a:sym typeface="Century Gothic"/>
              </a:rPr>
              <a:t>and sustaining concentration</a:t>
            </a:r>
            <a:endParaRPr/>
          </a:p>
        </p:txBody>
      </p:sp>
      <p:sp>
        <p:nvSpPr>
          <p:cNvPr id="108" name="Google Shape;108;p3"/>
          <p:cNvSpPr/>
          <p:nvPr/>
        </p:nvSpPr>
        <p:spPr>
          <a:xfrm>
            <a:off x="3163969" y="2365993"/>
            <a:ext cx="19191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Effective use of time</a:t>
            </a:r>
            <a:endParaRPr sz="1400">
              <a:solidFill>
                <a:schemeClr val="dk1"/>
              </a:solidFill>
              <a:latin typeface="Century Gothic"/>
              <a:ea typeface="Century Gothic"/>
              <a:cs typeface="Century Gothic"/>
              <a:sym typeface="Century Gothic"/>
            </a:endParaRPr>
          </a:p>
        </p:txBody>
      </p:sp>
      <p:sp>
        <p:nvSpPr>
          <p:cNvPr id="109" name="Google Shape;109;p3"/>
          <p:cNvSpPr/>
          <p:nvPr/>
        </p:nvSpPr>
        <p:spPr>
          <a:xfrm>
            <a:off x="571050" y="1459593"/>
            <a:ext cx="1537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Noticing details</a:t>
            </a:r>
            <a:endParaRPr sz="1400">
              <a:solidFill>
                <a:schemeClr val="dk1"/>
              </a:solidFill>
              <a:latin typeface="Century Gothic"/>
              <a:ea typeface="Century Gothic"/>
              <a:cs typeface="Century Gothic"/>
              <a:sym typeface="Century Gothic"/>
            </a:endParaRPr>
          </a:p>
        </p:txBody>
      </p:sp>
      <p:sp>
        <p:nvSpPr>
          <p:cNvPr id="110" name="Google Shape;110;p3"/>
          <p:cNvSpPr/>
          <p:nvPr/>
        </p:nvSpPr>
        <p:spPr>
          <a:xfrm>
            <a:off x="938681" y="5446439"/>
            <a:ext cx="4572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Perseverance:</a:t>
            </a:r>
            <a:endParaRPr b="1"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Overcoming frustration and difficulty</a:t>
            </a:r>
            <a:endParaRPr/>
          </a:p>
        </p:txBody>
      </p:sp>
      <p:sp>
        <p:nvSpPr>
          <p:cNvPr id="111" name="Google Shape;111;p3"/>
          <p:cNvSpPr/>
          <p:nvPr/>
        </p:nvSpPr>
        <p:spPr>
          <a:xfrm>
            <a:off x="4763628" y="5895624"/>
            <a:ext cx="254909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Planning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a:t>
            </a:r>
            <a:r>
              <a:rPr lang="en-GB" sz="1400">
                <a:solidFill>
                  <a:schemeClr val="dk1"/>
                </a:solidFill>
                <a:latin typeface="Century Gothic"/>
                <a:ea typeface="Century Gothic"/>
                <a:cs typeface="Century Gothic"/>
                <a:sym typeface="Century Gothic"/>
              </a:rPr>
              <a:t>your learning in advance</a:t>
            </a:r>
            <a:endParaRPr/>
          </a:p>
        </p:txBody>
      </p:sp>
      <p:sp>
        <p:nvSpPr>
          <p:cNvPr id="112" name="Google Shape;112;p3"/>
          <p:cNvSpPr/>
          <p:nvPr/>
        </p:nvSpPr>
        <p:spPr>
          <a:xfrm>
            <a:off x="3174510" y="1454487"/>
            <a:ext cx="29933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Adapting</a:t>
            </a:r>
            <a:r>
              <a:rPr b="1" lang="en-GB" sz="1400">
                <a:solidFill>
                  <a:schemeClr val="dk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Reflecting and making changes</a:t>
            </a:r>
            <a:endParaRPr/>
          </a:p>
        </p:txBody>
      </p:sp>
      <p:sp>
        <p:nvSpPr>
          <p:cNvPr id="113" name="Google Shape;113;p3"/>
          <p:cNvSpPr/>
          <p:nvPr/>
        </p:nvSpPr>
        <p:spPr>
          <a:xfrm>
            <a:off x="3224681" y="3831835"/>
            <a:ext cx="2987824"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Meta Learning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Talking about how you have been learning</a:t>
            </a:r>
            <a:endParaRPr/>
          </a:p>
        </p:txBody>
      </p:sp>
      <p:sp>
        <p:nvSpPr>
          <p:cNvPr id="114" name="Google Shape;114;p3"/>
          <p:cNvSpPr/>
          <p:nvPr/>
        </p:nvSpPr>
        <p:spPr>
          <a:xfrm>
            <a:off x="6398742" y="3427292"/>
            <a:ext cx="2915816"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Distilling…</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…what you have learnt and what you need to learn</a:t>
            </a:r>
            <a:endParaRPr/>
          </a:p>
        </p:txBody>
      </p:sp>
      <p:sp>
        <p:nvSpPr>
          <p:cNvPr id="115" name="Google Shape;115;p3"/>
          <p:cNvSpPr txBox="1"/>
          <p:nvPr/>
        </p:nvSpPr>
        <p:spPr>
          <a:xfrm>
            <a:off x="631018" y="868258"/>
            <a:ext cx="82652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Which ‘Learning Habits’ we will need to make use of to be a success in this lesson?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467544" y="260648"/>
            <a:ext cx="8592168" cy="64807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entury Gothic"/>
              <a:buNone/>
            </a:pPr>
            <a:r>
              <a:rPr lang="en-GB"/>
              <a:t>Lesson Objectives</a:t>
            </a:r>
            <a:endParaRPr/>
          </a:p>
        </p:txBody>
      </p:sp>
      <p:sp>
        <p:nvSpPr>
          <p:cNvPr id="121" name="Google Shape;121;p4"/>
          <p:cNvSpPr txBox="1"/>
          <p:nvPr>
            <p:ph idx="1" type="body"/>
          </p:nvPr>
        </p:nvSpPr>
        <p:spPr>
          <a:xfrm>
            <a:off x="457200" y="908720"/>
            <a:ext cx="8602512" cy="388843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None/>
            </a:pPr>
            <a:r>
              <a:rPr b="1" lang="en-GB"/>
              <a:t>Lesson Objectives</a:t>
            </a:r>
            <a:endParaRPr/>
          </a:p>
          <a:p>
            <a:pPr indent="-342900" lvl="0" marL="342900" rtl="0" algn="l">
              <a:spcBef>
                <a:spcPts val="448"/>
              </a:spcBef>
              <a:spcAft>
                <a:spcPts val="0"/>
              </a:spcAft>
              <a:buClr>
                <a:schemeClr val="dk1"/>
              </a:buClr>
              <a:buSzPct val="100000"/>
              <a:buChar char="•"/>
            </a:pPr>
            <a:r>
              <a:rPr lang="en-GB"/>
              <a:t>To understand the importance of using ‘problem solving’ techniques when solving problems.</a:t>
            </a:r>
            <a:endParaRPr/>
          </a:p>
          <a:p>
            <a:pPr indent="-342900" lvl="0" marL="342900" rtl="0" algn="l">
              <a:spcBef>
                <a:spcPts val="448"/>
              </a:spcBef>
              <a:spcAft>
                <a:spcPts val="0"/>
              </a:spcAft>
              <a:buClr>
                <a:schemeClr val="dk1"/>
              </a:buClr>
              <a:buSzPct val="100000"/>
              <a:buChar char="•"/>
            </a:pPr>
            <a:r>
              <a:rPr lang="en-GB"/>
              <a:t>To understand the meaning of ‘Abstraction’, ‘Decomposition’, ‘Pattern Recognition’ and ‘Algorithmic Thinking’.</a:t>
            </a:r>
            <a:endParaRPr/>
          </a:p>
          <a:p>
            <a:pPr indent="0" lvl="0" marL="0" rtl="0" algn="l">
              <a:spcBef>
                <a:spcPts val="448"/>
              </a:spcBef>
              <a:spcAft>
                <a:spcPts val="0"/>
              </a:spcAft>
              <a:buClr>
                <a:schemeClr val="dk1"/>
              </a:buClr>
              <a:buSzPct val="100000"/>
              <a:buNone/>
            </a:pPr>
            <a:r>
              <a:rPr b="1" lang="en-GB"/>
              <a:t>Success Criteria</a:t>
            </a:r>
            <a:endParaRPr/>
          </a:p>
          <a:p>
            <a:pPr indent="-342900" lvl="0" marL="342900" rtl="0" algn="l">
              <a:spcBef>
                <a:spcPts val="448"/>
              </a:spcBef>
              <a:spcAft>
                <a:spcPts val="0"/>
              </a:spcAft>
              <a:buClr>
                <a:schemeClr val="dk1"/>
              </a:buClr>
              <a:buSzPct val="100000"/>
              <a:buChar char="•"/>
            </a:pPr>
            <a:r>
              <a:rPr lang="en-GB"/>
              <a:t>ALL: To be able to explain what ‘Abstraction’, ‘Decomposition’, ‘Pattern Recognition’ and ‘Algorithmic Thinking’ is.</a:t>
            </a:r>
            <a:endParaRPr/>
          </a:p>
          <a:p>
            <a:pPr indent="-342900" lvl="0" marL="342900" rtl="0" algn="l">
              <a:spcBef>
                <a:spcPts val="448"/>
              </a:spcBef>
              <a:spcAft>
                <a:spcPts val="0"/>
              </a:spcAft>
              <a:buClr>
                <a:schemeClr val="dk1"/>
              </a:buClr>
              <a:buSzPct val="100000"/>
              <a:buChar char="•"/>
            </a:pPr>
            <a:r>
              <a:rPr lang="en-GB"/>
              <a:t>MOST/SOME: To also be able to apply these techniques when solving a range of problems.</a:t>
            </a:r>
            <a:endParaRPr/>
          </a:p>
        </p:txBody>
      </p:sp>
      <p:graphicFrame>
        <p:nvGraphicFramePr>
          <p:cNvPr id="122" name="Google Shape;122;p4"/>
          <p:cNvGraphicFramePr/>
          <p:nvPr/>
        </p:nvGraphicFramePr>
        <p:xfrm>
          <a:off x="540816" y="4797152"/>
          <a:ext cx="3000000" cy="3000000"/>
        </p:xfrm>
        <a:graphic>
          <a:graphicData uri="http://schemas.openxmlformats.org/drawingml/2006/table">
            <a:tbl>
              <a:tblPr bandRow="1" firstRow="1">
                <a:noFill/>
                <a:tableStyleId>{09ACBB37-8842-423F-9AEF-C83996F3B3BD}</a:tableStyleId>
              </a:tblPr>
              <a:tblGrid>
                <a:gridCol w="1944225"/>
                <a:gridCol w="6491075"/>
              </a:tblGrid>
              <a:tr h="197075">
                <a:tc gridSpan="2">
                  <a:txBody>
                    <a:bodyPr/>
                    <a:lstStyle/>
                    <a:p>
                      <a:pPr indent="0" lvl="0" marL="0" marR="0" rtl="0" algn="l">
                        <a:lnSpc>
                          <a:spcPct val="100000"/>
                        </a:lnSpc>
                        <a:spcBef>
                          <a:spcPts val="0"/>
                        </a:spcBef>
                        <a:spcAft>
                          <a:spcPts val="0"/>
                        </a:spcAft>
                        <a:buClr>
                          <a:schemeClr val="dk1"/>
                        </a:buClr>
                        <a:buSzPts val="1600"/>
                        <a:buFont typeface="Century Gothic"/>
                        <a:buNone/>
                      </a:pPr>
                      <a:r>
                        <a:rPr lang="en-GB" sz="1600" u="none" cap="none" strike="noStrike"/>
                        <a:t>Literacy – Key Words</a:t>
                      </a:r>
                      <a:endParaRPr/>
                    </a:p>
                  </a:txBody>
                  <a:tcPr marT="45725" marB="45725" marR="91450" marL="91450"/>
                </a:tc>
                <a:tc hMerge="1"/>
              </a:tr>
              <a:tr h="223850">
                <a:tc>
                  <a:txBody>
                    <a:bodyPr/>
                    <a:lstStyle/>
                    <a:p>
                      <a:pPr indent="0" lvl="0" marL="0" marR="0" rtl="0" algn="l">
                        <a:spcBef>
                          <a:spcPts val="0"/>
                        </a:spcBef>
                        <a:spcAft>
                          <a:spcPts val="0"/>
                        </a:spcAft>
                        <a:buNone/>
                      </a:pPr>
                      <a:r>
                        <a:rPr b="0" i="0" lang="en-GB" sz="1400" u="none" cap="none" strike="noStrike"/>
                        <a:t>Abstraction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entury Gothic"/>
                        <a:buNone/>
                      </a:pPr>
                      <a:r>
                        <a:rPr b="0" i="0" lang="en-GB" sz="1400">
                          <a:solidFill>
                            <a:schemeClr val="dk1"/>
                          </a:solidFill>
                          <a:latin typeface="Century Gothic"/>
                          <a:ea typeface="Century Gothic"/>
                          <a:cs typeface="Century Gothic"/>
                          <a:sym typeface="Century Gothic"/>
                        </a:rPr>
                        <a:t>The removal of irrelevant detail in order to focus on the problem at hand.</a:t>
                      </a:r>
                      <a:endParaRPr/>
                    </a:p>
                  </a:txBody>
                  <a:tcPr marT="45725" marB="45725" marR="91450" marL="91450"/>
                </a:tc>
              </a:tr>
              <a:tr h="197075">
                <a:tc>
                  <a:txBody>
                    <a:bodyPr/>
                    <a:lstStyle/>
                    <a:p>
                      <a:pPr indent="0" lvl="0" marL="0" marR="0" rtl="0" algn="l">
                        <a:spcBef>
                          <a:spcPts val="0"/>
                        </a:spcBef>
                        <a:spcAft>
                          <a:spcPts val="0"/>
                        </a:spcAft>
                        <a:buNone/>
                      </a:pPr>
                      <a:r>
                        <a:rPr b="0" i="0" lang="en-GB" sz="1400"/>
                        <a:t>Decomposition</a:t>
                      </a:r>
                      <a:endParaRPr/>
                    </a:p>
                  </a:txBody>
                  <a:tcPr marT="45725" marB="45725" marR="91450" marL="91450"/>
                </a:tc>
                <a:tc>
                  <a:txBody>
                    <a:bodyPr/>
                    <a:lstStyle/>
                    <a:p>
                      <a:pPr indent="0" lvl="0" marL="0" marR="0" rtl="0" algn="l">
                        <a:spcBef>
                          <a:spcPts val="0"/>
                        </a:spcBef>
                        <a:spcAft>
                          <a:spcPts val="0"/>
                        </a:spcAft>
                        <a:buNone/>
                      </a:pPr>
                      <a:r>
                        <a:rPr b="0" i="0" lang="en-GB" sz="1400">
                          <a:solidFill>
                            <a:schemeClr val="dk1"/>
                          </a:solidFill>
                          <a:latin typeface="Century Gothic"/>
                          <a:ea typeface="Century Gothic"/>
                          <a:cs typeface="Century Gothic"/>
                          <a:sym typeface="Century Gothic"/>
                        </a:rPr>
                        <a:t>Breaking down problems into smaller sub-problems so that they are easier to solve.</a:t>
                      </a:r>
                      <a:endParaRPr b="0" i="0" sz="1400"/>
                    </a:p>
                  </a:txBody>
                  <a:tcPr marT="45725" marB="45725" marR="91450" marL="91450"/>
                </a:tc>
              </a:tr>
              <a:tr h="197075">
                <a:tc>
                  <a:txBody>
                    <a:bodyPr/>
                    <a:lstStyle/>
                    <a:p>
                      <a:pPr indent="0" lvl="0" marL="0" marR="0" rtl="0" algn="l">
                        <a:spcBef>
                          <a:spcPts val="0"/>
                        </a:spcBef>
                        <a:spcAft>
                          <a:spcPts val="0"/>
                        </a:spcAft>
                        <a:buNone/>
                      </a:pPr>
                      <a:r>
                        <a:rPr b="0" i="0" lang="en-GB" sz="1400"/>
                        <a:t>Algorithmic Thinking</a:t>
                      </a:r>
                      <a:endParaRPr/>
                    </a:p>
                  </a:txBody>
                  <a:tcPr marT="45725" marB="45725" marR="91450" marL="91450"/>
                </a:tc>
                <a:tc>
                  <a:txBody>
                    <a:bodyPr/>
                    <a:lstStyle/>
                    <a:p>
                      <a:pPr indent="0" lvl="0" marL="0" marR="0" rtl="0" algn="l">
                        <a:spcBef>
                          <a:spcPts val="0"/>
                        </a:spcBef>
                        <a:spcAft>
                          <a:spcPts val="0"/>
                        </a:spcAft>
                        <a:buNone/>
                      </a:pPr>
                      <a:r>
                        <a:rPr b="0" i="0" lang="en-GB" sz="1400">
                          <a:solidFill>
                            <a:schemeClr val="dk1"/>
                          </a:solidFill>
                          <a:latin typeface="Century Gothic"/>
                          <a:ea typeface="Century Gothic"/>
                          <a:cs typeface="Century Gothic"/>
                          <a:sym typeface="Century Gothic"/>
                        </a:rPr>
                        <a:t>Thinking about the logical steps required to solve a problem</a:t>
                      </a:r>
                      <a:endParaRPr b="0" i="0" sz="14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 calcmode="lin" valueType="num">
                                      <p:cBhvr additive="base">
                                        <p:cTn dur="500"/>
                                        <p:tgtEl>
                                          <p:spTgt spid="1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 calcmode="lin" valueType="num">
                                      <p:cBhvr additive="base">
                                        <p:cTn dur="500"/>
                                        <p:tgtEl>
                                          <p:spTgt spid="12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 calcmode="lin" valueType="num">
                                      <p:cBhvr additive="base">
                                        <p:cTn dur="500"/>
                                        <p:tgtEl>
                                          <p:spTgt spid="12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 calcmode="lin" valueType="num">
                                      <p:cBhvr additive="base">
                                        <p:cTn dur="500"/>
                                        <p:tgtEl>
                                          <p:spTgt spid="12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 calcmode="lin" valueType="num">
                                      <p:cBhvr additive="base">
                                        <p:cTn dur="500"/>
                                        <p:tgtEl>
                                          <p:spTgt spid="12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anim calcmode="lin" valueType="num">
                                      <p:cBhvr additive="base">
                                        <p:cTn dur="500"/>
                                        <p:tgtEl>
                                          <p:spTgt spid="12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idx="1" type="body"/>
          </p:nvPr>
        </p:nvSpPr>
        <p:spPr>
          <a:xfrm>
            <a:off x="467544" y="1308799"/>
            <a:ext cx="8496944" cy="5194837"/>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None/>
            </a:pPr>
            <a:r>
              <a:rPr b="1" lang="en-GB">
                <a:solidFill>
                  <a:schemeClr val="dk1"/>
                </a:solidFill>
                <a:latin typeface="Century Gothic"/>
                <a:ea typeface="Century Gothic"/>
                <a:cs typeface="Century Gothic"/>
                <a:sym typeface="Century Gothic"/>
              </a:rPr>
              <a:t>Introduction</a:t>
            </a:r>
            <a:endParaRPr/>
          </a:p>
          <a:p>
            <a:pPr indent="0" lvl="0" marL="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Computational thinking is an approach to problem solving</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Computational thinking is about taking a complex problem and being able to use several ‘computation thinking techniques’ (</a:t>
            </a:r>
            <a:r>
              <a:rPr b="1" i="1" lang="en-GB">
                <a:solidFill>
                  <a:schemeClr val="dk1"/>
                </a:solidFill>
                <a:latin typeface="Century Gothic"/>
                <a:ea typeface="Century Gothic"/>
                <a:cs typeface="Century Gothic"/>
                <a:sym typeface="Century Gothic"/>
              </a:rPr>
              <a:t>abstraction, decomposition, pattern recognition </a:t>
            </a:r>
            <a:r>
              <a:rPr i="1" lang="en-GB">
                <a:solidFill>
                  <a:schemeClr val="dk1"/>
                </a:solidFill>
                <a:latin typeface="Century Gothic"/>
                <a:ea typeface="Century Gothic"/>
                <a:cs typeface="Century Gothic"/>
                <a:sym typeface="Century Gothic"/>
              </a:rPr>
              <a:t>and</a:t>
            </a:r>
            <a:r>
              <a:rPr b="1" i="1" lang="en-GB">
                <a:solidFill>
                  <a:schemeClr val="dk1"/>
                </a:solidFill>
                <a:latin typeface="Century Gothic"/>
                <a:ea typeface="Century Gothic"/>
                <a:cs typeface="Century Gothic"/>
                <a:sym typeface="Century Gothic"/>
              </a:rPr>
              <a:t> algorithmic </a:t>
            </a:r>
            <a:r>
              <a:rPr i="1" lang="en-GB">
                <a:solidFill>
                  <a:schemeClr val="dk1"/>
                </a:solidFill>
                <a:latin typeface="Century Gothic"/>
                <a:ea typeface="Century Gothic"/>
                <a:cs typeface="Century Gothic"/>
                <a:sym typeface="Century Gothic"/>
              </a:rPr>
              <a:t>thinking</a:t>
            </a:r>
            <a:r>
              <a:rPr lang="en-GB">
                <a:solidFill>
                  <a:schemeClr val="dk1"/>
                </a:solidFill>
                <a:latin typeface="Century Gothic"/>
                <a:ea typeface="Century Gothic"/>
                <a:cs typeface="Century Gothic"/>
                <a:sym typeface="Century Gothic"/>
              </a:rPr>
              <a:t>) to:</a:t>
            </a:r>
            <a:endParaRPr/>
          </a:p>
          <a:p>
            <a:pPr indent="-457200" lvl="1" marL="914400" rtl="0" algn="l">
              <a:spcBef>
                <a:spcPts val="392"/>
              </a:spcBef>
              <a:spcAft>
                <a:spcPts val="0"/>
              </a:spcAft>
              <a:buClr>
                <a:schemeClr val="dk1"/>
              </a:buClr>
              <a:buSzPct val="100000"/>
              <a:buFont typeface="Century Gothic"/>
              <a:buAutoNum type="arabicPeriod"/>
            </a:pPr>
            <a:r>
              <a:rPr lang="en-GB">
                <a:solidFill>
                  <a:schemeClr val="dk1"/>
                </a:solidFill>
                <a:latin typeface="Century Gothic"/>
                <a:ea typeface="Century Gothic"/>
                <a:cs typeface="Century Gothic"/>
                <a:sym typeface="Century Gothic"/>
              </a:rPr>
              <a:t>Fully understand the problem</a:t>
            </a:r>
            <a:endParaRPr/>
          </a:p>
          <a:p>
            <a:pPr indent="-457200" lvl="1" marL="914400" rtl="0" algn="l">
              <a:spcBef>
                <a:spcPts val="392"/>
              </a:spcBef>
              <a:spcAft>
                <a:spcPts val="0"/>
              </a:spcAft>
              <a:buClr>
                <a:schemeClr val="dk1"/>
              </a:buClr>
              <a:buSzPct val="100000"/>
              <a:buFont typeface="Century Gothic"/>
              <a:buAutoNum type="arabicPeriod"/>
            </a:pPr>
            <a:r>
              <a:rPr lang="en-GB">
                <a:solidFill>
                  <a:schemeClr val="dk1"/>
                </a:solidFill>
                <a:latin typeface="Century Gothic"/>
                <a:ea typeface="Century Gothic"/>
                <a:cs typeface="Century Gothic"/>
                <a:sym typeface="Century Gothic"/>
              </a:rPr>
              <a:t>Create an effective solution.</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This problem solving approach is not only important for programmers when devising software solutions, it is also an approach used in </a:t>
            </a:r>
            <a:r>
              <a:rPr b="1" lang="en-GB">
                <a:solidFill>
                  <a:schemeClr val="dk1"/>
                </a:solidFill>
                <a:latin typeface="Century Gothic"/>
                <a:ea typeface="Century Gothic"/>
                <a:cs typeface="Century Gothic"/>
                <a:sym typeface="Century Gothic"/>
              </a:rPr>
              <a:t>all areas of science </a:t>
            </a:r>
            <a:r>
              <a:rPr lang="en-GB">
                <a:solidFill>
                  <a:schemeClr val="dk1"/>
                </a:solidFill>
                <a:latin typeface="Century Gothic"/>
                <a:ea typeface="Century Gothic"/>
                <a:cs typeface="Century Gothic"/>
                <a:sym typeface="Century Gothic"/>
              </a:rPr>
              <a:t>to effectively enable complex processes to be understood.</a:t>
            </a:r>
            <a:endParaRPr/>
          </a:p>
        </p:txBody>
      </p:sp>
      <p:sp>
        <p:nvSpPr>
          <p:cNvPr id="128" name="Google Shape;128;p5"/>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idx="1" type="body"/>
          </p:nvPr>
        </p:nvSpPr>
        <p:spPr>
          <a:xfrm>
            <a:off x="467544" y="1308798"/>
            <a:ext cx="8496944" cy="51948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rPr b="1" lang="en-GB" sz="2000">
                <a:solidFill>
                  <a:schemeClr val="dk1"/>
                </a:solidFill>
                <a:latin typeface="Century Gothic"/>
                <a:ea typeface="Century Gothic"/>
                <a:cs typeface="Century Gothic"/>
                <a:sym typeface="Century Gothic"/>
              </a:rPr>
              <a:t>Problem Recognition</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Step one of problem solving is being able to define the problem.</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A problem is well-defined if there is;</a:t>
            </a:r>
            <a:endParaRPr/>
          </a:p>
          <a:p>
            <a:pPr indent="-342900" lvl="0" marL="342900" rtl="0" algn="l">
              <a:spcBef>
                <a:spcPts val="320"/>
              </a:spcBef>
              <a:spcAft>
                <a:spcPts val="0"/>
              </a:spcAft>
              <a:buClr>
                <a:schemeClr val="dk1"/>
              </a:buClr>
              <a:buSzPts val="1600"/>
              <a:buChar char="•"/>
            </a:pPr>
            <a:r>
              <a:rPr lang="en-GB" sz="1600">
                <a:solidFill>
                  <a:schemeClr val="dk1"/>
                </a:solidFill>
                <a:latin typeface="Century Gothic"/>
                <a:ea typeface="Century Gothic"/>
                <a:cs typeface="Century Gothic"/>
                <a:sym typeface="Century Gothic"/>
              </a:rPr>
              <a:t>A Clear Initial Situation</a:t>
            </a:r>
            <a:endParaRPr/>
          </a:p>
          <a:p>
            <a:pPr indent="-342900" lvl="0" marL="342900" rtl="0" algn="l">
              <a:spcBef>
                <a:spcPts val="320"/>
              </a:spcBef>
              <a:spcAft>
                <a:spcPts val="0"/>
              </a:spcAft>
              <a:buClr>
                <a:schemeClr val="dk1"/>
              </a:buClr>
              <a:buSzPts val="1600"/>
              <a:buChar char="•"/>
            </a:pPr>
            <a:r>
              <a:rPr lang="en-GB" sz="1600">
                <a:solidFill>
                  <a:schemeClr val="dk1"/>
                </a:solidFill>
                <a:latin typeface="Century Gothic"/>
                <a:ea typeface="Century Gothic"/>
                <a:cs typeface="Century Gothic"/>
                <a:sym typeface="Century Gothic"/>
              </a:rPr>
              <a:t>A Clear Goal</a:t>
            </a:r>
            <a:endParaRPr/>
          </a:p>
          <a:p>
            <a:pPr indent="-342900" lvl="0" marL="342900" rtl="0" algn="l">
              <a:spcBef>
                <a:spcPts val="320"/>
              </a:spcBef>
              <a:spcAft>
                <a:spcPts val="0"/>
              </a:spcAft>
              <a:buClr>
                <a:schemeClr val="dk1"/>
              </a:buClr>
              <a:buSzPts val="1600"/>
              <a:buChar char="•"/>
            </a:pPr>
            <a:r>
              <a:rPr lang="en-GB" sz="1600">
                <a:solidFill>
                  <a:schemeClr val="dk1"/>
                </a:solidFill>
                <a:latin typeface="Century Gothic"/>
                <a:ea typeface="Century Gothic"/>
                <a:cs typeface="Century Gothic"/>
                <a:sym typeface="Century Gothic"/>
              </a:rPr>
              <a:t>Clearly Defined Resources</a:t>
            </a:r>
            <a:endParaRPr/>
          </a:p>
          <a:p>
            <a:pPr indent="-342900" lvl="0" marL="342900" rtl="0" algn="l">
              <a:spcBef>
                <a:spcPts val="320"/>
              </a:spcBef>
              <a:spcAft>
                <a:spcPts val="0"/>
              </a:spcAft>
              <a:buClr>
                <a:schemeClr val="dk1"/>
              </a:buClr>
              <a:buSzPts val="1600"/>
              <a:buChar char="•"/>
            </a:pPr>
            <a:r>
              <a:rPr lang="en-GB" sz="1600">
                <a:solidFill>
                  <a:schemeClr val="dk1"/>
                </a:solidFill>
                <a:latin typeface="Century Gothic"/>
                <a:ea typeface="Century Gothic"/>
                <a:cs typeface="Century Gothic"/>
                <a:sym typeface="Century Gothic"/>
              </a:rPr>
              <a:t>Clear Defined Constraints</a:t>
            </a:r>
            <a:endParaRPr/>
          </a:p>
          <a:p>
            <a:pPr indent="0" lvl="0" marL="0" rtl="0" algn="l">
              <a:spcBef>
                <a:spcPts val="350"/>
              </a:spcBef>
              <a:spcAft>
                <a:spcPts val="0"/>
              </a:spcAft>
              <a:buClr>
                <a:schemeClr val="dk1"/>
              </a:buClr>
              <a:buSzPts val="1750"/>
              <a:buNone/>
            </a:pPr>
            <a:r>
              <a:t/>
            </a:r>
            <a:endParaRPr b="1" sz="1750"/>
          </a:p>
          <a:p>
            <a:pPr indent="0" lvl="0" marL="0" rtl="0" algn="l">
              <a:spcBef>
                <a:spcPts val="210"/>
              </a:spcBef>
              <a:spcAft>
                <a:spcPts val="0"/>
              </a:spcAft>
              <a:buClr>
                <a:schemeClr val="dk1"/>
              </a:buClr>
              <a:buSzPts val="1050"/>
              <a:buNone/>
            </a:pPr>
            <a:r>
              <a:t/>
            </a:r>
            <a:endParaRPr sz="1050"/>
          </a:p>
        </p:txBody>
      </p:sp>
      <p:sp>
        <p:nvSpPr>
          <p:cNvPr id="134" name="Google Shape;134;p6"/>
          <p:cNvSpPr/>
          <p:nvPr/>
        </p:nvSpPr>
        <p:spPr>
          <a:xfrm>
            <a:off x="3894221" y="4855005"/>
            <a:ext cx="3096344" cy="432654"/>
          </a:xfrm>
          <a:prstGeom prst="rightArrow">
            <a:avLst>
              <a:gd fmla="val 50000" name="adj1"/>
              <a:gd fmla="val 50000" name="adj2"/>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35" name="Google Shape;135;p6"/>
          <p:cNvSpPr txBox="1"/>
          <p:nvPr/>
        </p:nvSpPr>
        <p:spPr>
          <a:xfrm>
            <a:off x="2585866" y="4471168"/>
            <a:ext cx="147592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GB" sz="1800">
                <a:solidFill>
                  <a:srgbClr val="17365D"/>
                </a:solidFill>
                <a:latin typeface="Century Gothic"/>
                <a:ea typeface="Century Gothic"/>
                <a:cs typeface="Century Gothic"/>
                <a:sym typeface="Century Gothic"/>
              </a:rPr>
              <a:t>Clearly defined Initial Situation</a:t>
            </a:r>
            <a:endParaRPr/>
          </a:p>
        </p:txBody>
      </p:sp>
      <p:sp>
        <p:nvSpPr>
          <p:cNvPr id="136" name="Google Shape;136;p6"/>
          <p:cNvSpPr txBox="1"/>
          <p:nvPr/>
        </p:nvSpPr>
        <p:spPr>
          <a:xfrm>
            <a:off x="6828032" y="4611324"/>
            <a:ext cx="140156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GB" sz="1800">
                <a:solidFill>
                  <a:srgbClr val="7030A0"/>
                </a:solidFill>
                <a:latin typeface="Century Gothic"/>
                <a:ea typeface="Century Gothic"/>
                <a:cs typeface="Century Gothic"/>
                <a:sym typeface="Century Gothic"/>
              </a:rPr>
              <a:t>Clearly defined Goal</a:t>
            </a:r>
            <a:endParaRPr/>
          </a:p>
        </p:txBody>
      </p:sp>
      <p:sp>
        <p:nvSpPr>
          <p:cNvPr id="137" name="Google Shape;137;p6"/>
          <p:cNvSpPr txBox="1"/>
          <p:nvPr/>
        </p:nvSpPr>
        <p:spPr>
          <a:xfrm rot="-598566">
            <a:off x="3937196" y="4433897"/>
            <a:ext cx="198090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GB" sz="1800">
                <a:solidFill>
                  <a:srgbClr val="00B050"/>
                </a:solidFill>
                <a:latin typeface="Century Gothic"/>
                <a:ea typeface="Century Gothic"/>
                <a:cs typeface="Century Gothic"/>
                <a:sym typeface="Century Gothic"/>
              </a:rPr>
              <a:t>Clearly defined resources</a:t>
            </a:r>
            <a:endParaRPr/>
          </a:p>
        </p:txBody>
      </p:sp>
      <p:sp>
        <p:nvSpPr>
          <p:cNvPr id="138" name="Google Shape;138;p6"/>
          <p:cNvSpPr txBox="1"/>
          <p:nvPr/>
        </p:nvSpPr>
        <p:spPr>
          <a:xfrm rot="-734889">
            <a:off x="4871919" y="5087992"/>
            <a:ext cx="201690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GB" sz="1800">
                <a:solidFill>
                  <a:srgbClr val="FF0000"/>
                </a:solidFill>
                <a:latin typeface="Century Gothic"/>
                <a:ea typeface="Century Gothic"/>
                <a:cs typeface="Century Gothic"/>
                <a:sym typeface="Century Gothic"/>
              </a:rPr>
              <a:t>Clearly defined constraints</a:t>
            </a:r>
            <a:endParaRPr/>
          </a:p>
        </p:txBody>
      </p:sp>
      <p:sp>
        <p:nvSpPr>
          <p:cNvPr id="139" name="Google Shape;139;p6"/>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500"/>
                                        <p:tgtEl>
                                          <p:spTgt spid="1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idx="1" type="body"/>
          </p:nvPr>
        </p:nvSpPr>
        <p:spPr>
          <a:xfrm>
            <a:off x="467544" y="1308798"/>
            <a:ext cx="8496944" cy="3344338"/>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rPr b="1" lang="en-GB" sz="2000">
                <a:solidFill>
                  <a:schemeClr val="dk1"/>
                </a:solidFill>
                <a:latin typeface="Century Gothic"/>
                <a:ea typeface="Century Gothic"/>
                <a:cs typeface="Century Gothic"/>
                <a:sym typeface="Century Gothic"/>
              </a:rPr>
              <a:t>Example of a Clearly Defined Problem</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t/>
            </a:r>
            <a:endParaRPr sz="1600"/>
          </a:p>
          <a:p>
            <a:pPr indent="0" lvl="0" marL="0" rtl="0" algn="l">
              <a:spcBef>
                <a:spcPts val="350"/>
              </a:spcBef>
              <a:spcAft>
                <a:spcPts val="0"/>
              </a:spcAft>
              <a:buClr>
                <a:schemeClr val="dk1"/>
              </a:buClr>
              <a:buSzPts val="1750"/>
              <a:buNone/>
            </a:pPr>
            <a:r>
              <a:t/>
            </a:r>
            <a:endParaRPr b="1" sz="1750"/>
          </a:p>
          <a:p>
            <a:pPr indent="0" lvl="0" marL="0" rtl="0" algn="l">
              <a:spcBef>
                <a:spcPts val="210"/>
              </a:spcBef>
              <a:spcAft>
                <a:spcPts val="0"/>
              </a:spcAft>
              <a:buClr>
                <a:schemeClr val="dk1"/>
              </a:buClr>
              <a:buSzPts val="1050"/>
              <a:buNone/>
            </a:pPr>
            <a:r>
              <a:t/>
            </a:r>
            <a:endParaRPr sz="1050"/>
          </a:p>
        </p:txBody>
      </p:sp>
      <p:pic>
        <p:nvPicPr>
          <p:cNvPr id="145" name="Google Shape;145;p7"/>
          <p:cNvPicPr preferRelativeResize="0"/>
          <p:nvPr/>
        </p:nvPicPr>
        <p:blipFill rotWithShape="1">
          <a:blip r:embed="rId3">
            <a:alphaModFix/>
          </a:blip>
          <a:srcRect b="0" l="0" r="0" t="0"/>
          <a:stretch/>
        </p:blipFill>
        <p:spPr>
          <a:xfrm>
            <a:off x="436722" y="4876800"/>
            <a:ext cx="2434010" cy="902382"/>
          </a:xfrm>
          <a:prstGeom prst="rect">
            <a:avLst/>
          </a:prstGeom>
          <a:noFill/>
          <a:ln>
            <a:noFill/>
          </a:ln>
        </p:spPr>
      </p:pic>
      <p:pic>
        <p:nvPicPr>
          <p:cNvPr id="146" name="Google Shape;146;p7"/>
          <p:cNvPicPr preferRelativeResize="0"/>
          <p:nvPr/>
        </p:nvPicPr>
        <p:blipFill rotWithShape="1">
          <a:blip r:embed="rId4">
            <a:alphaModFix/>
          </a:blip>
          <a:srcRect b="0" l="0" r="0" t="0"/>
          <a:stretch/>
        </p:blipFill>
        <p:spPr>
          <a:xfrm>
            <a:off x="500698" y="5717290"/>
            <a:ext cx="2270470" cy="703699"/>
          </a:xfrm>
          <a:prstGeom prst="rect">
            <a:avLst/>
          </a:prstGeom>
          <a:noFill/>
          <a:ln>
            <a:noFill/>
          </a:ln>
        </p:spPr>
      </p:pic>
      <p:sp>
        <p:nvSpPr>
          <p:cNvPr id="147" name="Google Shape;147;p7"/>
          <p:cNvSpPr/>
          <p:nvPr/>
        </p:nvSpPr>
        <p:spPr>
          <a:xfrm>
            <a:off x="1951431" y="1769858"/>
            <a:ext cx="5819631" cy="2800767"/>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GB" sz="1100" u="none" cap="none" strike="noStrike">
                <a:solidFill>
                  <a:srgbClr val="000000"/>
                </a:solidFill>
                <a:latin typeface="Century Gothic"/>
                <a:ea typeface="Century Gothic"/>
                <a:cs typeface="Century Gothic"/>
                <a:sym typeface="Century Gothic"/>
              </a:rPr>
              <a:t>The Camels</a:t>
            </a:r>
            <a:endParaRPr/>
          </a:p>
          <a:p>
            <a:pPr indent="0" lvl="0" marL="0" marR="0" rtl="0" algn="l">
              <a:lnSpc>
                <a:spcPct val="100000"/>
              </a:lnSpc>
              <a:spcBef>
                <a:spcPts val="0"/>
              </a:spcBef>
              <a:spcAft>
                <a:spcPts val="0"/>
              </a:spcAft>
              <a:buNone/>
            </a:pPr>
            <a:r>
              <a:t/>
            </a:r>
            <a:endParaRPr b="0" i="0" sz="11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Century Gothic"/>
              <a:buNone/>
            </a:pPr>
            <a:r>
              <a:rPr b="0" i="0" lang="en-GB" sz="1100" u="none" cap="none" strike="noStrike">
                <a:solidFill>
                  <a:srgbClr val="000000"/>
                </a:solidFill>
                <a:latin typeface="Century Gothic"/>
                <a:ea typeface="Century Gothic"/>
                <a:cs typeface="Century Gothic"/>
                <a:sym typeface="Century Gothic"/>
              </a:rPr>
              <a:t>Four camels traveling on a very narrow ledge encounter four camels coming the other way.</a:t>
            </a:r>
            <a:endParaRPr/>
          </a:p>
          <a:p>
            <a:pPr indent="0" lvl="0" marL="0" marR="0" rtl="0" algn="l">
              <a:lnSpc>
                <a:spcPct val="100000"/>
              </a:lnSpc>
              <a:spcBef>
                <a:spcPts val="0"/>
              </a:spcBef>
              <a:spcAft>
                <a:spcPts val="0"/>
              </a:spcAft>
              <a:buClr>
                <a:schemeClr val="dk1"/>
              </a:buClr>
              <a:buSzPts val="1100"/>
              <a:buFont typeface="Century Gothic"/>
              <a:buNone/>
            </a:pPr>
            <a:r>
              <a:t/>
            </a:r>
            <a:endParaRPr b="0" i="0" sz="11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Century Gothic"/>
              <a:buNone/>
            </a:pPr>
            <a:r>
              <a:rPr b="0" i="0" lang="en-GB" sz="1100" u="none" cap="none" strike="noStrike">
                <a:solidFill>
                  <a:srgbClr val="000000"/>
                </a:solidFill>
                <a:latin typeface="Century Gothic"/>
                <a:ea typeface="Century Gothic"/>
                <a:cs typeface="Century Gothic"/>
                <a:sym typeface="Century Gothic"/>
              </a:rPr>
              <a:t>As everyone knows, camels never go backwards, especially when on a precarious ledge. </a:t>
            </a:r>
            <a:endParaRPr/>
          </a:p>
          <a:p>
            <a:pPr indent="0" lvl="0" marL="0" marR="0" rtl="0" algn="l">
              <a:lnSpc>
                <a:spcPct val="100000"/>
              </a:lnSpc>
              <a:spcBef>
                <a:spcPts val="0"/>
              </a:spcBef>
              <a:spcAft>
                <a:spcPts val="0"/>
              </a:spcAft>
              <a:buClr>
                <a:schemeClr val="dk1"/>
              </a:buClr>
              <a:buSzPts val="1100"/>
              <a:buFont typeface="Century Gothic"/>
              <a:buNone/>
            </a:pPr>
            <a:r>
              <a:t/>
            </a:r>
            <a:endParaRPr sz="1100">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Century Gothic"/>
              <a:buNone/>
            </a:pPr>
            <a:r>
              <a:rPr b="0" i="0" lang="en-GB" sz="1100" u="none" cap="none" strike="noStrike">
                <a:solidFill>
                  <a:srgbClr val="000000"/>
                </a:solidFill>
                <a:latin typeface="Century Gothic"/>
                <a:ea typeface="Century Gothic"/>
                <a:cs typeface="Century Gothic"/>
                <a:sym typeface="Century Gothic"/>
              </a:rPr>
              <a:t>The camels will climb over each other, but only if there is a camel sized space on the other side.</a:t>
            </a:r>
            <a:endParaRPr/>
          </a:p>
          <a:p>
            <a:pPr indent="0" lvl="0" marL="0" marR="0" rtl="0" algn="l">
              <a:lnSpc>
                <a:spcPct val="100000"/>
              </a:lnSpc>
              <a:spcBef>
                <a:spcPts val="0"/>
              </a:spcBef>
              <a:spcAft>
                <a:spcPts val="0"/>
              </a:spcAft>
              <a:buClr>
                <a:schemeClr val="dk1"/>
              </a:buClr>
              <a:buSzPts val="1100"/>
              <a:buFont typeface="Century Gothic"/>
              <a:buNone/>
            </a:pPr>
            <a:r>
              <a:t/>
            </a:r>
            <a:endParaRPr b="0" i="0" sz="11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Century Gothic"/>
              <a:buNone/>
            </a:pPr>
            <a:r>
              <a:rPr b="0" i="0" lang="en-GB" sz="1100" u="none" cap="none" strike="noStrike">
                <a:solidFill>
                  <a:srgbClr val="000000"/>
                </a:solidFill>
                <a:latin typeface="Century Gothic"/>
                <a:ea typeface="Century Gothic"/>
                <a:cs typeface="Century Gothic"/>
                <a:sym typeface="Century Gothic"/>
              </a:rPr>
              <a:t>The camels didn't see each other until there was only exactly one camel's width between the two groups.</a:t>
            </a:r>
            <a:endParaRPr/>
          </a:p>
          <a:p>
            <a:pPr indent="0" lvl="0" marL="0" marR="0" rtl="0" algn="l">
              <a:lnSpc>
                <a:spcPct val="100000"/>
              </a:lnSpc>
              <a:spcBef>
                <a:spcPts val="0"/>
              </a:spcBef>
              <a:spcAft>
                <a:spcPts val="0"/>
              </a:spcAft>
              <a:buClr>
                <a:schemeClr val="dk1"/>
              </a:buClr>
              <a:buSzPts val="1100"/>
              <a:buFont typeface="Century Gothic"/>
              <a:buNone/>
            </a:pPr>
            <a:r>
              <a:t/>
            </a:r>
            <a:endParaRPr b="0" i="0" sz="11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Century Gothic"/>
              <a:buNone/>
            </a:pPr>
            <a:r>
              <a:rPr b="0" i="0" lang="en-GB" sz="1100" u="none" cap="none" strike="noStrike">
                <a:solidFill>
                  <a:srgbClr val="000000"/>
                </a:solidFill>
                <a:latin typeface="Century Gothic"/>
                <a:ea typeface="Century Gothic"/>
                <a:cs typeface="Century Gothic"/>
                <a:sym typeface="Century Gothic"/>
              </a:rPr>
              <a:t>How can all camels pass, allowing both groups to go on their way, without any camel reversing?</a:t>
            </a:r>
            <a:endParaRPr b="0" i="0" sz="1100" u="none" cap="none" strike="noStrike">
              <a:solidFill>
                <a:schemeClr val="dk1"/>
              </a:solidFill>
              <a:latin typeface="Century Gothic"/>
              <a:ea typeface="Century Gothic"/>
              <a:cs typeface="Century Gothic"/>
              <a:sym typeface="Century Gothic"/>
            </a:endParaRPr>
          </a:p>
        </p:txBody>
      </p:sp>
      <p:grpSp>
        <p:nvGrpSpPr>
          <p:cNvPr id="148" name="Google Shape;148;p7"/>
          <p:cNvGrpSpPr/>
          <p:nvPr/>
        </p:nvGrpSpPr>
        <p:grpSpPr>
          <a:xfrm>
            <a:off x="3816896" y="1828800"/>
            <a:ext cx="2736304" cy="216024"/>
            <a:chOff x="4716016" y="1662783"/>
            <a:chExt cx="3948138" cy="326057"/>
          </a:xfrm>
        </p:grpSpPr>
        <p:pic>
          <p:nvPicPr>
            <p:cNvPr descr="http://www.folj.com/puzzles/media/camels.jpg" id="149" name="Google Shape;149;p7"/>
            <p:cNvPicPr preferRelativeResize="0"/>
            <p:nvPr/>
          </p:nvPicPr>
          <p:blipFill rotWithShape="1">
            <a:blip r:embed="rId5">
              <a:alphaModFix/>
            </a:blip>
            <a:srcRect b="0" l="0" r="0" t="0"/>
            <a:stretch/>
          </p:blipFill>
          <p:spPr>
            <a:xfrm>
              <a:off x="5089178" y="1662783"/>
              <a:ext cx="419100" cy="314325"/>
            </a:xfrm>
            <a:prstGeom prst="rect">
              <a:avLst/>
            </a:prstGeom>
            <a:noFill/>
            <a:ln>
              <a:noFill/>
            </a:ln>
          </p:spPr>
        </p:pic>
        <p:pic>
          <p:nvPicPr>
            <p:cNvPr descr="http://www.folj.com/puzzles/media/camels.jpg" id="150" name="Google Shape;150;p7"/>
            <p:cNvPicPr preferRelativeResize="0"/>
            <p:nvPr/>
          </p:nvPicPr>
          <p:blipFill rotWithShape="1">
            <a:blip r:embed="rId5">
              <a:alphaModFix/>
            </a:blip>
            <a:srcRect b="0" l="0" r="0" t="0"/>
            <a:stretch/>
          </p:blipFill>
          <p:spPr>
            <a:xfrm>
              <a:off x="5540028" y="1662783"/>
              <a:ext cx="419100" cy="314325"/>
            </a:xfrm>
            <a:prstGeom prst="rect">
              <a:avLst/>
            </a:prstGeom>
            <a:noFill/>
            <a:ln>
              <a:noFill/>
            </a:ln>
          </p:spPr>
        </p:pic>
        <p:pic>
          <p:nvPicPr>
            <p:cNvPr descr="http://www.folj.com/puzzles/media/camels.jpg" id="151" name="Google Shape;151;p7"/>
            <p:cNvPicPr preferRelativeResize="0"/>
            <p:nvPr/>
          </p:nvPicPr>
          <p:blipFill rotWithShape="1">
            <a:blip r:embed="rId5">
              <a:alphaModFix/>
            </a:blip>
            <a:srcRect b="0" l="0" r="0" t="0"/>
            <a:stretch/>
          </p:blipFill>
          <p:spPr>
            <a:xfrm>
              <a:off x="5987703" y="1662783"/>
              <a:ext cx="419100" cy="314325"/>
            </a:xfrm>
            <a:prstGeom prst="rect">
              <a:avLst/>
            </a:prstGeom>
            <a:noFill/>
            <a:ln>
              <a:noFill/>
            </a:ln>
          </p:spPr>
        </p:pic>
        <p:pic>
          <p:nvPicPr>
            <p:cNvPr descr="http://www.folj.com/puzzles/media/camels2.jpg" id="152" name="Google Shape;152;p7"/>
            <p:cNvPicPr preferRelativeResize="0"/>
            <p:nvPr/>
          </p:nvPicPr>
          <p:blipFill rotWithShape="1">
            <a:blip r:embed="rId6">
              <a:alphaModFix/>
            </a:blip>
            <a:srcRect b="0" l="0" r="0" t="0"/>
            <a:stretch/>
          </p:blipFill>
          <p:spPr>
            <a:xfrm>
              <a:off x="6902029" y="1662783"/>
              <a:ext cx="419100" cy="314325"/>
            </a:xfrm>
            <a:prstGeom prst="rect">
              <a:avLst/>
            </a:prstGeom>
            <a:noFill/>
            <a:ln>
              <a:noFill/>
            </a:ln>
          </p:spPr>
        </p:pic>
        <p:pic>
          <p:nvPicPr>
            <p:cNvPr descr="http://www.folj.com/puzzles/media/camels2.jpg" id="153" name="Google Shape;153;p7"/>
            <p:cNvPicPr preferRelativeResize="0"/>
            <p:nvPr/>
          </p:nvPicPr>
          <p:blipFill rotWithShape="1">
            <a:blip r:embed="rId6">
              <a:alphaModFix/>
            </a:blip>
            <a:srcRect b="0" l="0" r="0" t="0"/>
            <a:stretch/>
          </p:blipFill>
          <p:spPr>
            <a:xfrm>
              <a:off x="7349704" y="1662783"/>
              <a:ext cx="419100" cy="314325"/>
            </a:xfrm>
            <a:prstGeom prst="rect">
              <a:avLst/>
            </a:prstGeom>
            <a:noFill/>
            <a:ln>
              <a:noFill/>
            </a:ln>
          </p:spPr>
        </p:pic>
        <p:pic>
          <p:nvPicPr>
            <p:cNvPr descr="http://www.folj.com/puzzles/media/camels2.jpg" id="154" name="Google Shape;154;p7"/>
            <p:cNvPicPr preferRelativeResize="0"/>
            <p:nvPr/>
          </p:nvPicPr>
          <p:blipFill rotWithShape="1">
            <a:blip r:embed="rId6">
              <a:alphaModFix/>
            </a:blip>
            <a:srcRect b="0" l="0" r="0" t="0"/>
            <a:stretch/>
          </p:blipFill>
          <p:spPr>
            <a:xfrm>
              <a:off x="7797379" y="1662783"/>
              <a:ext cx="419100" cy="314325"/>
            </a:xfrm>
            <a:prstGeom prst="rect">
              <a:avLst/>
            </a:prstGeom>
            <a:noFill/>
            <a:ln>
              <a:noFill/>
            </a:ln>
          </p:spPr>
        </p:pic>
        <p:pic>
          <p:nvPicPr>
            <p:cNvPr descr="http://www.folj.com/puzzles/media/camels2.jpg" id="155" name="Google Shape;155;p7"/>
            <p:cNvPicPr preferRelativeResize="0"/>
            <p:nvPr/>
          </p:nvPicPr>
          <p:blipFill rotWithShape="1">
            <a:blip r:embed="rId6">
              <a:alphaModFix/>
            </a:blip>
            <a:srcRect b="0" l="0" r="0" t="0"/>
            <a:stretch/>
          </p:blipFill>
          <p:spPr>
            <a:xfrm>
              <a:off x="8245054" y="1662783"/>
              <a:ext cx="419100" cy="314325"/>
            </a:xfrm>
            <a:prstGeom prst="rect">
              <a:avLst/>
            </a:prstGeom>
            <a:noFill/>
            <a:ln>
              <a:noFill/>
            </a:ln>
          </p:spPr>
        </p:pic>
        <p:pic>
          <p:nvPicPr>
            <p:cNvPr descr="http://www.folj.com/puzzles/media/camels.jpg" id="156" name="Google Shape;156;p7"/>
            <p:cNvPicPr preferRelativeResize="0"/>
            <p:nvPr/>
          </p:nvPicPr>
          <p:blipFill rotWithShape="1">
            <a:blip r:embed="rId5">
              <a:alphaModFix/>
            </a:blip>
            <a:srcRect b="0" l="0" r="0" t="0"/>
            <a:stretch/>
          </p:blipFill>
          <p:spPr>
            <a:xfrm>
              <a:off x="4716016" y="1674515"/>
              <a:ext cx="419100" cy="314325"/>
            </a:xfrm>
            <a:prstGeom prst="rect">
              <a:avLst/>
            </a:prstGeom>
            <a:noFill/>
            <a:ln>
              <a:noFill/>
            </a:ln>
          </p:spPr>
        </p:pic>
      </p:grpSp>
      <p:graphicFrame>
        <p:nvGraphicFramePr>
          <p:cNvPr id="157" name="Google Shape;157;p7"/>
          <p:cNvGraphicFramePr/>
          <p:nvPr/>
        </p:nvGraphicFramePr>
        <p:xfrm>
          <a:off x="3346693" y="4744061"/>
          <a:ext cx="3000000" cy="3000000"/>
        </p:xfrm>
        <a:graphic>
          <a:graphicData uri="http://schemas.openxmlformats.org/drawingml/2006/table">
            <a:tbl>
              <a:tblPr bandRow="1" firstRow="1">
                <a:noFill/>
                <a:tableStyleId>{C57F9B6F-DDD0-4501-975B-34DC31508166}</a:tableStyleId>
              </a:tblPr>
              <a:tblGrid>
                <a:gridCol w="1244925"/>
                <a:gridCol w="4408275"/>
              </a:tblGrid>
              <a:tr h="370850">
                <a:tc>
                  <a:txBody>
                    <a:bodyPr/>
                    <a:lstStyle/>
                    <a:p>
                      <a:pPr indent="0" lvl="0" marL="0" marR="0" rtl="0" algn="l">
                        <a:spcBef>
                          <a:spcPts val="0"/>
                        </a:spcBef>
                        <a:spcAft>
                          <a:spcPts val="0"/>
                        </a:spcAft>
                        <a:buNone/>
                      </a:pPr>
                      <a:r>
                        <a:rPr b="0" lang="en-GB" sz="1200">
                          <a:solidFill>
                            <a:schemeClr val="dk1"/>
                          </a:solidFill>
                        </a:rPr>
                        <a:t>Initial Situation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rPr>
                        <a:t>Camels stuck on</a:t>
                      </a:r>
                      <a:r>
                        <a:rPr b="0" lang="en-GB" sz="1200">
                          <a:solidFill>
                            <a:schemeClr val="dk1"/>
                          </a:solidFill>
                        </a:rPr>
                        <a:t> a narrow ledge</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GB" sz="1200">
                          <a:solidFill>
                            <a:schemeClr val="dk1"/>
                          </a:solidFill>
                        </a:rPr>
                        <a:t>Goal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rPr>
                        <a:t>Camels need to get past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GB" sz="1200">
                          <a:solidFill>
                            <a:schemeClr val="dk1"/>
                          </a:solidFill>
                        </a:rPr>
                        <a:t>Resources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rPr>
                        <a:t>Can climb</a:t>
                      </a:r>
                      <a:r>
                        <a:rPr b="0" lang="en-GB" sz="1200">
                          <a:solidFill>
                            <a:schemeClr val="dk1"/>
                          </a:solidFill>
                        </a:rPr>
                        <a:t> over each other but only if there is a camel sized space the other side.</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GB" sz="1200">
                          <a:solidFill>
                            <a:schemeClr val="dk1"/>
                          </a:solidFill>
                        </a:rPr>
                        <a:t>Constraints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rPr>
                        <a:t>They cannot go backwards. There is not enough space to pass side by side.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58" name="Google Shape;158;p7"/>
          <p:cNvPicPr preferRelativeResize="0"/>
          <p:nvPr/>
        </p:nvPicPr>
        <p:blipFill rotWithShape="1">
          <a:blip r:embed="rId7">
            <a:alphaModFix/>
          </a:blip>
          <a:srcRect b="36930" l="27634" r="29457" t="15224"/>
          <a:stretch/>
        </p:blipFill>
        <p:spPr>
          <a:xfrm>
            <a:off x="2941079" y="4581128"/>
            <a:ext cx="432048" cy="540060"/>
          </a:xfrm>
          <a:prstGeom prst="rect">
            <a:avLst/>
          </a:prstGeom>
          <a:noFill/>
          <a:ln>
            <a:noFill/>
          </a:ln>
        </p:spPr>
      </p:pic>
      <p:pic>
        <p:nvPicPr>
          <p:cNvPr id="159" name="Google Shape;159;p7"/>
          <p:cNvPicPr preferRelativeResize="0"/>
          <p:nvPr/>
        </p:nvPicPr>
        <p:blipFill rotWithShape="1">
          <a:blip r:embed="rId7">
            <a:alphaModFix/>
          </a:blip>
          <a:srcRect b="36930" l="27634" r="29457" t="15224"/>
          <a:stretch/>
        </p:blipFill>
        <p:spPr>
          <a:xfrm>
            <a:off x="2941079" y="5003730"/>
            <a:ext cx="432048" cy="540060"/>
          </a:xfrm>
          <a:prstGeom prst="rect">
            <a:avLst/>
          </a:prstGeom>
          <a:noFill/>
          <a:ln>
            <a:noFill/>
          </a:ln>
        </p:spPr>
      </p:pic>
      <p:pic>
        <p:nvPicPr>
          <p:cNvPr id="160" name="Google Shape;160;p7"/>
          <p:cNvPicPr preferRelativeResize="0"/>
          <p:nvPr/>
        </p:nvPicPr>
        <p:blipFill rotWithShape="1">
          <a:blip r:embed="rId7">
            <a:alphaModFix/>
          </a:blip>
          <a:srcRect b="36930" l="27634" r="29457" t="15224"/>
          <a:stretch/>
        </p:blipFill>
        <p:spPr>
          <a:xfrm>
            <a:off x="2941393" y="5445224"/>
            <a:ext cx="432048" cy="540060"/>
          </a:xfrm>
          <a:prstGeom prst="rect">
            <a:avLst/>
          </a:prstGeom>
          <a:noFill/>
          <a:ln>
            <a:noFill/>
          </a:ln>
        </p:spPr>
      </p:pic>
      <p:pic>
        <p:nvPicPr>
          <p:cNvPr id="161" name="Google Shape;161;p7"/>
          <p:cNvPicPr preferRelativeResize="0"/>
          <p:nvPr/>
        </p:nvPicPr>
        <p:blipFill rotWithShape="1">
          <a:blip r:embed="rId7">
            <a:alphaModFix/>
          </a:blip>
          <a:srcRect b="36930" l="27634" r="29457" t="15224"/>
          <a:stretch/>
        </p:blipFill>
        <p:spPr>
          <a:xfrm>
            <a:off x="2941079" y="5840736"/>
            <a:ext cx="432048" cy="540060"/>
          </a:xfrm>
          <a:prstGeom prst="rect">
            <a:avLst/>
          </a:prstGeom>
          <a:noFill/>
          <a:ln>
            <a:noFill/>
          </a:ln>
        </p:spPr>
      </p:pic>
      <p:sp>
        <p:nvSpPr>
          <p:cNvPr id="162" name="Google Shape;162;p7"/>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
                                        </p:tgtEl>
                                        <p:attrNameLst>
                                          <p:attrName>style.visibility</p:attrName>
                                        </p:attrNameLst>
                                      </p:cBhvr>
                                      <p:to>
                                        <p:strVal val="visible"/>
                                      </p:to>
                                    </p:set>
                                    <p:anim calcmode="lin" valueType="num">
                                      <p:cBhvr additive="base">
                                        <p:cTn dur="500"/>
                                        <p:tgtEl>
                                          <p:spTgt spid="1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500"/>
                                        <p:tgtEl>
                                          <p:spTgt spid="1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500"/>
                                        <p:tgtEl>
                                          <p:spTgt spid="1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500"/>
                                        <p:tgtEl>
                                          <p:spTgt spid="1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500"/>
                                        <p:tgtEl>
                                          <p:spTgt spid="16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idx="1" type="body"/>
          </p:nvPr>
        </p:nvSpPr>
        <p:spPr>
          <a:xfrm>
            <a:off x="467544" y="1308799"/>
            <a:ext cx="8496944" cy="5109091"/>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b="1" i="1" lang="en-GB">
                <a:solidFill>
                  <a:schemeClr val="dk1"/>
                </a:solidFill>
                <a:latin typeface="Century Gothic"/>
                <a:ea typeface="Century Gothic"/>
                <a:cs typeface="Century Gothic"/>
                <a:sym typeface="Century Gothic"/>
              </a:rPr>
              <a:t>Can all problems be solved by a computer?</a:t>
            </a:r>
            <a:endParaRPr/>
          </a:p>
          <a:p>
            <a:pPr indent="-254825" lvl="0" marL="342900" rtl="0" algn="l">
              <a:spcBef>
                <a:spcPts val="277"/>
              </a:spcBef>
              <a:spcAft>
                <a:spcPts val="0"/>
              </a:spcAft>
              <a:buClr>
                <a:schemeClr val="dk1"/>
              </a:buClr>
              <a:buSzPct val="100000"/>
              <a:buNone/>
            </a:pPr>
            <a:r>
              <a:t/>
            </a:r>
            <a:endParaRPr sz="1500"/>
          </a:p>
          <a:p>
            <a:pPr indent="-342900" lvl="0" marL="342900" rtl="0" algn="l">
              <a:spcBef>
                <a:spcPts val="592"/>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If a problem requires a software solution it must first be decided if it is solvable computationally.</a:t>
            </a:r>
            <a:endParaRPr/>
          </a:p>
          <a:p>
            <a:pPr indent="-342900" lvl="0" marL="342900" rtl="0" algn="l">
              <a:spcBef>
                <a:spcPts val="592"/>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In other words, can the problem be solved by means of an algorithm?</a:t>
            </a:r>
            <a:endParaRPr/>
          </a:p>
          <a:p>
            <a:pPr indent="-342900" lvl="0" marL="342900" rtl="0" algn="l">
              <a:spcBef>
                <a:spcPts val="592"/>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If so, then computational thinking techniques can be used.</a:t>
            </a:r>
            <a:endParaRPr/>
          </a:p>
          <a:p>
            <a:pPr indent="-342900" lvl="0" marL="342900" rtl="0" algn="l">
              <a:spcBef>
                <a:spcPts val="592"/>
              </a:spcBef>
              <a:spcAft>
                <a:spcPts val="0"/>
              </a:spcAft>
              <a:buClr>
                <a:schemeClr val="dk1"/>
              </a:buClr>
              <a:buSzPct val="100000"/>
              <a:buChar char="•"/>
            </a:pPr>
            <a:r>
              <a:rPr lang="en-GB">
                <a:solidFill>
                  <a:schemeClr val="dk1"/>
                </a:solidFill>
                <a:latin typeface="Century Gothic"/>
                <a:ea typeface="Century Gothic"/>
                <a:cs typeface="Century Gothic"/>
                <a:sym typeface="Century Gothic"/>
              </a:rPr>
              <a:t>It must be noted that not all problems can be solved computationally.</a:t>
            </a:r>
            <a:endParaRPr/>
          </a:p>
          <a:p>
            <a:pPr indent="0" lvl="0" marL="0" rtl="0" algn="l">
              <a:spcBef>
                <a:spcPts val="592"/>
              </a:spcBef>
              <a:spcAft>
                <a:spcPts val="0"/>
              </a:spcAft>
              <a:buClr>
                <a:schemeClr val="dk1"/>
              </a:buClr>
              <a:buSzPct val="100000"/>
              <a:buNone/>
            </a:pPr>
            <a:r>
              <a:t/>
            </a:r>
            <a:endParaRPr/>
          </a:p>
        </p:txBody>
      </p:sp>
      <p:sp>
        <p:nvSpPr>
          <p:cNvPr id="168" name="Google Shape;168;p8"/>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ph idx="1" type="body"/>
          </p:nvPr>
        </p:nvSpPr>
        <p:spPr>
          <a:xfrm>
            <a:off x="467544" y="1308798"/>
            <a:ext cx="8496944" cy="51948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rPr b="1" lang="en-GB" sz="2000">
                <a:solidFill>
                  <a:schemeClr val="dk1"/>
                </a:solidFill>
                <a:latin typeface="Century Gothic"/>
                <a:ea typeface="Century Gothic"/>
                <a:cs typeface="Century Gothic"/>
                <a:sym typeface="Century Gothic"/>
              </a:rPr>
              <a:t>Solvability </a:t>
            </a:r>
            <a:endParaRPr/>
          </a:p>
          <a:p>
            <a:pPr indent="0" lvl="0" marL="0" rtl="0" algn="l">
              <a:spcBef>
                <a:spcPts val="220"/>
              </a:spcBef>
              <a:spcAft>
                <a:spcPts val="0"/>
              </a:spcAft>
              <a:buClr>
                <a:schemeClr val="dk1"/>
              </a:buClr>
              <a:buSzPts val="1100"/>
              <a:buNone/>
            </a:pPr>
            <a:r>
              <a:t/>
            </a:r>
            <a:endParaRPr b="1" sz="1100"/>
          </a:p>
          <a:p>
            <a:pPr indent="0" lvl="0" marL="0" rtl="0" algn="l">
              <a:spcBef>
                <a:spcPts val="320"/>
              </a:spcBef>
              <a:spcAft>
                <a:spcPts val="0"/>
              </a:spcAft>
              <a:buClr>
                <a:schemeClr val="dk1"/>
              </a:buClr>
              <a:buSzPts val="1600"/>
              <a:buNone/>
            </a:pPr>
            <a:r>
              <a:rPr b="1" lang="en-GB" sz="1600">
                <a:solidFill>
                  <a:schemeClr val="dk1"/>
                </a:solidFill>
                <a:latin typeface="Century Gothic"/>
                <a:ea typeface="Century Gothic"/>
                <a:cs typeface="Century Gothic"/>
                <a:sym typeface="Century Gothic"/>
              </a:rPr>
              <a:t>Are all problems solvable?</a:t>
            </a:r>
            <a:endParaRPr/>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Not if it requires an infinite amount of time to solve</a:t>
            </a:r>
            <a:endParaRPr/>
          </a:p>
          <a:p>
            <a:pPr indent="0" lvl="0" marL="0" rtl="0" algn="l">
              <a:spcBef>
                <a:spcPts val="240"/>
              </a:spcBef>
              <a:spcAft>
                <a:spcPts val="0"/>
              </a:spcAft>
              <a:buClr>
                <a:schemeClr val="dk1"/>
              </a:buClr>
              <a:buSzPts val="1200"/>
              <a:buNone/>
            </a:pPr>
            <a:r>
              <a:rPr i="1" lang="en-GB" sz="1200">
                <a:solidFill>
                  <a:schemeClr val="dk1"/>
                </a:solidFill>
                <a:latin typeface="Century Gothic"/>
                <a:ea typeface="Century Gothic"/>
                <a:cs typeface="Century Gothic"/>
                <a:sym typeface="Century Gothic"/>
              </a:rPr>
              <a:t>e.g. finding every prime number</a:t>
            </a:r>
            <a:endParaRPr/>
          </a:p>
          <a:p>
            <a:pPr indent="0" lvl="0" marL="0" rtl="0" algn="l">
              <a:spcBef>
                <a:spcPts val="320"/>
              </a:spcBef>
              <a:spcAft>
                <a:spcPts val="0"/>
              </a:spcAft>
              <a:buClr>
                <a:schemeClr val="dk1"/>
              </a:buClr>
              <a:buSzPts val="1600"/>
              <a:buNone/>
            </a:pPr>
            <a:r>
              <a:t/>
            </a:r>
            <a:endParaRPr b="1" sz="1600"/>
          </a:p>
          <a:p>
            <a:pPr indent="0" lvl="0" marL="0" rtl="0" algn="l">
              <a:spcBef>
                <a:spcPts val="320"/>
              </a:spcBef>
              <a:spcAft>
                <a:spcPts val="0"/>
              </a:spcAft>
              <a:buClr>
                <a:schemeClr val="dk1"/>
              </a:buClr>
              <a:buSzPts val="1600"/>
              <a:buNone/>
            </a:pPr>
            <a:r>
              <a:rPr b="1" lang="en-GB" sz="1600">
                <a:solidFill>
                  <a:schemeClr val="dk1"/>
                </a:solidFill>
                <a:latin typeface="Century Gothic"/>
                <a:ea typeface="Century Gothic"/>
                <a:cs typeface="Century Gothic"/>
                <a:sym typeface="Century Gothic"/>
              </a:rPr>
              <a:t>Are all solvable problems computable?</a:t>
            </a:r>
            <a:endParaRPr/>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Not really if they take an extremely long yet ‘less than infinite’ time to solve. These are known as </a:t>
            </a:r>
            <a:r>
              <a:rPr b="1" lang="en-GB" sz="1600">
                <a:solidFill>
                  <a:schemeClr val="dk1"/>
                </a:solidFill>
                <a:latin typeface="Century Gothic"/>
                <a:ea typeface="Century Gothic"/>
                <a:cs typeface="Century Gothic"/>
                <a:sym typeface="Century Gothic"/>
              </a:rPr>
              <a:t>intractable</a:t>
            </a:r>
            <a:r>
              <a:rPr lang="en-GB" sz="1600">
                <a:solidFill>
                  <a:schemeClr val="dk1"/>
                </a:solidFill>
                <a:latin typeface="Century Gothic"/>
                <a:ea typeface="Century Gothic"/>
                <a:cs typeface="Century Gothic"/>
                <a:sym typeface="Century Gothic"/>
              </a:rPr>
              <a:t> problems. Here, it is sometimes best to take a </a:t>
            </a:r>
            <a:r>
              <a:rPr b="1" lang="en-GB" sz="1600">
                <a:solidFill>
                  <a:schemeClr val="dk1"/>
                </a:solidFill>
                <a:latin typeface="Century Gothic"/>
                <a:ea typeface="Century Gothic"/>
                <a:cs typeface="Century Gothic"/>
                <a:sym typeface="Century Gothic"/>
              </a:rPr>
              <a:t>heuristic</a:t>
            </a:r>
            <a:r>
              <a:rPr lang="en-GB" sz="1600">
                <a:solidFill>
                  <a:schemeClr val="dk1"/>
                </a:solidFill>
                <a:latin typeface="Century Gothic"/>
                <a:ea typeface="Century Gothic"/>
                <a:cs typeface="Century Gothic"/>
                <a:sym typeface="Century Gothic"/>
              </a:rPr>
              <a:t> approach – where we use our experience to produce a ‘good enough’ solution.</a:t>
            </a:r>
            <a:endParaRPr/>
          </a:p>
          <a:p>
            <a:pPr indent="0" lvl="0" marL="0" rtl="0" algn="l">
              <a:spcBef>
                <a:spcPts val="240"/>
              </a:spcBef>
              <a:spcAft>
                <a:spcPts val="0"/>
              </a:spcAft>
              <a:buClr>
                <a:schemeClr val="dk1"/>
              </a:buClr>
              <a:buSzPts val="1200"/>
              <a:buNone/>
            </a:pPr>
            <a:r>
              <a:rPr i="1" lang="en-GB" sz="1200">
                <a:solidFill>
                  <a:schemeClr val="dk1"/>
                </a:solidFill>
                <a:latin typeface="Century Gothic"/>
                <a:ea typeface="Century Gothic"/>
                <a:cs typeface="Century Gothic"/>
                <a:sym typeface="Century Gothic"/>
              </a:rPr>
              <a:t>e.g. finding the shortest distance between an increasing number of locations</a:t>
            </a:r>
            <a:endParaRPr/>
          </a:p>
          <a:p>
            <a:pPr indent="0" lvl="0" marL="0" rtl="0" algn="l">
              <a:spcBef>
                <a:spcPts val="320"/>
              </a:spcBef>
              <a:spcAft>
                <a:spcPts val="0"/>
              </a:spcAft>
              <a:buClr>
                <a:schemeClr val="dk1"/>
              </a:buClr>
              <a:buSzPts val="1600"/>
              <a:buNone/>
            </a:pPr>
            <a:r>
              <a:t/>
            </a:r>
            <a:endParaRPr b="1" sz="1600"/>
          </a:p>
          <a:p>
            <a:pPr indent="0" lvl="0" marL="0" rtl="0" algn="l">
              <a:spcBef>
                <a:spcPts val="320"/>
              </a:spcBef>
              <a:spcAft>
                <a:spcPts val="0"/>
              </a:spcAft>
              <a:buClr>
                <a:schemeClr val="dk1"/>
              </a:buClr>
              <a:buSzPts val="1600"/>
              <a:buNone/>
            </a:pPr>
            <a:r>
              <a:rPr b="1" lang="en-GB" sz="1600">
                <a:solidFill>
                  <a:schemeClr val="dk1"/>
                </a:solidFill>
                <a:latin typeface="Century Gothic"/>
                <a:ea typeface="Century Gothic"/>
                <a:cs typeface="Century Gothic"/>
                <a:sym typeface="Century Gothic"/>
              </a:rPr>
              <a:t>So what problems are computable?</a:t>
            </a:r>
            <a:endParaRPr/>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Any problem that can be solved in reasonable time (polynomial or less). These are known as </a:t>
            </a:r>
            <a:r>
              <a:rPr b="1" lang="en-GB" sz="1600">
                <a:solidFill>
                  <a:schemeClr val="dk1"/>
                </a:solidFill>
                <a:latin typeface="Century Gothic"/>
                <a:ea typeface="Century Gothic"/>
                <a:cs typeface="Century Gothic"/>
                <a:sym typeface="Century Gothic"/>
              </a:rPr>
              <a:t>tractable</a:t>
            </a:r>
            <a:r>
              <a:rPr lang="en-GB" sz="1600">
                <a:solidFill>
                  <a:schemeClr val="dk1"/>
                </a:solidFill>
                <a:latin typeface="Century Gothic"/>
                <a:ea typeface="Century Gothic"/>
                <a:cs typeface="Century Gothic"/>
                <a:sym typeface="Century Gothic"/>
              </a:rPr>
              <a:t> problems.</a:t>
            </a:r>
            <a:endParaRPr/>
          </a:p>
          <a:p>
            <a:pPr indent="0" lvl="0" marL="0" rtl="0" algn="l">
              <a:spcBef>
                <a:spcPts val="200"/>
              </a:spcBef>
              <a:spcAft>
                <a:spcPts val="0"/>
              </a:spcAft>
              <a:buClr>
                <a:schemeClr val="dk1"/>
              </a:buClr>
              <a:buSzPts val="1000"/>
              <a:buNone/>
            </a:pPr>
            <a:r>
              <a:t/>
            </a:r>
            <a:endParaRPr sz="1000"/>
          </a:p>
        </p:txBody>
      </p:sp>
      <p:sp>
        <p:nvSpPr>
          <p:cNvPr id="174" name="Google Shape;174;p9"/>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p10"/>
          <p:cNvGrpSpPr/>
          <p:nvPr/>
        </p:nvGrpSpPr>
        <p:grpSpPr>
          <a:xfrm>
            <a:off x="2880269" y="2581172"/>
            <a:ext cx="6211670" cy="3743428"/>
            <a:chOff x="3089701" y="1441029"/>
            <a:chExt cx="7228001" cy="4867303"/>
          </a:xfrm>
        </p:grpSpPr>
        <p:sp>
          <p:nvSpPr>
            <p:cNvPr id="180" name="Google Shape;180;p10"/>
            <p:cNvSpPr/>
            <p:nvPr/>
          </p:nvSpPr>
          <p:spPr>
            <a:xfrm>
              <a:off x="3448822" y="1441029"/>
              <a:ext cx="5867400" cy="667682"/>
            </a:xfrm>
            <a:prstGeom prst="roundRect">
              <a:avLst>
                <a:gd fmla="val 16667" name="adj"/>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Century Gothic"/>
                  <a:ea typeface="Century Gothic"/>
                  <a:cs typeface="Century Gothic"/>
                  <a:sym typeface="Century Gothic"/>
                </a:rPr>
                <a:t>Computational Thinking</a:t>
              </a:r>
              <a:endParaRPr/>
            </a:p>
          </p:txBody>
        </p:sp>
        <p:sp>
          <p:nvSpPr>
            <p:cNvPr id="181" name="Google Shape;181;p10"/>
            <p:cNvSpPr/>
            <p:nvPr/>
          </p:nvSpPr>
          <p:spPr>
            <a:xfrm>
              <a:off x="5968223" y="2108711"/>
              <a:ext cx="828598" cy="281242"/>
            </a:xfrm>
            <a:prstGeom prst="downArrow">
              <a:avLst>
                <a:gd fmla="val 50000" name="adj1"/>
                <a:gd fmla="val 50000" name="adj2"/>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2" name="Google Shape;182;p10"/>
            <p:cNvSpPr/>
            <p:nvPr/>
          </p:nvSpPr>
          <p:spPr>
            <a:xfrm>
              <a:off x="3102194" y="2614231"/>
              <a:ext cx="3009900" cy="1409700"/>
            </a:xfrm>
            <a:prstGeom prst="roundRect">
              <a:avLst>
                <a:gd fmla="val 16667" name="adj"/>
              </a:avLst>
            </a:prstGeom>
            <a:solidFill>
              <a:srgbClr val="D99593"/>
            </a:solidFill>
            <a:ln cap="flat" cmpd="sng" w="25400">
              <a:solidFill>
                <a:srgbClr val="D995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entury Gothic"/>
                  <a:ea typeface="Century Gothic"/>
                  <a:cs typeface="Century Gothic"/>
                  <a:sym typeface="Century Gothic"/>
                </a:rPr>
                <a:t>Abstraction</a:t>
              </a:r>
              <a:endParaRPr/>
            </a:p>
          </p:txBody>
        </p:sp>
        <p:sp>
          <p:nvSpPr>
            <p:cNvPr id="183" name="Google Shape;183;p10"/>
            <p:cNvSpPr/>
            <p:nvPr/>
          </p:nvSpPr>
          <p:spPr>
            <a:xfrm>
              <a:off x="6640412" y="2614231"/>
              <a:ext cx="3009900" cy="14097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entury Gothic"/>
                  <a:ea typeface="Century Gothic"/>
                  <a:cs typeface="Century Gothic"/>
                  <a:sym typeface="Century Gothic"/>
                </a:rPr>
                <a:t>Decomposition</a:t>
              </a:r>
              <a:endParaRPr/>
            </a:p>
          </p:txBody>
        </p:sp>
        <p:sp>
          <p:nvSpPr>
            <p:cNvPr id="184" name="Google Shape;184;p10"/>
            <p:cNvSpPr/>
            <p:nvPr/>
          </p:nvSpPr>
          <p:spPr>
            <a:xfrm>
              <a:off x="6651002" y="4513518"/>
              <a:ext cx="3009900" cy="1409700"/>
            </a:xfrm>
            <a:prstGeom prst="roundRect">
              <a:avLst>
                <a:gd fmla="val 16667" name="adj"/>
              </a:avLst>
            </a:prstGeom>
            <a:solidFill>
              <a:srgbClr val="7030A0"/>
            </a:solid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entury Gothic"/>
                  <a:ea typeface="Century Gothic"/>
                  <a:cs typeface="Century Gothic"/>
                  <a:sym typeface="Century Gothic"/>
                </a:rPr>
                <a:t>Algorithms</a:t>
              </a:r>
              <a:endParaRPr/>
            </a:p>
          </p:txBody>
        </p:sp>
        <p:sp>
          <p:nvSpPr>
            <p:cNvPr id="185" name="Google Shape;185;p10"/>
            <p:cNvSpPr/>
            <p:nvPr/>
          </p:nvSpPr>
          <p:spPr>
            <a:xfrm>
              <a:off x="3089701" y="4513518"/>
              <a:ext cx="3009900" cy="1409700"/>
            </a:xfrm>
            <a:prstGeom prst="roundRect">
              <a:avLst>
                <a:gd fmla="val 16667" name="adj"/>
              </a:avLst>
            </a:prstGeom>
            <a:solidFill>
              <a:srgbClr val="DA5656"/>
            </a:solidFill>
            <a:ln cap="flat" cmpd="sng" w="25400">
              <a:solidFill>
                <a:srgbClr val="DA56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entury Gothic"/>
                  <a:ea typeface="Century Gothic"/>
                  <a:cs typeface="Century Gothic"/>
                  <a:sym typeface="Century Gothic"/>
                </a:rPr>
                <a:t>Pattern Recognition</a:t>
              </a:r>
              <a:endParaRPr/>
            </a:p>
          </p:txBody>
        </p:sp>
        <p:grpSp>
          <p:nvGrpSpPr>
            <p:cNvPr id="186" name="Google Shape;186;p10"/>
            <p:cNvGrpSpPr/>
            <p:nvPr/>
          </p:nvGrpSpPr>
          <p:grpSpPr>
            <a:xfrm>
              <a:off x="5647110" y="3175506"/>
              <a:ext cx="490654" cy="1100417"/>
              <a:chOff x="602166" y="1304693"/>
              <a:chExt cx="490654" cy="1100417"/>
            </a:xfrm>
          </p:grpSpPr>
          <p:sp>
            <p:nvSpPr>
              <p:cNvPr id="187" name="Google Shape;187;p10"/>
              <p:cNvSpPr/>
              <p:nvPr/>
            </p:nvSpPr>
            <p:spPr>
              <a:xfrm>
                <a:off x="602166" y="1304693"/>
                <a:ext cx="490654" cy="460607"/>
              </a:xfrm>
              <a:prstGeom prst="cube">
                <a:avLst>
                  <a:gd fmla="val 25000" name="adj"/>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8" name="Google Shape;188;p10"/>
              <p:cNvSpPr/>
              <p:nvPr/>
            </p:nvSpPr>
            <p:spPr>
              <a:xfrm>
                <a:off x="646771" y="2033549"/>
                <a:ext cx="401444" cy="371561"/>
              </a:xfrm>
              <a:prstGeom prst="rect">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9" name="Google Shape;189;p10"/>
              <p:cNvSpPr/>
              <p:nvPr/>
            </p:nvSpPr>
            <p:spPr>
              <a:xfrm>
                <a:off x="755340" y="1819033"/>
                <a:ext cx="184305" cy="152400"/>
              </a:xfrm>
              <a:prstGeom prst="downArrow">
                <a:avLst>
                  <a:gd fmla="val 50000" name="adj1"/>
                  <a:gd fmla="val 50000" name="adj2"/>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190" name="Google Shape;190;p10"/>
            <p:cNvGrpSpPr/>
            <p:nvPr/>
          </p:nvGrpSpPr>
          <p:grpSpPr>
            <a:xfrm>
              <a:off x="8410618" y="3137722"/>
              <a:ext cx="1907084" cy="752131"/>
              <a:chOff x="783" y="929527"/>
              <a:chExt cx="1907084" cy="752131"/>
            </a:xfrm>
          </p:grpSpPr>
          <p:sp>
            <p:nvSpPr>
              <p:cNvPr id="191" name="Google Shape;191;p10"/>
              <p:cNvSpPr/>
              <p:nvPr/>
            </p:nvSpPr>
            <p:spPr>
              <a:xfrm>
                <a:off x="1432420" y="1449659"/>
                <a:ext cx="192132" cy="91440"/>
              </a:xfrm>
              <a:custGeom>
                <a:rect b="b" l="l" r="r" t="t"/>
                <a:pathLst>
                  <a:path extrusionOk="0" h="120000" w="120000">
                    <a:moveTo>
                      <a:pt x="0" y="60000"/>
                    </a:moveTo>
                    <a:lnTo>
                      <a:pt x="0" y="89512"/>
                    </a:lnTo>
                    <a:lnTo>
                      <a:pt x="120000" y="89512"/>
                    </a:lnTo>
                    <a:lnTo>
                      <a:pt x="120000" y="118559"/>
                    </a:lnTo>
                  </a:path>
                </a:pathLst>
              </a:custGeom>
              <a:noFill/>
              <a:ln cap="flat" cmpd="sng" w="25400">
                <a:solidFill>
                  <a:schemeClr val="accent3"/>
                </a:solidFill>
                <a:prstDash val="solid"/>
                <a:round/>
                <a:headEnd len="sm" w="sm" type="none"/>
                <a:tailEnd len="sm" w="sm" type="none"/>
              </a:ln>
            </p:spPr>
          </p:sp>
          <p:sp>
            <p:nvSpPr>
              <p:cNvPr id="192" name="Google Shape;192;p10"/>
              <p:cNvSpPr/>
              <p:nvPr/>
            </p:nvSpPr>
            <p:spPr>
              <a:xfrm>
                <a:off x="1234993" y="1449659"/>
                <a:ext cx="197426" cy="91440"/>
              </a:xfrm>
              <a:custGeom>
                <a:rect b="b" l="l" r="r" t="t"/>
                <a:pathLst>
                  <a:path extrusionOk="0" h="120000" w="120000">
                    <a:moveTo>
                      <a:pt x="120000" y="60000"/>
                    </a:moveTo>
                    <a:lnTo>
                      <a:pt x="120000" y="92777"/>
                    </a:lnTo>
                    <a:lnTo>
                      <a:pt x="0" y="92777"/>
                    </a:lnTo>
                    <a:lnTo>
                      <a:pt x="0" y="121824"/>
                    </a:lnTo>
                  </a:path>
                </a:pathLst>
              </a:custGeom>
              <a:noFill/>
              <a:ln cap="flat" cmpd="sng" w="25400">
                <a:solidFill>
                  <a:schemeClr val="accent3"/>
                </a:solidFill>
                <a:prstDash val="solid"/>
                <a:round/>
                <a:headEnd len="sm" w="sm" type="none"/>
                <a:tailEnd len="sm" w="sm" type="none"/>
              </a:ln>
            </p:spPr>
          </p:sp>
          <p:sp>
            <p:nvSpPr>
              <p:cNvPr id="193" name="Google Shape;193;p10"/>
              <p:cNvSpPr/>
              <p:nvPr/>
            </p:nvSpPr>
            <p:spPr>
              <a:xfrm>
                <a:off x="800672" y="1263379"/>
                <a:ext cx="631747" cy="91440"/>
              </a:xfrm>
              <a:custGeom>
                <a:rect b="b" l="l" r="r" t="t"/>
                <a:pathLst>
                  <a:path extrusionOk="0" h="120000" w="120000">
                    <a:moveTo>
                      <a:pt x="0" y="60000"/>
                    </a:moveTo>
                    <a:lnTo>
                      <a:pt x="0" y="89512"/>
                    </a:lnTo>
                    <a:lnTo>
                      <a:pt x="120000" y="89512"/>
                    </a:lnTo>
                    <a:lnTo>
                      <a:pt x="120000" y="118559"/>
                    </a:lnTo>
                  </a:path>
                </a:pathLst>
              </a:custGeom>
              <a:noFill/>
              <a:ln cap="flat" cmpd="sng" w="25400">
                <a:solidFill>
                  <a:srgbClr val="BF504D"/>
                </a:solidFill>
                <a:prstDash val="solid"/>
                <a:round/>
                <a:headEnd len="sm" w="sm" type="none"/>
                <a:tailEnd len="sm" w="sm" type="none"/>
              </a:ln>
            </p:spPr>
          </p:sp>
          <p:sp>
            <p:nvSpPr>
              <p:cNvPr id="194" name="Google Shape;194;p10"/>
              <p:cNvSpPr/>
              <p:nvPr/>
            </p:nvSpPr>
            <p:spPr>
              <a:xfrm>
                <a:off x="655950" y="1449659"/>
                <a:ext cx="194779" cy="91440"/>
              </a:xfrm>
              <a:custGeom>
                <a:rect b="b" l="l" r="r" t="t"/>
                <a:pathLst>
                  <a:path extrusionOk="0" h="120000" w="120000">
                    <a:moveTo>
                      <a:pt x="0" y="60000"/>
                    </a:moveTo>
                    <a:lnTo>
                      <a:pt x="0" y="89512"/>
                    </a:lnTo>
                    <a:lnTo>
                      <a:pt x="120000" y="89512"/>
                    </a:lnTo>
                    <a:lnTo>
                      <a:pt x="120000" y="118559"/>
                    </a:lnTo>
                  </a:path>
                </a:pathLst>
              </a:custGeom>
              <a:noFill/>
              <a:ln cap="flat" cmpd="sng" w="25400">
                <a:solidFill>
                  <a:schemeClr val="accent3"/>
                </a:solidFill>
                <a:prstDash val="solid"/>
                <a:round/>
                <a:headEnd len="sm" w="sm" type="none"/>
                <a:tailEnd len="sm" w="sm" type="none"/>
              </a:ln>
            </p:spPr>
          </p:sp>
          <p:sp>
            <p:nvSpPr>
              <p:cNvPr id="195" name="Google Shape;195;p10"/>
              <p:cNvSpPr/>
              <p:nvPr/>
            </p:nvSpPr>
            <p:spPr>
              <a:xfrm>
                <a:off x="461170" y="1449659"/>
                <a:ext cx="194779" cy="91440"/>
              </a:xfrm>
              <a:custGeom>
                <a:rect b="b" l="l" r="r" t="t"/>
                <a:pathLst>
                  <a:path extrusionOk="0" h="120000" w="120000">
                    <a:moveTo>
                      <a:pt x="120000" y="60000"/>
                    </a:moveTo>
                    <a:lnTo>
                      <a:pt x="120000" y="89512"/>
                    </a:lnTo>
                    <a:lnTo>
                      <a:pt x="0" y="89512"/>
                    </a:lnTo>
                    <a:lnTo>
                      <a:pt x="0" y="118559"/>
                    </a:lnTo>
                  </a:path>
                </a:pathLst>
              </a:custGeom>
              <a:noFill/>
              <a:ln cap="flat" cmpd="sng" w="25400">
                <a:solidFill>
                  <a:schemeClr val="accent3"/>
                </a:solidFill>
                <a:prstDash val="solid"/>
                <a:round/>
                <a:headEnd len="sm" w="sm" type="none"/>
                <a:tailEnd len="sm" w="sm" type="none"/>
              </a:ln>
            </p:spPr>
          </p:sp>
          <p:sp>
            <p:nvSpPr>
              <p:cNvPr id="196" name="Google Shape;196;p10"/>
              <p:cNvSpPr/>
              <p:nvPr/>
            </p:nvSpPr>
            <p:spPr>
              <a:xfrm>
                <a:off x="655950" y="1263379"/>
                <a:ext cx="144722" cy="91440"/>
              </a:xfrm>
              <a:custGeom>
                <a:rect b="b" l="l" r="r" t="t"/>
                <a:pathLst>
                  <a:path extrusionOk="0" h="120000" w="120000">
                    <a:moveTo>
                      <a:pt x="120000" y="60000"/>
                    </a:moveTo>
                    <a:lnTo>
                      <a:pt x="120000" y="89512"/>
                    </a:lnTo>
                    <a:lnTo>
                      <a:pt x="0" y="89512"/>
                    </a:lnTo>
                    <a:lnTo>
                      <a:pt x="0" y="118559"/>
                    </a:lnTo>
                  </a:path>
                </a:pathLst>
              </a:custGeom>
              <a:noFill/>
              <a:ln cap="flat" cmpd="sng" w="25400">
                <a:solidFill>
                  <a:srgbClr val="BF504D"/>
                </a:solidFill>
                <a:prstDash val="solid"/>
                <a:round/>
                <a:headEnd len="sm" w="sm" type="none"/>
                <a:tailEnd len="sm" w="sm" type="none"/>
              </a:ln>
            </p:spPr>
          </p:sp>
          <p:sp>
            <p:nvSpPr>
              <p:cNvPr id="197" name="Google Shape;197;p10"/>
              <p:cNvSpPr/>
              <p:nvPr/>
            </p:nvSpPr>
            <p:spPr>
              <a:xfrm>
                <a:off x="25892" y="1449659"/>
                <a:ext cx="91440" cy="91440"/>
              </a:xfrm>
              <a:custGeom>
                <a:rect b="b" l="l" r="r" t="t"/>
                <a:pathLst>
                  <a:path extrusionOk="0" h="120000" w="120000">
                    <a:moveTo>
                      <a:pt x="60000" y="60000"/>
                    </a:moveTo>
                    <a:lnTo>
                      <a:pt x="60000" y="118559"/>
                    </a:lnTo>
                  </a:path>
                </a:pathLst>
              </a:custGeom>
              <a:noFill/>
              <a:ln cap="flat" cmpd="sng" w="25400">
                <a:solidFill>
                  <a:schemeClr val="accent3"/>
                </a:solidFill>
                <a:prstDash val="solid"/>
                <a:round/>
                <a:headEnd len="sm" w="sm" type="none"/>
                <a:tailEnd len="sm" w="sm" type="none"/>
              </a:ln>
            </p:spPr>
          </p:sp>
          <p:sp>
            <p:nvSpPr>
              <p:cNvPr id="198" name="Google Shape;198;p10"/>
              <p:cNvSpPr/>
              <p:nvPr/>
            </p:nvSpPr>
            <p:spPr>
              <a:xfrm>
                <a:off x="71612" y="1263379"/>
                <a:ext cx="729060" cy="91440"/>
              </a:xfrm>
              <a:custGeom>
                <a:rect b="b" l="l" r="r" t="t"/>
                <a:pathLst>
                  <a:path extrusionOk="0" h="120000" w="120000">
                    <a:moveTo>
                      <a:pt x="120000" y="60000"/>
                    </a:moveTo>
                    <a:lnTo>
                      <a:pt x="120000" y="89512"/>
                    </a:lnTo>
                    <a:lnTo>
                      <a:pt x="0" y="89512"/>
                    </a:lnTo>
                    <a:lnTo>
                      <a:pt x="0" y="118559"/>
                    </a:lnTo>
                  </a:path>
                </a:pathLst>
              </a:custGeom>
              <a:noFill/>
              <a:ln cap="flat" cmpd="sng" w="25400">
                <a:solidFill>
                  <a:srgbClr val="BF504D"/>
                </a:solidFill>
                <a:prstDash val="solid"/>
                <a:round/>
                <a:headEnd len="sm" w="sm" type="none"/>
                <a:tailEnd len="sm" w="sm" type="none"/>
              </a:ln>
            </p:spPr>
          </p:sp>
          <p:sp>
            <p:nvSpPr>
              <p:cNvPr id="199" name="Google Shape;199;p10"/>
              <p:cNvSpPr/>
              <p:nvPr/>
            </p:nvSpPr>
            <p:spPr>
              <a:xfrm>
                <a:off x="632531" y="929527"/>
                <a:ext cx="336282" cy="379571"/>
              </a:xfrm>
              <a:prstGeom prst="ellipse">
                <a:avLst/>
              </a:prstGeom>
              <a:blipFill rotWithShape="1">
                <a:blip r:embed="rId3">
                  <a:alphaModFix/>
                </a:blip>
                <a:stretch>
                  <a:fillRect b="0" l="-5999" r="-5998"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871501" y="1048130"/>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txBox="1"/>
              <p:nvPr/>
            </p:nvSpPr>
            <p:spPr>
              <a:xfrm>
                <a:off x="871501" y="1048130"/>
                <a:ext cx="212486" cy="141657"/>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chemeClr val="dk1"/>
                  </a:buClr>
                  <a:buSzPts val="500"/>
                  <a:buFont typeface="Century Gothic"/>
                  <a:buNone/>
                </a:pPr>
                <a:r>
                  <a:t/>
                </a:r>
                <a:endParaRPr sz="500">
                  <a:solidFill>
                    <a:schemeClr val="dk1"/>
                  </a:solidFill>
                  <a:latin typeface="Century Gothic"/>
                  <a:ea typeface="Century Gothic"/>
                  <a:cs typeface="Century Gothic"/>
                  <a:sym typeface="Century Gothic"/>
                </a:endParaRPr>
              </a:p>
            </p:txBody>
          </p:sp>
          <p:sp>
            <p:nvSpPr>
              <p:cNvPr id="202" name="Google Shape;202;p10"/>
              <p:cNvSpPr/>
              <p:nvPr/>
            </p:nvSpPr>
            <p:spPr>
              <a:xfrm>
                <a:off x="783" y="1353721"/>
                <a:ext cx="141657" cy="141657"/>
              </a:xfrm>
              <a:prstGeom prst="ellipse">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142441" y="135336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txBox="1"/>
              <p:nvPr/>
            </p:nvSpPr>
            <p:spPr>
              <a:xfrm>
                <a:off x="142441" y="135336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05" name="Google Shape;205;p10"/>
              <p:cNvSpPr/>
              <p:nvPr/>
            </p:nvSpPr>
            <p:spPr>
              <a:xfrm>
                <a:off x="783" y="1540001"/>
                <a:ext cx="141657" cy="141657"/>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142441" y="153964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txBox="1"/>
              <p:nvPr/>
            </p:nvSpPr>
            <p:spPr>
              <a:xfrm>
                <a:off x="142441" y="153964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08" name="Google Shape;208;p10"/>
              <p:cNvSpPr/>
              <p:nvPr/>
            </p:nvSpPr>
            <p:spPr>
              <a:xfrm>
                <a:off x="585121" y="1353721"/>
                <a:ext cx="141657" cy="141657"/>
              </a:xfrm>
              <a:prstGeom prst="ellipse">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726778" y="135336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txBox="1"/>
              <p:nvPr/>
            </p:nvSpPr>
            <p:spPr>
              <a:xfrm>
                <a:off x="726778" y="135336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11" name="Google Shape;211;p10"/>
              <p:cNvSpPr/>
              <p:nvPr/>
            </p:nvSpPr>
            <p:spPr>
              <a:xfrm>
                <a:off x="390341" y="1540001"/>
                <a:ext cx="141657" cy="141657"/>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531999" y="153964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txBox="1"/>
              <p:nvPr/>
            </p:nvSpPr>
            <p:spPr>
              <a:xfrm>
                <a:off x="531999" y="153964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14" name="Google Shape;214;p10"/>
              <p:cNvSpPr/>
              <p:nvPr/>
            </p:nvSpPr>
            <p:spPr>
              <a:xfrm>
                <a:off x="779900" y="1540001"/>
                <a:ext cx="141657" cy="141657"/>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921558" y="153964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txBox="1"/>
              <p:nvPr/>
            </p:nvSpPr>
            <p:spPr>
              <a:xfrm>
                <a:off x="921558" y="153964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17" name="Google Shape;217;p10"/>
              <p:cNvSpPr/>
              <p:nvPr/>
            </p:nvSpPr>
            <p:spPr>
              <a:xfrm>
                <a:off x="1361591" y="1353721"/>
                <a:ext cx="141657" cy="141657"/>
              </a:xfrm>
              <a:prstGeom prst="ellipse">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1503249" y="135336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txBox="1"/>
              <p:nvPr/>
            </p:nvSpPr>
            <p:spPr>
              <a:xfrm>
                <a:off x="1503249" y="135336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20" name="Google Shape;220;p10"/>
              <p:cNvSpPr/>
              <p:nvPr/>
            </p:nvSpPr>
            <p:spPr>
              <a:xfrm>
                <a:off x="1169459" y="1542489"/>
                <a:ext cx="131068" cy="136681"/>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1305822" y="153964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txBox="1"/>
              <p:nvPr/>
            </p:nvSpPr>
            <p:spPr>
              <a:xfrm>
                <a:off x="1305822" y="153964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sp>
            <p:nvSpPr>
              <p:cNvPr id="223" name="Google Shape;223;p10"/>
              <p:cNvSpPr/>
              <p:nvPr/>
            </p:nvSpPr>
            <p:spPr>
              <a:xfrm>
                <a:off x="1553723" y="1540001"/>
                <a:ext cx="141657" cy="141657"/>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1695381" y="1539647"/>
                <a:ext cx="212486" cy="1416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txBox="1"/>
              <p:nvPr/>
            </p:nvSpPr>
            <p:spPr>
              <a:xfrm>
                <a:off x="1695381" y="1539647"/>
                <a:ext cx="212486" cy="141657"/>
              </a:xfrm>
              <a:prstGeom prst="rect">
                <a:avLst/>
              </a:prstGeom>
              <a:noFill/>
              <a:ln>
                <a:noFill/>
              </a:ln>
            </p:spPr>
            <p:txBody>
              <a:bodyPr anchorCtr="0" anchor="ctr" bIns="22850" lIns="22850" spcFirstLastPara="1" rIns="22850" wrap="square" tIns="22850">
                <a:noAutofit/>
              </a:bodyPr>
              <a:lstStyle/>
              <a:p>
                <a:pPr indent="0" lvl="0" marL="0" marR="0" rtl="0" algn="l">
                  <a:lnSpc>
                    <a:spcPct val="90000"/>
                  </a:lnSpc>
                  <a:spcBef>
                    <a:spcPts val="0"/>
                  </a:spcBef>
                  <a:spcAft>
                    <a:spcPts val="0"/>
                  </a:spcAft>
                  <a:buClr>
                    <a:schemeClr val="dk1"/>
                  </a:buClr>
                  <a:buSzPts val="600"/>
                  <a:buFont typeface="Century Gothic"/>
                  <a:buNone/>
                </a:pPr>
                <a:r>
                  <a:t/>
                </a:r>
                <a:endParaRPr sz="600">
                  <a:solidFill>
                    <a:schemeClr val="dk1"/>
                  </a:solidFill>
                  <a:latin typeface="Century Gothic"/>
                  <a:ea typeface="Century Gothic"/>
                  <a:cs typeface="Century Gothic"/>
                  <a:sym typeface="Century Gothic"/>
                </a:endParaRPr>
              </a:p>
            </p:txBody>
          </p:sp>
        </p:grpSp>
        <p:grpSp>
          <p:nvGrpSpPr>
            <p:cNvPr id="226" name="Google Shape;226;p10"/>
            <p:cNvGrpSpPr/>
            <p:nvPr/>
          </p:nvGrpSpPr>
          <p:grpSpPr>
            <a:xfrm>
              <a:off x="9147350" y="5218368"/>
              <a:ext cx="567677" cy="1089964"/>
              <a:chOff x="774700" y="633216"/>
              <a:chExt cx="730850" cy="1460358"/>
            </a:xfrm>
          </p:grpSpPr>
          <p:sp>
            <p:nvSpPr>
              <p:cNvPr id="227" name="Google Shape;227;p10"/>
              <p:cNvSpPr/>
              <p:nvPr/>
            </p:nvSpPr>
            <p:spPr>
              <a:xfrm>
                <a:off x="774700" y="633216"/>
                <a:ext cx="730250" cy="178419"/>
              </a:xfrm>
              <a:prstGeom prst="flowChartTerminator">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8" name="Google Shape;228;p10"/>
              <p:cNvSpPr/>
              <p:nvPr/>
            </p:nvSpPr>
            <p:spPr>
              <a:xfrm>
                <a:off x="774700" y="992459"/>
                <a:ext cx="730250" cy="258491"/>
              </a:xfrm>
              <a:prstGeom prst="rect">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9" name="Google Shape;229;p10"/>
              <p:cNvSpPr/>
              <p:nvPr/>
            </p:nvSpPr>
            <p:spPr>
              <a:xfrm>
                <a:off x="774700" y="1405591"/>
                <a:ext cx="730250" cy="342060"/>
              </a:xfrm>
              <a:prstGeom prst="flowChartDecision">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0" name="Google Shape;230;p10"/>
              <p:cNvSpPr/>
              <p:nvPr/>
            </p:nvSpPr>
            <p:spPr>
              <a:xfrm>
                <a:off x="774700" y="1915155"/>
                <a:ext cx="730250" cy="178419"/>
              </a:xfrm>
              <a:prstGeom prst="flowChartTerminator">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cxnSp>
            <p:nvCxnSpPr>
              <p:cNvPr id="231" name="Google Shape;231;p10"/>
              <p:cNvCxnSpPr>
                <a:stCxn id="229" idx="2"/>
                <a:endCxn id="230" idx="0"/>
              </p:cNvCxnSpPr>
              <p:nvPr/>
            </p:nvCxnSpPr>
            <p:spPr>
              <a:xfrm>
                <a:off x="1139825" y="1747651"/>
                <a:ext cx="0" cy="167400"/>
              </a:xfrm>
              <a:prstGeom prst="straightConnector1">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32" name="Google Shape;232;p10"/>
              <p:cNvCxnSpPr>
                <a:stCxn id="228" idx="2"/>
                <a:endCxn id="229" idx="0"/>
              </p:cNvCxnSpPr>
              <p:nvPr/>
            </p:nvCxnSpPr>
            <p:spPr>
              <a:xfrm>
                <a:off x="1139825" y="1250950"/>
                <a:ext cx="0" cy="154500"/>
              </a:xfrm>
              <a:prstGeom prst="straightConnector1">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33" name="Google Shape;233;p10"/>
              <p:cNvCxnSpPr>
                <a:stCxn id="227" idx="2"/>
                <a:endCxn id="228" idx="0"/>
              </p:cNvCxnSpPr>
              <p:nvPr/>
            </p:nvCxnSpPr>
            <p:spPr>
              <a:xfrm>
                <a:off x="1139825" y="811635"/>
                <a:ext cx="0" cy="180900"/>
              </a:xfrm>
              <a:prstGeom prst="straightConnector1">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34" name="Google Shape;234;p10"/>
              <p:cNvCxnSpPr>
                <a:stCxn id="229" idx="3"/>
                <a:endCxn id="228" idx="3"/>
              </p:cNvCxnSpPr>
              <p:nvPr/>
            </p:nvCxnSpPr>
            <p:spPr>
              <a:xfrm flipH="1" rot="10800000">
                <a:off x="1504950" y="1121821"/>
                <a:ext cx="600" cy="454800"/>
              </a:xfrm>
              <a:prstGeom prst="bentConnector3">
                <a:avLst>
                  <a:gd fmla="val -80906141" name="adj1"/>
                </a:avLst>
              </a:pr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grpSp>
        <p:grpSp>
          <p:nvGrpSpPr>
            <p:cNvPr id="235" name="Google Shape;235;p10"/>
            <p:cNvGrpSpPr/>
            <p:nvPr/>
          </p:nvGrpSpPr>
          <p:grpSpPr>
            <a:xfrm>
              <a:off x="5518464" y="5461211"/>
              <a:ext cx="864058" cy="552449"/>
              <a:chOff x="407181" y="1212851"/>
              <a:chExt cx="864058" cy="552449"/>
            </a:xfrm>
          </p:grpSpPr>
          <p:sp>
            <p:nvSpPr>
              <p:cNvPr id="236" name="Google Shape;236;p10"/>
              <p:cNvSpPr/>
              <p:nvPr/>
            </p:nvSpPr>
            <p:spPr>
              <a:xfrm>
                <a:off x="407181" y="1212851"/>
                <a:ext cx="864058" cy="552449"/>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7" name="Google Shape;237;p10"/>
              <p:cNvSpPr/>
              <p:nvPr/>
            </p:nvSpPr>
            <p:spPr>
              <a:xfrm>
                <a:off x="512956" y="1305462"/>
                <a:ext cx="133815" cy="131801"/>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8" name="Google Shape;238;p10"/>
              <p:cNvSpPr/>
              <p:nvPr/>
            </p:nvSpPr>
            <p:spPr>
              <a:xfrm>
                <a:off x="749828" y="1517090"/>
                <a:ext cx="133815" cy="131801"/>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9" name="Google Shape;239;p10"/>
              <p:cNvSpPr/>
              <p:nvPr/>
            </p:nvSpPr>
            <p:spPr>
              <a:xfrm>
                <a:off x="1000811" y="1305461"/>
                <a:ext cx="133815" cy="131801"/>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0" name="Google Shape;240;p10"/>
              <p:cNvSpPr/>
              <p:nvPr/>
            </p:nvSpPr>
            <p:spPr>
              <a:xfrm>
                <a:off x="524651" y="1513308"/>
                <a:ext cx="120339" cy="14822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1" name="Google Shape;241;p10"/>
              <p:cNvSpPr/>
              <p:nvPr/>
            </p:nvSpPr>
            <p:spPr>
              <a:xfrm>
                <a:off x="763304" y="1303838"/>
                <a:ext cx="120339" cy="148224"/>
              </a:xfrm>
              <a:prstGeom prst="rect">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2" name="Google Shape;242;p10"/>
              <p:cNvSpPr/>
              <p:nvPr/>
            </p:nvSpPr>
            <p:spPr>
              <a:xfrm>
                <a:off x="1011877" y="1517941"/>
                <a:ext cx="120339" cy="14822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sp>
        <p:nvSpPr>
          <p:cNvPr id="243" name="Google Shape;243;p10"/>
          <p:cNvSpPr txBox="1"/>
          <p:nvPr/>
        </p:nvSpPr>
        <p:spPr>
          <a:xfrm>
            <a:off x="467545" y="1337751"/>
            <a:ext cx="8496944"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000">
                <a:solidFill>
                  <a:schemeClr val="dk1"/>
                </a:solidFill>
                <a:latin typeface="Century Gothic"/>
                <a:ea typeface="Century Gothic"/>
                <a:cs typeface="Century Gothic"/>
                <a:sym typeface="Century Gothic"/>
              </a:rPr>
              <a:t>Computational Thinking Techniques</a:t>
            </a:r>
            <a:endParaRPr/>
          </a:p>
          <a:p>
            <a:pPr indent="0" lvl="0" marL="0" marR="0" rtl="0" algn="l">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2000">
                <a:solidFill>
                  <a:schemeClr val="dk1"/>
                </a:solidFill>
                <a:latin typeface="Century Gothic"/>
                <a:ea typeface="Century Gothic"/>
                <a:cs typeface="Century Gothic"/>
                <a:sym typeface="Century Gothic"/>
              </a:rPr>
              <a:t>There are 4 main techniques that underpin computational thinking.</a:t>
            </a:r>
            <a:endParaRPr/>
          </a:p>
        </p:txBody>
      </p:sp>
      <p:sp>
        <p:nvSpPr>
          <p:cNvPr id="244" name="Google Shape;244;p10"/>
          <p:cNvSpPr/>
          <p:nvPr/>
        </p:nvSpPr>
        <p:spPr>
          <a:xfrm>
            <a:off x="381000" y="3189888"/>
            <a:ext cx="222612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They are:</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Century Gothic"/>
                <a:ea typeface="Century Gothic"/>
                <a:cs typeface="Century Gothic"/>
                <a:sym typeface="Century Gothic"/>
              </a:rPr>
              <a:t>Abstraction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Century Gothic"/>
                <a:ea typeface="Century Gothic"/>
                <a:cs typeface="Century Gothic"/>
                <a:sym typeface="Century Gothic"/>
              </a:rPr>
              <a:t>Decomposition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Century Gothic"/>
                <a:ea typeface="Century Gothic"/>
                <a:cs typeface="Century Gothic"/>
                <a:sym typeface="Century Gothic"/>
              </a:rPr>
              <a:t>Pattern Recognition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Century Gothic"/>
                <a:ea typeface="Century Gothic"/>
                <a:cs typeface="Century Gothic"/>
                <a:sym typeface="Century Gothic"/>
              </a:rPr>
              <a:t>Algorithms</a:t>
            </a:r>
            <a:endParaRPr/>
          </a:p>
        </p:txBody>
      </p:sp>
      <p:sp>
        <p:nvSpPr>
          <p:cNvPr id="245" name="Google Shape;245;p10"/>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500"/>
                                        <p:tgtEl>
                                          <p:spTgt spid="24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1"/>
          <p:cNvSpPr txBox="1"/>
          <p:nvPr>
            <p:ph type="title"/>
          </p:nvPr>
        </p:nvSpPr>
        <p:spPr>
          <a:xfrm>
            <a:off x="609600" y="2362200"/>
            <a:ext cx="8229600" cy="8549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Gothic"/>
              <a:buNone/>
            </a:pPr>
            <a:r>
              <a:rPr lang="en-GB"/>
              <a:t>Abstraction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txBox="1"/>
          <p:nvPr>
            <p:ph idx="1" type="body"/>
          </p:nvPr>
        </p:nvSpPr>
        <p:spPr>
          <a:xfrm>
            <a:off x="467544" y="1308799"/>
            <a:ext cx="8496944" cy="1616145"/>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133333"/>
              <a:buNone/>
            </a:pPr>
            <a:r>
              <a:rPr lang="en-GB">
                <a:solidFill>
                  <a:schemeClr val="dk1"/>
                </a:solidFill>
                <a:latin typeface="Century Gothic"/>
                <a:ea typeface="Century Gothic"/>
                <a:cs typeface="Century Gothic"/>
                <a:sym typeface="Century Gothic"/>
              </a:rPr>
              <a:t>What is Abstraction?</a:t>
            </a:r>
            <a:endParaRPr sz="2400"/>
          </a:p>
          <a:p>
            <a:pPr indent="0" lvl="0" marL="0" rtl="0" algn="l">
              <a:spcBef>
                <a:spcPts val="351"/>
              </a:spcBef>
              <a:spcAft>
                <a:spcPts val="0"/>
              </a:spcAft>
              <a:buClr>
                <a:schemeClr val="dk1"/>
              </a:buClr>
              <a:buSzPct val="100000"/>
              <a:buNone/>
            </a:pPr>
            <a:r>
              <a:rPr lang="en-GB" sz="1900">
                <a:solidFill>
                  <a:schemeClr val="dk1"/>
                </a:solidFill>
                <a:latin typeface="Century Gothic"/>
                <a:ea typeface="Century Gothic"/>
                <a:cs typeface="Century Gothic"/>
                <a:sym typeface="Century Gothic"/>
              </a:rPr>
              <a:t>Abstraction is about moving from the real to virtual.</a:t>
            </a:r>
            <a:endParaRPr/>
          </a:p>
          <a:p>
            <a:pPr indent="0" lvl="0" marL="0" rtl="0" algn="l">
              <a:spcBef>
                <a:spcPts val="351"/>
              </a:spcBef>
              <a:spcAft>
                <a:spcPts val="0"/>
              </a:spcAft>
              <a:buClr>
                <a:schemeClr val="dk1"/>
              </a:buClr>
              <a:buSzPct val="100000"/>
              <a:buNone/>
            </a:pPr>
            <a:r>
              <a:rPr lang="en-GB" sz="1900">
                <a:solidFill>
                  <a:schemeClr val="dk1"/>
                </a:solidFill>
                <a:latin typeface="Century Gothic"/>
                <a:ea typeface="Century Gothic"/>
                <a:cs typeface="Century Gothic"/>
                <a:sym typeface="Century Gothic"/>
              </a:rPr>
              <a:t>It is concerned with simplifying the complex by only dealing with the important and neglecting the unnecessary.</a:t>
            </a:r>
            <a:endParaRPr/>
          </a:p>
          <a:p>
            <a:pPr indent="0" lvl="0" marL="0" rtl="0" algn="l">
              <a:spcBef>
                <a:spcPts val="351"/>
              </a:spcBef>
              <a:spcAft>
                <a:spcPts val="0"/>
              </a:spcAft>
              <a:buClr>
                <a:schemeClr val="dk1"/>
              </a:buClr>
              <a:buSzPct val="100000"/>
              <a:buNone/>
            </a:pPr>
            <a:r>
              <a:rPr lang="en-GB" sz="1900">
                <a:solidFill>
                  <a:schemeClr val="dk1"/>
                </a:solidFill>
                <a:latin typeface="Century Gothic"/>
                <a:ea typeface="Century Gothic"/>
                <a:cs typeface="Century Gothic"/>
                <a:sym typeface="Century Gothic"/>
              </a:rPr>
              <a:t>The London Underground map is a great example of Abstraction.</a:t>
            </a:r>
            <a:endParaRPr/>
          </a:p>
        </p:txBody>
      </p:sp>
      <p:pic>
        <p:nvPicPr>
          <p:cNvPr id="256" name="Google Shape;256;p12"/>
          <p:cNvPicPr preferRelativeResize="0"/>
          <p:nvPr/>
        </p:nvPicPr>
        <p:blipFill rotWithShape="1">
          <a:blip r:embed="rId3">
            <a:alphaModFix/>
          </a:blip>
          <a:srcRect b="0" l="0" r="0" t="0"/>
          <a:stretch/>
        </p:blipFill>
        <p:spPr>
          <a:xfrm>
            <a:off x="7239000" y="3472680"/>
            <a:ext cx="1431243" cy="864999"/>
          </a:xfrm>
          <a:prstGeom prst="rect">
            <a:avLst/>
          </a:prstGeom>
          <a:noFill/>
          <a:ln>
            <a:noFill/>
          </a:ln>
        </p:spPr>
      </p:pic>
      <p:grpSp>
        <p:nvGrpSpPr>
          <p:cNvPr id="257" name="Google Shape;257;p12"/>
          <p:cNvGrpSpPr/>
          <p:nvPr/>
        </p:nvGrpSpPr>
        <p:grpSpPr>
          <a:xfrm>
            <a:off x="1295400" y="2924944"/>
            <a:ext cx="5112568" cy="1641579"/>
            <a:chOff x="2915816" y="2867541"/>
            <a:chExt cx="6172248" cy="2199461"/>
          </a:xfrm>
        </p:grpSpPr>
        <p:pic>
          <p:nvPicPr>
            <p:cNvPr descr="Screen Clipping" id="258" name="Google Shape;258;p12"/>
            <p:cNvPicPr preferRelativeResize="0"/>
            <p:nvPr/>
          </p:nvPicPr>
          <p:blipFill rotWithShape="1">
            <a:blip r:embed="rId4">
              <a:alphaModFix/>
            </a:blip>
            <a:srcRect b="0" l="0" r="0" t="0"/>
            <a:stretch/>
          </p:blipFill>
          <p:spPr>
            <a:xfrm>
              <a:off x="2915816" y="2867541"/>
              <a:ext cx="2634995" cy="2188814"/>
            </a:xfrm>
            <a:prstGeom prst="rect">
              <a:avLst/>
            </a:prstGeom>
            <a:noFill/>
            <a:ln cap="flat" cmpd="sng" w="9525">
              <a:solidFill>
                <a:schemeClr val="accent1"/>
              </a:solidFill>
              <a:prstDash val="solid"/>
              <a:round/>
              <a:headEnd len="sm" w="sm" type="none"/>
              <a:tailEnd len="sm" w="sm" type="none"/>
            </a:ln>
          </p:spPr>
        </p:pic>
        <p:pic>
          <p:nvPicPr>
            <p:cNvPr descr="Screen Clipping" id="259" name="Google Shape;259;p12"/>
            <p:cNvPicPr preferRelativeResize="0"/>
            <p:nvPr/>
          </p:nvPicPr>
          <p:blipFill rotWithShape="1">
            <a:blip r:embed="rId5">
              <a:alphaModFix/>
            </a:blip>
            <a:srcRect b="0" l="2153" r="938" t="482"/>
            <a:stretch/>
          </p:blipFill>
          <p:spPr>
            <a:xfrm>
              <a:off x="5847704" y="2867541"/>
              <a:ext cx="3240360" cy="2199461"/>
            </a:xfrm>
            <a:prstGeom prst="rect">
              <a:avLst/>
            </a:prstGeom>
            <a:noFill/>
            <a:ln cap="flat" cmpd="sng" w="9525">
              <a:solidFill>
                <a:schemeClr val="accent1"/>
              </a:solidFill>
              <a:prstDash val="solid"/>
              <a:round/>
              <a:headEnd len="sm" w="sm" type="none"/>
              <a:tailEnd len="sm" w="sm" type="none"/>
            </a:ln>
          </p:spPr>
        </p:pic>
        <p:sp>
          <p:nvSpPr>
            <p:cNvPr id="260" name="Google Shape;260;p12"/>
            <p:cNvSpPr/>
            <p:nvPr/>
          </p:nvSpPr>
          <p:spPr>
            <a:xfrm>
              <a:off x="5343648" y="3748857"/>
              <a:ext cx="792088" cy="432048"/>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61" name="Google Shape;261;p12"/>
          <p:cNvSpPr txBox="1"/>
          <p:nvPr/>
        </p:nvSpPr>
        <p:spPr>
          <a:xfrm>
            <a:off x="467544" y="4678740"/>
            <a:ext cx="8656291"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The map ignores features that are not important to the passenger such as turns, distances between stations and instead provides a simplified view of journeys so that it is more simple to follow.</a:t>
            </a:r>
            <a:endParaRPr/>
          </a:p>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The unnecessary information has been removed.</a:t>
            </a:r>
            <a:endParaRPr/>
          </a:p>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This is a vital feature of computational thinking, to solve complex problems, we need to be able to focus on what is important and ignore the unnecessary.</a:t>
            </a:r>
            <a:endParaRPr/>
          </a:p>
        </p:txBody>
      </p:sp>
      <p:sp>
        <p:nvSpPr>
          <p:cNvPr id="262" name="Google Shape;262;p12"/>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 calcmode="lin" valueType="num">
                                      <p:cBhvr additive="base">
                                        <p:cTn dur="500"/>
                                        <p:tgtEl>
                                          <p:spTgt spid="2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 calcmode="lin" valueType="num">
                                      <p:cBhvr additive="base">
                                        <p:cTn dur="500"/>
                                        <p:tgtEl>
                                          <p:spTgt spid="2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anim calcmode="lin" valueType="num">
                                      <p:cBhvr additive="base">
                                        <p:cTn dur="500"/>
                                        <p:tgtEl>
                                          <p:spTgt spid="2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3"/>
          <p:cNvSpPr txBox="1"/>
          <p:nvPr>
            <p:ph idx="1" type="body"/>
          </p:nvPr>
        </p:nvSpPr>
        <p:spPr>
          <a:xfrm>
            <a:off x="467544" y="1308799"/>
            <a:ext cx="8496944" cy="510909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000"/>
              <a:buNone/>
            </a:pPr>
            <a:r>
              <a:rPr b="1" lang="en-GB" sz="3000">
                <a:solidFill>
                  <a:schemeClr val="dk1"/>
                </a:solidFill>
                <a:latin typeface="Century Gothic"/>
                <a:ea typeface="Century Gothic"/>
                <a:cs typeface="Century Gothic"/>
                <a:sym typeface="Century Gothic"/>
              </a:rPr>
              <a:t>Why do we need abstraction?</a:t>
            </a:r>
            <a:endParaRPr/>
          </a:p>
          <a:p>
            <a:pPr indent="0" lvl="0" marL="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GB" sz="2800">
                <a:solidFill>
                  <a:schemeClr val="dk1"/>
                </a:solidFill>
                <a:latin typeface="Century Gothic"/>
                <a:ea typeface="Century Gothic"/>
                <a:cs typeface="Century Gothic"/>
                <a:sym typeface="Century Gothic"/>
              </a:rPr>
              <a:t>Simplify processes to better understand them.</a:t>
            </a:r>
            <a:endParaRPr/>
          </a:p>
          <a:p>
            <a:pPr indent="-165100" lvl="0" marL="34290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GB" sz="2800">
                <a:solidFill>
                  <a:schemeClr val="dk1"/>
                </a:solidFill>
                <a:latin typeface="Century Gothic"/>
                <a:ea typeface="Century Gothic"/>
                <a:cs typeface="Century Gothic"/>
                <a:sym typeface="Century Gothic"/>
              </a:rPr>
              <a:t>Remove the irrelevant to help us increase our chances of solving a problem.</a:t>
            </a:r>
            <a:endParaRPr/>
          </a:p>
          <a:p>
            <a:pPr indent="-165100" lvl="0" marL="34290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GB" sz="2800">
                <a:solidFill>
                  <a:schemeClr val="dk1"/>
                </a:solidFill>
                <a:latin typeface="Century Gothic"/>
                <a:ea typeface="Century Gothic"/>
                <a:cs typeface="Century Gothic"/>
                <a:sym typeface="Century Gothic"/>
              </a:rPr>
              <a:t>To help us virtualise the organic – which in turn helps with the method of programming</a:t>
            </a:r>
            <a:endParaRPr/>
          </a:p>
        </p:txBody>
      </p:sp>
      <p:sp>
        <p:nvSpPr>
          <p:cNvPr id="268" name="Google Shape;268;p13"/>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txBox="1"/>
          <p:nvPr>
            <p:ph idx="1" type="body"/>
          </p:nvPr>
        </p:nvSpPr>
        <p:spPr>
          <a:xfrm>
            <a:off x="467544" y="1308799"/>
            <a:ext cx="8496944" cy="519483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Clr>
                <a:schemeClr val="dk1"/>
              </a:buClr>
              <a:buSzPct val="100000"/>
              <a:buNone/>
            </a:pPr>
            <a:r>
              <a:rPr b="1" lang="en-GB" sz="5100">
                <a:solidFill>
                  <a:schemeClr val="dk1"/>
                </a:solidFill>
                <a:latin typeface="Century Gothic"/>
                <a:ea typeface="Century Gothic"/>
                <a:cs typeface="Century Gothic"/>
                <a:sym typeface="Century Gothic"/>
              </a:rPr>
              <a:t>Differences between abstraction and reality</a:t>
            </a:r>
            <a:endParaRPr/>
          </a:p>
          <a:p>
            <a:pPr indent="0" lvl="0" marL="0" rtl="0" algn="l">
              <a:spcBef>
                <a:spcPts val="308"/>
              </a:spcBef>
              <a:spcAft>
                <a:spcPts val="0"/>
              </a:spcAft>
              <a:buClr>
                <a:schemeClr val="dk1"/>
              </a:buClr>
              <a:buSzPct val="100000"/>
              <a:buNone/>
            </a:pPr>
            <a:r>
              <a:t/>
            </a:r>
            <a:endParaRPr sz="2800"/>
          </a:p>
          <a:p>
            <a:pPr indent="0" lvl="0" marL="0" rtl="0" algn="l">
              <a:spcBef>
                <a:spcPts val="308"/>
              </a:spcBef>
              <a:spcAft>
                <a:spcPts val="0"/>
              </a:spcAft>
              <a:buClr>
                <a:schemeClr val="dk1"/>
              </a:buClr>
              <a:buSzPct val="100000"/>
              <a:buNone/>
            </a:pPr>
            <a:r>
              <a:rPr lang="en-GB" sz="2800">
                <a:solidFill>
                  <a:schemeClr val="dk1"/>
                </a:solidFill>
                <a:latin typeface="Century Gothic"/>
                <a:ea typeface="Century Gothic"/>
                <a:cs typeface="Century Gothic"/>
                <a:sym typeface="Century Gothic"/>
              </a:rPr>
              <a:t>On the previous slide it was said that abstraction is needed…</a:t>
            </a:r>
            <a:endParaRPr/>
          </a:p>
          <a:p>
            <a:pPr indent="0" lvl="0" marL="0" rtl="0" algn="ctr">
              <a:spcBef>
                <a:spcPts val="308"/>
              </a:spcBef>
              <a:spcAft>
                <a:spcPts val="0"/>
              </a:spcAft>
              <a:buClr>
                <a:schemeClr val="dk1"/>
              </a:buClr>
              <a:buSzPct val="100000"/>
              <a:buNone/>
            </a:pPr>
            <a:r>
              <a:rPr i="1" lang="en-GB" sz="2800">
                <a:solidFill>
                  <a:schemeClr val="dk1"/>
                </a:solidFill>
                <a:latin typeface="Century Gothic"/>
                <a:ea typeface="Century Gothic"/>
                <a:cs typeface="Century Gothic"/>
                <a:sym typeface="Century Gothic"/>
              </a:rPr>
              <a:t>“To help us virtualise the organic – which in turn helps with the method of programming”</a:t>
            </a:r>
            <a:endParaRPr/>
          </a:p>
          <a:p>
            <a:pPr indent="0" lvl="0" marL="0" rtl="0" algn="l">
              <a:spcBef>
                <a:spcPts val="308"/>
              </a:spcBef>
              <a:spcAft>
                <a:spcPts val="0"/>
              </a:spcAft>
              <a:buClr>
                <a:schemeClr val="dk1"/>
              </a:buClr>
              <a:buSzPct val="100000"/>
              <a:buNone/>
            </a:pPr>
            <a:r>
              <a:t/>
            </a:r>
            <a:endParaRPr sz="2800"/>
          </a:p>
          <a:p>
            <a:pPr indent="0" lvl="0" marL="0" rtl="0" algn="l">
              <a:spcBef>
                <a:spcPts val="308"/>
              </a:spcBef>
              <a:spcAft>
                <a:spcPts val="0"/>
              </a:spcAft>
              <a:buClr>
                <a:schemeClr val="dk1"/>
              </a:buClr>
              <a:buSzPct val="100000"/>
              <a:buNone/>
            </a:pPr>
            <a:r>
              <a:rPr lang="en-GB" sz="2800">
                <a:solidFill>
                  <a:schemeClr val="dk1"/>
                </a:solidFill>
                <a:latin typeface="Century Gothic"/>
                <a:ea typeface="Century Gothic"/>
                <a:cs typeface="Century Gothic"/>
                <a:sym typeface="Century Gothic"/>
              </a:rPr>
              <a:t>Abstraction is a representation of the real world.</a:t>
            </a:r>
            <a:endParaRPr/>
          </a:p>
          <a:p>
            <a:pPr indent="0" lvl="0" marL="0" rtl="0" algn="l">
              <a:spcBef>
                <a:spcPts val="308"/>
              </a:spcBef>
              <a:spcAft>
                <a:spcPts val="0"/>
              </a:spcAft>
              <a:buClr>
                <a:schemeClr val="dk1"/>
              </a:buClr>
              <a:buSzPct val="100000"/>
              <a:buNone/>
            </a:pPr>
            <a:r>
              <a:t/>
            </a:r>
            <a:endParaRPr sz="2800"/>
          </a:p>
          <a:p>
            <a:pPr indent="0" lvl="0" marL="0" rtl="0" algn="l">
              <a:spcBef>
                <a:spcPts val="308"/>
              </a:spcBef>
              <a:spcAft>
                <a:spcPts val="0"/>
              </a:spcAft>
              <a:buClr>
                <a:schemeClr val="dk1"/>
              </a:buClr>
              <a:buSzPct val="100000"/>
              <a:buNone/>
            </a:pPr>
            <a:r>
              <a:rPr lang="en-GB" sz="2800">
                <a:solidFill>
                  <a:schemeClr val="dk1"/>
                </a:solidFill>
                <a:latin typeface="Century Gothic"/>
                <a:ea typeface="Century Gothic"/>
                <a:cs typeface="Century Gothic"/>
                <a:sym typeface="Century Gothic"/>
              </a:rPr>
              <a:t>Consider variables; they are a virtual representation of the real world.</a:t>
            </a:r>
            <a:endParaRPr/>
          </a:p>
          <a:p>
            <a:pPr indent="0" lvl="0" marL="0" rtl="0" algn="l">
              <a:spcBef>
                <a:spcPts val="308"/>
              </a:spcBef>
              <a:spcAft>
                <a:spcPts val="0"/>
              </a:spcAft>
              <a:buClr>
                <a:schemeClr val="dk1"/>
              </a:buClr>
              <a:buSzPct val="100000"/>
              <a:buNone/>
            </a:pPr>
            <a:r>
              <a:rPr lang="en-GB" sz="2800">
                <a:solidFill>
                  <a:schemeClr val="dk1"/>
                </a:solidFill>
                <a:latin typeface="Century Gothic"/>
                <a:ea typeface="Century Gothic"/>
                <a:cs typeface="Century Gothic"/>
                <a:sym typeface="Century Gothic"/>
              </a:rPr>
              <a:t>For example, the speed of car may be represented by a variable which contains the data 60mph.</a:t>
            </a:r>
            <a:endParaRPr/>
          </a:p>
          <a:p>
            <a:pPr indent="0" lvl="0" marL="0" rtl="0" algn="l">
              <a:spcBef>
                <a:spcPts val="308"/>
              </a:spcBef>
              <a:spcAft>
                <a:spcPts val="0"/>
              </a:spcAft>
              <a:buClr>
                <a:schemeClr val="dk1"/>
              </a:buClr>
              <a:buSzPct val="100000"/>
              <a:buNone/>
            </a:pPr>
            <a:r>
              <a:t/>
            </a:r>
            <a:endParaRPr sz="2800"/>
          </a:p>
          <a:p>
            <a:pPr indent="0" lvl="0" marL="0" rtl="0" algn="l">
              <a:spcBef>
                <a:spcPts val="308"/>
              </a:spcBef>
              <a:spcAft>
                <a:spcPts val="0"/>
              </a:spcAft>
              <a:buClr>
                <a:schemeClr val="dk1"/>
              </a:buClr>
              <a:buSzPct val="100000"/>
              <a:buNone/>
            </a:pPr>
            <a:r>
              <a:rPr lang="en-GB" sz="2800">
                <a:solidFill>
                  <a:schemeClr val="dk1"/>
                </a:solidFill>
                <a:latin typeface="Century Gothic"/>
                <a:ea typeface="Century Gothic"/>
                <a:cs typeface="Century Gothic"/>
                <a:sym typeface="Century Gothic"/>
              </a:rPr>
              <a:t>In object oriented programming, objects represent objects in real life. An object will be an abstract model of a real object. It will contain information about the object (what it is and what it does).</a:t>
            </a:r>
            <a:endParaRPr/>
          </a:p>
          <a:p>
            <a:pPr indent="0" lvl="0" marL="0" rtl="0" algn="l">
              <a:spcBef>
                <a:spcPts val="308"/>
              </a:spcBef>
              <a:spcAft>
                <a:spcPts val="0"/>
              </a:spcAft>
              <a:buClr>
                <a:schemeClr val="dk1"/>
              </a:buClr>
              <a:buSzPct val="100000"/>
              <a:buNone/>
            </a:pPr>
            <a:r>
              <a:t/>
            </a:r>
            <a:endParaRPr sz="2800"/>
          </a:p>
          <a:p>
            <a:pPr indent="0" lvl="0" marL="0" rtl="0" algn="l">
              <a:spcBef>
                <a:spcPts val="308"/>
              </a:spcBef>
              <a:spcAft>
                <a:spcPts val="0"/>
              </a:spcAft>
              <a:buClr>
                <a:schemeClr val="dk1"/>
              </a:buClr>
              <a:buSzPct val="100000"/>
              <a:buNone/>
            </a:pPr>
            <a:r>
              <a:rPr lang="en-GB" sz="2800">
                <a:solidFill>
                  <a:schemeClr val="dk1"/>
                </a:solidFill>
                <a:latin typeface="Century Gothic"/>
                <a:ea typeface="Century Gothic"/>
                <a:cs typeface="Century Gothic"/>
                <a:sym typeface="Century Gothic"/>
              </a:rPr>
              <a:t>Being able to successfully perform abstraction is vital to successful computing.</a:t>
            </a:r>
            <a:endParaRPr/>
          </a:p>
        </p:txBody>
      </p:sp>
      <p:sp>
        <p:nvSpPr>
          <p:cNvPr id="274" name="Google Shape;274;p14"/>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5"/>
          <p:cNvSpPr txBox="1"/>
          <p:nvPr>
            <p:ph idx="1" type="body"/>
          </p:nvPr>
        </p:nvSpPr>
        <p:spPr>
          <a:xfrm>
            <a:off x="467544" y="1308799"/>
            <a:ext cx="8496944" cy="5109091"/>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lang="en-GB" sz="2800">
                <a:solidFill>
                  <a:schemeClr val="dk1"/>
                </a:solidFill>
                <a:latin typeface="Century Gothic"/>
                <a:ea typeface="Century Gothic"/>
                <a:cs typeface="Century Gothic"/>
                <a:sym typeface="Century Gothic"/>
              </a:rPr>
              <a:t>Levels of Abstraction</a:t>
            </a:r>
            <a:endParaRPr/>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As we know, abstraction is a way of simplifying to make it more usable.</a:t>
            </a:r>
            <a:endParaRPr/>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It is important to recognise that abstraction can occur at different levels – that is ‘viewing something at different levels of simplicity’.</a:t>
            </a:r>
            <a:endParaRPr/>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Here you can see how the maps loses certain details through the various levels of abstraction.</a:t>
            </a:r>
            <a:endParaRPr/>
          </a:p>
        </p:txBody>
      </p:sp>
      <p:grpSp>
        <p:nvGrpSpPr>
          <p:cNvPr id="280" name="Google Shape;280;p15"/>
          <p:cNvGrpSpPr/>
          <p:nvPr/>
        </p:nvGrpSpPr>
        <p:grpSpPr>
          <a:xfrm>
            <a:off x="1650055" y="3910845"/>
            <a:ext cx="5969945" cy="2566155"/>
            <a:chOff x="2555776" y="3937481"/>
            <a:chExt cx="5969945" cy="2566155"/>
          </a:xfrm>
        </p:grpSpPr>
        <p:grpSp>
          <p:nvGrpSpPr>
            <p:cNvPr id="281" name="Google Shape;281;p15"/>
            <p:cNvGrpSpPr/>
            <p:nvPr/>
          </p:nvGrpSpPr>
          <p:grpSpPr>
            <a:xfrm>
              <a:off x="2627784" y="4311889"/>
              <a:ext cx="5897937" cy="2191747"/>
              <a:chOff x="482371" y="3601099"/>
              <a:chExt cx="5897937" cy="2191747"/>
            </a:xfrm>
          </p:grpSpPr>
          <p:pic>
            <p:nvPicPr>
              <p:cNvPr id="282" name="Google Shape;282;p15"/>
              <p:cNvPicPr preferRelativeResize="0"/>
              <p:nvPr/>
            </p:nvPicPr>
            <p:blipFill rotWithShape="1">
              <a:blip r:embed="rId3">
                <a:alphaModFix/>
              </a:blip>
              <a:srcRect b="0" l="0" r="0" t="0"/>
              <a:stretch/>
            </p:blipFill>
            <p:spPr>
              <a:xfrm>
                <a:off x="482371" y="3601099"/>
                <a:ext cx="2667876" cy="1744309"/>
              </a:xfrm>
              <a:prstGeom prst="rect">
                <a:avLst/>
              </a:prstGeom>
              <a:noFill/>
              <a:ln cap="flat" cmpd="sng" w="9525">
                <a:solidFill>
                  <a:schemeClr val="accent1"/>
                </a:solidFill>
                <a:prstDash val="solid"/>
                <a:round/>
                <a:headEnd len="sm" w="sm" type="none"/>
                <a:tailEnd len="sm" w="sm" type="none"/>
              </a:ln>
            </p:spPr>
          </p:pic>
          <p:pic>
            <p:nvPicPr>
              <p:cNvPr descr="london tube maps" id="283" name="Google Shape;283;p15"/>
              <p:cNvPicPr preferRelativeResize="0"/>
              <p:nvPr/>
            </p:nvPicPr>
            <p:blipFill rotWithShape="1">
              <a:blip r:embed="rId4">
                <a:alphaModFix/>
              </a:blip>
              <a:srcRect b="0" l="0" r="0" t="0"/>
              <a:stretch/>
            </p:blipFill>
            <p:spPr>
              <a:xfrm>
                <a:off x="2048139" y="3801751"/>
                <a:ext cx="2667877" cy="1790443"/>
              </a:xfrm>
              <a:prstGeom prst="rect">
                <a:avLst/>
              </a:prstGeom>
              <a:noFill/>
              <a:ln cap="flat" cmpd="sng" w="9525">
                <a:solidFill>
                  <a:schemeClr val="accent1"/>
                </a:solidFill>
                <a:prstDash val="solid"/>
                <a:round/>
                <a:headEnd len="sm" w="sm" type="none"/>
                <a:tailEnd len="sm" w="sm" type="none"/>
              </a:ln>
            </p:spPr>
          </p:pic>
          <p:pic>
            <p:nvPicPr>
              <p:cNvPr id="284" name="Google Shape;284;p15"/>
              <p:cNvPicPr preferRelativeResize="0"/>
              <p:nvPr/>
            </p:nvPicPr>
            <p:blipFill rotWithShape="1">
              <a:blip r:embed="rId5">
                <a:alphaModFix/>
              </a:blip>
              <a:srcRect b="0" l="0" r="0" t="0"/>
              <a:stretch/>
            </p:blipFill>
            <p:spPr>
              <a:xfrm>
                <a:off x="3680927" y="3987260"/>
                <a:ext cx="2699381" cy="1805586"/>
              </a:xfrm>
              <a:prstGeom prst="rect">
                <a:avLst/>
              </a:prstGeom>
              <a:noFill/>
              <a:ln cap="flat" cmpd="sng" w="9525">
                <a:solidFill>
                  <a:schemeClr val="accent1"/>
                </a:solidFill>
                <a:prstDash val="solid"/>
                <a:round/>
                <a:headEnd len="sm" w="sm" type="none"/>
                <a:tailEnd len="sm" w="sm" type="none"/>
              </a:ln>
            </p:spPr>
          </p:pic>
        </p:grpSp>
        <p:sp>
          <p:nvSpPr>
            <p:cNvPr id="285" name="Google Shape;285;p15"/>
            <p:cNvSpPr txBox="1"/>
            <p:nvPr/>
          </p:nvSpPr>
          <p:spPr>
            <a:xfrm>
              <a:off x="2555776" y="3937481"/>
              <a:ext cx="9605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Level 1</a:t>
              </a:r>
              <a:endParaRPr/>
            </a:p>
          </p:txBody>
        </p:sp>
        <p:sp>
          <p:nvSpPr>
            <p:cNvPr id="286" name="Google Shape;286;p15"/>
            <p:cNvSpPr txBox="1"/>
            <p:nvPr/>
          </p:nvSpPr>
          <p:spPr>
            <a:xfrm>
              <a:off x="4162048" y="4513384"/>
              <a:ext cx="9605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Level 2</a:t>
              </a:r>
              <a:endParaRPr/>
            </a:p>
          </p:txBody>
        </p:sp>
        <p:sp>
          <p:nvSpPr>
            <p:cNvPr id="287" name="Google Shape;287;p15"/>
            <p:cNvSpPr txBox="1"/>
            <p:nvPr/>
          </p:nvSpPr>
          <p:spPr>
            <a:xfrm>
              <a:off x="5826340" y="6134304"/>
              <a:ext cx="960519"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Level 3</a:t>
              </a:r>
              <a:endParaRPr/>
            </a:p>
          </p:txBody>
        </p:sp>
      </p:grpSp>
      <p:sp>
        <p:nvSpPr>
          <p:cNvPr id="288" name="Google Shape;288;p15"/>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ph idx="1" type="body"/>
          </p:nvPr>
        </p:nvSpPr>
        <p:spPr>
          <a:xfrm>
            <a:off x="467544" y="1308799"/>
            <a:ext cx="8496944" cy="5109091"/>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lang="en-GB" sz="2800">
                <a:solidFill>
                  <a:schemeClr val="dk1"/>
                </a:solidFill>
                <a:latin typeface="Century Gothic"/>
                <a:ea typeface="Century Gothic"/>
                <a:cs typeface="Century Gothic"/>
                <a:sym typeface="Century Gothic"/>
              </a:rPr>
              <a:t>Layers of Abstraction</a:t>
            </a:r>
            <a:endParaRPr/>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Within a level of abstraction there will potentially be various layers of abstraction too.</a:t>
            </a:r>
            <a:endParaRPr/>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Again, looking at a tube map, different lines have different colours, there are different symbols for stops, stops with connections, stops with over-ground lines etc.</a:t>
            </a:r>
            <a:endParaRPr/>
          </a:p>
          <a:p>
            <a:pPr indent="0" lvl="0" marL="0" rtl="0" algn="l">
              <a:spcBef>
                <a:spcPts val="360"/>
              </a:spcBef>
              <a:spcAft>
                <a:spcPts val="0"/>
              </a:spcAft>
              <a:buClr>
                <a:schemeClr val="dk1"/>
              </a:buClr>
              <a:buSzPts val="1800"/>
              <a:buNone/>
            </a:pPr>
            <a:r>
              <a:t/>
            </a:r>
            <a:endParaRPr sz="1800"/>
          </a:p>
        </p:txBody>
      </p:sp>
      <p:pic>
        <p:nvPicPr>
          <p:cNvPr id="294" name="Google Shape;294;p16"/>
          <p:cNvPicPr preferRelativeResize="0"/>
          <p:nvPr/>
        </p:nvPicPr>
        <p:blipFill rotWithShape="1">
          <a:blip r:embed="rId3">
            <a:alphaModFix/>
          </a:blip>
          <a:srcRect b="0" l="0" r="0" t="0"/>
          <a:stretch/>
        </p:blipFill>
        <p:spPr>
          <a:xfrm>
            <a:off x="4800562" y="3680356"/>
            <a:ext cx="3737697" cy="2500104"/>
          </a:xfrm>
          <a:prstGeom prst="rect">
            <a:avLst/>
          </a:prstGeom>
          <a:noFill/>
          <a:ln cap="flat" cmpd="sng" w="9525">
            <a:solidFill>
              <a:schemeClr val="accent1"/>
            </a:solidFill>
            <a:prstDash val="solid"/>
            <a:round/>
            <a:headEnd len="sm" w="sm" type="none"/>
            <a:tailEnd len="sm" w="sm" type="none"/>
          </a:ln>
        </p:spPr>
      </p:pic>
      <p:sp>
        <p:nvSpPr>
          <p:cNvPr id="295" name="Google Shape;295;p16"/>
          <p:cNvSpPr txBox="1"/>
          <p:nvPr/>
        </p:nvSpPr>
        <p:spPr>
          <a:xfrm>
            <a:off x="838200" y="4114800"/>
            <a:ext cx="3552056"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entury Gothic"/>
                <a:ea typeface="Century Gothic"/>
                <a:cs typeface="Century Gothic"/>
                <a:sym typeface="Century Gothic"/>
              </a:rPr>
              <a:t>Each of these features is a layer of abstraction and is there to make the map more useable for the map reader.</a:t>
            </a:r>
            <a:endParaRPr/>
          </a:p>
        </p:txBody>
      </p:sp>
      <p:sp>
        <p:nvSpPr>
          <p:cNvPr id="296" name="Google Shape;296;p16"/>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 calcmode="lin" valueType="num">
                                      <p:cBhvr additive="base">
                                        <p:cTn dur="500"/>
                                        <p:tgtEl>
                                          <p:spTgt spid="29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idx="1" type="body"/>
          </p:nvPr>
        </p:nvSpPr>
        <p:spPr>
          <a:xfrm>
            <a:off x="467544" y="1308799"/>
            <a:ext cx="8496944" cy="4784497"/>
          </a:xfrm>
          <a:prstGeom prst="rect">
            <a:avLst/>
          </a:prstGeom>
          <a:solidFill>
            <a:schemeClr val="lt1"/>
          </a:solidFill>
          <a:ln>
            <a:noFill/>
          </a:ln>
        </p:spPr>
        <p:txBody>
          <a:bodyPr anchorCtr="0" anchor="t" bIns="45700" lIns="91425" spcFirstLastPara="1" rIns="91425" wrap="square" tIns="45700">
            <a:normAutofit fontScale="47500" lnSpcReduction="20000"/>
          </a:bodyPr>
          <a:lstStyle/>
          <a:p>
            <a:pPr indent="0" lvl="0" marL="0" rtl="0" algn="l">
              <a:spcBef>
                <a:spcPts val="0"/>
              </a:spcBef>
              <a:spcAft>
                <a:spcPts val="0"/>
              </a:spcAft>
              <a:buClr>
                <a:schemeClr val="dk1"/>
              </a:buClr>
              <a:buSzPct val="100000"/>
              <a:buNone/>
            </a:pPr>
            <a:r>
              <a:rPr b="1" lang="en-GB" sz="3600">
                <a:solidFill>
                  <a:schemeClr val="dk1"/>
                </a:solidFill>
                <a:latin typeface="Century Gothic"/>
                <a:ea typeface="Century Gothic"/>
                <a:cs typeface="Century Gothic"/>
                <a:sym typeface="Century Gothic"/>
              </a:rPr>
              <a:t>Remembering OOP</a:t>
            </a:r>
            <a:endParaRPr/>
          </a:p>
          <a:p>
            <a:pPr indent="0" lvl="0" marL="0" rtl="0" algn="l">
              <a:spcBef>
                <a:spcPts val="142"/>
              </a:spcBef>
              <a:spcAft>
                <a:spcPts val="0"/>
              </a:spcAft>
              <a:buClr>
                <a:schemeClr val="dk1"/>
              </a:buClr>
              <a:buSzPct val="100000"/>
              <a:buNone/>
            </a:pPr>
            <a:r>
              <a:t/>
            </a:r>
            <a:endParaRPr sz="1500"/>
          </a:p>
          <a:p>
            <a:pPr indent="0" lvl="0" marL="0" rtl="0" algn="l">
              <a:spcBef>
                <a:spcPts val="304"/>
              </a:spcBef>
              <a:spcAft>
                <a:spcPts val="0"/>
              </a:spcAft>
              <a:buClr>
                <a:schemeClr val="dk1"/>
              </a:buClr>
              <a:buSzPct val="100000"/>
              <a:buNone/>
            </a:pPr>
            <a:r>
              <a:rPr lang="en-GB">
                <a:solidFill>
                  <a:schemeClr val="dk1"/>
                </a:solidFill>
                <a:latin typeface="Century Gothic"/>
                <a:ea typeface="Century Gothic"/>
                <a:cs typeface="Century Gothic"/>
                <a:sym typeface="Century Gothic"/>
              </a:rPr>
              <a:t>An object oriented approach looks at solving problems using the idea of abstraction:</a:t>
            </a:r>
            <a:endParaRPr/>
          </a:p>
          <a:p>
            <a:pPr indent="0" lvl="0" marL="0" rtl="0" algn="l">
              <a:spcBef>
                <a:spcPts val="304"/>
              </a:spcBef>
              <a:spcAft>
                <a:spcPts val="0"/>
              </a:spcAft>
              <a:buClr>
                <a:schemeClr val="dk1"/>
              </a:buClr>
              <a:buSzPct val="100000"/>
              <a:buNone/>
            </a:pPr>
            <a:r>
              <a:t/>
            </a:r>
            <a:endParaRPr/>
          </a:p>
          <a:p>
            <a:pPr indent="0" lvl="0" marL="0" rtl="0" algn="l">
              <a:spcBef>
                <a:spcPts val="304"/>
              </a:spcBef>
              <a:spcAft>
                <a:spcPts val="0"/>
              </a:spcAft>
              <a:buClr>
                <a:schemeClr val="dk1"/>
              </a:buClr>
              <a:buSzPct val="100000"/>
              <a:buNone/>
            </a:pPr>
            <a:r>
              <a:rPr lang="en-GB">
                <a:solidFill>
                  <a:schemeClr val="dk1"/>
                </a:solidFill>
                <a:latin typeface="Century Gothic"/>
                <a:ea typeface="Century Gothic"/>
                <a:cs typeface="Century Gothic"/>
                <a:sym typeface="Century Gothic"/>
              </a:rPr>
              <a:t>The programmer will think about the various real objects in the world which are relevant to the problem that they are trying to solve (e.g a car in a racing game or humans and money in banking software etc) and virtualise these objects by creating software objects.</a:t>
            </a:r>
            <a:endParaRPr/>
          </a:p>
          <a:p>
            <a:pPr indent="0" lvl="0" marL="0" rtl="0" algn="l">
              <a:spcBef>
                <a:spcPts val="304"/>
              </a:spcBef>
              <a:spcAft>
                <a:spcPts val="0"/>
              </a:spcAft>
              <a:buClr>
                <a:schemeClr val="dk1"/>
              </a:buClr>
              <a:buSzPct val="100000"/>
              <a:buNone/>
            </a:pPr>
            <a:r>
              <a:t/>
            </a:r>
            <a:endParaRPr/>
          </a:p>
          <a:p>
            <a:pPr indent="0" lvl="0" marL="0" rtl="0" algn="l">
              <a:spcBef>
                <a:spcPts val="304"/>
              </a:spcBef>
              <a:spcAft>
                <a:spcPts val="0"/>
              </a:spcAft>
              <a:buClr>
                <a:schemeClr val="dk1"/>
              </a:buClr>
              <a:buSzPct val="100000"/>
              <a:buNone/>
            </a:pPr>
            <a:r>
              <a:rPr lang="en-GB">
                <a:solidFill>
                  <a:schemeClr val="dk1"/>
                </a:solidFill>
                <a:latin typeface="Century Gothic"/>
                <a:ea typeface="Century Gothic"/>
                <a:cs typeface="Century Gothic"/>
                <a:sym typeface="Century Gothic"/>
              </a:rPr>
              <a:t>The process of </a:t>
            </a:r>
            <a:r>
              <a:rPr b="1" lang="en-GB">
                <a:solidFill>
                  <a:schemeClr val="dk1"/>
                </a:solidFill>
                <a:latin typeface="Century Gothic"/>
                <a:ea typeface="Century Gothic"/>
                <a:cs typeface="Century Gothic"/>
                <a:sym typeface="Century Gothic"/>
              </a:rPr>
              <a:t>virtualising these objects </a:t>
            </a:r>
            <a:r>
              <a:rPr lang="en-GB">
                <a:solidFill>
                  <a:schemeClr val="dk1"/>
                </a:solidFill>
                <a:latin typeface="Century Gothic"/>
                <a:ea typeface="Century Gothic"/>
                <a:cs typeface="Century Gothic"/>
                <a:sym typeface="Century Gothic"/>
              </a:rPr>
              <a:t>is an example of abstraction.</a:t>
            </a:r>
            <a:endParaRPr/>
          </a:p>
          <a:p>
            <a:pPr indent="0" lvl="0" marL="0" rtl="0" algn="l">
              <a:spcBef>
                <a:spcPts val="304"/>
              </a:spcBef>
              <a:spcAft>
                <a:spcPts val="0"/>
              </a:spcAft>
              <a:buClr>
                <a:schemeClr val="dk1"/>
              </a:buClr>
              <a:buSzPct val="100000"/>
              <a:buNone/>
            </a:pPr>
            <a:r>
              <a:t/>
            </a:r>
            <a:endParaRPr/>
          </a:p>
          <a:p>
            <a:pPr indent="0" lvl="0" marL="0" rtl="0" algn="l">
              <a:spcBef>
                <a:spcPts val="304"/>
              </a:spcBef>
              <a:spcAft>
                <a:spcPts val="0"/>
              </a:spcAft>
              <a:buClr>
                <a:schemeClr val="dk1"/>
              </a:buClr>
              <a:buSzPct val="100000"/>
              <a:buNone/>
            </a:pPr>
            <a:r>
              <a:rPr lang="en-GB">
                <a:solidFill>
                  <a:schemeClr val="dk1"/>
                </a:solidFill>
                <a:latin typeface="Century Gothic"/>
                <a:ea typeface="Century Gothic"/>
                <a:cs typeface="Century Gothic"/>
                <a:sym typeface="Century Gothic"/>
              </a:rPr>
              <a:t>By virtualising the objects they are ensuring that the things these objects are (attributes) and the things these objects can do (methods) are those </a:t>
            </a:r>
            <a:r>
              <a:rPr b="1" lang="en-GB">
                <a:solidFill>
                  <a:schemeClr val="dk1"/>
                </a:solidFill>
                <a:latin typeface="Century Gothic"/>
                <a:ea typeface="Century Gothic"/>
                <a:cs typeface="Century Gothic"/>
                <a:sym typeface="Century Gothic"/>
              </a:rPr>
              <a:t>relevant to the solution</a:t>
            </a:r>
            <a:r>
              <a:rPr lang="en-GB">
                <a:solidFill>
                  <a:schemeClr val="dk1"/>
                </a:solidFill>
                <a:latin typeface="Century Gothic"/>
                <a:ea typeface="Century Gothic"/>
                <a:cs typeface="Century Gothic"/>
                <a:sym typeface="Century Gothic"/>
              </a:rPr>
              <a:t>. The programmer will therefore </a:t>
            </a:r>
            <a:r>
              <a:rPr b="1" lang="en-GB">
                <a:solidFill>
                  <a:schemeClr val="dk1"/>
                </a:solidFill>
                <a:latin typeface="Century Gothic"/>
                <a:ea typeface="Century Gothic"/>
                <a:cs typeface="Century Gothic"/>
                <a:sym typeface="Century Gothic"/>
              </a:rPr>
              <a:t>ignore all the other unimportant features</a:t>
            </a:r>
            <a:r>
              <a:rPr lang="en-GB">
                <a:solidFill>
                  <a:schemeClr val="dk1"/>
                </a:solidFill>
                <a:latin typeface="Century Gothic"/>
                <a:ea typeface="Century Gothic"/>
                <a:cs typeface="Century Gothic"/>
                <a:sym typeface="Century Gothic"/>
              </a:rPr>
              <a:t> about that real life object.</a:t>
            </a:r>
            <a:endParaRPr/>
          </a:p>
          <a:p>
            <a:pPr indent="0" lvl="0" marL="0" rtl="0" algn="l">
              <a:spcBef>
                <a:spcPts val="304"/>
              </a:spcBef>
              <a:spcAft>
                <a:spcPts val="0"/>
              </a:spcAft>
              <a:buClr>
                <a:schemeClr val="dk1"/>
              </a:buClr>
              <a:buSzPct val="100000"/>
              <a:buNone/>
            </a:pPr>
            <a:r>
              <a:t/>
            </a:r>
            <a:endParaRPr/>
          </a:p>
          <a:p>
            <a:pPr indent="0" lvl="0" marL="0" rtl="0" algn="l">
              <a:spcBef>
                <a:spcPts val="304"/>
              </a:spcBef>
              <a:spcAft>
                <a:spcPts val="0"/>
              </a:spcAft>
              <a:buClr>
                <a:schemeClr val="dk1"/>
              </a:buClr>
              <a:buSzPct val="100000"/>
              <a:buNone/>
            </a:pPr>
            <a:r>
              <a:rPr lang="en-GB">
                <a:solidFill>
                  <a:schemeClr val="dk1"/>
                </a:solidFill>
                <a:latin typeface="Century Gothic"/>
                <a:ea typeface="Century Gothic"/>
                <a:cs typeface="Century Gothic"/>
                <a:sym typeface="Century Gothic"/>
              </a:rPr>
              <a:t>For example, if a programmer wanted to create some banking software, they will obviously need to ensure that the program has users. In an OOP approach, these users would be human objects and when designing these objects they will be giving these human objects the attributes and methods required to enable the program to function and ignore all the other features about the users such as hair colour, height, skin colour, as these are not important in making the program fully functional.</a:t>
            </a:r>
            <a:endParaRPr/>
          </a:p>
          <a:p>
            <a:pPr indent="0" lvl="0" marL="0" rtl="0" algn="l">
              <a:spcBef>
                <a:spcPts val="304"/>
              </a:spcBef>
              <a:spcAft>
                <a:spcPts val="0"/>
              </a:spcAft>
              <a:buClr>
                <a:schemeClr val="dk1"/>
              </a:buClr>
              <a:buSzPct val="100000"/>
              <a:buNone/>
            </a:pPr>
            <a:r>
              <a:t/>
            </a:r>
            <a:endParaRPr/>
          </a:p>
          <a:p>
            <a:pPr indent="0" lvl="0" marL="0" rtl="0" algn="l">
              <a:spcBef>
                <a:spcPts val="304"/>
              </a:spcBef>
              <a:spcAft>
                <a:spcPts val="0"/>
              </a:spcAft>
              <a:buClr>
                <a:schemeClr val="dk1"/>
              </a:buClr>
              <a:buSzPct val="100000"/>
              <a:buNone/>
            </a:pPr>
            <a:r>
              <a:rPr b="1" lang="en-GB">
                <a:solidFill>
                  <a:schemeClr val="dk1"/>
                </a:solidFill>
                <a:latin typeface="Century Gothic"/>
                <a:ea typeface="Century Gothic"/>
                <a:cs typeface="Century Gothic"/>
                <a:sym typeface="Century Gothic"/>
              </a:rPr>
              <a:t>OOP</a:t>
            </a:r>
            <a:r>
              <a:rPr lang="en-GB">
                <a:solidFill>
                  <a:schemeClr val="dk1"/>
                </a:solidFill>
                <a:latin typeface="Century Gothic"/>
                <a:ea typeface="Century Gothic"/>
                <a:cs typeface="Century Gothic"/>
                <a:sym typeface="Century Gothic"/>
              </a:rPr>
              <a:t> is therefore a </a:t>
            </a:r>
            <a:r>
              <a:rPr b="1" lang="en-GB">
                <a:solidFill>
                  <a:schemeClr val="dk1"/>
                </a:solidFill>
                <a:latin typeface="Century Gothic"/>
                <a:ea typeface="Century Gothic"/>
                <a:cs typeface="Century Gothic"/>
                <a:sym typeface="Century Gothic"/>
              </a:rPr>
              <a:t>great example of abstraction</a:t>
            </a:r>
            <a:r>
              <a:rPr lang="en-GB">
                <a:solidFill>
                  <a:schemeClr val="dk1"/>
                </a:solidFill>
                <a:latin typeface="Century Gothic"/>
                <a:ea typeface="Century Gothic"/>
                <a:cs typeface="Century Gothic"/>
                <a:sym typeface="Century Gothic"/>
              </a:rPr>
              <a:t>.</a:t>
            </a:r>
            <a:endParaRPr/>
          </a:p>
          <a:p>
            <a:pPr indent="0" lvl="0" marL="0" rtl="0" algn="l">
              <a:spcBef>
                <a:spcPts val="304"/>
              </a:spcBef>
              <a:spcAft>
                <a:spcPts val="0"/>
              </a:spcAft>
              <a:buClr>
                <a:schemeClr val="dk1"/>
              </a:buClr>
              <a:buSzPct val="100000"/>
              <a:buNone/>
            </a:pPr>
            <a:r>
              <a:t/>
            </a:r>
            <a:endParaRPr/>
          </a:p>
        </p:txBody>
      </p:sp>
      <p:sp>
        <p:nvSpPr>
          <p:cNvPr id="302" name="Google Shape;302;p17"/>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idx="1" type="body"/>
          </p:nvPr>
        </p:nvSpPr>
        <p:spPr>
          <a:xfrm>
            <a:off x="467544" y="1308798"/>
            <a:ext cx="8496944" cy="5194838"/>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b="1" lang="en-GB" sz="2800">
                <a:solidFill>
                  <a:schemeClr val="dk1"/>
                </a:solidFill>
                <a:latin typeface="Century Gothic"/>
                <a:ea typeface="Century Gothic"/>
                <a:cs typeface="Century Gothic"/>
                <a:sym typeface="Century Gothic"/>
              </a:rPr>
              <a:t>Class Diagrams</a:t>
            </a:r>
            <a:endParaRPr/>
          </a:p>
          <a:p>
            <a:pPr indent="0" lvl="0" marL="0" rtl="0" algn="l">
              <a:spcBef>
                <a:spcPts val="220"/>
              </a:spcBef>
              <a:spcAft>
                <a:spcPts val="0"/>
              </a:spcAft>
              <a:buClr>
                <a:schemeClr val="dk1"/>
              </a:buClr>
              <a:buSzPts val="1100"/>
              <a:buNone/>
            </a:pPr>
            <a:r>
              <a:t/>
            </a:r>
            <a:endParaRPr b="1" i="1" sz="11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We can define the class for an object in a diagram.</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	  </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p:txBody>
      </p:sp>
      <p:grpSp>
        <p:nvGrpSpPr>
          <p:cNvPr id="308" name="Google Shape;308;p18"/>
          <p:cNvGrpSpPr/>
          <p:nvPr/>
        </p:nvGrpSpPr>
        <p:grpSpPr>
          <a:xfrm>
            <a:off x="1600200" y="3006473"/>
            <a:ext cx="1998345" cy="2366275"/>
            <a:chOff x="0" y="0"/>
            <a:chExt cx="2208362" cy="2366645"/>
          </a:xfrm>
        </p:grpSpPr>
        <p:grpSp>
          <p:nvGrpSpPr>
            <p:cNvPr id="309" name="Google Shape;309;p18"/>
            <p:cNvGrpSpPr/>
            <p:nvPr/>
          </p:nvGrpSpPr>
          <p:grpSpPr>
            <a:xfrm>
              <a:off x="0" y="0"/>
              <a:ext cx="2208362" cy="2366645"/>
              <a:chOff x="0" y="0"/>
              <a:chExt cx="2208362" cy="2719291"/>
            </a:xfrm>
          </p:grpSpPr>
          <p:sp>
            <p:nvSpPr>
              <p:cNvPr id="310" name="Google Shape;310;p18"/>
              <p:cNvSpPr/>
              <p:nvPr/>
            </p:nvSpPr>
            <p:spPr>
              <a:xfrm>
                <a:off x="0" y="0"/>
                <a:ext cx="2208362" cy="2719291"/>
              </a:xfrm>
              <a:prstGeom prst="flowChartAlternateProcess">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cxnSp>
            <p:nvCxnSpPr>
              <p:cNvPr id="311" name="Google Shape;311;p18"/>
              <p:cNvCxnSpPr/>
              <p:nvPr/>
            </p:nvCxnSpPr>
            <p:spPr>
              <a:xfrm>
                <a:off x="0" y="543464"/>
                <a:ext cx="2207895" cy="0"/>
              </a:xfrm>
              <a:prstGeom prst="straightConnector1">
                <a:avLst/>
              </a:prstGeom>
              <a:solidFill>
                <a:schemeClr val="lt1"/>
              </a:solidFill>
              <a:ln cap="flat" cmpd="sng" w="25400">
                <a:solidFill>
                  <a:schemeClr val="dk1"/>
                </a:solidFill>
                <a:prstDash val="solid"/>
                <a:round/>
                <a:headEnd len="sm" w="sm" type="none"/>
                <a:tailEnd len="sm" w="sm" type="none"/>
              </a:ln>
            </p:spPr>
          </p:cxnSp>
          <p:cxnSp>
            <p:nvCxnSpPr>
              <p:cNvPr id="312" name="Google Shape;312;p18"/>
              <p:cNvCxnSpPr/>
              <p:nvPr/>
            </p:nvCxnSpPr>
            <p:spPr>
              <a:xfrm>
                <a:off x="0" y="1733910"/>
                <a:ext cx="2207895" cy="0"/>
              </a:xfrm>
              <a:prstGeom prst="straightConnector1">
                <a:avLst/>
              </a:prstGeom>
              <a:solidFill>
                <a:schemeClr val="lt1"/>
              </a:solidFill>
              <a:ln cap="flat" cmpd="sng" w="25400">
                <a:solidFill>
                  <a:schemeClr val="dk1"/>
                </a:solidFill>
                <a:prstDash val="solid"/>
                <a:round/>
                <a:headEnd len="sm" w="sm" type="none"/>
                <a:tailEnd len="sm" w="sm" type="none"/>
              </a:ln>
            </p:spPr>
          </p:cxnSp>
        </p:grpSp>
        <p:sp>
          <p:nvSpPr>
            <p:cNvPr id="313" name="Google Shape;313;p18"/>
            <p:cNvSpPr txBox="1"/>
            <p:nvPr/>
          </p:nvSpPr>
          <p:spPr>
            <a:xfrm>
              <a:off x="257175" y="57150"/>
              <a:ext cx="1742536" cy="3619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GB" sz="900">
                  <a:solidFill>
                    <a:schemeClr val="dk1"/>
                  </a:solidFill>
                  <a:latin typeface="Century Gothic"/>
                  <a:ea typeface="Century Gothic"/>
                  <a:cs typeface="Century Gothic"/>
                  <a:sym typeface="Century Gothic"/>
                </a:rPr>
                <a:t>Class Name:</a:t>
              </a:r>
              <a:endParaRPr sz="1100">
                <a:solidFill>
                  <a:schemeClr val="dk1"/>
                </a:solidFill>
                <a:latin typeface="Century Gothic"/>
                <a:ea typeface="Century Gothic"/>
                <a:cs typeface="Century Gothic"/>
                <a:sym typeface="Century Gothic"/>
              </a:endParaRPr>
            </a:p>
            <a:p>
              <a:pPr indent="0" lvl="0" marL="0" marR="0" rtl="0" algn="ctr">
                <a:lnSpc>
                  <a:spcPct val="107000"/>
                </a:lnSpc>
                <a:spcBef>
                  <a:spcPts val="0"/>
                </a:spcBef>
                <a:spcAft>
                  <a:spcPts val="0"/>
                </a:spcAft>
                <a:buNone/>
              </a:pPr>
              <a:r>
                <a:rPr lang="en-GB" sz="900">
                  <a:solidFill>
                    <a:schemeClr val="dk1"/>
                  </a:solidFill>
                  <a:latin typeface="Century Gothic"/>
                  <a:ea typeface="Century Gothic"/>
                  <a:cs typeface="Century Gothic"/>
                  <a:sym typeface="Century Gothic"/>
                </a:rPr>
                <a:t>User</a:t>
              </a:r>
              <a:endParaRPr sz="1100">
                <a:solidFill>
                  <a:schemeClr val="dk1"/>
                </a:solidFill>
                <a:latin typeface="Century Gothic"/>
                <a:ea typeface="Century Gothic"/>
                <a:cs typeface="Century Gothic"/>
                <a:sym typeface="Century Gothic"/>
              </a:endParaRPr>
            </a:p>
          </p:txBody>
        </p:sp>
        <p:sp>
          <p:nvSpPr>
            <p:cNvPr id="314" name="Google Shape;314;p18"/>
            <p:cNvSpPr txBox="1"/>
            <p:nvPr/>
          </p:nvSpPr>
          <p:spPr>
            <a:xfrm>
              <a:off x="257175" y="552450"/>
              <a:ext cx="1742536" cy="86233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GB" sz="900">
                  <a:solidFill>
                    <a:schemeClr val="dk1"/>
                  </a:solidFill>
                  <a:latin typeface="Century Gothic"/>
                  <a:ea typeface="Century Gothic"/>
                  <a:cs typeface="Century Gothic"/>
                  <a:sym typeface="Century Gothic"/>
                </a:rPr>
                <a:t>Attributes:</a:t>
              </a:r>
              <a:endParaRPr sz="1100">
                <a:solidFill>
                  <a:schemeClr val="dk1"/>
                </a:solidFill>
                <a:latin typeface="Century Gothic"/>
                <a:ea typeface="Century Gothic"/>
                <a:cs typeface="Century Gothic"/>
                <a:sym typeface="Century Gothic"/>
              </a:endParaRPr>
            </a:p>
            <a:p>
              <a:pPr indent="0" lvl="0" marL="0" marR="0" rtl="0" algn="ctr">
                <a:lnSpc>
                  <a:spcPct val="107000"/>
                </a:lnSpc>
                <a:spcBef>
                  <a:spcPts val="0"/>
                </a:spcBef>
                <a:spcAft>
                  <a:spcPts val="0"/>
                </a:spcAft>
                <a:buNone/>
              </a:pPr>
              <a:r>
                <a:rPr lang="en-GB" sz="900">
                  <a:solidFill>
                    <a:schemeClr val="dk1"/>
                  </a:solidFill>
                  <a:latin typeface="Century Gothic"/>
                  <a:ea typeface="Century Gothic"/>
                  <a:cs typeface="Century Gothic"/>
                  <a:sym typeface="Century Gothic"/>
                </a:rPr>
                <a:t>Name</a:t>
              </a:r>
              <a:endParaRPr sz="1100">
                <a:solidFill>
                  <a:schemeClr val="dk1"/>
                </a:solidFill>
                <a:latin typeface="Century Gothic"/>
                <a:ea typeface="Century Gothic"/>
                <a:cs typeface="Century Gothic"/>
                <a:sym typeface="Century Gothic"/>
              </a:endParaRPr>
            </a:p>
            <a:p>
              <a:pPr indent="0" lvl="0" marL="0" marR="0" rtl="0" algn="ctr">
                <a:lnSpc>
                  <a:spcPct val="107000"/>
                </a:lnSpc>
                <a:spcBef>
                  <a:spcPts val="0"/>
                </a:spcBef>
                <a:spcAft>
                  <a:spcPts val="0"/>
                </a:spcAft>
                <a:buNone/>
              </a:pPr>
              <a:r>
                <a:rPr lang="en-GB" sz="900">
                  <a:solidFill>
                    <a:schemeClr val="dk1"/>
                  </a:solidFill>
                  <a:latin typeface="Century Gothic"/>
                  <a:ea typeface="Century Gothic"/>
                  <a:cs typeface="Century Gothic"/>
                  <a:sym typeface="Century Gothic"/>
                </a:rPr>
                <a:t>Age</a:t>
              </a:r>
              <a:endParaRPr/>
            </a:p>
            <a:p>
              <a:pPr indent="0" lvl="0" marL="0" marR="0" rtl="0" algn="ctr">
                <a:lnSpc>
                  <a:spcPct val="107000"/>
                </a:lnSpc>
                <a:spcBef>
                  <a:spcPts val="0"/>
                </a:spcBef>
                <a:spcAft>
                  <a:spcPts val="0"/>
                </a:spcAft>
                <a:buNone/>
              </a:pPr>
              <a:r>
                <a:rPr lang="en-GB" sz="900">
                  <a:solidFill>
                    <a:schemeClr val="dk1"/>
                  </a:solidFill>
                  <a:latin typeface="Century Gothic"/>
                  <a:ea typeface="Century Gothic"/>
                  <a:cs typeface="Century Gothic"/>
                  <a:sym typeface="Century Gothic"/>
                </a:rPr>
                <a:t>Nationality</a:t>
              </a:r>
              <a:endParaRPr sz="1100">
                <a:solidFill>
                  <a:schemeClr val="dk1"/>
                </a:solidFill>
                <a:latin typeface="Century Gothic"/>
                <a:ea typeface="Century Gothic"/>
                <a:cs typeface="Century Gothic"/>
                <a:sym typeface="Century Gothic"/>
              </a:endParaRPr>
            </a:p>
          </p:txBody>
        </p:sp>
        <p:sp>
          <p:nvSpPr>
            <p:cNvPr id="315" name="Google Shape;315;p18"/>
            <p:cNvSpPr txBox="1"/>
            <p:nvPr/>
          </p:nvSpPr>
          <p:spPr>
            <a:xfrm>
              <a:off x="257175" y="1590675"/>
              <a:ext cx="1742536" cy="67740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GB" sz="900">
                  <a:solidFill>
                    <a:schemeClr val="dk1"/>
                  </a:solidFill>
                  <a:latin typeface="Century Gothic"/>
                  <a:ea typeface="Century Gothic"/>
                  <a:cs typeface="Century Gothic"/>
                  <a:sym typeface="Century Gothic"/>
                </a:rPr>
                <a:t>Methods:</a:t>
              </a:r>
              <a:endParaRPr sz="1100">
                <a:solidFill>
                  <a:schemeClr val="dk1"/>
                </a:solidFill>
                <a:latin typeface="Century Gothic"/>
                <a:ea typeface="Century Gothic"/>
                <a:cs typeface="Century Gothic"/>
                <a:sym typeface="Century Gothic"/>
              </a:endParaRPr>
            </a:p>
            <a:p>
              <a:pPr indent="0" lvl="0" marL="0" marR="0" rtl="0" algn="ctr">
                <a:lnSpc>
                  <a:spcPct val="107000"/>
                </a:lnSpc>
                <a:spcBef>
                  <a:spcPts val="0"/>
                </a:spcBef>
                <a:spcAft>
                  <a:spcPts val="0"/>
                </a:spcAft>
                <a:buNone/>
              </a:pPr>
              <a:r>
                <a:rPr lang="en-GB" sz="900">
                  <a:solidFill>
                    <a:schemeClr val="dk1"/>
                  </a:solidFill>
                  <a:latin typeface="Century Gothic"/>
                  <a:ea typeface="Century Gothic"/>
                  <a:cs typeface="Century Gothic"/>
                  <a:sym typeface="Century Gothic"/>
                </a:rPr>
                <a:t>Deposit</a:t>
              </a:r>
              <a:endParaRPr/>
            </a:p>
            <a:p>
              <a:pPr indent="0" lvl="0" marL="0" marR="0" rtl="0" algn="ctr">
                <a:lnSpc>
                  <a:spcPct val="107000"/>
                </a:lnSpc>
                <a:spcBef>
                  <a:spcPts val="0"/>
                </a:spcBef>
                <a:spcAft>
                  <a:spcPts val="0"/>
                </a:spcAft>
                <a:buNone/>
              </a:pPr>
              <a:r>
                <a:rPr lang="en-GB" sz="900">
                  <a:solidFill>
                    <a:schemeClr val="dk1"/>
                  </a:solidFill>
                  <a:latin typeface="Century Gothic"/>
                  <a:ea typeface="Century Gothic"/>
                  <a:cs typeface="Century Gothic"/>
                  <a:sym typeface="Century Gothic"/>
                </a:rPr>
                <a:t>Withdraw</a:t>
              </a:r>
              <a:endParaRPr sz="1100">
                <a:solidFill>
                  <a:schemeClr val="dk1"/>
                </a:solidFill>
                <a:latin typeface="Century Gothic"/>
                <a:ea typeface="Century Gothic"/>
                <a:cs typeface="Century Gothic"/>
                <a:sym typeface="Century Gothic"/>
              </a:endParaRPr>
            </a:p>
          </p:txBody>
        </p:sp>
      </p:grpSp>
      <p:sp>
        <p:nvSpPr>
          <p:cNvPr id="316" name="Google Shape;316;p18"/>
          <p:cNvSpPr/>
          <p:nvPr/>
        </p:nvSpPr>
        <p:spPr>
          <a:xfrm>
            <a:off x="4191000" y="2651317"/>
            <a:ext cx="4621088"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It simply describes the NAME, ATTRIBUTES and METHODS for a class.</a:t>
            </a:r>
            <a:endParaRPr/>
          </a:p>
          <a:p>
            <a:pPr indent="0" lvl="0" marL="0" marR="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Obviously a user will have hundreds or attributes (skin colour, gender etc.) and hundreds of methods (speak, eat, laugh etc.)…</a:t>
            </a:r>
            <a:endParaRPr/>
          </a:p>
          <a:p>
            <a:pPr indent="0" lvl="0" marL="0" marR="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…but as most of these are not relevant to the software problem, they are ignored when creating the user class and therefore software objects.</a:t>
            </a:r>
            <a:endParaRPr/>
          </a:p>
          <a:p>
            <a:pPr indent="0" lvl="0" marL="0" marR="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…again, an example of abstraction.</a:t>
            </a:r>
            <a:endParaRPr/>
          </a:p>
        </p:txBody>
      </p:sp>
      <p:sp>
        <p:nvSpPr>
          <p:cNvPr id="317" name="Google Shape;317;p18"/>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gtEl>
                                        <p:attrNameLst>
                                          <p:attrName>style.visibility</p:attrName>
                                        </p:attrNameLst>
                                      </p:cBhvr>
                                      <p:to>
                                        <p:strVal val="visible"/>
                                      </p:to>
                                    </p:set>
                                    <p:anim calcmode="lin" valueType="num">
                                      <p:cBhvr additive="base">
                                        <p:cTn dur="500"/>
                                        <p:tgtEl>
                                          <p:spTgt spid="3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 calcmode="lin" valueType="num">
                                      <p:cBhvr additive="base">
                                        <p:cTn dur="500"/>
                                        <p:tgtEl>
                                          <p:spTgt spid="31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 calcmode="lin" valueType="num">
                                      <p:cBhvr additive="base">
                                        <p:cTn dur="500"/>
                                        <p:tgtEl>
                                          <p:spTgt spid="31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anim calcmode="lin" valueType="num">
                                      <p:cBhvr additive="base">
                                        <p:cTn dur="500"/>
                                        <p:tgtEl>
                                          <p:spTgt spid="31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anim calcmode="lin" valueType="num">
                                      <p:cBhvr additive="base">
                                        <p:cTn dur="500"/>
                                        <p:tgtEl>
                                          <p:spTgt spid="31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anim calcmode="lin" valueType="num">
                                      <p:cBhvr additive="base">
                                        <p:cTn dur="500"/>
                                        <p:tgtEl>
                                          <p:spTgt spid="31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5" st="5"/>
                                            </p:txEl>
                                          </p:spTgt>
                                        </p:tgtEl>
                                        <p:attrNameLst>
                                          <p:attrName>style.visibility</p:attrName>
                                        </p:attrNameLst>
                                      </p:cBhvr>
                                      <p:to>
                                        <p:strVal val="visible"/>
                                      </p:to>
                                    </p:set>
                                    <p:anim calcmode="lin" valueType="num">
                                      <p:cBhvr additive="base">
                                        <p:cTn dur="500"/>
                                        <p:tgtEl>
                                          <p:spTgt spid="31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6" st="6"/>
                                            </p:txEl>
                                          </p:spTgt>
                                        </p:tgtEl>
                                        <p:attrNameLst>
                                          <p:attrName>style.visibility</p:attrName>
                                        </p:attrNameLst>
                                      </p:cBhvr>
                                      <p:to>
                                        <p:strVal val="visible"/>
                                      </p:to>
                                    </p:set>
                                    <p:anim calcmode="lin" valueType="num">
                                      <p:cBhvr additive="base">
                                        <p:cTn dur="500"/>
                                        <p:tgtEl>
                                          <p:spTgt spid="31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9"/>
          <p:cNvSpPr txBox="1"/>
          <p:nvPr>
            <p:ph idx="1" type="body"/>
          </p:nvPr>
        </p:nvSpPr>
        <p:spPr>
          <a:xfrm>
            <a:off x="467544" y="1308798"/>
            <a:ext cx="8496944" cy="5194838"/>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b="1" lang="en-GB" sz="2800">
                <a:solidFill>
                  <a:schemeClr val="dk1"/>
                </a:solidFill>
                <a:latin typeface="Century Gothic"/>
                <a:ea typeface="Century Gothic"/>
                <a:cs typeface="Century Gothic"/>
                <a:sym typeface="Century Gothic"/>
              </a:rPr>
              <a:t>Class Diagrams</a:t>
            </a:r>
            <a:endParaRPr/>
          </a:p>
          <a:p>
            <a:pPr indent="0" lvl="0" marL="0" rtl="0" algn="l">
              <a:spcBef>
                <a:spcPts val="220"/>
              </a:spcBef>
              <a:spcAft>
                <a:spcPts val="0"/>
              </a:spcAft>
              <a:buClr>
                <a:schemeClr val="dk1"/>
              </a:buClr>
              <a:buSzPts val="1100"/>
              <a:buNone/>
            </a:pPr>
            <a:r>
              <a:t/>
            </a:r>
            <a:endParaRPr b="1" i="1" sz="11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In OOP we can also use inheritance so that slightly altered classes can be derived from a parent class:</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	  </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p:txBody>
      </p:sp>
      <p:sp>
        <p:nvSpPr>
          <p:cNvPr id="323" name="Google Shape;323;p19"/>
          <p:cNvSpPr/>
          <p:nvPr/>
        </p:nvSpPr>
        <p:spPr>
          <a:xfrm>
            <a:off x="4589188" y="5887725"/>
            <a:ext cx="45327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…again, a further example of abstraction.</a:t>
            </a:r>
            <a:endParaRPr/>
          </a:p>
        </p:txBody>
      </p:sp>
      <p:pic>
        <p:nvPicPr>
          <p:cNvPr id="324" name="Google Shape;324;p19"/>
          <p:cNvPicPr preferRelativeResize="0"/>
          <p:nvPr/>
        </p:nvPicPr>
        <p:blipFill rotWithShape="1">
          <a:blip r:embed="rId3">
            <a:alphaModFix/>
          </a:blip>
          <a:srcRect b="0" l="0" r="0" t="0"/>
          <a:stretch/>
        </p:blipFill>
        <p:spPr>
          <a:xfrm>
            <a:off x="2438400" y="2767316"/>
            <a:ext cx="1787947" cy="2111070"/>
          </a:xfrm>
          <a:prstGeom prst="rect">
            <a:avLst/>
          </a:prstGeom>
          <a:noFill/>
          <a:ln>
            <a:noFill/>
          </a:ln>
        </p:spPr>
      </p:pic>
      <p:pic>
        <p:nvPicPr>
          <p:cNvPr id="325" name="Google Shape;325;p19"/>
          <p:cNvPicPr preferRelativeResize="0"/>
          <p:nvPr/>
        </p:nvPicPr>
        <p:blipFill rotWithShape="1">
          <a:blip r:embed="rId4">
            <a:alphaModFix/>
          </a:blip>
          <a:srcRect b="0" l="0" r="0" t="0"/>
          <a:stretch/>
        </p:blipFill>
        <p:spPr>
          <a:xfrm>
            <a:off x="4978512" y="4161512"/>
            <a:ext cx="1762399" cy="1629688"/>
          </a:xfrm>
          <a:prstGeom prst="rect">
            <a:avLst/>
          </a:prstGeom>
          <a:noFill/>
          <a:ln>
            <a:noFill/>
          </a:ln>
        </p:spPr>
      </p:pic>
      <p:sp>
        <p:nvSpPr>
          <p:cNvPr id="326" name="Google Shape;326;p19"/>
          <p:cNvSpPr/>
          <p:nvPr/>
        </p:nvSpPr>
        <p:spPr>
          <a:xfrm rot="-1869312">
            <a:off x="4445963" y="3748596"/>
            <a:ext cx="360040" cy="453444"/>
          </a:xfrm>
          <a:prstGeom prst="down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7" name="Google Shape;327;p19"/>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gtEl>
                                        <p:attrNameLst>
                                          <p:attrName>style.visibility</p:attrName>
                                        </p:attrNameLst>
                                      </p:cBhvr>
                                      <p:to>
                                        <p:strVal val="visible"/>
                                      </p:to>
                                    </p:set>
                                    <p:anim calcmode="lin" valueType="num">
                                      <p:cBhvr additive="base">
                                        <p:cTn dur="500"/>
                                        <p:tgtEl>
                                          <p:spTgt spid="3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 calcmode="lin" valueType="num">
                                      <p:cBhvr additive="base">
                                        <p:cTn dur="500"/>
                                        <p:tgtEl>
                                          <p:spTgt spid="32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ph type="title"/>
          </p:nvPr>
        </p:nvSpPr>
        <p:spPr>
          <a:xfrm>
            <a:off x="609600" y="2362200"/>
            <a:ext cx="8229600" cy="8549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Gothic"/>
              <a:buNone/>
            </a:pPr>
            <a:r>
              <a:rPr lang="en-GB"/>
              <a:t>Decomposition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1"/>
          <p:cNvSpPr txBox="1"/>
          <p:nvPr>
            <p:ph idx="1" type="body"/>
          </p:nvPr>
        </p:nvSpPr>
        <p:spPr>
          <a:xfrm>
            <a:off x="467544" y="1308798"/>
            <a:ext cx="8496944" cy="51948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rPr b="1" lang="en-GB" sz="2000">
                <a:solidFill>
                  <a:schemeClr val="dk1"/>
                </a:solidFill>
                <a:latin typeface="Century Gothic"/>
                <a:ea typeface="Century Gothic"/>
                <a:cs typeface="Century Gothic"/>
                <a:sym typeface="Century Gothic"/>
              </a:rPr>
              <a:t>Problem Decomposition</a:t>
            </a:r>
            <a:endParaRPr/>
          </a:p>
          <a:p>
            <a:pPr indent="0" lvl="0" marL="0" rtl="0" algn="l">
              <a:spcBef>
                <a:spcPts val="20"/>
              </a:spcBef>
              <a:spcAft>
                <a:spcPts val="0"/>
              </a:spcAft>
              <a:buClr>
                <a:schemeClr val="dk1"/>
              </a:buClr>
              <a:buSzPts val="100"/>
              <a:buNone/>
            </a:pPr>
            <a:r>
              <a:t/>
            </a:r>
            <a:endParaRPr b="1" sz="1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Once a problem is recognised, defined and accepted as solvable, the next job is to solve it.</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Often its too big a task to solve it in one go, so problems are better solved broken down into sub problems.</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This is decomposition, also known as the ‘Divide and Conquer’ technique…</a:t>
            </a:r>
            <a:endParaRPr/>
          </a:p>
          <a:p>
            <a:pPr indent="0" lvl="0" marL="0" rtl="0" algn="r">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 by dividing the problem, we can conquer it!</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Methods may include producing a </a:t>
            </a:r>
            <a:r>
              <a:rPr b="1" lang="en-GB" sz="1600">
                <a:solidFill>
                  <a:schemeClr val="dk1"/>
                </a:solidFill>
                <a:latin typeface="Century Gothic"/>
                <a:ea typeface="Century Gothic"/>
                <a:cs typeface="Century Gothic"/>
                <a:sym typeface="Century Gothic"/>
              </a:rPr>
              <a:t>Top Down / Stepwise refinement diagram to help break the problem down.</a:t>
            </a:r>
            <a:endParaRPr/>
          </a:p>
          <a:p>
            <a:pPr indent="0" lvl="0" marL="0" rtl="0" algn="l">
              <a:spcBef>
                <a:spcPts val="280"/>
              </a:spcBef>
              <a:spcAft>
                <a:spcPts val="0"/>
              </a:spcAft>
              <a:buClr>
                <a:schemeClr val="dk1"/>
              </a:buClr>
              <a:buSzPts val="1400"/>
              <a:buNone/>
            </a:pPr>
            <a:r>
              <a:t/>
            </a:r>
            <a:endParaRPr b="1" sz="1400"/>
          </a:p>
        </p:txBody>
      </p:sp>
      <p:grpSp>
        <p:nvGrpSpPr>
          <p:cNvPr id="339" name="Google Shape;339;p21"/>
          <p:cNvGrpSpPr/>
          <p:nvPr/>
        </p:nvGrpSpPr>
        <p:grpSpPr>
          <a:xfrm>
            <a:off x="2134250" y="4688451"/>
            <a:ext cx="5327291" cy="1799440"/>
            <a:chOff x="650" y="726051"/>
            <a:chExt cx="5327291" cy="1799440"/>
          </a:xfrm>
        </p:grpSpPr>
        <p:sp>
          <p:nvSpPr>
            <p:cNvPr id="340" name="Google Shape;340;p21"/>
            <p:cNvSpPr/>
            <p:nvPr/>
          </p:nvSpPr>
          <p:spPr>
            <a:xfrm>
              <a:off x="2309143" y="726051"/>
              <a:ext cx="710305" cy="473536"/>
            </a:xfrm>
            <a:prstGeom prst="roundRect">
              <a:avLst>
                <a:gd fmla="val 10000" name="adj"/>
              </a:avLst>
            </a:prstGeom>
            <a:gradFill>
              <a:gsLst>
                <a:gs pos="0">
                  <a:srgbClr val="9FC3FF"/>
                </a:gs>
                <a:gs pos="35000">
                  <a:srgbClr val="BDD5FF"/>
                </a:gs>
                <a:gs pos="100000">
                  <a:srgbClr val="E4EEFF"/>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1"/>
            <p:cNvSpPr txBox="1"/>
            <p:nvPr/>
          </p:nvSpPr>
          <p:spPr>
            <a:xfrm>
              <a:off x="2323012" y="739920"/>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Large Complex Problem</a:t>
              </a:r>
              <a:endParaRPr/>
            </a:p>
          </p:txBody>
        </p:sp>
        <p:sp>
          <p:nvSpPr>
            <p:cNvPr id="342" name="Google Shape;342;p21"/>
            <p:cNvSpPr/>
            <p:nvPr/>
          </p:nvSpPr>
          <p:spPr>
            <a:xfrm>
              <a:off x="817501" y="1199588"/>
              <a:ext cx="1846794" cy="189414"/>
            </a:xfrm>
            <a:custGeom>
              <a:rect b="b" l="l" r="r" t="t"/>
              <a:pathLst>
                <a:path extrusionOk="0" h="120000" w="120000">
                  <a:moveTo>
                    <a:pt x="120000" y="0"/>
                  </a:moveTo>
                  <a:lnTo>
                    <a:pt x="120000" y="60000"/>
                  </a:lnTo>
                  <a:lnTo>
                    <a:pt x="0" y="60000"/>
                  </a:lnTo>
                  <a:lnTo>
                    <a:pt x="0" y="120000"/>
                  </a:lnTo>
                </a:path>
              </a:pathLst>
            </a:custGeom>
            <a:noFill/>
            <a:ln cap="flat" cmpd="sng" w="25400">
              <a:solidFill>
                <a:srgbClr val="BF504D"/>
              </a:solidFill>
              <a:prstDash val="solid"/>
              <a:round/>
              <a:headEnd len="sm" w="sm" type="none"/>
              <a:tailEnd len="sm" w="sm" type="none"/>
            </a:ln>
          </p:spPr>
        </p:sp>
        <p:sp>
          <p:nvSpPr>
            <p:cNvPr id="343" name="Google Shape;343;p21"/>
            <p:cNvSpPr/>
            <p:nvPr/>
          </p:nvSpPr>
          <p:spPr>
            <a:xfrm>
              <a:off x="462349"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1"/>
            <p:cNvSpPr txBox="1"/>
            <p:nvPr/>
          </p:nvSpPr>
          <p:spPr>
            <a:xfrm>
              <a:off x="476218" y="1402872"/>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Problem Element 1</a:t>
              </a:r>
              <a:endParaRPr/>
            </a:p>
          </p:txBody>
        </p:sp>
        <p:sp>
          <p:nvSpPr>
            <p:cNvPr id="345" name="Google Shape;345;p21"/>
            <p:cNvSpPr/>
            <p:nvPr/>
          </p:nvSpPr>
          <p:spPr>
            <a:xfrm>
              <a:off x="355803"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346" name="Google Shape;346;p21"/>
            <p:cNvSpPr/>
            <p:nvPr/>
          </p:nvSpPr>
          <p:spPr>
            <a:xfrm>
              <a:off x="650"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1"/>
            <p:cNvSpPr txBox="1"/>
            <p:nvPr/>
          </p:nvSpPr>
          <p:spPr>
            <a:xfrm>
              <a:off x="14519"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1</a:t>
              </a:r>
              <a:endParaRPr/>
            </a:p>
          </p:txBody>
        </p:sp>
        <p:sp>
          <p:nvSpPr>
            <p:cNvPr id="348" name="Google Shape;348;p21"/>
            <p:cNvSpPr/>
            <p:nvPr/>
          </p:nvSpPr>
          <p:spPr>
            <a:xfrm>
              <a:off x="817501"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349" name="Google Shape;349;p21"/>
            <p:cNvSpPr/>
            <p:nvPr/>
          </p:nvSpPr>
          <p:spPr>
            <a:xfrm>
              <a:off x="924047"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1"/>
            <p:cNvSpPr txBox="1"/>
            <p:nvPr/>
          </p:nvSpPr>
          <p:spPr>
            <a:xfrm>
              <a:off x="937916"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2</a:t>
              </a:r>
              <a:endParaRPr/>
            </a:p>
          </p:txBody>
        </p:sp>
        <p:sp>
          <p:nvSpPr>
            <p:cNvPr id="351" name="Google Shape;351;p21"/>
            <p:cNvSpPr/>
            <p:nvPr/>
          </p:nvSpPr>
          <p:spPr>
            <a:xfrm>
              <a:off x="2618575" y="1199588"/>
              <a:ext cx="91440" cy="189414"/>
            </a:xfrm>
            <a:custGeom>
              <a:rect b="b" l="l" r="r" t="t"/>
              <a:pathLst>
                <a:path extrusionOk="0" h="120000" w="120000">
                  <a:moveTo>
                    <a:pt x="60000" y="0"/>
                  </a:moveTo>
                  <a:lnTo>
                    <a:pt x="60000" y="120000"/>
                  </a:lnTo>
                </a:path>
              </a:pathLst>
            </a:custGeom>
            <a:noFill/>
            <a:ln cap="flat" cmpd="sng" w="25400">
              <a:solidFill>
                <a:srgbClr val="BF504D"/>
              </a:solidFill>
              <a:prstDash val="solid"/>
              <a:round/>
              <a:headEnd len="sm" w="sm" type="none"/>
              <a:tailEnd len="sm" w="sm" type="none"/>
            </a:ln>
          </p:spPr>
        </p:sp>
        <p:sp>
          <p:nvSpPr>
            <p:cNvPr id="352" name="Google Shape;352;p21"/>
            <p:cNvSpPr/>
            <p:nvPr/>
          </p:nvSpPr>
          <p:spPr>
            <a:xfrm>
              <a:off x="2309143"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1"/>
            <p:cNvSpPr txBox="1"/>
            <p:nvPr/>
          </p:nvSpPr>
          <p:spPr>
            <a:xfrm>
              <a:off x="2323012" y="1402872"/>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Problem Element 2</a:t>
              </a:r>
              <a:endParaRPr/>
            </a:p>
          </p:txBody>
        </p:sp>
        <p:sp>
          <p:nvSpPr>
            <p:cNvPr id="354" name="Google Shape;354;p21"/>
            <p:cNvSpPr/>
            <p:nvPr/>
          </p:nvSpPr>
          <p:spPr>
            <a:xfrm>
              <a:off x="2202597"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355" name="Google Shape;355;p21"/>
            <p:cNvSpPr/>
            <p:nvPr/>
          </p:nvSpPr>
          <p:spPr>
            <a:xfrm>
              <a:off x="1847444"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1"/>
            <p:cNvSpPr txBox="1"/>
            <p:nvPr/>
          </p:nvSpPr>
          <p:spPr>
            <a:xfrm>
              <a:off x="1861313"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1</a:t>
              </a:r>
              <a:endParaRPr/>
            </a:p>
          </p:txBody>
        </p:sp>
        <p:sp>
          <p:nvSpPr>
            <p:cNvPr id="357" name="Google Shape;357;p21"/>
            <p:cNvSpPr/>
            <p:nvPr/>
          </p:nvSpPr>
          <p:spPr>
            <a:xfrm>
              <a:off x="2664295"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358" name="Google Shape;358;p21"/>
            <p:cNvSpPr/>
            <p:nvPr/>
          </p:nvSpPr>
          <p:spPr>
            <a:xfrm>
              <a:off x="2770841"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1"/>
            <p:cNvSpPr txBox="1"/>
            <p:nvPr/>
          </p:nvSpPr>
          <p:spPr>
            <a:xfrm>
              <a:off x="2784710"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2</a:t>
              </a:r>
              <a:endParaRPr/>
            </a:p>
          </p:txBody>
        </p:sp>
        <p:sp>
          <p:nvSpPr>
            <p:cNvPr id="360" name="Google Shape;360;p21"/>
            <p:cNvSpPr/>
            <p:nvPr/>
          </p:nvSpPr>
          <p:spPr>
            <a:xfrm>
              <a:off x="2664295" y="1199588"/>
              <a:ext cx="1846794" cy="189414"/>
            </a:xfrm>
            <a:custGeom>
              <a:rect b="b" l="l" r="r" t="t"/>
              <a:pathLst>
                <a:path extrusionOk="0" h="120000" w="120000">
                  <a:moveTo>
                    <a:pt x="0" y="0"/>
                  </a:moveTo>
                  <a:lnTo>
                    <a:pt x="0" y="60000"/>
                  </a:lnTo>
                  <a:lnTo>
                    <a:pt x="120000" y="60000"/>
                  </a:lnTo>
                  <a:lnTo>
                    <a:pt x="120000" y="120000"/>
                  </a:lnTo>
                </a:path>
              </a:pathLst>
            </a:custGeom>
            <a:noFill/>
            <a:ln cap="flat" cmpd="sng" w="25400">
              <a:solidFill>
                <a:srgbClr val="BF504D"/>
              </a:solidFill>
              <a:prstDash val="solid"/>
              <a:round/>
              <a:headEnd len="sm" w="sm" type="none"/>
              <a:tailEnd len="sm" w="sm" type="none"/>
            </a:ln>
          </p:spPr>
        </p:sp>
        <p:sp>
          <p:nvSpPr>
            <p:cNvPr id="361" name="Google Shape;361;p21"/>
            <p:cNvSpPr/>
            <p:nvPr/>
          </p:nvSpPr>
          <p:spPr>
            <a:xfrm>
              <a:off x="4155937"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1"/>
            <p:cNvSpPr txBox="1"/>
            <p:nvPr/>
          </p:nvSpPr>
          <p:spPr>
            <a:xfrm>
              <a:off x="4169806" y="1402872"/>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Problem Element 3</a:t>
              </a:r>
              <a:endParaRPr/>
            </a:p>
          </p:txBody>
        </p:sp>
        <p:sp>
          <p:nvSpPr>
            <p:cNvPr id="363" name="Google Shape;363;p21"/>
            <p:cNvSpPr/>
            <p:nvPr/>
          </p:nvSpPr>
          <p:spPr>
            <a:xfrm>
              <a:off x="4049391"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364" name="Google Shape;364;p21"/>
            <p:cNvSpPr/>
            <p:nvPr/>
          </p:nvSpPr>
          <p:spPr>
            <a:xfrm>
              <a:off x="3694238"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txBox="1"/>
            <p:nvPr/>
          </p:nvSpPr>
          <p:spPr>
            <a:xfrm>
              <a:off x="3708107"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1</a:t>
              </a:r>
              <a:endParaRPr/>
            </a:p>
          </p:txBody>
        </p:sp>
        <p:sp>
          <p:nvSpPr>
            <p:cNvPr id="366" name="Google Shape;366;p21"/>
            <p:cNvSpPr/>
            <p:nvPr/>
          </p:nvSpPr>
          <p:spPr>
            <a:xfrm>
              <a:off x="4511090"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367" name="Google Shape;367;p21"/>
            <p:cNvSpPr/>
            <p:nvPr/>
          </p:nvSpPr>
          <p:spPr>
            <a:xfrm>
              <a:off x="4617636"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txBox="1"/>
            <p:nvPr/>
          </p:nvSpPr>
          <p:spPr>
            <a:xfrm>
              <a:off x="4631505"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2</a:t>
              </a:r>
              <a:endParaRPr/>
            </a:p>
          </p:txBody>
        </p:sp>
      </p:grpSp>
      <p:sp>
        <p:nvSpPr>
          <p:cNvPr id="369" name="Google Shape;369;p21"/>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22"/>
          <p:cNvPicPr preferRelativeResize="0"/>
          <p:nvPr/>
        </p:nvPicPr>
        <p:blipFill rotWithShape="1">
          <a:blip r:embed="rId3">
            <a:alphaModFix/>
          </a:blip>
          <a:srcRect b="85" l="0" r="-1" t="0"/>
          <a:stretch/>
        </p:blipFill>
        <p:spPr>
          <a:xfrm>
            <a:off x="431540" y="5009015"/>
            <a:ext cx="2412268" cy="1274405"/>
          </a:xfrm>
          <a:prstGeom prst="rect">
            <a:avLst/>
          </a:prstGeom>
          <a:noFill/>
          <a:ln>
            <a:noFill/>
          </a:ln>
        </p:spPr>
      </p:pic>
      <p:sp>
        <p:nvSpPr>
          <p:cNvPr id="375" name="Google Shape;375;p22"/>
          <p:cNvSpPr txBox="1"/>
          <p:nvPr/>
        </p:nvSpPr>
        <p:spPr>
          <a:xfrm>
            <a:off x="467544" y="1325619"/>
            <a:ext cx="8496944" cy="3051025"/>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3200"/>
              <a:buFont typeface="Arial"/>
              <a:buNone/>
            </a:pPr>
            <a:r>
              <a:rPr lang="en-GB" sz="3200">
                <a:solidFill>
                  <a:schemeClr val="dk1"/>
                </a:solidFill>
                <a:latin typeface="Century Gothic"/>
                <a:ea typeface="Century Gothic"/>
                <a:cs typeface="Century Gothic"/>
                <a:sym typeface="Century Gothic"/>
              </a:rPr>
              <a:t>Components of a solution?</a:t>
            </a:r>
            <a:endParaRPr/>
          </a:p>
          <a:p>
            <a:pPr indent="0" lvl="0" marL="0" marR="0" rtl="0" algn="l">
              <a:spcBef>
                <a:spcPts val="200"/>
              </a:spcBef>
              <a:spcAft>
                <a:spcPts val="0"/>
              </a:spcAft>
              <a:buClr>
                <a:schemeClr val="dk1"/>
              </a:buClr>
              <a:buSzPts val="1000"/>
              <a:buFont typeface="Arial"/>
              <a:buNone/>
            </a:pPr>
            <a:r>
              <a:t/>
            </a:r>
            <a:endParaRPr sz="1000">
              <a:solidFill>
                <a:schemeClr val="dk1"/>
              </a:solidFill>
              <a:latin typeface="Century Gothic"/>
              <a:ea typeface="Century Gothic"/>
              <a:cs typeface="Century Gothic"/>
              <a:sym typeface="Century Gothic"/>
            </a:endParaRPr>
          </a:p>
          <a:p>
            <a:pPr indent="0" lvl="0" marL="0" marR="0" rtl="0" algn="l">
              <a:spcBef>
                <a:spcPts val="340"/>
              </a:spcBef>
              <a:spcAft>
                <a:spcPts val="0"/>
              </a:spcAft>
              <a:buClr>
                <a:schemeClr val="dk1"/>
              </a:buClr>
              <a:buSzPts val="1700"/>
              <a:buFont typeface="Arial"/>
              <a:buNone/>
            </a:pPr>
            <a:r>
              <a:rPr lang="en-GB" sz="1700">
                <a:solidFill>
                  <a:schemeClr val="dk1"/>
                </a:solidFill>
                <a:latin typeface="Century Gothic"/>
                <a:ea typeface="Century Gothic"/>
                <a:cs typeface="Century Gothic"/>
                <a:sym typeface="Century Gothic"/>
              </a:rPr>
              <a:t>After decomposition, the next stage is to turn the component parts of a problem into the component parts of a solution. Due to decomposition, this is a far more manageable task and encourages modular programming</a:t>
            </a:r>
            <a:endParaRPr/>
          </a:p>
          <a:p>
            <a:pPr indent="0" lvl="0" marL="0" marR="0" rtl="0" algn="l">
              <a:spcBef>
                <a:spcPts val="340"/>
              </a:spcBef>
              <a:spcAft>
                <a:spcPts val="0"/>
              </a:spcAft>
              <a:buClr>
                <a:schemeClr val="dk1"/>
              </a:buClr>
              <a:buSzPts val="1700"/>
              <a:buFont typeface="Arial"/>
              <a:buNone/>
            </a:pPr>
            <a:r>
              <a:t/>
            </a:r>
            <a:endParaRPr sz="1700">
              <a:solidFill>
                <a:schemeClr val="dk1"/>
              </a:solidFill>
              <a:latin typeface="Century Gothic"/>
              <a:ea typeface="Century Gothic"/>
              <a:cs typeface="Century Gothic"/>
              <a:sym typeface="Century Gothic"/>
            </a:endParaRPr>
          </a:p>
        </p:txBody>
      </p:sp>
      <p:grpSp>
        <p:nvGrpSpPr>
          <p:cNvPr id="376" name="Google Shape;376;p22"/>
          <p:cNvGrpSpPr/>
          <p:nvPr/>
        </p:nvGrpSpPr>
        <p:grpSpPr>
          <a:xfrm>
            <a:off x="3276506" y="4222867"/>
            <a:ext cx="5327291" cy="1799440"/>
            <a:chOff x="650" y="726051"/>
            <a:chExt cx="5327291" cy="1799440"/>
          </a:xfrm>
        </p:grpSpPr>
        <p:sp>
          <p:nvSpPr>
            <p:cNvPr id="377" name="Google Shape;377;p22"/>
            <p:cNvSpPr/>
            <p:nvPr/>
          </p:nvSpPr>
          <p:spPr>
            <a:xfrm>
              <a:off x="2309143" y="726051"/>
              <a:ext cx="710305" cy="473536"/>
            </a:xfrm>
            <a:prstGeom prst="roundRect">
              <a:avLst>
                <a:gd fmla="val 10000" name="adj"/>
              </a:avLst>
            </a:prstGeom>
            <a:gradFill>
              <a:gsLst>
                <a:gs pos="0">
                  <a:srgbClr val="9FC3FF"/>
                </a:gs>
                <a:gs pos="35000">
                  <a:srgbClr val="BDD5FF"/>
                </a:gs>
                <a:gs pos="100000">
                  <a:srgbClr val="E4EEFF"/>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txBox="1"/>
            <p:nvPr/>
          </p:nvSpPr>
          <p:spPr>
            <a:xfrm>
              <a:off x="2323012" y="739920"/>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Large Complex Problem</a:t>
              </a:r>
              <a:endParaRPr/>
            </a:p>
          </p:txBody>
        </p:sp>
        <p:sp>
          <p:nvSpPr>
            <p:cNvPr id="379" name="Google Shape;379;p22"/>
            <p:cNvSpPr/>
            <p:nvPr/>
          </p:nvSpPr>
          <p:spPr>
            <a:xfrm>
              <a:off x="817501" y="1199588"/>
              <a:ext cx="1846794" cy="189414"/>
            </a:xfrm>
            <a:custGeom>
              <a:rect b="b" l="l" r="r" t="t"/>
              <a:pathLst>
                <a:path extrusionOk="0" h="120000" w="120000">
                  <a:moveTo>
                    <a:pt x="120000" y="0"/>
                  </a:moveTo>
                  <a:lnTo>
                    <a:pt x="120000" y="60000"/>
                  </a:lnTo>
                  <a:lnTo>
                    <a:pt x="0" y="60000"/>
                  </a:lnTo>
                  <a:lnTo>
                    <a:pt x="0" y="120000"/>
                  </a:lnTo>
                </a:path>
              </a:pathLst>
            </a:custGeom>
            <a:noFill/>
            <a:ln cap="flat" cmpd="sng" w="25400">
              <a:solidFill>
                <a:srgbClr val="BF504D"/>
              </a:solidFill>
              <a:prstDash val="solid"/>
              <a:round/>
              <a:headEnd len="sm" w="sm" type="none"/>
              <a:tailEnd len="sm" w="sm" type="none"/>
            </a:ln>
          </p:spPr>
        </p:sp>
        <p:sp>
          <p:nvSpPr>
            <p:cNvPr id="380" name="Google Shape;380;p22"/>
            <p:cNvSpPr/>
            <p:nvPr/>
          </p:nvSpPr>
          <p:spPr>
            <a:xfrm>
              <a:off x="462349"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txBox="1"/>
            <p:nvPr/>
          </p:nvSpPr>
          <p:spPr>
            <a:xfrm>
              <a:off x="476218" y="1402872"/>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Problem Element 1</a:t>
              </a:r>
              <a:endParaRPr/>
            </a:p>
          </p:txBody>
        </p:sp>
        <p:sp>
          <p:nvSpPr>
            <p:cNvPr id="382" name="Google Shape;382;p22"/>
            <p:cNvSpPr/>
            <p:nvPr/>
          </p:nvSpPr>
          <p:spPr>
            <a:xfrm>
              <a:off x="355803"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383" name="Google Shape;383;p22"/>
            <p:cNvSpPr/>
            <p:nvPr/>
          </p:nvSpPr>
          <p:spPr>
            <a:xfrm>
              <a:off x="650"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txBox="1"/>
            <p:nvPr/>
          </p:nvSpPr>
          <p:spPr>
            <a:xfrm>
              <a:off x="14519"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1</a:t>
              </a:r>
              <a:endParaRPr/>
            </a:p>
          </p:txBody>
        </p:sp>
        <p:sp>
          <p:nvSpPr>
            <p:cNvPr id="385" name="Google Shape;385;p22"/>
            <p:cNvSpPr/>
            <p:nvPr/>
          </p:nvSpPr>
          <p:spPr>
            <a:xfrm>
              <a:off x="817501"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386" name="Google Shape;386;p22"/>
            <p:cNvSpPr/>
            <p:nvPr/>
          </p:nvSpPr>
          <p:spPr>
            <a:xfrm>
              <a:off x="924047"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txBox="1"/>
            <p:nvPr/>
          </p:nvSpPr>
          <p:spPr>
            <a:xfrm>
              <a:off x="937916"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2</a:t>
              </a:r>
              <a:endParaRPr/>
            </a:p>
          </p:txBody>
        </p:sp>
        <p:sp>
          <p:nvSpPr>
            <p:cNvPr id="388" name="Google Shape;388;p22"/>
            <p:cNvSpPr/>
            <p:nvPr/>
          </p:nvSpPr>
          <p:spPr>
            <a:xfrm>
              <a:off x="2618575" y="1199588"/>
              <a:ext cx="91440" cy="189414"/>
            </a:xfrm>
            <a:custGeom>
              <a:rect b="b" l="l" r="r" t="t"/>
              <a:pathLst>
                <a:path extrusionOk="0" h="120000" w="120000">
                  <a:moveTo>
                    <a:pt x="60000" y="0"/>
                  </a:moveTo>
                  <a:lnTo>
                    <a:pt x="60000" y="120000"/>
                  </a:lnTo>
                </a:path>
              </a:pathLst>
            </a:custGeom>
            <a:noFill/>
            <a:ln cap="flat" cmpd="sng" w="25400">
              <a:solidFill>
                <a:srgbClr val="BF504D"/>
              </a:solidFill>
              <a:prstDash val="solid"/>
              <a:round/>
              <a:headEnd len="sm" w="sm" type="none"/>
              <a:tailEnd len="sm" w="sm" type="none"/>
            </a:ln>
          </p:spPr>
        </p:sp>
        <p:sp>
          <p:nvSpPr>
            <p:cNvPr id="389" name="Google Shape;389;p22"/>
            <p:cNvSpPr/>
            <p:nvPr/>
          </p:nvSpPr>
          <p:spPr>
            <a:xfrm>
              <a:off x="2309143"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
            <p:cNvSpPr txBox="1"/>
            <p:nvPr/>
          </p:nvSpPr>
          <p:spPr>
            <a:xfrm>
              <a:off x="2323012" y="1402872"/>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Problem Element 2</a:t>
              </a:r>
              <a:endParaRPr/>
            </a:p>
          </p:txBody>
        </p:sp>
        <p:sp>
          <p:nvSpPr>
            <p:cNvPr id="391" name="Google Shape;391;p22"/>
            <p:cNvSpPr/>
            <p:nvPr/>
          </p:nvSpPr>
          <p:spPr>
            <a:xfrm>
              <a:off x="2202597"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392" name="Google Shape;392;p22"/>
            <p:cNvSpPr/>
            <p:nvPr/>
          </p:nvSpPr>
          <p:spPr>
            <a:xfrm>
              <a:off x="1847444"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txBox="1"/>
            <p:nvPr/>
          </p:nvSpPr>
          <p:spPr>
            <a:xfrm>
              <a:off x="1861313"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1</a:t>
              </a:r>
              <a:endParaRPr/>
            </a:p>
          </p:txBody>
        </p:sp>
        <p:sp>
          <p:nvSpPr>
            <p:cNvPr id="394" name="Google Shape;394;p22"/>
            <p:cNvSpPr/>
            <p:nvPr/>
          </p:nvSpPr>
          <p:spPr>
            <a:xfrm>
              <a:off x="2664295"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395" name="Google Shape;395;p22"/>
            <p:cNvSpPr/>
            <p:nvPr/>
          </p:nvSpPr>
          <p:spPr>
            <a:xfrm>
              <a:off x="2770841"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
            <p:cNvSpPr txBox="1"/>
            <p:nvPr/>
          </p:nvSpPr>
          <p:spPr>
            <a:xfrm>
              <a:off x="2784710"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2</a:t>
              </a:r>
              <a:endParaRPr/>
            </a:p>
          </p:txBody>
        </p:sp>
        <p:sp>
          <p:nvSpPr>
            <p:cNvPr id="397" name="Google Shape;397;p22"/>
            <p:cNvSpPr/>
            <p:nvPr/>
          </p:nvSpPr>
          <p:spPr>
            <a:xfrm>
              <a:off x="2664295" y="1199588"/>
              <a:ext cx="1846794" cy="189414"/>
            </a:xfrm>
            <a:custGeom>
              <a:rect b="b" l="l" r="r" t="t"/>
              <a:pathLst>
                <a:path extrusionOk="0" h="120000" w="120000">
                  <a:moveTo>
                    <a:pt x="0" y="0"/>
                  </a:moveTo>
                  <a:lnTo>
                    <a:pt x="0" y="60000"/>
                  </a:lnTo>
                  <a:lnTo>
                    <a:pt x="120000" y="60000"/>
                  </a:lnTo>
                  <a:lnTo>
                    <a:pt x="120000" y="120000"/>
                  </a:lnTo>
                </a:path>
              </a:pathLst>
            </a:custGeom>
            <a:noFill/>
            <a:ln cap="flat" cmpd="sng" w="25400">
              <a:solidFill>
                <a:srgbClr val="BF504D"/>
              </a:solidFill>
              <a:prstDash val="solid"/>
              <a:round/>
              <a:headEnd len="sm" w="sm" type="none"/>
              <a:tailEnd len="sm" w="sm" type="none"/>
            </a:ln>
          </p:spPr>
        </p:sp>
        <p:sp>
          <p:nvSpPr>
            <p:cNvPr id="398" name="Google Shape;398;p22"/>
            <p:cNvSpPr/>
            <p:nvPr/>
          </p:nvSpPr>
          <p:spPr>
            <a:xfrm>
              <a:off x="4155937"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txBox="1"/>
            <p:nvPr/>
          </p:nvSpPr>
          <p:spPr>
            <a:xfrm>
              <a:off x="4169806" y="1402872"/>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Problem Element 3</a:t>
              </a:r>
              <a:endParaRPr/>
            </a:p>
          </p:txBody>
        </p:sp>
        <p:sp>
          <p:nvSpPr>
            <p:cNvPr id="400" name="Google Shape;400;p22"/>
            <p:cNvSpPr/>
            <p:nvPr/>
          </p:nvSpPr>
          <p:spPr>
            <a:xfrm>
              <a:off x="4049391"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401" name="Google Shape;401;p22"/>
            <p:cNvSpPr/>
            <p:nvPr/>
          </p:nvSpPr>
          <p:spPr>
            <a:xfrm>
              <a:off x="3694238"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txBox="1"/>
            <p:nvPr/>
          </p:nvSpPr>
          <p:spPr>
            <a:xfrm>
              <a:off x="3708107"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1</a:t>
              </a:r>
              <a:endParaRPr/>
            </a:p>
          </p:txBody>
        </p:sp>
        <p:sp>
          <p:nvSpPr>
            <p:cNvPr id="403" name="Google Shape;403;p22"/>
            <p:cNvSpPr/>
            <p:nvPr/>
          </p:nvSpPr>
          <p:spPr>
            <a:xfrm>
              <a:off x="4511090"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404" name="Google Shape;404;p22"/>
            <p:cNvSpPr/>
            <p:nvPr/>
          </p:nvSpPr>
          <p:spPr>
            <a:xfrm>
              <a:off x="4617636"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2"/>
            <p:cNvSpPr txBox="1"/>
            <p:nvPr/>
          </p:nvSpPr>
          <p:spPr>
            <a:xfrm>
              <a:off x="4631505" y="2065824"/>
              <a:ext cx="682567" cy="445798"/>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800"/>
                <a:buFont typeface="Century Gothic"/>
                <a:buNone/>
              </a:pPr>
              <a:r>
                <a:rPr lang="en-GB" sz="800">
                  <a:solidFill>
                    <a:schemeClr val="dk1"/>
                  </a:solidFill>
                  <a:latin typeface="Century Gothic"/>
                  <a:ea typeface="Century Gothic"/>
                  <a:cs typeface="Century Gothic"/>
                  <a:sym typeface="Century Gothic"/>
                </a:rPr>
                <a:t>Sub Problem Element 2</a:t>
              </a:r>
              <a:endParaRPr/>
            </a:p>
          </p:txBody>
        </p:sp>
      </p:grpSp>
      <p:sp>
        <p:nvSpPr>
          <p:cNvPr id="406" name="Google Shape;406;p22"/>
          <p:cNvSpPr/>
          <p:nvPr/>
        </p:nvSpPr>
        <p:spPr>
          <a:xfrm>
            <a:off x="3059832" y="5369024"/>
            <a:ext cx="5760640" cy="792088"/>
          </a:xfrm>
          <a:prstGeom prst="rect">
            <a:avLst/>
          </a:prstGeom>
          <a:no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07" name="Google Shape;407;p22"/>
          <p:cNvSpPr txBox="1"/>
          <p:nvPr/>
        </p:nvSpPr>
        <p:spPr>
          <a:xfrm>
            <a:off x="2339752" y="3982869"/>
            <a:ext cx="3494145"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1400">
                <a:solidFill>
                  <a:schemeClr val="dk1"/>
                </a:solidFill>
                <a:latin typeface="Century Gothic"/>
                <a:ea typeface="Century Gothic"/>
                <a:cs typeface="Century Gothic"/>
                <a:sym typeface="Century Gothic"/>
              </a:rPr>
              <a:t>Now that we have broken the problem down into its component parts, we are ready to solve each component.</a:t>
            </a:r>
            <a:endParaRPr/>
          </a:p>
        </p:txBody>
      </p:sp>
      <p:sp>
        <p:nvSpPr>
          <p:cNvPr id="408" name="Google Shape;408;p22"/>
          <p:cNvSpPr/>
          <p:nvPr/>
        </p:nvSpPr>
        <p:spPr>
          <a:xfrm>
            <a:off x="3491880" y="3352800"/>
            <a:ext cx="1800200" cy="544534"/>
          </a:xfrm>
          <a:prstGeom prst="roundRect">
            <a:avLst>
              <a:gd fmla="val 16667" name="adj"/>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Century Gothic"/>
                <a:ea typeface="Century Gothic"/>
                <a:cs typeface="Century Gothic"/>
                <a:sym typeface="Century Gothic"/>
              </a:rPr>
              <a:t>Sub Problem</a:t>
            </a:r>
            <a:endParaRPr/>
          </a:p>
        </p:txBody>
      </p:sp>
      <p:sp>
        <p:nvSpPr>
          <p:cNvPr id="409" name="Google Shape;409;p22"/>
          <p:cNvSpPr/>
          <p:nvPr/>
        </p:nvSpPr>
        <p:spPr>
          <a:xfrm>
            <a:off x="6300192" y="3352800"/>
            <a:ext cx="1800200" cy="544534"/>
          </a:xfrm>
          <a:prstGeom prst="roundRect">
            <a:avLst>
              <a:gd fmla="val 16667" name="adj"/>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Century Gothic"/>
                <a:ea typeface="Century Gothic"/>
                <a:cs typeface="Century Gothic"/>
                <a:sym typeface="Century Gothic"/>
              </a:rPr>
              <a:t>Sub Solution</a:t>
            </a:r>
            <a:endParaRPr/>
          </a:p>
        </p:txBody>
      </p:sp>
      <p:sp>
        <p:nvSpPr>
          <p:cNvPr id="410" name="Google Shape;410;p22"/>
          <p:cNvSpPr/>
          <p:nvPr/>
        </p:nvSpPr>
        <p:spPr>
          <a:xfrm>
            <a:off x="5364088" y="3449996"/>
            <a:ext cx="864096" cy="298292"/>
          </a:xfrm>
          <a:prstGeom prst="rightArrow">
            <a:avLst>
              <a:gd fmla="val 50000" name="adj1"/>
              <a:gd fmla="val 50000" name="adj2"/>
            </a:avLst>
          </a:prstGeom>
          <a:gradFill>
            <a:gsLst>
              <a:gs pos="0">
                <a:srgbClr val="C8B2E9"/>
              </a:gs>
              <a:gs pos="35000">
                <a:srgbClr val="D6CAED"/>
              </a:gs>
              <a:gs pos="100000">
                <a:srgbClr val="EFE8FA"/>
              </a:gs>
            </a:gsLst>
            <a:lin ang="16200000" scaled="0"/>
          </a:gra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1" name="Google Shape;411;p22"/>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23"/>
          <p:cNvPicPr preferRelativeResize="0"/>
          <p:nvPr/>
        </p:nvPicPr>
        <p:blipFill rotWithShape="1">
          <a:blip r:embed="rId3">
            <a:alphaModFix/>
          </a:blip>
          <a:srcRect b="85" l="0" r="-1" t="0"/>
          <a:stretch/>
        </p:blipFill>
        <p:spPr>
          <a:xfrm>
            <a:off x="431540" y="5229231"/>
            <a:ext cx="2412268" cy="1274405"/>
          </a:xfrm>
          <a:prstGeom prst="rect">
            <a:avLst/>
          </a:prstGeom>
          <a:noFill/>
          <a:ln>
            <a:noFill/>
          </a:ln>
        </p:spPr>
      </p:pic>
      <p:sp>
        <p:nvSpPr>
          <p:cNvPr id="417" name="Google Shape;417;p23"/>
          <p:cNvSpPr txBox="1"/>
          <p:nvPr/>
        </p:nvSpPr>
        <p:spPr>
          <a:xfrm>
            <a:off x="467544" y="1325619"/>
            <a:ext cx="8496944" cy="3183501"/>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chemeClr val="dk1"/>
              </a:buClr>
              <a:buSzPts val="2600"/>
              <a:buFont typeface="Arial"/>
              <a:buNone/>
            </a:pPr>
            <a:r>
              <a:rPr b="1" lang="en-GB" sz="2600">
                <a:solidFill>
                  <a:schemeClr val="dk1"/>
                </a:solidFill>
                <a:latin typeface="Century Gothic"/>
                <a:ea typeface="Century Gothic"/>
                <a:cs typeface="Century Gothic"/>
                <a:sym typeface="Century Gothic"/>
              </a:rPr>
              <a:t>Mobile Phone Example</a:t>
            </a:r>
            <a:endParaRPr/>
          </a:p>
          <a:p>
            <a:pPr indent="0" lvl="0" marL="0" marR="0" rtl="0" algn="l">
              <a:spcBef>
                <a:spcPts val="140"/>
              </a:spcBef>
              <a:spcAft>
                <a:spcPts val="0"/>
              </a:spcAft>
              <a:buClr>
                <a:schemeClr val="dk1"/>
              </a:buClr>
              <a:buSzPts val="700"/>
              <a:buFont typeface="Arial"/>
              <a:buNone/>
            </a:pPr>
            <a:r>
              <a:t/>
            </a:r>
            <a:endParaRPr sz="700">
              <a:solidFill>
                <a:schemeClr val="dk1"/>
              </a:solidFill>
              <a:latin typeface="Century Gothic"/>
              <a:ea typeface="Century Gothic"/>
              <a:cs typeface="Century Gothic"/>
              <a:sym typeface="Century Gothic"/>
            </a:endParaRPr>
          </a:p>
          <a:p>
            <a:pPr indent="0" lvl="0" marL="0" marR="0" rtl="0" algn="l">
              <a:spcBef>
                <a:spcPts val="340"/>
              </a:spcBef>
              <a:spcAft>
                <a:spcPts val="0"/>
              </a:spcAft>
              <a:buClr>
                <a:schemeClr val="dk1"/>
              </a:buClr>
              <a:buSzPts val="1700"/>
              <a:buFont typeface="Arial"/>
              <a:buNone/>
            </a:pPr>
            <a:r>
              <a:rPr lang="en-GB" sz="1700">
                <a:solidFill>
                  <a:schemeClr val="dk1"/>
                </a:solidFill>
                <a:latin typeface="Century Gothic"/>
                <a:ea typeface="Century Gothic"/>
                <a:cs typeface="Century Gothic"/>
                <a:sym typeface="Century Gothic"/>
              </a:rPr>
              <a:t>Programming the software for a mobile phone would be too difficult to achieve in ‘one go’. </a:t>
            </a:r>
            <a:endParaRPr/>
          </a:p>
          <a:p>
            <a:pPr indent="0" lvl="0" marL="0" marR="0" rtl="0" algn="l">
              <a:spcBef>
                <a:spcPts val="340"/>
              </a:spcBef>
              <a:spcAft>
                <a:spcPts val="0"/>
              </a:spcAft>
              <a:buClr>
                <a:schemeClr val="dk1"/>
              </a:buClr>
              <a:buSzPts val="1700"/>
              <a:buFont typeface="Arial"/>
              <a:buNone/>
            </a:pPr>
            <a:r>
              <a:t/>
            </a:r>
            <a:endParaRPr sz="1700">
              <a:solidFill>
                <a:schemeClr val="dk1"/>
              </a:solidFill>
              <a:latin typeface="Century Gothic"/>
              <a:ea typeface="Century Gothic"/>
              <a:cs typeface="Century Gothic"/>
              <a:sym typeface="Century Gothic"/>
            </a:endParaRPr>
          </a:p>
          <a:p>
            <a:pPr indent="0" lvl="0" marL="0" marR="0" rtl="0" algn="l">
              <a:spcBef>
                <a:spcPts val="340"/>
              </a:spcBef>
              <a:spcAft>
                <a:spcPts val="0"/>
              </a:spcAft>
              <a:buClr>
                <a:schemeClr val="dk1"/>
              </a:buClr>
              <a:buSzPts val="1700"/>
              <a:buFont typeface="Arial"/>
              <a:buNone/>
            </a:pPr>
            <a:r>
              <a:rPr lang="en-GB" sz="1700">
                <a:solidFill>
                  <a:schemeClr val="dk1"/>
                </a:solidFill>
                <a:latin typeface="Century Gothic"/>
                <a:ea typeface="Century Gothic"/>
                <a:cs typeface="Century Gothic"/>
                <a:sym typeface="Century Gothic"/>
              </a:rPr>
              <a:t>So, by using the skills of decomposition, the features of a phone can be identified, which in themselves are sub problems of the task.</a:t>
            </a:r>
            <a:endParaRPr/>
          </a:p>
          <a:p>
            <a:pPr indent="0" lvl="0" marL="0" marR="0" rtl="0" algn="l">
              <a:spcBef>
                <a:spcPts val="340"/>
              </a:spcBef>
              <a:spcAft>
                <a:spcPts val="0"/>
              </a:spcAft>
              <a:buClr>
                <a:schemeClr val="dk1"/>
              </a:buClr>
              <a:buSzPts val="1700"/>
              <a:buFont typeface="Arial"/>
              <a:buNone/>
            </a:pPr>
            <a:r>
              <a:t/>
            </a:r>
            <a:endParaRPr sz="1700">
              <a:solidFill>
                <a:schemeClr val="dk1"/>
              </a:solidFill>
              <a:latin typeface="Century Gothic"/>
              <a:ea typeface="Century Gothic"/>
              <a:cs typeface="Century Gothic"/>
              <a:sym typeface="Century Gothic"/>
            </a:endParaRPr>
          </a:p>
          <a:p>
            <a:pPr indent="0" lvl="0" marL="0" marR="0" rtl="0" algn="l">
              <a:spcBef>
                <a:spcPts val="340"/>
              </a:spcBef>
              <a:spcAft>
                <a:spcPts val="0"/>
              </a:spcAft>
              <a:buClr>
                <a:schemeClr val="dk1"/>
              </a:buClr>
              <a:buSzPts val="1700"/>
              <a:buFont typeface="Arial"/>
              <a:buNone/>
            </a:pPr>
            <a:r>
              <a:rPr lang="en-GB" sz="1700">
                <a:solidFill>
                  <a:schemeClr val="dk1"/>
                </a:solidFill>
                <a:latin typeface="Century Gothic"/>
                <a:ea typeface="Century Gothic"/>
                <a:cs typeface="Century Gothic"/>
                <a:sym typeface="Century Gothic"/>
              </a:rPr>
              <a:t>Now, the programmer can think about solutions for each of the sub problems identified and can begin writing modules for each aspect, which can then later combine as the phone’s software. </a:t>
            </a:r>
            <a:endParaRPr/>
          </a:p>
        </p:txBody>
      </p:sp>
      <p:grpSp>
        <p:nvGrpSpPr>
          <p:cNvPr id="418" name="Google Shape;418;p23"/>
          <p:cNvGrpSpPr/>
          <p:nvPr/>
        </p:nvGrpSpPr>
        <p:grpSpPr>
          <a:xfrm>
            <a:off x="3276506" y="4443083"/>
            <a:ext cx="5327291" cy="1799440"/>
            <a:chOff x="650" y="726051"/>
            <a:chExt cx="5327291" cy="1799440"/>
          </a:xfrm>
        </p:grpSpPr>
        <p:sp>
          <p:nvSpPr>
            <p:cNvPr id="419" name="Google Shape;419;p23"/>
            <p:cNvSpPr/>
            <p:nvPr/>
          </p:nvSpPr>
          <p:spPr>
            <a:xfrm>
              <a:off x="2309143" y="726051"/>
              <a:ext cx="710305" cy="473536"/>
            </a:xfrm>
            <a:prstGeom prst="roundRect">
              <a:avLst>
                <a:gd fmla="val 10000" name="adj"/>
              </a:avLst>
            </a:prstGeom>
            <a:gradFill>
              <a:gsLst>
                <a:gs pos="0">
                  <a:srgbClr val="9FC3FF"/>
                </a:gs>
                <a:gs pos="35000">
                  <a:srgbClr val="BDD5FF"/>
                </a:gs>
                <a:gs pos="100000">
                  <a:srgbClr val="E4EEFF"/>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3"/>
            <p:cNvSpPr txBox="1"/>
            <p:nvPr/>
          </p:nvSpPr>
          <p:spPr>
            <a:xfrm>
              <a:off x="2323012" y="739920"/>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Mobile Phone</a:t>
              </a:r>
              <a:endParaRPr/>
            </a:p>
          </p:txBody>
        </p:sp>
        <p:sp>
          <p:nvSpPr>
            <p:cNvPr id="421" name="Google Shape;421;p23"/>
            <p:cNvSpPr/>
            <p:nvPr/>
          </p:nvSpPr>
          <p:spPr>
            <a:xfrm>
              <a:off x="817501" y="1199588"/>
              <a:ext cx="1846794" cy="189414"/>
            </a:xfrm>
            <a:custGeom>
              <a:rect b="b" l="l" r="r" t="t"/>
              <a:pathLst>
                <a:path extrusionOk="0" h="120000" w="120000">
                  <a:moveTo>
                    <a:pt x="120000" y="0"/>
                  </a:moveTo>
                  <a:lnTo>
                    <a:pt x="120000" y="60000"/>
                  </a:lnTo>
                  <a:lnTo>
                    <a:pt x="0" y="60000"/>
                  </a:lnTo>
                  <a:lnTo>
                    <a:pt x="0" y="120000"/>
                  </a:lnTo>
                </a:path>
              </a:pathLst>
            </a:custGeom>
            <a:noFill/>
            <a:ln cap="flat" cmpd="sng" w="25400">
              <a:solidFill>
                <a:srgbClr val="BF504D"/>
              </a:solidFill>
              <a:prstDash val="solid"/>
              <a:round/>
              <a:headEnd len="sm" w="sm" type="none"/>
              <a:tailEnd len="sm" w="sm" type="none"/>
            </a:ln>
          </p:spPr>
        </p:sp>
        <p:sp>
          <p:nvSpPr>
            <p:cNvPr id="422" name="Google Shape;422;p23"/>
            <p:cNvSpPr/>
            <p:nvPr/>
          </p:nvSpPr>
          <p:spPr>
            <a:xfrm>
              <a:off x="462349"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3"/>
            <p:cNvSpPr txBox="1"/>
            <p:nvPr/>
          </p:nvSpPr>
          <p:spPr>
            <a:xfrm>
              <a:off x="476218" y="1402872"/>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Calls</a:t>
              </a:r>
              <a:endParaRPr/>
            </a:p>
          </p:txBody>
        </p:sp>
        <p:sp>
          <p:nvSpPr>
            <p:cNvPr id="424" name="Google Shape;424;p23"/>
            <p:cNvSpPr/>
            <p:nvPr/>
          </p:nvSpPr>
          <p:spPr>
            <a:xfrm>
              <a:off x="355803"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425" name="Google Shape;425;p23"/>
            <p:cNvSpPr/>
            <p:nvPr/>
          </p:nvSpPr>
          <p:spPr>
            <a:xfrm>
              <a:off x="650"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3"/>
            <p:cNvSpPr txBox="1"/>
            <p:nvPr/>
          </p:nvSpPr>
          <p:spPr>
            <a:xfrm>
              <a:off x="14519" y="2065824"/>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Incoming</a:t>
              </a:r>
              <a:endParaRPr/>
            </a:p>
          </p:txBody>
        </p:sp>
        <p:sp>
          <p:nvSpPr>
            <p:cNvPr id="427" name="Google Shape;427;p23"/>
            <p:cNvSpPr/>
            <p:nvPr/>
          </p:nvSpPr>
          <p:spPr>
            <a:xfrm>
              <a:off x="817501"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428" name="Google Shape;428;p23"/>
            <p:cNvSpPr/>
            <p:nvPr/>
          </p:nvSpPr>
          <p:spPr>
            <a:xfrm>
              <a:off x="924047"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3"/>
            <p:cNvSpPr txBox="1"/>
            <p:nvPr/>
          </p:nvSpPr>
          <p:spPr>
            <a:xfrm>
              <a:off x="937916" y="2065824"/>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Outgoing</a:t>
              </a:r>
              <a:endParaRPr/>
            </a:p>
          </p:txBody>
        </p:sp>
        <p:sp>
          <p:nvSpPr>
            <p:cNvPr id="430" name="Google Shape;430;p23"/>
            <p:cNvSpPr/>
            <p:nvPr/>
          </p:nvSpPr>
          <p:spPr>
            <a:xfrm>
              <a:off x="2618575" y="1199588"/>
              <a:ext cx="91440" cy="189414"/>
            </a:xfrm>
            <a:custGeom>
              <a:rect b="b" l="l" r="r" t="t"/>
              <a:pathLst>
                <a:path extrusionOk="0" h="120000" w="120000">
                  <a:moveTo>
                    <a:pt x="60000" y="0"/>
                  </a:moveTo>
                  <a:lnTo>
                    <a:pt x="60000" y="120000"/>
                  </a:lnTo>
                </a:path>
              </a:pathLst>
            </a:custGeom>
            <a:noFill/>
            <a:ln cap="flat" cmpd="sng" w="25400">
              <a:solidFill>
                <a:srgbClr val="BF504D"/>
              </a:solidFill>
              <a:prstDash val="solid"/>
              <a:round/>
              <a:headEnd len="sm" w="sm" type="none"/>
              <a:tailEnd len="sm" w="sm" type="none"/>
            </a:ln>
          </p:spPr>
        </p:sp>
        <p:sp>
          <p:nvSpPr>
            <p:cNvPr id="431" name="Google Shape;431;p23"/>
            <p:cNvSpPr/>
            <p:nvPr/>
          </p:nvSpPr>
          <p:spPr>
            <a:xfrm>
              <a:off x="2309143"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3"/>
            <p:cNvSpPr txBox="1"/>
            <p:nvPr/>
          </p:nvSpPr>
          <p:spPr>
            <a:xfrm>
              <a:off x="2323012" y="1402872"/>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Contacts</a:t>
              </a:r>
              <a:endParaRPr/>
            </a:p>
          </p:txBody>
        </p:sp>
        <p:sp>
          <p:nvSpPr>
            <p:cNvPr id="433" name="Google Shape;433;p23"/>
            <p:cNvSpPr/>
            <p:nvPr/>
          </p:nvSpPr>
          <p:spPr>
            <a:xfrm>
              <a:off x="2202597"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434" name="Google Shape;434;p23"/>
            <p:cNvSpPr/>
            <p:nvPr/>
          </p:nvSpPr>
          <p:spPr>
            <a:xfrm>
              <a:off x="1847444"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3"/>
            <p:cNvSpPr txBox="1"/>
            <p:nvPr/>
          </p:nvSpPr>
          <p:spPr>
            <a:xfrm>
              <a:off x="1861313" y="2065824"/>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Entering</a:t>
              </a:r>
              <a:endParaRPr/>
            </a:p>
          </p:txBody>
        </p:sp>
        <p:sp>
          <p:nvSpPr>
            <p:cNvPr id="436" name="Google Shape;436;p23"/>
            <p:cNvSpPr/>
            <p:nvPr/>
          </p:nvSpPr>
          <p:spPr>
            <a:xfrm>
              <a:off x="2664295"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437" name="Google Shape;437;p23"/>
            <p:cNvSpPr/>
            <p:nvPr/>
          </p:nvSpPr>
          <p:spPr>
            <a:xfrm>
              <a:off x="2770841"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3"/>
            <p:cNvSpPr txBox="1"/>
            <p:nvPr/>
          </p:nvSpPr>
          <p:spPr>
            <a:xfrm>
              <a:off x="2784710" y="2065824"/>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Searching</a:t>
              </a:r>
              <a:endParaRPr/>
            </a:p>
          </p:txBody>
        </p:sp>
        <p:sp>
          <p:nvSpPr>
            <p:cNvPr id="439" name="Google Shape;439;p23"/>
            <p:cNvSpPr/>
            <p:nvPr/>
          </p:nvSpPr>
          <p:spPr>
            <a:xfrm>
              <a:off x="2664295" y="1199588"/>
              <a:ext cx="1846794" cy="189414"/>
            </a:xfrm>
            <a:custGeom>
              <a:rect b="b" l="l" r="r" t="t"/>
              <a:pathLst>
                <a:path extrusionOk="0" h="120000" w="120000">
                  <a:moveTo>
                    <a:pt x="0" y="0"/>
                  </a:moveTo>
                  <a:lnTo>
                    <a:pt x="0" y="60000"/>
                  </a:lnTo>
                  <a:lnTo>
                    <a:pt x="120000" y="60000"/>
                  </a:lnTo>
                  <a:lnTo>
                    <a:pt x="120000" y="120000"/>
                  </a:lnTo>
                </a:path>
              </a:pathLst>
            </a:custGeom>
            <a:noFill/>
            <a:ln cap="flat" cmpd="sng" w="25400">
              <a:solidFill>
                <a:srgbClr val="BF504D"/>
              </a:solidFill>
              <a:prstDash val="solid"/>
              <a:round/>
              <a:headEnd len="sm" w="sm" type="none"/>
              <a:tailEnd len="sm" w="sm" type="none"/>
            </a:ln>
          </p:spPr>
        </p:sp>
        <p:sp>
          <p:nvSpPr>
            <p:cNvPr id="440" name="Google Shape;440;p23"/>
            <p:cNvSpPr/>
            <p:nvPr/>
          </p:nvSpPr>
          <p:spPr>
            <a:xfrm>
              <a:off x="4155937" y="1389003"/>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
            <p:cNvSpPr txBox="1"/>
            <p:nvPr/>
          </p:nvSpPr>
          <p:spPr>
            <a:xfrm>
              <a:off x="4169806" y="1402872"/>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Texts</a:t>
              </a:r>
              <a:endParaRPr/>
            </a:p>
          </p:txBody>
        </p:sp>
        <p:sp>
          <p:nvSpPr>
            <p:cNvPr id="442" name="Google Shape;442;p23"/>
            <p:cNvSpPr/>
            <p:nvPr/>
          </p:nvSpPr>
          <p:spPr>
            <a:xfrm>
              <a:off x="4049391" y="1862540"/>
              <a:ext cx="461698" cy="189414"/>
            </a:xfrm>
            <a:custGeom>
              <a:rect b="b" l="l" r="r" t="t"/>
              <a:pathLst>
                <a:path extrusionOk="0" h="120000" w="120000">
                  <a:moveTo>
                    <a:pt x="120000" y="0"/>
                  </a:moveTo>
                  <a:lnTo>
                    <a:pt x="120000" y="60000"/>
                  </a:lnTo>
                  <a:lnTo>
                    <a:pt x="0" y="60000"/>
                  </a:lnTo>
                  <a:lnTo>
                    <a:pt x="0" y="120000"/>
                  </a:lnTo>
                </a:path>
              </a:pathLst>
            </a:custGeom>
            <a:noFill/>
            <a:ln cap="flat" cmpd="sng" w="25400">
              <a:solidFill>
                <a:schemeClr val="accent3"/>
              </a:solidFill>
              <a:prstDash val="solid"/>
              <a:round/>
              <a:headEnd len="sm" w="sm" type="none"/>
              <a:tailEnd len="sm" w="sm" type="none"/>
            </a:ln>
          </p:spPr>
        </p:sp>
        <p:sp>
          <p:nvSpPr>
            <p:cNvPr id="443" name="Google Shape;443;p23"/>
            <p:cNvSpPr/>
            <p:nvPr/>
          </p:nvSpPr>
          <p:spPr>
            <a:xfrm>
              <a:off x="3694238"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3"/>
            <p:cNvSpPr txBox="1"/>
            <p:nvPr/>
          </p:nvSpPr>
          <p:spPr>
            <a:xfrm>
              <a:off x="3708107" y="2065824"/>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Receiving and Reading</a:t>
              </a:r>
              <a:endParaRPr/>
            </a:p>
          </p:txBody>
        </p:sp>
        <p:sp>
          <p:nvSpPr>
            <p:cNvPr id="445" name="Google Shape;445;p23"/>
            <p:cNvSpPr/>
            <p:nvPr/>
          </p:nvSpPr>
          <p:spPr>
            <a:xfrm>
              <a:off x="4511090" y="1862540"/>
              <a:ext cx="461698" cy="189414"/>
            </a:xfrm>
            <a:custGeom>
              <a:rect b="b" l="l" r="r" t="t"/>
              <a:pathLst>
                <a:path extrusionOk="0" h="120000" w="120000">
                  <a:moveTo>
                    <a:pt x="0" y="0"/>
                  </a:moveTo>
                  <a:lnTo>
                    <a:pt x="0" y="60000"/>
                  </a:lnTo>
                  <a:lnTo>
                    <a:pt x="120000" y="60000"/>
                  </a:lnTo>
                  <a:lnTo>
                    <a:pt x="120000" y="120000"/>
                  </a:lnTo>
                </a:path>
              </a:pathLst>
            </a:custGeom>
            <a:noFill/>
            <a:ln cap="flat" cmpd="sng" w="25400">
              <a:solidFill>
                <a:schemeClr val="accent3"/>
              </a:solidFill>
              <a:prstDash val="solid"/>
              <a:round/>
              <a:headEnd len="sm" w="sm" type="none"/>
              <a:tailEnd len="sm" w="sm" type="none"/>
            </a:ln>
          </p:spPr>
        </p:sp>
        <p:sp>
          <p:nvSpPr>
            <p:cNvPr id="446" name="Google Shape;446;p23"/>
            <p:cNvSpPr/>
            <p:nvPr/>
          </p:nvSpPr>
          <p:spPr>
            <a:xfrm>
              <a:off x="4617636" y="2051955"/>
              <a:ext cx="710305" cy="473536"/>
            </a:xfrm>
            <a:prstGeom prst="roundRect">
              <a:avLst>
                <a:gd fmla="val 10000" name="adj"/>
              </a:avLst>
            </a:prstGeom>
            <a:gradFill>
              <a:gsLst>
                <a:gs pos="0">
                  <a:srgbClr val="FFA09D"/>
                </a:gs>
                <a:gs pos="35000">
                  <a:srgbClr val="FFBCBC"/>
                </a:gs>
                <a:gs pos="100000">
                  <a:srgbClr val="FFE2E2"/>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txBox="1"/>
            <p:nvPr/>
          </p:nvSpPr>
          <p:spPr>
            <a:xfrm>
              <a:off x="4631505" y="2065824"/>
              <a:ext cx="682567" cy="445798"/>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chemeClr val="dk1"/>
                </a:buClr>
                <a:buSzPts val="700"/>
                <a:buFont typeface="Century Gothic"/>
                <a:buNone/>
              </a:pPr>
              <a:r>
                <a:rPr lang="en-GB" sz="700">
                  <a:solidFill>
                    <a:schemeClr val="dk1"/>
                  </a:solidFill>
                  <a:latin typeface="Century Gothic"/>
                  <a:ea typeface="Century Gothic"/>
                  <a:cs typeface="Century Gothic"/>
                  <a:sym typeface="Century Gothic"/>
                </a:rPr>
                <a:t>Composition</a:t>
              </a:r>
              <a:endParaRPr/>
            </a:p>
          </p:txBody>
        </p:sp>
      </p:grpSp>
      <p:sp>
        <p:nvSpPr>
          <p:cNvPr id="448" name="Google Shape;448;p23"/>
          <p:cNvSpPr/>
          <p:nvPr/>
        </p:nvSpPr>
        <p:spPr>
          <a:xfrm>
            <a:off x="3059832" y="5589240"/>
            <a:ext cx="5760640" cy="792088"/>
          </a:xfrm>
          <a:prstGeom prst="rect">
            <a:avLst/>
          </a:prstGeom>
          <a:no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49" name="Google Shape;449;p23"/>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4"/>
          <p:cNvSpPr txBox="1"/>
          <p:nvPr>
            <p:ph idx="1" type="body"/>
          </p:nvPr>
        </p:nvSpPr>
        <p:spPr>
          <a:xfrm>
            <a:off x="467544" y="1308798"/>
            <a:ext cx="8496944" cy="2624258"/>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b="1" lang="en-GB" sz="1600">
                <a:solidFill>
                  <a:schemeClr val="dk1"/>
                </a:solidFill>
                <a:latin typeface="Century Gothic"/>
                <a:ea typeface="Century Gothic"/>
                <a:cs typeface="Century Gothic"/>
                <a:sym typeface="Century Gothic"/>
              </a:rPr>
              <a:t>Problem Decomposition</a:t>
            </a:r>
            <a:endParaRPr/>
          </a:p>
          <a:p>
            <a:pPr indent="0" lvl="0" marL="0" rtl="0" algn="l">
              <a:spcBef>
                <a:spcPts val="210"/>
              </a:spcBef>
              <a:spcAft>
                <a:spcPts val="0"/>
              </a:spcAft>
              <a:buClr>
                <a:schemeClr val="dk1"/>
              </a:buClr>
              <a:buSzPts val="1050"/>
              <a:buNone/>
            </a:pPr>
            <a:r>
              <a:t/>
            </a:r>
            <a:endParaRPr b="1" sz="105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Furthermore, sometimes, when a problem is broken down enough, we can see that a problem can be solved with a few lines of code, which can be run recursively to find the solution.</a:t>
            </a:r>
            <a:endParaRPr/>
          </a:p>
          <a:p>
            <a:pPr indent="0" lvl="0" marL="0" rtl="0" algn="l">
              <a:spcBef>
                <a:spcPts val="240"/>
              </a:spcBef>
              <a:spcAft>
                <a:spcPts val="0"/>
              </a:spcAft>
              <a:buClr>
                <a:schemeClr val="dk1"/>
              </a:buClr>
              <a:buSzPts val="1200"/>
              <a:buNone/>
            </a:pPr>
            <a:r>
              <a:t/>
            </a:r>
            <a:endParaRPr sz="1200"/>
          </a:p>
          <a:p>
            <a:pPr indent="0" lvl="0" marL="0" rtl="0" algn="l">
              <a:spcBef>
                <a:spcPts val="320"/>
              </a:spcBef>
              <a:spcAft>
                <a:spcPts val="0"/>
              </a:spcAft>
              <a:buClr>
                <a:schemeClr val="dk1"/>
              </a:buClr>
              <a:buSzPts val="1600"/>
              <a:buNone/>
            </a:pPr>
            <a:r>
              <a:rPr lang="en-GB" sz="1600">
                <a:solidFill>
                  <a:schemeClr val="dk1"/>
                </a:solidFill>
                <a:latin typeface="Century Gothic"/>
                <a:ea typeface="Century Gothic"/>
                <a:cs typeface="Century Gothic"/>
                <a:sym typeface="Century Gothic"/>
              </a:rPr>
              <a:t>For example, if within a program we eventually realised that we needed to work out the factorial of a number, recursion can be used to calculate the factorial of any given number in just a few lines of code:</a:t>
            </a:r>
            <a:endParaRPr/>
          </a:p>
          <a:p>
            <a:pPr indent="0" lvl="0" marL="0" rtl="0" algn="l">
              <a:spcBef>
                <a:spcPts val="200"/>
              </a:spcBef>
              <a:spcAft>
                <a:spcPts val="0"/>
              </a:spcAft>
              <a:buClr>
                <a:schemeClr val="dk1"/>
              </a:buClr>
              <a:buSzPts val="1000"/>
              <a:buNone/>
            </a:pPr>
            <a:r>
              <a:t/>
            </a:r>
            <a:endParaRPr sz="1000"/>
          </a:p>
        </p:txBody>
      </p:sp>
      <p:sp>
        <p:nvSpPr>
          <p:cNvPr id="455" name="Google Shape;455;p24"/>
          <p:cNvSpPr/>
          <p:nvPr/>
        </p:nvSpPr>
        <p:spPr>
          <a:xfrm>
            <a:off x="685800" y="5391778"/>
            <a:ext cx="4536504" cy="1015663"/>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The factorial of a number is the product of all positive integers from 1 to the number. In mathematical notation, a factorial is represented by the symbol ” ! ”. </a:t>
            </a:r>
            <a:endParaRPr/>
          </a:p>
          <a:p>
            <a:pPr indent="0" lvl="0" marL="0" marR="0" rtl="0" algn="l">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For example, 5! = 5 * 4 * 3 * 2 * 1 = 120 </a:t>
            </a:r>
            <a:endParaRPr/>
          </a:p>
        </p:txBody>
      </p:sp>
      <p:pic>
        <p:nvPicPr>
          <p:cNvPr descr="http://www.mrlamont.com/uploads/1/7/0/2/17021682/factorial.png" id="456" name="Google Shape;456;p24"/>
          <p:cNvPicPr preferRelativeResize="0"/>
          <p:nvPr/>
        </p:nvPicPr>
        <p:blipFill rotWithShape="1">
          <a:blip r:embed="rId3">
            <a:alphaModFix/>
          </a:blip>
          <a:srcRect b="0" l="0" r="0" t="0"/>
          <a:stretch/>
        </p:blipFill>
        <p:spPr>
          <a:xfrm>
            <a:off x="6175701" y="4318968"/>
            <a:ext cx="2448273" cy="1846509"/>
          </a:xfrm>
          <a:prstGeom prst="rect">
            <a:avLst/>
          </a:prstGeom>
          <a:noFill/>
          <a:ln cap="flat" cmpd="sng" w="9525">
            <a:solidFill>
              <a:schemeClr val="accent1"/>
            </a:solidFill>
            <a:prstDash val="solid"/>
            <a:round/>
            <a:headEnd len="sm" w="sm" type="none"/>
            <a:tailEnd len="sm" w="sm" type="none"/>
          </a:ln>
        </p:spPr>
      </p:pic>
      <p:pic>
        <p:nvPicPr>
          <p:cNvPr descr="Screen Clipping" id="457" name="Google Shape;457;p24"/>
          <p:cNvPicPr preferRelativeResize="0"/>
          <p:nvPr/>
        </p:nvPicPr>
        <p:blipFill rotWithShape="1">
          <a:blip r:embed="rId4">
            <a:alphaModFix/>
          </a:blip>
          <a:srcRect b="0" l="0" r="0" t="0"/>
          <a:stretch/>
        </p:blipFill>
        <p:spPr>
          <a:xfrm>
            <a:off x="2647677" y="3733800"/>
            <a:ext cx="3372321" cy="1562318"/>
          </a:xfrm>
          <a:prstGeom prst="rect">
            <a:avLst/>
          </a:prstGeom>
          <a:noFill/>
          <a:ln cap="flat" cmpd="sng" w="9525">
            <a:solidFill>
              <a:schemeClr val="accent1"/>
            </a:solidFill>
            <a:prstDash val="solid"/>
            <a:round/>
            <a:headEnd len="sm" w="sm" type="none"/>
            <a:tailEnd len="sm" w="sm" type="none"/>
          </a:ln>
        </p:spPr>
      </p:pic>
      <p:sp>
        <p:nvSpPr>
          <p:cNvPr id="458" name="Google Shape;458;p24"/>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500"/>
                                        <p:tgtEl>
                                          <p:spTgt spid="4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7"/>
                                        </p:tgtEl>
                                        <p:attrNameLst>
                                          <p:attrName>style.visibility</p:attrName>
                                        </p:attrNameLst>
                                      </p:cBhvr>
                                      <p:to>
                                        <p:strVal val="visible"/>
                                      </p:to>
                                    </p:set>
                                    <p:anim calcmode="lin" valueType="num">
                                      <p:cBhvr additive="base">
                                        <p:cTn dur="500"/>
                                        <p:tgtEl>
                                          <p:spTgt spid="4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500"/>
                                        <p:tgtEl>
                                          <p:spTgt spid="4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5"/>
          <p:cNvSpPr txBox="1"/>
          <p:nvPr>
            <p:ph type="title"/>
          </p:nvPr>
        </p:nvSpPr>
        <p:spPr>
          <a:xfrm>
            <a:off x="609600" y="2362200"/>
            <a:ext cx="8229600" cy="8549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Gothic"/>
              <a:buNone/>
            </a:pPr>
            <a:r>
              <a:rPr lang="en-GB"/>
              <a:t>Pattern Recognition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6"/>
          <p:cNvSpPr txBox="1"/>
          <p:nvPr>
            <p:ph idx="1" type="body"/>
          </p:nvPr>
        </p:nvSpPr>
        <p:spPr>
          <a:xfrm>
            <a:off x="467544" y="1308799"/>
            <a:ext cx="8496944" cy="4406201"/>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l">
              <a:spcBef>
                <a:spcPts val="0"/>
              </a:spcBef>
              <a:spcAft>
                <a:spcPts val="0"/>
              </a:spcAft>
              <a:buClr>
                <a:schemeClr val="dk1"/>
              </a:buClr>
              <a:buSzPct val="100000"/>
              <a:buNone/>
            </a:pPr>
            <a:r>
              <a:rPr lang="en-GB">
                <a:solidFill>
                  <a:schemeClr val="dk1"/>
                </a:solidFill>
                <a:latin typeface="Century Gothic"/>
                <a:ea typeface="Century Gothic"/>
                <a:cs typeface="Century Gothic"/>
                <a:sym typeface="Century Gothic"/>
              </a:rPr>
              <a:t>What is Pattern Recognition?</a:t>
            </a:r>
            <a:endParaRPr/>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Pattern recognition is an important computational thinking tool. It concerns the idea that similar solutions or processes (that have already been studied) can be applied to help solve the problem that one might be working on.</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If we were a chef in a restaurant and had an important customer who want a </a:t>
            </a:r>
            <a:r>
              <a:rPr b="1" i="1" lang="en-GB" sz="2000">
                <a:solidFill>
                  <a:schemeClr val="dk1"/>
                </a:solidFill>
                <a:latin typeface="Century Gothic"/>
                <a:ea typeface="Century Gothic"/>
                <a:cs typeface="Century Gothic"/>
                <a:sym typeface="Century Gothic"/>
              </a:rPr>
              <a:t>brand new </a:t>
            </a:r>
            <a:r>
              <a:rPr lang="en-GB" sz="2000">
                <a:solidFill>
                  <a:schemeClr val="dk1"/>
                </a:solidFill>
                <a:latin typeface="Century Gothic"/>
                <a:ea typeface="Century Gothic"/>
                <a:cs typeface="Century Gothic"/>
                <a:sym typeface="Century Gothic"/>
              </a:rPr>
              <a:t>‘Super Special Pizza’ for lunch, we would first have to create a recipe.</a:t>
            </a:r>
            <a:endParaRPr/>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But a more effective approach would be to </a:t>
            </a:r>
            <a:r>
              <a:rPr b="1" lang="en-GB" sz="2000">
                <a:solidFill>
                  <a:schemeClr val="dk1"/>
                </a:solidFill>
                <a:latin typeface="Century Gothic"/>
                <a:ea typeface="Century Gothic"/>
                <a:cs typeface="Century Gothic"/>
                <a:sym typeface="Century Gothic"/>
              </a:rPr>
              <a:t>recognise</a:t>
            </a:r>
            <a:r>
              <a:rPr lang="en-GB" sz="2000">
                <a:solidFill>
                  <a:schemeClr val="dk1"/>
                </a:solidFill>
                <a:latin typeface="Century Gothic"/>
                <a:ea typeface="Century Gothic"/>
                <a:cs typeface="Century Gothic"/>
                <a:sym typeface="Century Gothic"/>
              </a:rPr>
              <a:t> that a ‘Super Special Pizza’ is </a:t>
            </a:r>
            <a:r>
              <a:rPr b="1" lang="en-GB" sz="2000">
                <a:solidFill>
                  <a:schemeClr val="dk1"/>
                </a:solidFill>
                <a:latin typeface="Century Gothic"/>
                <a:ea typeface="Century Gothic"/>
                <a:cs typeface="Century Gothic"/>
                <a:sym typeface="Century Gothic"/>
              </a:rPr>
              <a:t>similar</a:t>
            </a:r>
            <a:r>
              <a:rPr lang="en-GB" sz="2000">
                <a:solidFill>
                  <a:schemeClr val="dk1"/>
                </a:solidFill>
                <a:latin typeface="Century Gothic"/>
                <a:ea typeface="Century Gothic"/>
                <a:cs typeface="Century Gothic"/>
                <a:sym typeface="Century Gothic"/>
              </a:rPr>
              <a:t> to a ‘Standard Pizza’, just with a range of different toppings. </a:t>
            </a:r>
            <a:endParaRPr/>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So, to be efficient, we would borrow the pizza recipe so that half the problem is already solved, and just solve the remaining aspects of the problem.</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Programming languages have many libraries of functions / classes which we can make use of to solve many aspects of complex problems without having to code from scratch every time.</a:t>
            </a:r>
            <a:endParaRPr/>
          </a:p>
          <a:p>
            <a:pPr indent="0" lvl="0" marL="0" rtl="0" algn="l">
              <a:spcBef>
                <a:spcPts val="340"/>
              </a:spcBef>
              <a:spcAft>
                <a:spcPts val="0"/>
              </a:spcAft>
              <a:buClr>
                <a:schemeClr val="dk1"/>
              </a:buClr>
              <a:buSzPct val="100000"/>
              <a:buNone/>
            </a:pPr>
            <a:r>
              <a:t/>
            </a:r>
            <a:endParaRPr sz="2000"/>
          </a:p>
        </p:txBody>
      </p:sp>
      <p:pic>
        <p:nvPicPr>
          <p:cNvPr id="469" name="Google Shape;469;p26"/>
          <p:cNvPicPr preferRelativeResize="0"/>
          <p:nvPr/>
        </p:nvPicPr>
        <p:blipFill rotWithShape="1">
          <a:blip r:embed="rId3">
            <a:alphaModFix/>
          </a:blip>
          <a:srcRect b="0" l="0" r="0" t="0"/>
          <a:stretch/>
        </p:blipFill>
        <p:spPr>
          <a:xfrm>
            <a:off x="6770580" y="5486400"/>
            <a:ext cx="2193908" cy="1002006"/>
          </a:xfrm>
          <a:prstGeom prst="rect">
            <a:avLst/>
          </a:prstGeom>
          <a:noFill/>
          <a:ln>
            <a:noFill/>
          </a:ln>
        </p:spPr>
      </p:pic>
      <p:sp>
        <p:nvSpPr>
          <p:cNvPr id="470" name="Google Shape;470;p26"/>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7"/>
          <p:cNvSpPr txBox="1"/>
          <p:nvPr>
            <p:ph idx="1" type="body"/>
          </p:nvPr>
        </p:nvSpPr>
        <p:spPr>
          <a:xfrm>
            <a:off x="467544" y="1308799"/>
            <a:ext cx="8496944" cy="4722407"/>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None/>
            </a:pPr>
            <a:r>
              <a:rPr lang="en-GB">
                <a:solidFill>
                  <a:schemeClr val="dk1"/>
                </a:solidFill>
                <a:latin typeface="Century Gothic"/>
                <a:ea typeface="Century Gothic"/>
                <a:cs typeface="Century Gothic"/>
                <a:sym typeface="Century Gothic"/>
              </a:rPr>
              <a:t>Preconditions and Reusable components?</a:t>
            </a:r>
            <a:endParaRPr/>
          </a:p>
          <a:p>
            <a:pPr indent="0" lvl="0" marL="0" rtl="0" algn="l">
              <a:spcBef>
                <a:spcPts val="370"/>
              </a:spcBef>
              <a:spcAft>
                <a:spcPts val="0"/>
              </a:spcAft>
              <a:buClr>
                <a:schemeClr val="dk1"/>
              </a:buClr>
              <a:buSzPct val="100000"/>
              <a:buNone/>
            </a:pPr>
            <a:r>
              <a:t/>
            </a:r>
            <a:endParaRPr sz="2000"/>
          </a:p>
          <a:p>
            <a:pPr indent="0" lvl="0" marL="0" rtl="0" algn="l">
              <a:spcBef>
                <a:spcPts val="37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In addition to using prewritten code libraries to make the job of problem solving easier, it is also vital that programmers ‘think ahead’ to see if there are any modules of code (which they write) that could be reused in other projects that they might be working on, later down the line.</a:t>
            </a:r>
            <a:endParaRPr/>
          </a:p>
          <a:p>
            <a:pPr indent="0" lvl="0" marL="0" rtl="0" algn="l">
              <a:spcBef>
                <a:spcPts val="370"/>
              </a:spcBef>
              <a:spcAft>
                <a:spcPts val="0"/>
              </a:spcAft>
              <a:buClr>
                <a:schemeClr val="dk1"/>
              </a:buClr>
              <a:buSzPct val="100000"/>
              <a:buNone/>
            </a:pPr>
            <a:r>
              <a:t/>
            </a:r>
            <a:endParaRPr sz="2000"/>
          </a:p>
          <a:p>
            <a:pPr indent="0" lvl="0" marL="0" rtl="0" algn="l">
              <a:spcBef>
                <a:spcPts val="37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For example, a programmer may have written some code which contains an algorithm for a unique calculation that a particular organisation uses in many aspects of its work.</a:t>
            </a:r>
            <a:endParaRPr/>
          </a:p>
          <a:p>
            <a:pPr indent="0" lvl="0" marL="0" rtl="0" algn="l">
              <a:spcBef>
                <a:spcPts val="370"/>
              </a:spcBef>
              <a:spcAft>
                <a:spcPts val="0"/>
              </a:spcAft>
              <a:buClr>
                <a:schemeClr val="dk1"/>
              </a:buClr>
              <a:buSzPct val="100000"/>
              <a:buNone/>
            </a:pPr>
            <a:r>
              <a:t/>
            </a:r>
            <a:endParaRPr sz="2000"/>
          </a:p>
          <a:p>
            <a:pPr indent="0" lvl="0" marL="0" rtl="0" algn="l">
              <a:spcBef>
                <a:spcPts val="37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It may therefore by likely that this code will be essential in future programs required by the organisation. It would therefore be sensible to code this algorithm in a separate module which could be imported into future program with ease.</a:t>
            </a:r>
            <a:endParaRPr/>
          </a:p>
          <a:p>
            <a:pPr indent="0" lvl="0" marL="0" rtl="0" algn="l">
              <a:spcBef>
                <a:spcPts val="370"/>
              </a:spcBef>
              <a:spcAft>
                <a:spcPts val="0"/>
              </a:spcAft>
              <a:buClr>
                <a:schemeClr val="dk1"/>
              </a:buClr>
              <a:buSzPct val="100000"/>
              <a:buNone/>
            </a:pPr>
            <a:r>
              <a:t/>
            </a:r>
            <a:endParaRPr sz="2000"/>
          </a:p>
        </p:txBody>
      </p:sp>
      <p:pic>
        <p:nvPicPr>
          <p:cNvPr id="476" name="Google Shape;476;p27"/>
          <p:cNvPicPr preferRelativeResize="0"/>
          <p:nvPr/>
        </p:nvPicPr>
        <p:blipFill rotWithShape="1">
          <a:blip r:embed="rId3">
            <a:alphaModFix/>
          </a:blip>
          <a:srcRect b="0" l="0" r="0" t="0"/>
          <a:stretch/>
        </p:blipFill>
        <p:spPr>
          <a:xfrm>
            <a:off x="6569092" y="5486400"/>
            <a:ext cx="2193908" cy="1002006"/>
          </a:xfrm>
          <a:prstGeom prst="rect">
            <a:avLst/>
          </a:prstGeom>
          <a:noFill/>
          <a:ln>
            <a:noFill/>
          </a:ln>
        </p:spPr>
      </p:pic>
      <p:sp>
        <p:nvSpPr>
          <p:cNvPr id="477" name="Google Shape;477;p27"/>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8"/>
          <p:cNvSpPr txBox="1"/>
          <p:nvPr>
            <p:ph idx="1" type="body"/>
          </p:nvPr>
        </p:nvSpPr>
        <p:spPr>
          <a:xfrm>
            <a:off x="381000" y="1308799"/>
            <a:ext cx="8655496" cy="5109091"/>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GB" sz="1800">
                <a:solidFill>
                  <a:schemeClr val="dk1"/>
                </a:solidFill>
                <a:latin typeface="Century Gothic"/>
                <a:ea typeface="Century Gothic"/>
                <a:cs typeface="Century Gothic"/>
                <a:sym typeface="Century Gothic"/>
              </a:rPr>
              <a:t>Caching</a:t>
            </a:r>
            <a:endParaRPr/>
          </a:p>
          <a:p>
            <a:pPr indent="0" lvl="0" marL="0" rtl="0" algn="l">
              <a:spcBef>
                <a:spcPts val="280"/>
              </a:spcBef>
              <a:spcAft>
                <a:spcPts val="0"/>
              </a:spcAft>
              <a:buClr>
                <a:schemeClr val="dk1"/>
              </a:buClr>
              <a:buSzPts val="1400"/>
              <a:buNone/>
            </a:pPr>
            <a:r>
              <a:rPr lang="en-GB" sz="1400">
                <a:solidFill>
                  <a:schemeClr val="dk1"/>
                </a:solidFill>
                <a:latin typeface="Century Gothic"/>
                <a:ea typeface="Century Gothic"/>
                <a:cs typeface="Century Gothic"/>
                <a:sym typeface="Century Gothic"/>
              </a:rPr>
              <a:t>A technique that a computer scientist may implement into their programs to ensure that they are as efficient as possible is </a:t>
            </a:r>
            <a:r>
              <a:rPr b="1" lang="en-GB" sz="1400">
                <a:solidFill>
                  <a:schemeClr val="dk1"/>
                </a:solidFill>
                <a:latin typeface="Century Gothic"/>
                <a:ea typeface="Century Gothic"/>
                <a:cs typeface="Century Gothic"/>
                <a:sym typeface="Century Gothic"/>
              </a:rPr>
              <a:t>caching</a:t>
            </a:r>
            <a:r>
              <a:rPr lang="en-GB" sz="1400">
                <a:solidFill>
                  <a:schemeClr val="dk1"/>
                </a:solidFill>
                <a:latin typeface="Century Gothic"/>
                <a:ea typeface="Century Gothic"/>
                <a:cs typeface="Century Gothic"/>
                <a:sym typeface="Century Gothic"/>
              </a:rPr>
              <a:t>.</a:t>
            </a:r>
            <a:endParaRPr/>
          </a:p>
          <a:p>
            <a:pPr indent="0" lvl="0" marL="0" rtl="0" algn="l">
              <a:spcBef>
                <a:spcPts val="220"/>
              </a:spcBef>
              <a:spcAft>
                <a:spcPts val="0"/>
              </a:spcAft>
              <a:buClr>
                <a:schemeClr val="dk1"/>
              </a:buClr>
              <a:buSzPts val="1100"/>
              <a:buNone/>
            </a:pPr>
            <a:r>
              <a:t/>
            </a:r>
            <a:endParaRPr sz="1100"/>
          </a:p>
          <a:p>
            <a:pPr indent="0" lvl="0" marL="0" rtl="0" algn="l">
              <a:spcBef>
                <a:spcPts val="280"/>
              </a:spcBef>
              <a:spcAft>
                <a:spcPts val="0"/>
              </a:spcAft>
              <a:buClr>
                <a:schemeClr val="dk1"/>
              </a:buClr>
              <a:buSzPts val="1400"/>
              <a:buNone/>
            </a:pPr>
            <a:r>
              <a:rPr lang="en-GB" sz="1400">
                <a:solidFill>
                  <a:schemeClr val="dk1"/>
                </a:solidFill>
                <a:latin typeface="Century Gothic"/>
                <a:ea typeface="Century Gothic"/>
                <a:cs typeface="Century Gothic"/>
                <a:sym typeface="Century Gothic"/>
              </a:rPr>
              <a:t>Caching is where </a:t>
            </a:r>
            <a:r>
              <a:rPr b="1" lang="en-GB" sz="1400">
                <a:solidFill>
                  <a:schemeClr val="dk1"/>
                </a:solidFill>
                <a:latin typeface="Century Gothic"/>
                <a:ea typeface="Century Gothic"/>
                <a:cs typeface="Century Gothic"/>
                <a:sym typeface="Century Gothic"/>
              </a:rPr>
              <a:t>inputted data </a:t>
            </a:r>
            <a:r>
              <a:rPr lang="en-GB" sz="1400">
                <a:solidFill>
                  <a:schemeClr val="dk1"/>
                </a:solidFill>
                <a:latin typeface="Century Gothic"/>
                <a:ea typeface="Century Gothic"/>
                <a:cs typeface="Century Gothic"/>
                <a:sym typeface="Century Gothic"/>
              </a:rPr>
              <a:t>is stored in RAM, just in case it is needed again before the process has been ended. </a:t>
            </a:r>
            <a:endParaRPr/>
          </a:p>
          <a:p>
            <a:pPr indent="0" lvl="0" marL="0" rtl="0" algn="l">
              <a:spcBef>
                <a:spcPts val="220"/>
              </a:spcBef>
              <a:spcAft>
                <a:spcPts val="0"/>
              </a:spcAft>
              <a:buClr>
                <a:schemeClr val="dk1"/>
              </a:buClr>
              <a:buSzPts val="1100"/>
              <a:buNone/>
            </a:pPr>
            <a:r>
              <a:t/>
            </a:r>
            <a:endParaRPr sz="1100"/>
          </a:p>
          <a:p>
            <a:pPr indent="0" lvl="0" marL="0" rtl="0" algn="l">
              <a:spcBef>
                <a:spcPts val="280"/>
              </a:spcBef>
              <a:spcAft>
                <a:spcPts val="0"/>
              </a:spcAft>
              <a:buClr>
                <a:schemeClr val="dk1"/>
              </a:buClr>
              <a:buSzPts val="1400"/>
              <a:buNone/>
            </a:pPr>
            <a:r>
              <a:rPr lang="en-GB" sz="1400">
                <a:solidFill>
                  <a:schemeClr val="dk1"/>
                </a:solidFill>
                <a:latin typeface="Century Gothic"/>
                <a:ea typeface="Century Gothic"/>
                <a:cs typeface="Century Gothic"/>
                <a:sym typeface="Century Gothic"/>
              </a:rPr>
              <a:t>Similarly, prefetching is where </a:t>
            </a:r>
            <a:r>
              <a:rPr b="1" lang="en-GB" sz="1400">
                <a:solidFill>
                  <a:schemeClr val="dk1"/>
                </a:solidFill>
                <a:latin typeface="Century Gothic"/>
                <a:ea typeface="Century Gothic"/>
                <a:cs typeface="Century Gothic"/>
                <a:sym typeface="Century Gothic"/>
              </a:rPr>
              <a:t>instructions</a:t>
            </a:r>
            <a:r>
              <a:rPr lang="en-GB" sz="1400">
                <a:solidFill>
                  <a:schemeClr val="dk1"/>
                </a:solidFill>
                <a:latin typeface="Century Gothic"/>
                <a:ea typeface="Century Gothic"/>
                <a:cs typeface="Century Gothic"/>
                <a:sym typeface="Century Gothic"/>
              </a:rPr>
              <a:t> are moved from the RAM to the CPU’s cache, before it is actually needed. Well developed algorithms can predict future instructions and so by ‘prefetching’ them, it means that are ready to be used instead of waiting for them to be read from disk.</a:t>
            </a:r>
            <a:endParaRPr/>
          </a:p>
          <a:p>
            <a:pPr indent="0" lvl="0" marL="0" rtl="0" algn="l">
              <a:spcBef>
                <a:spcPts val="220"/>
              </a:spcBef>
              <a:spcAft>
                <a:spcPts val="0"/>
              </a:spcAft>
              <a:buClr>
                <a:schemeClr val="dk1"/>
              </a:buClr>
              <a:buSzPts val="1100"/>
              <a:buNone/>
            </a:pPr>
            <a:r>
              <a:t/>
            </a:r>
            <a:endParaRPr sz="1100"/>
          </a:p>
          <a:p>
            <a:pPr indent="0" lvl="0" marL="0" rtl="0" algn="l">
              <a:spcBef>
                <a:spcPts val="280"/>
              </a:spcBef>
              <a:spcAft>
                <a:spcPts val="0"/>
              </a:spcAft>
              <a:buClr>
                <a:schemeClr val="dk1"/>
              </a:buClr>
              <a:buSzPts val="1400"/>
              <a:buNone/>
            </a:pPr>
            <a:r>
              <a:rPr b="1" lang="en-GB" sz="1400">
                <a:solidFill>
                  <a:schemeClr val="dk1"/>
                </a:solidFill>
                <a:latin typeface="Century Gothic"/>
                <a:ea typeface="Century Gothic"/>
                <a:cs typeface="Century Gothic"/>
                <a:sym typeface="Century Gothic"/>
              </a:rPr>
              <a:t>Advantages:</a:t>
            </a:r>
            <a:endParaRPr/>
          </a:p>
          <a:p>
            <a:pPr indent="-342900" lvl="0" marL="342900" rtl="0" algn="l">
              <a:spcBef>
                <a:spcPts val="280"/>
              </a:spcBef>
              <a:spcAft>
                <a:spcPts val="0"/>
              </a:spcAft>
              <a:buClr>
                <a:schemeClr val="dk1"/>
              </a:buClr>
              <a:buSzPts val="1400"/>
              <a:buChar char="•"/>
            </a:pPr>
            <a:r>
              <a:rPr lang="en-GB" sz="1400">
                <a:solidFill>
                  <a:schemeClr val="dk1"/>
                </a:solidFill>
                <a:latin typeface="Century Gothic"/>
                <a:ea typeface="Century Gothic"/>
                <a:cs typeface="Century Gothic"/>
                <a:sym typeface="Century Gothic"/>
              </a:rPr>
              <a:t>Faster response times as data doesn’t need to be read from disk – they are already in system memory.</a:t>
            </a:r>
            <a:endParaRPr/>
          </a:p>
          <a:p>
            <a:pPr indent="-342900" lvl="0" marL="342900" rtl="0" algn="l">
              <a:spcBef>
                <a:spcPts val="280"/>
              </a:spcBef>
              <a:spcAft>
                <a:spcPts val="0"/>
              </a:spcAft>
              <a:buClr>
                <a:schemeClr val="dk1"/>
              </a:buClr>
              <a:buSzPts val="1400"/>
              <a:buChar char="•"/>
            </a:pPr>
            <a:r>
              <a:rPr lang="en-GB" sz="1400">
                <a:solidFill>
                  <a:schemeClr val="dk1"/>
                </a:solidFill>
                <a:latin typeface="Century Gothic"/>
                <a:ea typeface="Century Gothic"/>
                <a:cs typeface="Century Gothic"/>
                <a:sym typeface="Century Gothic"/>
              </a:rPr>
              <a:t>Reduces the load on a system (fewer data access movements)</a:t>
            </a:r>
            <a:endParaRPr/>
          </a:p>
          <a:p>
            <a:pPr indent="0" lvl="0" marL="0" rtl="0" algn="l">
              <a:spcBef>
                <a:spcPts val="220"/>
              </a:spcBef>
              <a:spcAft>
                <a:spcPts val="0"/>
              </a:spcAft>
              <a:buClr>
                <a:schemeClr val="dk1"/>
              </a:buClr>
              <a:buSzPts val="1100"/>
              <a:buNone/>
            </a:pPr>
            <a:r>
              <a:t/>
            </a:r>
            <a:endParaRPr sz="1100"/>
          </a:p>
          <a:p>
            <a:pPr indent="0" lvl="0" marL="0" rtl="0" algn="l">
              <a:spcBef>
                <a:spcPts val="280"/>
              </a:spcBef>
              <a:spcAft>
                <a:spcPts val="0"/>
              </a:spcAft>
              <a:buClr>
                <a:schemeClr val="dk1"/>
              </a:buClr>
              <a:buSzPts val="1400"/>
              <a:buNone/>
            </a:pPr>
            <a:r>
              <a:rPr b="1" lang="en-GB" sz="1400">
                <a:solidFill>
                  <a:schemeClr val="dk1"/>
                </a:solidFill>
                <a:latin typeface="Century Gothic"/>
                <a:ea typeface="Century Gothic"/>
                <a:cs typeface="Century Gothic"/>
                <a:sym typeface="Century Gothic"/>
              </a:rPr>
              <a:t>Disadvantages:</a:t>
            </a:r>
            <a:endParaRPr/>
          </a:p>
          <a:p>
            <a:pPr indent="-342900" lvl="0" marL="342900" rtl="0" algn="l">
              <a:spcBef>
                <a:spcPts val="280"/>
              </a:spcBef>
              <a:spcAft>
                <a:spcPts val="0"/>
              </a:spcAft>
              <a:buClr>
                <a:schemeClr val="dk1"/>
              </a:buClr>
              <a:buSzPts val="1400"/>
              <a:buChar char="•"/>
            </a:pPr>
            <a:r>
              <a:rPr lang="en-GB" sz="1400">
                <a:solidFill>
                  <a:schemeClr val="dk1"/>
                </a:solidFill>
                <a:latin typeface="Century Gothic"/>
                <a:ea typeface="Century Gothic"/>
                <a:cs typeface="Century Gothic"/>
                <a:sym typeface="Century Gothic"/>
              </a:rPr>
              <a:t>Very hard to program and apply successfully.</a:t>
            </a:r>
            <a:endParaRPr/>
          </a:p>
          <a:p>
            <a:pPr indent="-342900" lvl="0" marL="342900" rtl="0" algn="l">
              <a:spcBef>
                <a:spcPts val="280"/>
              </a:spcBef>
              <a:spcAft>
                <a:spcPts val="0"/>
              </a:spcAft>
              <a:buClr>
                <a:schemeClr val="dk1"/>
              </a:buClr>
              <a:buSzPts val="1400"/>
              <a:buChar char="•"/>
            </a:pPr>
            <a:r>
              <a:rPr lang="en-GB" sz="1400">
                <a:solidFill>
                  <a:schemeClr val="dk1"/>
                </a:solidFill>
                <a:latin typeface="Century Gothic"/>
                <a:ea typeface="Century Gothic"/>
                <a:cs typeface="Century Gothic"/>
                <a:sym typeface="Century Gothic"/>
              </a:rPr>
              <a:t>If the wrong data is cached, the program could end up running slower. </a:t>
            </a:r>
            <a:endParaRPr/>
          </a:p>
          <a:p>
            <a:pPr indent="0" lvl="0" marL="0" rtl="0" algn="l">
              <a:spcBef>
                <a:spcPts val="280"/>
              </a:spcBef>
              <a:spcAft>
                <a:spcPts val="0"/>
              </a:spcAft>
              <a:buClr>
                <a:schemeClr val="dk1"/>
              </a:buClr>
              <a:buSzPts val="1400"/>
              <a:buNone/>
            </a:pPr>
            <a:r>
              <a:t/>
            </a:r>
            <a:endParaRPr sz="1400"/>
          </a:p>
          <a:p>
            <a:pPr indent="0" lvl="0" marL="0" rtl="0" algn="l">
              <a:spcBef>
                <a:spcPts val="280"/>
              </a:spcBef>
              <a:spcAft>
                <a:spcPts val="0"/>
              </a:spcAft>
              <a:buClr>
                <a:schemeClr val="dk1"/>
              </a:buClr>
              <a:buSzPts val="1400"/>
              <a:buNone/>
            </a:pPr>
            <a:r>
              <a:t/>
            </a:r>
            <a:endParaRPr sz="1400"/>
          </a:p>
        </p:txBody>
      </p:sp>
      <p:sp>
        <p:nvSpPr>
          <p:cNvPr id="483" name="Google Shape;483;p28"/>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
        <p:nvSpPr>
          <p:cNvPr id="484" name="Google Shape;484;p28"/>
          <p:cNvSpPr txBox="1"/>
          <p:nvPr/>
        </p:nvSpPr>
        <p:spPr>
          <a:xfrm rot="396612">
            <a:off x="7614149" y="466677"/>
            <a:ext cx="1373767" cy="92333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i="1" lang="en-GB" sz="1800">
                <a:solidFill>
                  <a:schemeClr val="dk1"/>
                </a:solidFill>
                <a:latin typeface="Century Gothic"/>
                <a:ea typeface="Century Gothic"/>
                <a:cs typeface="Century Gothic"/>
                <a:sym typeface="Century Gothic"/>
              </a:rPr>
              <a:t>Programs ‘Thinking Ahead’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9"/>
          <p:cNvSpPr txBox="1"/>
          <p:nvPr>
            <p:ph type="title"/>
          </p:nvPr>
        </p:nvSpPr>
        <p:spPr>
          <a:xfrm>
            <a:off x="609600" y="1828800"/>
            <a:ext cx="8229600" cy="2590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Gothic"/>
              <a:buNone/>
            </a:pPr>
            <a:r>
              <a:rPr lang="en-GB"/>
              <a:t>Algorithms</a:t>
            </a:r>
            <a:br>
              <a:rPr lang="en-GB"/>
            </a:br>
            <a:r>
              <a:rPr lang="en-GB"/>
              <a:t>&amp;</a:t>
            </a:r>
            <a:br>
              <a:rPr lang="en-GB"/>
            </a:br>
            <a:r>
              <a:rPr lang="en-GB"/>
              <a:t>Algorithmic Thinking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0"/>
          <p:cNvSpPr txBox="1"/>
          <p:nvPr>
            <p:ph idx="1" type="body"/>
          </p:nvPr>
        </p:nvSpPr>
        <p:spPr>
          <a:xfrm>
            <a:off x="467544" y="1308799"/>
            <a:ext cx="8496944" cy="4406201"/>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l">
              <a:spcBef>
                <a:spcPts val="0"/>
              </a:spcBef>
              <a:spcAft>
                <a:spcPts val="0"/>
              </a:spcAft>
              <a:buClr>
                <a:schemeClr val="dk1"/>
              </a:buClr>
              <a:buSzPct val="100000"/>
              <a:buNone/>
            </a:pPr>
            <a:r>
              <a:rPr lang="en-GB">
                <a:solidFill>
                  <a:schemeClr val="dk1"/>
                </a:solidFill>
                <a:latin typeface="Century Gothic"/>
                <a:ea typeface="Century Gothic"/>
                <a:cs typeface="Century Gothic"/>
                <a:sym typeface="Century Gothic"/>
              </a:rPr>
              <a:t>What are Algorithms?</a:t>
            </a:r>
            <a:endParaRPr/>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Algorithms are simply recipes / procedures used to get the intended result.</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Algorithms state the steps required to get to the desired result. </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As we learnt earlier, for a problem to be computable, an algorithm must be produced.</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Creating algorithms is all about thinking logically and so to think computationally is to think in a structured, organised and logical manner.</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Algorithms are vital to programming. Without one, coding a solution is almost impossible…but with one, coding becomes an easy job (if you know your programming syntax that is!)</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t/>
            </a:r>
            <a:endParaRPr sz="2000"/>
          </a:p>
        </p:txBody>
      </p:sp>
      <p:pic>
        <p:nvPicPr>
          <p:cNvPr id="495" name="Google Shape;495;p30"/>
          <p:cNvPicPr preferRelativeResize="0"/>
          <p:nvPr/>
        </p:nvPicPr>
        <p:blipFill rotWithShape="1">
          <a:blip r:embed="rId3">
            <a:alphaModFix/>
          </a:blip>
          <a:srcRect b="0" l="0" r="0" t="0"/>
          <a:stretch/>
        </p:blipFill>
        <p:spPr>
          <a:xfrm>
            <a:off x="6477000" y="5257800"/>
            <a:ext cx="2299151" cy="1274436"/>
          </a:xfrm>
          <a:prstGeom prst="rect">
            <a:avLst/>
          </a:prstGeom>
          <a:noFill/>
          <a:ln>
            <a:noFill/>
          </a:ln>
        </p:spPr>
      </p:pic>
      <p:sp>
        <p:nvSpPr>
          <p:cNvPr id="496" name="Google Shape;496;p30"/>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1"/>
          <p:cNvSpPr txBox="1"/>
          <p:nvPr>
            <p:ph idx="1" type="body"/>
          </p:nvPr>
        </p:nvSpPr>
        <p:spPr>
          <a:xfrm>
            <a:off x="467544" y="1308799"/>
            <a:ext cx="8496944" cy="5109091"/>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GB">
                <a:solidFill>
                  <a:schemeClr val="dk1"/>
                </a:solidFill>
                <a:latin typeface="Century Gothic"/>
                <a:ea typeface="Century Gothic"/>
                <a:cs typeface="Century Gothic"/>
                <a:sym typeface="Century Gothic"/>
              </a:rPr>
              <a:t>Algorithms and Decisions?</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At the heart of all substantial algorithms are decisions; points at which the program might take a significant direction based on particular conditions.</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These decisions will either lead to an iteration or a branching point, which may be central to the program’s function.</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GB" sz="2000">
                <a:solidFill>
                  <a:schemeClr val="dk1"/>
                </a:solidFill>
                <a:latin typeface="Century Gothic"/>
                <a:ea typeface="Century Gothic"/>
                <a:cs typeface="Century Gothic"/>
                <a:sym typeface="Century Gothic"/>
              </a:rPr>
              <a:t>It is therefore vital that the points in the algorithm when decisions occur, are correctly identified.</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p:txBody>
      </p:sp>
      <p:pic>
        <p:nvPicPr>
          <p:cNvPr id="502" name="Google Shape;502;p31"/>
          <p:cNvPicPr preferRelativeResize="0"/>
          <p:nvPr/>
        </p:nvPicPr>
        <p:blipFill rotWithShape="1">
          <a:blip r:embed="rId3">
            <a:alphaModFix/>
          </a:blip>
          <a:srcRect b="0" l="0" r="0" t="0"/>
          <a:stretch/>
        </p:blipFill>
        <p:spPr>
          <a:xfrm>
            <a:off x="6400800" y="5143454"/>
            <a:ext cx="2299151" cy="1274436"/>
          </a:xfrm>
          <a:prstGeom prst="rect">
            <a:avLst/>
          </a:prstGeom>
          <a:noFill/>
          <a:ln>
            <a:noFill/>
          </a:ln>
        </p:spPr>
      </p:pic>
      <p:sp>
        <p:nvSpPr>
          <p:cNvPr id="503" name="Google Shape;503;p31"/>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2"/>
          <p:cNvSpPr txBox="1"/>
          <p:nvPr>
            <p:ph idx="1" type="body"/>
          </p:nvPr>
        </p:nvSpPr>
        <p:spPr>
          <a:xfrm>
            <a:off x="467544" y="1308799"/>
            <a:ext cx="8496944" cy="4253801"/>
          </a:xfrm>
          <a:prstGeom prst="rect">
            <a:avLst/>
          </a:prstGeom>
          <a:solidFill>
            <a:schemeClr val="lt1"/>
          </a:solid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chemeClr val="dk1"/>
              </a:buClr>
              <a:buSzPct val="100000"/>
              <a:buNone/>
            </a:pPr>
            <a:r>
              <a:rPr lang="en-GB">
                <a:solidFill>
                  <a:schemeClr val="dk1"/>
                </a:solidFill>
                <a:latin typeface="Century Gothic"/>
                <a:ea typeface="Century Gothic"/>
                <a:cs typeface="Century Gothic"/>
                <a:sym typeface="Century Gothic"/>
              </a:rPr>
              <a:t>Decisions and Conditions</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In programming, all decisions are based on Boolean conditions…conditions that are either True or False.</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Take for example the following…</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IF x &gt; y:</a:t>
            </a:r>
            <a:endParaRPr/>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    OUTPUT “X is greater than Y!”</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This IF statement is checking to see if the condition x&gt;y is TRUE. If it is then the message with be output, otherwise it will not.</a:t>
            </a:r>
            <a:endParaRPr/>
          </a:p>
          <a:p>
            <a:pPr indent="0" lvl="0" marL="0" rtl="0" algn="l">
              <a:spcBef>
                <a:spcPts val="340"/>
              </a:spcBef>
              <a:spcAft>
                <a:spcPts val="0"/>
              </a:spcAft>
              <a:buClr>
                <a:schemeClr val="dk1"/>
              </a:buClr>
              <a:buSzPct val="100000"/>
              <a:buNone/>
            </a:pPr>
            <a:r>
              <a:t/>
            </a:r>
            <a:endParaRPr sz="2000"/>
          </a:p>
          <a:p>
            <a:pPr indent="0" lvl="0" marL="0" rtl="0" algn="l">
              <a:spcBef>
                <a:spcPts val="34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When designing an algorithms it is essential that the conditions of various data (at pivotal parts of the program) are correctly analysed, so that the program can function as it is intended. </a:t>
            </a:r>
            <a:endParaRPr/>
          </a:p>
        </p:txBody>
      </p:sp>
      <p:pic>
        <p:nvPicPr>
          <p:cNvPr id="509" name="Google Shape;509;p32"/>
          <p:cNvPicPr preferRelativeResize="0"/>
          <p:nvPr/>
        </p:nvPicPr>
        <p:blipFill rotWithShape="1">
          <a:blip r:embed="rId3">
            <a:alphaModFix/>
          </a:blip>
          <a:srcRect b="0" l="0" r="0" t="0"/>
          <a:stretch/>
        </p:blipFill>
        <p:spPr>
          <a:xfrm>
            <a:off x="6477000" y="5257800"/>
            <a:ext cx="2299151" cy="1274436"/>
          </a:xfrm>
          <a:prstGeom prst="rect">
            <a:avLst/>
          </a:prstGeom>
          <a:noFill/>
          <a:ln>
            <a:noFill/>
          </a:ln>
        </p:spPr>
      </p:pic>
      <p:sp>
        <p:nvSpPr>
          <p:cNvPr id="510" name="Google Shape;510;p32"/>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3"/>
          <p:cNvSpPr txBox="1"/>
          <p:nvPr>
            <p:ph idx="1" type="body"/>
          </p:nvPr>
        </p:nvSpPr>
        <p:spPr>
          <a:xfrm>
            <a:off x="467544" y="1308799"/>
            <a:ext cx="8496944" cy="2813575"/>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100000"/>
              <a:buNone/>
            </a:pPr>
            <a:r>
              <a:rPr b="1" lang="en-GB">
                <a:solidFill>
                  <a:schemeClr val="dk1"/>
                </a:solidFill>
                <a:latin typeface="Century Gothic"/>
                <a:ea typeface="Century Gothic"/>
                <a:cs typeface="Century Gothic"/>
                <a:sym typeface="Century Gothic"/>
              </a:rPr>
              <a:t>Decisions and Flow</a:t>
            </a:r>
            <a:endParaRPr/>
          </a:p>
          <a:p>
            <a:pPr indent="0" lvl="0" marL="0" rtl="0" algn="l">
              <a:spcBef>
                <a:spcPts val="201"/>
              </a:spcBef>
              <a:spcAft>
                <a:spcPts val="0"/>
              </a:spcAft>
              <a:buClr>
                <a:schemeClr val="dk1"/>
              </a:buClr>
              <a:buSzPct val="100000"/>
              <a:buNone/>
            </a:pPr>
            <a:r>
              <a:t/>
            </a:r>
            <a:endParaRPr sz="1300"/>
          </a:p>
          <a:p>
            <a:pPr indent="0" lvl="0" marL="0" rtl="0" algn="l">
              <a:spcBef>
                <a:spcPts val="31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As we have just seen, decisions will occur at points where the program might take a significant direction based on particular conditions.</a:t>
            </a:r>
            <a:endParaRPr/>
          </a:p>
          <a:p>
            <a:pPr indent="0" lvl="0" marL="0" rtl="0" algn="l">
              <a:spcBef>
                <a:spcPts val="310"/>
              </a:spcBef>
              <a:spcAft>
                <a:spcPts val="0"/>
              </a:spcAft>
              <a:buClr>
                <a:schemeClr val="dk1"/>
              </a:buClr>
              <a:buSzPct val="100000"/>
              <a:buNone/>
            </a:pPr>
            <a:r>
              <a:t/>
            </a:r>
            <a:endParaRPr sz="2000"/>
          </a:p>
          <a:p>
            <a:pPr indent="0" lvl="0" marL="0" rtl="0" algn="l">
              <a:spcBef>
                <a:spcPts val="31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The direction of the program is called ‘FLOW’.</a:t>
            </a:r>
            <a:endParaRPr/>
          </a:p>
          <a:p>
            <a:pPr indent="0" lvl="0" marL="0" rtl="0" algn="l">
              <a:spcBef>
                <a:spcPts val="310"/>
              </a:spcBef>
              <a:spcAft>
                <a:spcPts val="0"/>
              </a:spcAft>
              <a:buClr>
                <a:schemeClr val="dk1"/>
              </a:buClr>
              <a:buSzPct val="100000"/>
              <a:buNone/>
            </a:pPr>
            <a:r>
              <a:t/>
            </a:r>
            <a:endParaRPr sz="2000"/>
          </a:p>
          <a:p>
            <a:pPr indent="0" lvl="0" marL="0" rtl="0" algn="l">
              <a:spcBef>
                <a:spcPts val="31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To help us plan out the logic for an algorithm we can use pseudocode and/or flowcharts.</a:t>
            </a:r>
            <a:endParaRPr/>
          </a:p>
          <a:p>
            <a:pPr indent="0" lvl="0" marL="0" rtl="0" algn="l">
              <a:spcBef>
                <a:spcPts val="310"/>
              </a:spcBef>
              <a:spcAft>
                <a:spcPts val="0"/>
              </a:spcAft>
              <a:buClr>
                <a:schemeClr val="dk1"/>
              </a:buClr>
              <a:buSzPct val="100000"/>
              <a:buNone/>
            </a:pPr>
            <a:r>
              <a:t/>
            </a:r>
            <a:endParaRPr sz="2000"/>
          </a:p>
          <a:p>
            <a:pPr indent="0" lvl="0" marL="0" rtl="0" algn="l">
              <a:spcBef>
                <a:spcPts val="310"/>
              </a:spcBef>
              <a:spcAft>
                <a:spcPts val="0"/>
              </a:spcAft>
              <a:buClr>
                <a:schemeClr val="dk1"/>
              </a:buClr>
              <a:buSzPct val="100000"/>
              <a:buNone/>
            </a:pPr>
            <a:r>
              <a:rPr lang="en-GB" sz="2000">
                <a:solidFill>
                  <a:schemeClr val="dk1"/>
                </a:solidFill>
                <a:latin typeface="Century Gothic"/>
                <a:ea typeface="Century Gothic"/>
                <a:cs typeface="Century Gothic"/>
                <a:sym typeface="Century Gothic"/>
              </a:rPr>
              <a:t>These can help us visualise the flow of an algorithm for all possible conditions.</a:t>
            </a:r>
            <a:endParaRPr/>
          </a:p>
          <a:p>
            <a:pPr indent="0" lvl="0" marL="0" rtl="0" algn="l">
              <a:spcBef>
                <a:spcPts val="310"/>
              </a:spcBef>
              <a:spcAft>
                <a:spcPts val="0"/>
              </a:spcAft>
              <a:buClr>
                <a:schemeClr val="dk1"/>
              </a:buClr>
              <a:buSzPct val="100000"/>
              <a:buNone/>
            </a:pPr>
            <a:r>
              <a:t/>
            </a:r>
            <a:endParaRPr sz="2000"/>
          </a:p>
          <a:p>
            <a:pPr indent="0" lvl="0" marL="0" rtl="0" algn="l">
              <a:spcBef>
                <a:spcPts val="310"/>
              </a:spcBef>
              <a:spcAft>
                <a:spcPts val="0"/>
              </a:spcAft>
              <a:buClr>
                <a:schemeClr val="dk1"/>
              </a:buClr>
              <a:buSzPct val="100000"/>
              <a:buNone/>
            </a:pPr>
            <a:r>
              <a:t/>
            </a:r>
            <a:endParaRPr sz="2000"/>
          </a:p>
          <a:p>
            <a:pPr indent="0" lvl="0" marL="0" rtl="0" algn="l">
              <a:spcBef>
                <a:spcPts val="310"/>
              </a:spcBef>
              <a:spcAft>
                <a:spcPts val="0"/>
              </a:spcAft>
              <a:buClr>
                <a:schemeClr val="dk1"/>
              </a:buClr>
              <a:buSzPct val="100000"/>
              <a:buNone/>
            </a:pPr>
            <a:r>
              <a:t/>
            </a:r>
            <a:endParaRPr sz="2000"/>
          </a:p>
          <a:p>
            <a:pPr indent="0" lvl="0" marL="0" rtl="0" algn="l">
              <a:spcBef>
                <a:spcPts val="310"/>
              </a:spcBef>
              <a:spcAft>
                <a:spcPts val="0"/>
              </a:spcAft>
              <a:buClr>
                <a:schemeClr val="dk1"/>
              </a:buClr>
              <a:buSzPct val="100000"/>
              <a:buNone/>
            </a:pPr>
            <a:r>
              <a:t/>
            </a:r>
            <a:endParaRPr sz="2000"/>
          </a:p>
        </p:txBody>
      </p:sp>
      <p:pic>
        <p:nvPicPr>
          <p:cNvPr id="516" name="Google Shape;516;p33"/>
          <p:cNvPicPr preferRelativeResize="0"/>
          <p:nvPr/>
        </p:nvPicPr>
        <p:blipFill rotWithShape="1">
          <a:blip r:embed="rId3">
            <a:alphaModFix/>
          </a:blip>
          <a:srcRect b="0" l="0" r="0" t="0"/>
          <a:stretch/>
        </p:blipFill>
        <p:spPr>
          <a:xfrm>
            <a:off x="520249" y="4953000"/>
            <a:ext cx="2299151" cy="1274436"/>
          </a:xfrm>
          <a:prstGeom prst="rect">
            <a:avLst/>
          </a:prstGeom>
          <a:noFill/>
          <a:ln>
            <a:noFill/>
          </a:ln>
        </p:spPr>
      </p:pic>
      <p:sp>
        <p:nvSpPr>
          <p:cNvPr id="517" name="Google Shape;517;p33"/>
          <p:cNvSpPr/>
          <p:nvPr/>
        </p:nvSpPr>
        <p:spPr>
          <a:xfrm>
            <a:off x="6696458" y="4038600"/>
            <a:ext cx="2128965" cy="26037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rgbClr val="000000"/>
                </a:solidFill>
                <a:latin typeface="Century Gothic"/>
                <a:ea typeface="Century Gothic"/>
                <a:cs typeface="Century Gothic"/>
                <a:sym typeface="Century Gothic"/>
              </a:rPr>
              <a:t>Example:</a:t>
            </a:r>
            <a:endParaRPr/>
          </a:p>
          <a:p>
            <a:pPr indent="0" lvl="0" marL="0" marR="0" rtl="0" algn="l">
              <a:spcBef>
                <a:spcPts val="240"/>
              </a:spcBef>
              <a:spcAft>
                <a:spcPts val="0"/>
              </a:spcAft>
              <a:buNone/>
            </a:pPr>
            <a:r>
              <a:rPr lang="en-GB" sz="1200">
                <a:solidFill>
                  <a:srgbClr val="000000"/>
                </a:solidFill>
                <a:latin typeface="Century Gothic"/>
                <a:ea typeface="Century Gothic"/>
                <a:cs typeface="Century Gothic"/>
                <a:sym typeface="Century Gothic"/>
              </a:rPr>
              <a:t>A central heating system will try to keep the temperature between 2 values (19 and 21)</a:t>
            </a:r>
            <a:endParaRPr/>
          </a:p>
          <a:p>
            <a:pPr indent="-342900" lvl="0" marL="342900" marR="0" rtl="0" algn="l">
              <a:spcBef>
                <a:spcPts val="240"/>
              </a:spcBef>
              <a:spcAft>
                <a:spcPts val="0"/>
              </a:spcAft>
              <a:buClr>
                <a:srgbClr val="000000"/>
              </a:buClr>
              <a:buSzPts val="1200"/>
              <a:buFont typeface="Century Gothic"/>
              <a:buChar char="-"/>
            </a:pPr>
            <a:r>
              <a:rPr lang="en-GB" sz="1200">
                <a:solidFill>
                  <a:srgbClr val="000000"/>
                </a:solidFill>
                <a:latin typeface="Century Gothic"/>
                <a:ea typeface="Century Gothic"/>
                <a:cs typeface="Century Gothic"/>
                <a:sym typeface="Century Gothic"/>
              </a:rPr>
              <a:t>If the temperature falls below 19 It will turn the heating system on</a:t>
            </a:r>
            <a:endParaRPr/>
          </a:p>
          <a:p>
            <a:pPr indent="-342900" lvl="0" marL="342900" marR="0" rtl="0" algn="l">
              <a:spcBef>
                <a:spcPts val="240"/>
              </a:spcBef>
              <a:spcAft>
                <a:spcPts val="0"/>
              </a:spcAft>
              <a:buClr>
                <a:srgbClr val="000000"/>
              </a:buClr>
              <a:buSzPts val="1200"/>
              <a:buFont typeface="Century Gothic"/>
              <a:buChar char="-"/>
            </a:pPr>
            <a:r>
              <a:rPr lang="en-GB" sz="1200">
                <a:solidFill>
                  <a:srgbClr val="000000"/>
                </a:solidFill>
                <a:latin typeface="Century Gothic"/>
                <a:ea typeface="Century Gothic"/>
                <a:cs typeface="Century Gothic"/>
                <a:sym typeface="Century Gothic"/>
              </a:rPr>
              <a:t>If the temperature rises above 21 it will switch the heating system off.</a:t>
            </a:r>
            <a:endParaRPr/>
          </a:p>
        </p:txBody>
      </p:sp>
      <p:pic>
        <p:nvPicPr>
          <p:cNvPr id="518" name="Google Shape;518;p33"/>
          <p:cNvPicPr preferRelativeResize="0"/>
          <p:nvPr/>
        </p:nvPicPr>
        <p:blipFill rotWithShape="1">
          <a:blip r:embed="rId4">
            <a:alphaModFix/>
          </a:blip>
          <a:srcRect b="0" l="0" r="0" t="0"/>
          <a:stretch/>
        </p:blipFill>
        <p:spPr>
          <a:xfrm>
            <a:off x="3116832" y="4120485"/>
            <a:ext cx="3440562" cy="2623221"/>
          </a:xfrm>
          <a:prstGeom prst="rect">
            <a:avLst/>
          </a:prstGeom>
          <a:noFill/>
          <a:ln>
            <a:noFill/>
          </a:ln>
        </p:spPr>
      </p:pic>
      <p:sp>
        <p:nvSpPr>
          <p:cNvPr id="519" name="Google Shape;519;p33"/>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7"/>
                                        </p:tgtEl>
                                        <p:attrNameLst>
                                          <p:attrName>style.visibility</p:attrName>
                                        </p:attrNameLst>
                                      </p:cBhvr>
                                      <p:to>
                                        <p:strVal val="visible"/>
                                      </p:to>
                                    </p:set>
                                    <p:anim calcmode="lin" valueType="num">
                                      <p:cBhvr additive="base">
                                        <p:cTn dur="500"/>
                                        <p:tgtEl>
                                          <p:spTgt spid="51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18"/>
                                        </p:tgtEl>
                                        <p:attrNameLst>
                                          <p:attrName>style.visibility</p:attrName>
                                        </p:attrNameLst>
                                      </p:cBhvr>
                                      <p:to>
                                        <p:strVal val="visible"/>
                                      </p:to>
                                    </p:set>
                                    <p:anim calcmode="lin" valueType="num">
                                      <p:cBhvr additive="base">
                                        <p:cTn dur="500"/>
                                        <p:tgtEl>
                                          <p:spTgt spid="5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4"/>
          <p:cNvSpPr txBox="1"/>
          <p:nvPr/>
        </p:nvSpPr>
        <p:spPr>
          <a:xfrm>
            <a:off x="467544" y="1325619"/>
            <a:ext cx="8496944" cy="51780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600"/>
              <a:buFont typeface="Arial"/>
              <a:buNone/>
            </a:pPr>
            <a:r>
              <a:rPr b="1" lang="en-GB" sz="2600">
                <a:solidFill>
                  <a:schemeClr val="dk1"/>
                </a:solidFill>
                <a:latin typeface="Century Gothic"/>
                <a:ea typeface="Century Gothic"/>
                <a:cs typeface="Century Gothic"/>
                <a:sym typeface="Century Gothic"/>
              </a:rPr>
              <a:t>The Order of Events</a:t>
            </a:r>
            <a:endParaRPr/>
          </a:p>
          <a:p>
            <a:pPr indent="0" lvl="0" marL="0" marR="0" rtl="0" algn="l">
              <a:spcBef>
                <a:spcPts val="180"/>
              </a:spcBef>
              <a:spcAft>
                <a:spcPts val="0"/>
              </a:spcAft>
              <a:buClr>
                <a:schemeClr val="dk1"/>
              </a:buClr>
              <a:buSzPts val="900"/>
              <a:buFont typeface="Arial"/>
              <a:buNone/>
            </a:pPr>
            <a:r>
              <a:t/>
            </a:r>
            <a:endParaRPr b="1" sz="9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When planning out a solution to a problem, it is important to identify whether ‘Order’ is important.</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Sometimes, the order of the steps required to solve a problem will be vital to the success of the program.</a:t>
            </a:r>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Consider the processes involved in purchasing goods online.</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If these events were to occur in a different order, then there may be issues for either the customer or the retailer.</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However, sometimes the order of steps is not important – in fact sometimes the need for a program to function in any given order is a must!</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p:txBody>
      </p:sp>
      <p:grpSp>
        <p:nvGrpSpPr>
          <p:cNvPr id="525" name="Google Shape;525;p34"/>
          <p:cNvGrpSpPr/>
          <p:nvPr/>
        </p:nvGrpSpPr>
        <p:grpSpPr>
          <a:xfrm>
            <a:off x="1754088" y="3975161"/>
            <a:ext cx="6093023" cy="529828"/>
            <a:chOff x="1488" y="67009"/>
            <a:chExt cx="6093023" cy="529828"/>
          </a:xfrm>
        </p:grpSpPr>
        <p:sp>
          <p:nvSpPr>
            <p:cNvPr id="526" name="Google Shape;526;p34"/>
            <p:cNvSpPr/>
            <p:nvPr/>
          </p:nvSpPr>
          <p:spPr>
            <a:xfrm>
              <a:off x="1488" y="67009"/>
              <a:ext cx="1324570" cy="529828"/>
            </a:xfrm>
            <a:prstGeom prst="chevron">
              <a:avLst>
                <a:gd fmla="val 5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4"/>
            <p:cNvSpPr txBox="1"/>
            <p:nvPr/>
          </p:nvSpPr>
          <p:spPr>
            <a:xfrm>
              <a:off x="266402" y="67009"/>
              <a:ext cx="794742" cy="52982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lang="en-GB" sz="900">
                  <a:solidFill>
                    <a:schemeClr val="lt1"/>
                  </a:solidFill>
                  <a:latin typeface="Century Gothic"/>
                  <a:ea typeface="Century Gothic"/>
                  <a:cs typeface="Century Gothic"/>
                  <a:sym typeface="Century Gothic"/>
                </a:rPr>
                <a:t>Stock Checked</a:t>
              </a:r>
              <a:endParaRPr/>
            </a:p>
          </p:txBody>
        </p:sp>
        <p:sp>
          <p:nvSpPr>
            <p:cNvPr id="528" name="Google Shape;528;p34"/>
            <p:cNvSpPr/>
            <p:nvPr/>
          </p:nvSpPr>
          <p:spPr>
            <a:xfrm>
              <a:off x="1193601" y="67009"/>
              <a:ext cx="1324570" cy="529828"/>
            </a:xfrm>
            <a:prstGeom prst="chevron">
              <a:avLst>
                <a:gd fmla="val 50000" name="adj"/>
              </a:avLst>
            </a:prstGeom>
            <a:solidFill>
              <a:srgbClr val="665CAA"/>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4"/>
            <p:cNvSpPr txBox="1"/>
            <p:nvPr/>
          </p:nvSpPr>
          <p:spPr>
            <a:xfrm>
              <a:off x="1458515" y="67009"/>
              <a:ext cx="794742" cy="52982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lang="en-GB" sz="900">
                  <a:solidFill>
                    <a:schemeClr val="lt1"/>
                  </a:solidFill>
                  <a:latin typeface="Century Gothic"/>
                  <a:ea typeface="Century Gothic"/>
                  <a:cs typeface="Century Gothic"/>
                  <a:sym typeface="Century Gothic"/>
                </a:rPr>
                <a:t>Financial and Delivery Details Provided</a:t>
              </a:r>
              <a:endParaRPr/>
            </a:p>
          </p:txBody>
        </p:sp>
        <p:sp>
          <p:nvSpPr>
            <p:cNvPr id="530" name="Google Shape;530;p34"/>
            <p:cNvSpPr/>
            <p:nvPr/>
          </p:nvSpPr>
          <p:spPr>
            <a:xfrm>
              <a:off x="2385714" y="67009"/>
              <a:ext cx="1324570" cy="529828"/>
            </a:xfrm>
            <a:prstGeom prst="chevron">
              <a:avLst>
                <a:gd fmla="val 50000" name="adj"/>
              </a:avLst>
            </a:prstGeom>
            <a:solidFill>
              <a:srgbClr val="5665B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4"/>
            <p:cNvSpPr txBox="1"/>
            <p:nvPr/>
          </p:nvSpPr>
          <p:spPr>
            <a:xfrm>
              <a:off x="2650628" y="67009"/>
              <a:ext cx="794742" cy="52982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lang="en-GB" sz="900">
                  <a:solidFill>
                    <a:schemeClr val="lt1"/>
                  </a:solidFill>
                  <a:latin typeface="Century Gothic"/>
                  <a:ea typeface="Century Gothic"/>
                  <a:cs typeface="Century Gothic"/>
                  <a:sym typeface="Century Gothic"/>
                </a:rPr>
                <a:t>Check Bank for Sufficient Funds</a:t>
              </a:r>
              <a:endParaRPr/>
            </a:p>
          </p:txBody>
        </p:sp>
        <p:sp>
          <p:nvSpPr>
            <p:cNvPr id="532" name="Google Shape;532;p34"/>
            <p:cNvSpPr/>
            <p:nvPr/>
          </p:nvSpPr>
          <p:spPr>
            <a:xfrm>
              <a:off x="3577828" y="67009"/>
              <a:ext cx="1324570" cy="529828"/>
            </a:xfrm>
            <a:prstGeom prst="chevron">
              <a:avLst>
                <a:gd fmla="val 50000" name="adj"/>
              </a:avLst>
            </a:prstGeom>
            <a:solidFill>
              <a:srgbClr val="4F83B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4"/>
            <p:cNvSpPr txBox="1"/>
            <p:nvPr/>
          </p:nvSpPr>
          <p:spPr>
            <a:xfrm>
              <a:off x="3842742" y="67009"/>
              <a:ext cx="794742" cy="52982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lang="en-GB" sz="900">
                  <a:solidFill>
                    <a:schemeClr val="lt1"/>
                  </a:solidFill>
                  <a:latin typeface="Century Gothic"/>
                  <a:ea typeface="Century Gothic"/>
                  <a:cs typeface="Century Gothic"/>
                  <a:sym typeface="Century Gothic"/>
                </a:rPr>
                <a:t>Transfer Money</a:t>
              </a:r>
              <a:endParaRPr/>
            </a:p>
          </p:txBody>
        </p:sp>
        <p:sp>
          <p:nvSpPr>
            <p:cNvPr id="534" name="Google Shape;534;p34"/>
            <p:cNvSpPr/>
            <p:nvPr/>
          </p:nvSpPr>
          <p:spPr>
            <a:xfrm>
              <a:off x="4769941" y="67009"/>
              <a:ext cx="1324570" cy="529828"/>
            </a:xfrm>
            <a:prstGeom prst="chevron">
              <a:avLst>
                <a:gd fmla="val 50000" name="adj"/>
              </a:avLst>
            </a:prstGeom>
            <a:solidFill>
              <a:srgbClr val="4AA9C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4"/>
            <p:cNvSpPr txBox="1"/>
            <p:nvPr/>
          </p:nvSpPr>
          <p:spPr>
            <a:xfrm>
              <a:off x="5034855" y="67009"/>
              <a:ext cx="794742" cy="52982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lang="en-GB" sz="900">
                  <a:solidFill>
                    <a:schemeClr val="lt1"/>
                  </a:solidFill>
                  <a:latin typeface="Century Gothic"/>
                  <a:ea typeface="Century Gothic"/>
                  <a:cs typeface="Century Gothic"/>
                  <a:sym typeface="Century Gothic"/>
                </a:rPr>
                <a:t>Reduce Stock</a:t>
              </a:r>
              <a:endParaRPr/>
            </a:p>
          </p:txBody>
        </p:sp>
      </p:grpSp>
      <p:sp>
        <p:nvSpPr>
          <p:cNvPr id="536" name="Google Shape;536;p34"/>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5"/>
          <p:cNvSpPr txBox="1"/>
          <p:nvPr/>
        </p:nvSpPr>
        <p:spPr>
          <a:xfrm>
            <a:off x="467544" y="1325619"/>
            <a:ext cx="8496944" cy="5271733"/>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chemeClr val="dk1"/>
              </a:buClr>
              <a:buSzPts val="2600"/>
              <a:buFont typeface="Arial"/>
              <a:buNone/>
            </a:pPr>
            <a:r>
              <a:rPr b="1" lang="en-GB" sz="2600">
                <a:solidFill>
                  <a:schemeClr val="dk1"/>
                </a:solidFill>
                <a:latin typeface="Century Gothic"/>
                <a:ea typeface="Century Gothic"/>
                <a:cs typeface="Century Gothic"/>
                <a:sym typeface="Century Gothic"/>
              </a:rPr>
              <a:t>The Order of Events</a:t>
            </a:r>
            <a:endParaRPr/>
          </a:p>
          <a:p>
            <a:pPr indent="0" lvl="0" marL="0" marR="0" rtl="0" algn="l">
              <a:spcBef>
                <a:spcPts val="180"/>
              </a:spcBef>
              <a:spcAft>
                <a:spcPts val="0"/>
              </a:spcAft>
              <a:buClr>
                <a:schemeClr val="dk1"/>
              </a:buClr>
              <a:buSzPts val="900"/>
              <a:buFont typeface="Arial"/>
              <a:buNone/>
            </a:pPr>
            <a:r>
              <a:t/>
            </a:r>
            <a:endParaRPr b="1" sz="9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In ‘Event Driven’ programming, the programmer needs to ‘compartmentalise’ much of their code so that the user can ‘call upon’ the required processes when they wish.</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Any program which makes use of a ‘Graphical User Interface’ (GUI) with buttons and other interactive widgets is ‘Event Driven’.</a:t>
            </a:r>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In these programs the program will run a special piece of code called an ‘Event Loop’ and will wait for the user to provide an event (such as a button click).</a:t>
            </a:r>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Once the event occurs, it is added to the event queue and the program will then respond to each event in turn.</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360"/>
              </a:spcBef>
              <a:spcAft>
                <a:spcPts val="0"/>
              </a:spcAft>
              <a:buClr>
                <a:schemeClr val="dk1"/>
              </a:buClr>
              <a:buSzPts val="1800"/>
              <a:buFont typeface="Arial"/>
              <a:buNone/>
            </a:pPr>
            <a:r>
              <a:rPr lang="en-GB" sz="1800">
                <a:solidFill>
                  <a:schemeClr val="dk1"/>
                </a:solidFill>
                <a:latin typeface="Century Gothic"/>
                <a:ea typeface="Century Gothic"/>
                <a:cs typeface="Century Gothic"/>
                <a:sym typeface="Century Gothic"/>
              </a:rPr>
              <a:t>The important thing to realise here is that the programmer will never know the order in which a user will interact with the program’s features and so it is vital that code is organised in such a way that the appropriate code can be called upon when the user requires it.</a:t>
            </a:r>
            <a:endParaRPr/>
          </a:p>
        </p:txBody>
      </p:sp>
      <p:sp>
        <p:nvSpPr>
          <p:cNvPr id="542" name="Google Shape;542;p35"/>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Computational Thinking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2013-09-11T18:04:43Z</dcterms:created>
  <dc:creator>Sam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167548</vt:lpwstr>
  </property>
  <property fmtid="{D5CDD505-2E9C-101B-9397-08002B2CF9AE}" pid="3" name="NXPowerLiteSettings">
    <vt:lpwstr>C74006B004C800</vt:lpwstr>
  </property>
  <property fmtid="{D5CDD505-2E9C-101B-9397-08002B2CF9AE}" pid="4" name="NXPowerLiteVersion">
    <vt:lpwstr>S7.0.8</vt:lpwstr>
  </property>
</Properties>
</file>