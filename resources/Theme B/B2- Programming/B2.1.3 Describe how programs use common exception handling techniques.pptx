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Roboto Mono"/>
      <p:regular r:id="rId13"/>
      <p:bold r:id="rId14"/>
      <p:italic r:id="rId15"/>
      <p:boldItalic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RobotoMono-regular.fntdata"/><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Mono-italic.fntdata"/><Relationship Id="rId14" Type="http://schemas.openxmlformats.org/officeDocument/2006/relationships/font" Target="fonts/RobotoMono-bold.fntdata"/><Relationship Id="rId16" Type="http://schemas.openxmlformats.org/officeDocument/2006/relationships/font" Target="fonts/RobotoMon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489eed9e3e_0_4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489eed9e3e_0_4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489eed9e3e_0_4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489eed9e3e_0_4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489eed9e3e_0_4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489eed9e3e_0_4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489eed9e3e_0_4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489eed9e3e_0_4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489eed9e3e_0_4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489eed9e3e_0_4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489eed9e3e_0_4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489eed9e3e_0_4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902700"/>
            <a:ext cx="8520600" cy="3130200"/>
          </a:xfrm>
          <a:prstGeom prst="rect">
            <a:avLst/>
          </a:prstGeom>
          <a:solidFill>
            <a:schemeClr val="accent5"/>
          </a:solidFill>
        </p:spPr>
        <p:txBody>
          <a:bodyPr anchorCtr="0" anchor="b" bIns="91425" lIns="91425" spcFirstLastPara="1" rIns="91425" wrap="square" tIns="91425">
            <a:normAutofit fontScale="90000"/>
          </a:bodyPr>
          <a:lstStyle/>
          <a:p>
            <a:pPr indent="0" lvl="0" marL="0" rtl="0" algn="ctr">
              <a:spcBef>
                <a:spcPts val="0"/>
              </a:spcBef>
              <a:spcAft>
                <a:spcPts val="0"/>
              </a:spcAft>
              <a:buClr>
                <a:schemeClr val="dk1"/>
              </a:buClr>
              <a:buSzPts val="990"/>
              <a:buFont typeface="Arial"/>
              <a:buNone/>
            </a:pPr>
            <a:r>
              <a:rPr lang="en"/>
              <a:t>B2.1.3 Describe how programs use common</a:t>
            </a:r>
            <a:endParaRPr/>
          </a:p>
          <a:p>
            <a:pPr indent="0" lvl="0" marL="0" rtl="0" algn="ctr">
              <a:spcBef>
                <a:spcPts val="0"/>
              </a:spcBef>
              <a:spcAft>
                <a:spcPts val="0"/>
              </a:spcAft>
              <a:buClr>
                <a:schemeClr val="dk1"/>
              </a:buClr>
              <a:buSzPts val="990"/>
              <a:buFont typeface="Arial"/>
              <a:buNone/>
            </a:pPr>
            <a:r>
              <a:rPr lang="en"/>
              <a:t>exception handling techniques</a:t>
            </a:r>
            <a:endParaRPr/>
          </a:p>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type="title"/>
          </p:nvPr>
        </p:nvSpPr>
        <p:spPr>
          <a:xfrm>
            <a:off x="311700" y="445025"/>
            <a:ext cx="8520600" cy="572700"/>
          </a:xfrm>
          <a:prstGeom prst="rect">
            <a:avLst/>
          </a:prstGeom>
          <a:solidFill>
            <a:schemeClr val="accent5"/>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Starter Activity - Prior Learning </a:t>
            </a:r>
            <a:endParaRPr/>
          </a:p>
        </p:txBody>
      </p:sp>
      <p:sp>
        <p:nvSpPr>
          <p:cNvPr id="60" name="Google Shape;60;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Solve the given problems from the learning menu :</a:t>
            </a:r>
            <a:endParaRPr/>
          </a:p>
          <a:p>
            <a:pPr indent="-334804" lvl="0" marL="457200" rtl="0" algn="l">
              <a:spcBef>
                <a:spcPts val="1200"/>
              </a:spcBef>
              <a:spcAft>
                <a:spcPts val="0"/>
              </a:spcAft>
              <a:buClr>
                <a:schemeClr val="dk1"/>
              </a:buClr>
              <a:buSzPct val="100000"/>
              <a:buChar char="●"/>
            </a:pPr>
            <a:r>
              <a:rPr lang="en" sz="1808">
                <a:solidFill>
                  <a:schemeClr val="dk1"/>
                </a:solidFill>
                <a:highlight>
                  <a:srgbClr val="E7E9EB"/>
                </a:highlight>
              </a:rPr>
              <a:t>Create a variable inside a function, with the same name as the global variable </a:t>
            </a:r>
            <a:endParaRPr sz="1808">
              <a:solidFill>
                <a:schemeClr val="dk1"/>
              </a:solidFill>
              <a:highlight>
                <a:srgbClr val="E7E9EB"/>
              </a:highlight>
            </a:endParaRPr>
          </a:p>
          <a:p>
            <a:pPr indent="-334804" lvl="0" marL="457200" rtl="0" algn="l">
              <a:spcBef>
                <a:spcPts val="0"/>
              </a:spcBef>
              <a:spcAft>
                <a:spcPts val="0"/>
              </a:spcAft>
              <a:buClr>
                <a:schemeClr val="dk1"/>
              </a:buClr>
              <a:buSzPct val="100000"/>
              <a:buChar char="●"/>
            </a:pPr>
            <a:r>
              <a:rPr lang="en" sz="1808">
                <a:solidFill>
                  <a:schemeClr val="dk1"/>
                </a:solidFill>
                <a:highlight>
                  <a:srgbClr val="FFFFFF"/>
                </a:highlight>
              </a:rPr>
              <a:t>If you want to specify the data type of a variable, this can be done with casting. Explain with an example </a:t>
            </a:r>
            <a:endParaRPr sz="1808">
              <a:solidFill>
                <a:schemeClr val="dk1"/>
              </a:solidFill>
              <a:highlight>
                <a:srgbClr val="FFFFFF"/>
              </a:highlight>
            </a:endParaRPr>
          </a:p>
          <a:p>
            <a:pPr indent="-334804" lvl="0" marL="457200" rtl="0" algn="l">
              <a:spcBef>
                <a:spcPts val="0"/>
              </a:spcBef>
              <a:spcAft>
                <a:spcPts val="0"/>
              </a:spcAft>
              <a:buClr>
                <a:schemeClr val="dk1"/>
              </a:buClr>
              <a:buSzPct val="100000"/>
              <a:buChar char="●"/>
            </a:pPr>
            <a:r>
              <a:rPr lang="en" sz="1808">
                <a:solidFill>
                  <a:schemeClr val="dk1"/>
                </a:solidFill>
                <a:highlight>
                  <a:srgbClr val="FFFFFF"/>
                </a:highlight>
              </a:rPr>
              <a:t>Write a program to display the list of flowers of your choice</a:t>
            </a:r>
            <a:endParaRPr sz="1808">
              <a:solidFill>
                <a:schemeClr val="dk1"/>
              </a:solidFill>
              <a:highlight>
                <a:srgbClr val="FFFFFF"/>
              </a:highlight>
            </a:endParaRPr>
          </a:p>
          <a:p>
            <a:pPr indent="-334804" lvl="0" marL="457200" rtl="0" algn="l">
              <a:spcBef>
                <a:spcPts val="0"/>
              </a:spcBef>
              <a:spcAft>
                <a:spcPts val="0"/>
              </a:spcAft>
              <a:buClr>
                <a:schemeClr val="dk1"/>
              </a:buClr>
              <a:buSzPct val="100000"/>
              <a:buChar char="●"/>
            </a:pPr>
            <a:r>
              <a:rPr lang="en" sz="1808">
                <a:solidFill>
                  <a:schemeClr val="dk1"/>
                </a:solidFill>
                <a:highlight>
                  <a:srgbClr val="FFFFFF"/>
                </a:highlight>
              </a:rPr>
              <a:t>Write a program to display the tuple of any three football players</a:t>
            </a:r>
            <a:endParaRPr sz="1808">
              <a:solidFill>
                <a:schemeClr val="dk1"/>
              </a:solidFill>
              <a:highlight>
                <a:srgbClr val="FFFFFF"/>
              </a:highlight>
            </a:endParaRPr>
          </a:p>
          <a:p>
            <a:pPr indent="0" lvl="0" marL="457200" rtl="0" algn="l">
              <a:spcBef>
                <a:spcPts val="1200"/>
              </a:spcBef>
              <a:spcAft>
                <a:spcPts val="0"/>
              </a:spcAft>
              <a:buNone/>
            </a:pPr>
            <a:r>
              <a:rPr lang="en"/>
              <a:t> </a:t>
            </a:r>
            <a:endParaRPr sz="1200">
              <a:solidFill>
                <a:schemeClr val="dk1"/>
              </a:solidFill>
              <a:highlight>
                <a:srgbClr val="E7E9EB"/>
              </a:highlight>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 </a:t>
            </a:r>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title"/>
          </p:nvPr>
        </p:nvSpPr>
        <p:spPr>
          <a:xfrm>
            <a:off x="278300" y="445025"/>
            <a:ext cx="4848900" cy="572700"/>
          </a:xfrm>
          <a:prstGeom prst="rect">
            <a:avLst/>
          </a:prstGeom>
          <a:solidFill>
            <a:schemeClr val="accent5"/>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Exception Handling in Python</a:t>
            </a:r>
            <a:endParaRPr/>
          </a:p>
        </p:txBody>
      </p:sp>
      <p:sp>
        <p:nvSpPr>
          <p:cNvPr id="66" name="Google Shape;66;p15"/>
          <p:cNvSpPr txBox="1"/>
          <p:nvPr>
            <p:ph idx="1" type="body"/>
          </p:nvPr>
        </p:nvSpPr>
        <p:spPr>
          <a:xfrm>
            <a:off x="311700" y="1152475"/>
            <a:ext cx="40224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200">
                <a:solidFill>
                  <a:schemeClr val="dk1"/>
                </a:solidFill>
              </a:rPr>
              <a:t>In Python, exception handling is used to manage errors that occur during program execution, preventing the program from crashing. This is done using the </a:t>
            </a:r>
            <a:r>
              <a:rPr b="1" lang="en" sz="1200">
                <a:solidFill>
                  <a:srgbClr val="188038"/>
                </a:solidFill>
                <a:latin typeface="Roboto Mono"/>
                <a:ea typeface="Roboto Mono"/>
                <a:cs typeface="Roboto Mono"/>
                <a:sym typeface="Roboto Mono"/>
              </a:rPr>
              <a:t>try</a:t>
            </a:r>
            <a:r>
              <a:rPr b="1" lang="en" sz="1200">
                <a:solidFill>
                  <a:schemeClr val="dk1"/>
                </a:solidFill>
              </a:rPr>
              <a:t> and </a:t>
            </a:r>
            <a:r>
              <a:rPr b="1" lang="en" sz="1200">
                <a:solidFill>
                  <a:srgbClr val="188038"/>
                </a:solidFill>
                <a:latin typeface="Roboto Mono"/>
                <a:ea typeface="Roboto Mono"/>
                <a:cs typeface="Roboto Mono"/>
                <a:sym typeface="Roboto Mono"/>
              </a:rPr>
              <a:t>except</a:t>
            </a:r>
            <a:r>
              <a:rPr lang="en" sz="1200">
                <a:solidFill>
                  <a:schemeClr val="dk1"/>
                </a:solidFill>
              </a:rPr>
              <a:t> blocks. Code that may cause an error is placed inside the </a:t>
            </a:r>
            <a:r>
              <a:rPr lang="en" sz="1200">
                <a:solidFill>
                  <a:srgbClr val="188038"/>
                </a:solidFill>
                <a:latin typeface="Roboto Mono"/>
                <a:ea typeface="Roboto Mono"/>
                <a:cs typeface="Roboto Mono"/>
                <a:sym typeface="Roboto Mono"/>
              </a:rPr>
              <a:t>try</a:t>
            </a:r>
            <a:r>
              <a:rPr lang="en" sz="1200">
                <a:solidFill>
                  <a:schemeClr val="dk1"/>
                </a:solidFill>
              </a:rPr>
              <a:t> block, and if an error occurs, the program moves to the </a:t>
            </a:r>
            <a:r>
              <a:rPr lang="en" sz="1200">
                <a:solidFill>
                  <a:srgbClr val="188038"/>
                </a:solidFill>
                <a:latin typeface="Roboto Mono"/>
                <a:ea typeface="Roboto Mono"/>
                <a:cs typeface="Roboto Mono"/>
                <a:sym typeface="Roboto Mono"/>
              </a:rPr>
              <a:t>except</a:t>
            </a:r>
            <a:r>
              <a:rPr lang="en" sz="1200">
                <a:solidFill>
                  <a:schemeClr val="dk1"/>
                </a:solidFill>
              </a:rPr>
              <a:t> block to handle it gracefully. For example, when trying to access a list element that does not exist, instead of breaking the program, Python can display an error message or take corrective action. Exception handling makes programs more reliable by managing unexpected input, unavailable resources, or logic errors effectively.</a:t>
            </a:r>
            <a:endParaRPr sz="1900"/>
          </a:p>
        </p:txBody>
      </p:sp>
      <p:pic>
        <p:nvPicPr>
          <p:cNvPr id="67" name="Google Shape;67;p15"/>
          <p:cNvPicPr preferRelativeResize="0"/>
          <p:nvPr/>
        </p:nvPicPr>
        <p:blipFill>
          <a:blip r:embed="rId3">
            <a:alphaModFix/>
          </a:blip>
          <a:stretch>
            <a:fillRect/>
          </a:stretch>
        </p:blipFill>
        <p:spPr>
          <a:xfrm>
            <a:off x="4572000" y="1721225"/>
            <a:ext cx="4399675" cy="3373075"/>
          </a:xfrm>
          <a:prstGeom prst="rect">
            <a:avLst/>
          </a:prstGeom>
          <a:noFill/>
          <a:ln>
            <a:noFill/>
          </a:ln>
        </p:spPr>
      </p:pic>
      <p:pic>
        <p:nvPicPr>
          <p:cNvPr id="68" name="Google Shape;68;p15"/>
          <p:cNvPicPr preferRelativeResize="0"/>
          <p:nvPr/>
        </p:nvPicPr>
        <p:blipFill>
          <a:blip r:embed="rId4">
            <a:alphaModFix/>
          </a:blip>
          <a:stretch>
            <a:fillRect/>
          </a:stretch>
        </p:blipFill>
        <p:spPr>
          <a:xfrm>
            <a:off x="5579175" y="84426"/>
            <a:ext cx="3333750" cy="1636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pic>
        <p:nvPicPr>
          <p:cNvPr id="73" name="Google Shape;73;p16"/>
          <p:cNvPicPr preferRelativeResize="0"/>
          <p:nvPr/>
        </p:nvPicPr>
        <p:blipFill rotWithShape="1">
          <a:blip r:embed="rId3">
            <a:alphaModFix/>
          </a:blip>
          <a:srcRect b="41698" l="0" r="0" t="0"/>
          <a:stretch/>
        </p:blipFill>
        <p:spPr>
          <a:xfrm>
            <a:off x="52225" y="260950"/>
            <a:ext cx="5099001" cy="3196801"/>
          </a:xfrm>
          <a:prstGeom prst="rect">
            <a:avLst/>
          </a:prstGeom>
          <a:noFill/>
          <a:ln>
            <a:noFill/>
          </a:ln>
        </p:spPr>
      </p:pic>
      <p:pic>
        <p:nvPicPr>
          <p:cNvPr id="74" name="Google Shape;74;p16"/>
          <p:cNvPicPr preferRelativeResize="0"/>
          <p:nvPr/>
        </p:nvPicPr>
        <p:blipFill>
          <a:blip r:embed="rId4">
            <a:alphaModFix/>
          </a:blip>
          <a:stretch>
            <a:fillRect/>
          </a:stretch>
        </p:blipFill>
        <p:spPr>
          <a:xfrm>
            <a:off x="3311238" y="2518988"/>
            <a:ext cx="5514975" cy="25812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a:solidFill>
            <a:schemeClr val="accent5"/>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 Style Questions Practice </a:t>
            </a:r>
            <a:endParaRPr/>
          </a:p>
        </p:txBody>
      </p:sp>
      <p:sp>
        <p:nvSpPr>
          <p:cNvPr id="80" name="Google Shape;80;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6550" lvl="0" marL="457200" rtl="0" algn="l">
              <a:spcBef>
                <a:spcPts val="0"/>
              </a:spcBef>
              <a:spcAft>
                <a:spcPts val="0"/>
              </a:spcAft>
              <a:buClr>
                <a:schemeClr val="dk1"/>
              </a:buClr>
              <a:buSzPts val="1700"/>
              <a:buAutoNum type="arabicPeriod"/>
            </a:pPr>
            <a:r>
              <a:rPr lang="en" sz="1700">
                <a:solidFill>
                  <a:schemeClr val="dk1"/>
                </a:solidFill>
              </a:rPr>
              <a:t>Define the term </a:t>
            </a:r>
            <a:r>
              <a:rPr b="1" lang="en" sz="1700">
                <a:solidFill>
                  <a:schemeClr val="dk1"/>
                </a:solidFill>
              </a:rPr>
              <a:t>exception handling</a:t>
            </a:r>
            <a:r>
              <a:rPr lang="en" sz="1700">
                <a:solidFill>
                  <a:schemeClr val="dk1"/>
                </a:solidFill>
              </a:rPr>
              <a:t> in programming.</a:t>
            </a:r>
            <a:br>
              <a:rPr lang="en" sz="1700">
                <a:solidFill>
                  <a:schemeClr val="dk1"/>
                </a:solidFill>
              </a:rPr>
            </a:br>
            <a:endParaRPr sz="1700">
              <a:solidFill>
                <a:schemeClr val="dk1"/>
              </a:solidFill>
            </a:endParaRPr>
          </a:p>
          <a:p>
            <a:pPr indent="-336550" lvl="0" marL="457200" rtl="0" algn="l">
              <a:spcBef>
                <a:spcPts val="0"/>
              </a:spcBef>
              <a:spcAft>
                <a:spcPts val="0"/>
              </a:spcAft>
              <a:buClr>
                <a:schemeClr val="dk1"/>
              </a:buClr>
              <a:buSzPts val="1700"/>
              <a:buAutoNum type="arabicPeriod"/>
            </a:pPr>
            <a:r>
              <a:rPr lang="en" sz="1700">
                <a:solidFill>
                  <a:schemeClr val="dk1"/>
                </a:solidFill>
              </a:rPr>
              <a:t>Identify </a:t>
            </a:r>
            <a:r>
              <a:rPr b="1" lang="en" sz="1700">
                <a:solidFill>
                  <a:schemeClr val="dk1"/>
                </a:solidFill>
              </a:rPr>
              <a:t>two types of errors</a:t>
            </a:r>
            <a:r>
              <a:rPr lang="en" sz="1700">
                <a:solidFill>
                  <a:schemeClr val="dk1"/>
                </a:solidFill>
              </a:rPr>
              <a:t> that can be handled using exception handling techniques.</a:t>
            </a:r>
            <a:br>
              <a:rPr lang="en" sz="1700">
                <a:solidFill>
                  <a:schemeClr val="dk1"/>
                </a:solidFill>
              </a:rPr>
            </a:br>
            <a:endParaRPr sz="1700">
              <a:solidFill>
                <a:schemeClr val="dk1"/>
              </a:solidFill>
            </a:endParaRPr>
          </a:p>
          <a:p>
            <a:pPr indent="-336550" lvl="0" marL="457200" rtl="0" algn="l">
              <a:spcBef>
                <a:spcPts val="0"/>
              </a:spcBef>
              <a:spcAft>
                <a:spcPts val="0"/>
              </a:spcAft>
              <a:buSzPts val="1700"/>
              <a:buAutoNum type="arabicPeriod"/>
            </a:pPr>
            <a:r>
              <a:rPr lang="en" sz="1700">
                <a:solidFill>
                  <a:schemeClr val="dk1"/>
                </a:solidFill>
              </a:rPr>
              <a:t>State the purpose of using the </a:t>
            </a:r>
            <a:r>
              <a:rPr b="1" lang="en" sz="1700">
                <a:solidFill>
                  <a:srgbClr val="188038"/>
                </a:solidFill>
                <a:latin typeface="Roboto Mono"/>
                <a:ea typeface="Roboto Mono"/>
                <a:cs typeface="Roboto Mono"/>
                <a:sym typeface="Roboto Mono"/>
              </a:rPr>
              <a:t>try</a:t>
            </a:r>
            <a:r>
              <a:rPr b="1" lang="en" sz="1700">
                <a:solidFill>
                  <a:schemeClr val="dk1"/>
                </a:solidFill>
              </a:rPr>
              <a:t> and </a:t>
            </a:r>
            <a:r>
              <a:rPr b="1" lang="en" sz="1700">
                <a:solidFill>
                  <a:srgbClr val="188038"/>
                </a:solidFill>
                <a:latin typeface="Roboto Mono"/>
                <a:ea typeface="Roboto Mono"/>
                <a:cs typeface="Roboto Mono"/>
                <a:sym typeface="Roboto Mono"/>
              </a:rPr>
              <a:t>except</a:t>
            </a:r>
            <a:r>
              <a:rPr lang="en" sz="1700">
                <a:solidFill>
                  <a:schemeClr val="dk1"/>
                </a:solidFill>
              </a:rPr>
              <a:t> blocks in Python.</a:t>
            </a:r>
            <a:br>
              <a:rPr lang="en" sz="1700">
                <a:solidFill>
                  <a:schemeClr val="dk1"/>
                </a:solidFill>
              </a:rPr>
            </a:br>
            <a:endParaRPr sz="1700">
              <a:solidFill>
                <a:schemeClr val="dk1"/>
              </a:solidFill>
            </a:endParaRPr>
          </a:p>
          <a:p>
            <a:pPr indent="-336550" lvl="0" marL="457200" rtl="0" algn="l">
              <a:spcBef>
                <a:spcPts val="0"/>
              </a:spcBef>
              <a:spcAft>
                <a:spcPts val="0"/>
              </a:spcAft>
              <a:buClr>
                <a:schemeClr val="dk1"/>
              </a:buClr>
              <a:buSzPts val="1700"/>
              <a:buAutoNum type="arabicPeriod"/>
            </a:pPr>
            <a:r>
              <a:rPr lang="en" sz="1700">
                <a:solidFill>
                  <a:schemeClr val="dk1"/>
                </a:solidFill>
              </a:rPr>
              <a:t>Write one </a:t>
            </a:r>
            <a:r>
              <a:rPr b="1" lang="en" sz="1700">
                <a:solidFill>
                  <a:schemeClr val="dk1"/>
                </a:solidFill>
              </a:rPr>
              <a:t>real-life example</a:t>
            </a:r>
            <a:r>
              <a:rPr lang="en" sz="1700">
                <a:solidFill>
                  <a:schemeClr val="dk1"/>
                </a:solidFill>
              </a:rPr>
              <a:t> of when a program may need exception handling.</a:t>
            </a:r>
            <a:endParaRPr sz="17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445025"/>
            <a:ext cx="8520600" cy="572700"/>
          </a:xfrm>
          <a:prstGeom prst="rect">
            <a:avLst/>
          </a:prstGeom>
          <a:solidFill>
            <a:schemeClr val="accent5"/>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Challenging task - 10 mins </a:t>
            </a:r>
            <a:endParaRPr/>
          </a:p>
        </p:txBody>
      </p:sp>
      <p:sp>
        <p:nvSpPr>
          <p:cNvPr id="86" name="Google Shape;86;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1200"/>
              </a:spcBef>
              <a:spcAft>
                <a:spcPts val="0"/>
              </a:spcAft>
              <a:buClr>
                <a:schemeClr val="dk1"/>
              </a:buClr>
              <a:buSzPts val="1100"/>
              <a:buFont typeface="Arial"/>
              <a:buNone/>
            </a:pPr>
            <a:r>
              <a:rPr lang="en" sz="1100">
                <a:solidFill>
                  <a:schemeClr val="dk1"/>
                </a:solidFill>
              </a:rPr>
              <a:t>Consider the following Python code:</a:t>
            </a:r>
            <a:endParaRPr sz="1100">
              <a:solidFill>
                <a:schemeClr val="dk1"/>
              </a:solidFill>
            </a:endParaRPr>
          </a:p>
          <a:p>
            <a:pPr indent="0" lvl="0" marL="0" rtl="0" algn="l">
              <a:spcBef>
                <a:spcPts val="1200"/>
              </a:spcBef>
              <a:spcAft>
                <a:spcPts val="0"/>
              </a:spcAft>
              <a:buNone/>
            </a:pPr>
            <a:r>
              <a:rPr lang="en" sz="1100">
                <a:solidFill>
                  <a:srgbClr val="188038"/>
                </a:solidFill>
                <a:latin typeface="Roboto Mono"/>
                <a:ea typeface="Roboto Mono"/>
                <a:cs typeface="Roboto Mono"/>
                <a:sym typeface="Roboto Mono"/>
              </a:rPr>
              <a:t>numbers = [10, 20, 30]  </a:t>
            </a:r>
            <a:endParaRPr sz="1100">
              <a:solidFill>
                <a:srgbClr val="188038"/>
              </a:solidFill>
              <a:latin typeface="Roboto Mono"/>
              <a:ea typeface="Roboto Mono"/>
              <a:cs typeface="Roboto Mono"/>
              <a:sym typeface="Roboto Mono"/>
            </a:endParaRPr>
          </a:p>
          <a:p>
            <a:pPr indent="0" lvl="0" marL="0" rtl="0" algn="l">
              <a:spcBef>
                <a:spcPts val="1200"/>
              </a:spcBef>
              <a:spcAft>
                <a:spcPts val="0"/>
              </a:spcAft>
              <a:buNone/>
            </a:pPr>
            <a:r>
              <a:rPr lang="en" sz="1100">
                <a:solidFill>
                  <a:srgbClr val="188038"/>
                </a:solidFill>
                <a:latin typeface="Roboto Mono"/>
                <a:ea typeface="Roboto Mono"/>
                <a:cs typeface="Roboto Mono"/>
                <a:sym typeface="Roboto Mono"/>
              </a:rPr>
              <a:t>try:  </a:t>
            </a:r>
            <a:endParaRPr sz="1100">
              <a:solidFill>
                <a:srgbClr val="188038"/>
              </a:solidFill>
              <a:latin typeface="Roboto Mono"/>
              <a:ea typeface="Roboto Mono"/>
              <a:cs typeface="Roboto Mono"/>
              <a:sym typeface="Roboto Mono"/>
            </a:endParaRPr>
          </a:p>
          <a:p>
            <a:pPr indent="0" lvl="0" marL="0" rtl="0" algn="l">
              <a:spcBef>
                <a:spcPts val="1200"/>
              </a:spcBef>
              <a:spcAft>
                <a:spcPts val="0"/>
              </a:spcAft>
              <a:buNone/>
            </a:pPr>
            <a:r>
              <a:rPr lang="en" sz="1100">
                <a:solidFill>
                  <a:srgbClr val="188038"/>
                </a:solidFill>
                <a:latin typeface="Roboto Mono"/>
                <a:ea typeface="Roboto Mono"/>
                <a:cs typeface="Roboto Mono"/>
                <a:sym typeface="Roboto Mono"/>
              </a:rPr>
              <a:t>    print(numbers[5])  </a:t>
            </a:r>
            <a:endParaRPr sz="1100">
              <a:solidFill>
                <a:srgbClr val="188038"/>
              </a:solidFill>
              <a:latin typeface="Roboto Mono"/>
              <a:ea typeface="Roboto Mono"/>
              <a:cs typeface="Roboto Mono"/>
              <a:sym typeface="Roboto Mono"/>
            </a:endParaRPr>
          </a:p>
          <a:p>
            <a:pPr indent="0" lvl="0" marL="0" rtl="0" algn="l">
              <a:spcBef>
                <a:spcPts val="1200"/>
              </a:spcBef>
              <a:spcAft>
                <a:spcPts val="0"/>
              </a:spcAft>
              <a:buNone/>
            </a:pPr>
            <a:r>
              <a:rPr lang="en" sz="1100">
                <a:solidFill>
                  <a:srgbClr val="188038"/>
                </a:solidFill>
                <a:latin typeface="Roboto Mono"/>
                <a:ea typeface="Roboto Mono"/>
                <a:cs typeface="Roboto Mono"/>
                <a:sym typeface="Roboto Mono"/>
              </a:rPr>
              <a:t>except:  </a:t>
            </a:r>
            <a:endParaRPr sz="1100">
              <a:solidFill>
                <a:srgbClr val="188038"/>
              </a:solidFill>
              <a:latin typeface="Roboto Mono"/>
              <a:ea typeface="Roboto Mono"/>
              <a:cs typeface="Roboto Mono"/>
              <a:sym typeface="Roboto Mono"/>
            </a:endParaRPr>
          </a:p>
          <a:p>
            <a:pPr indent="0" lvl="0" marL="0" rtl="0" algn="l">
              <a:spcBef>
                <a:spcPts val="1200"/>
              </a:spcBef>
              <a:spcAft>
                <a:spcPts val="0"/>
              </a:spcAft>
              <a:buNone/>
            </a:pPr>
            <a:r>
              <a:rPr lang="en" sz="1100">
                <a:solidFill>
                  <a:srgbClr val="188038"/>
                </a:solidFill>
                <a:latin typeface="Roboto Mono"/>
                <a:ea typeface="Roboto Mono"/>
                <a:cs typeface="Roboto Mono"/>
                <a:sym typeface="Roboto Mono"/>
              </a:rPr>
              <a:t>    print("Index out of range error")  </a:t>
            </a:r>
            <a:endParaRPr sz="1100">
              <a:solidFill>
                <a:srgbClr val="188038"/>
              </a:solidFill>
              <a:latin typeface="Roboto Mono"/>
              <a:ea typeface="Roboto Mono"/>
              <a:cs typeface="Roboto Mono"/>
              <a:sym typeface="Roboto Mono"/>
            </a:endParaRPr>
          </a:p>
          <a:p>
            <a:pPr indent="0" lvl="0" marL="0" rtl="0" algn="l">
              <a:spcBef>
                <a:spcPts val="1200"/>
              </a:spcBef>
              <a:spcAft>
                <a:spcPts val="0"/>
              </a:spcAft>
              <a:buClr>
                <a:schemeClr val="dk1"/>
              </a:buClr>
              <a:buSzPts val="1100"/>
              <a:buFont typeface="Arial"/>
              <a:buNone/>
            </a:pPr>
            <a:r>
              <a:t/>
            </a:r>
            <a:endParaRPr sz="11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(a) Identify the type of error that may occur.</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(b) Explain how the </a:t>
            </a:r>
            <a:r>
              <a:rPr lang="en" sz="1100">
                <a:solidFill>
                  <a:srgbClr val="188038"/>
                </a:solidFill>
                <a:latin typeface="Roboto Mono"/>
                <a:ea typeface="Roboto Mono"/>
                <a:cs typeface="Roboto Mono"/>
                <a:sym typeface="Roboto Mono"/>
              </a:rPr>
              <a:t>except</a:t>
            </a:r>
            <a:r>
              <a:rPr lang="en" sz="1100">
                <a:solidFill>
                  <a:schemeClr val="dk1"/>
                </a:solidFill>
              </a:rPr>
              <a:t> block prevents the program from crashing.</a:t>
            </a:r>
            <a:endParaRPr sz="1100">
              <a:solidFill>
                <a:schemeClr val="dk1"/>
              </a:solidFill>
            </a:endParaRPr>
          </a:p>
          <a:p>
            <a:pPr indent="0" lvl="0" marL="0" rtl="0" algn="l">
              <a:spcBef>
                <a:spcPts val="1200"/>
              </a:spcBef>
              <a:spcAft>
                <a:spcPts val="1200"/>
              </a:spcAft>
              <a:buNone/>
            </a:pPr>
            <a:r>
              <a:rPr lang="en" sz="1100">
                <a:solidFill>
                  <a:schemeClr val="dk1"/>
                </a:solidFill>
              </a:rPr>
              <a:t>Discuss why exception handling is important when dealing with </a:t>
            </a:r>
            <a:r>
              <a:rPr b="1" lang="en" sz="1100">
                <a:solidFill>
                  <a:schemeClr val="dk1"/>
                </a:solidFill>
              </a:rPr>
              <a:t>user input</a:t>
            </a:r>
            <a:r>
              <a:rPr lang="en" sz="1100">
                <a:solidFill>
                  <a:schemeClr val="dk1"/>
                </a:solidFill>
              </a:rPr>
              <a:t> in programs. Provide one example in Python.</a:t>
            </a:r>
            <a:br>
              <a:rPr lang="en" sz="1100">
                <a:solidFill>
                  <a:schemeClr val="dk1"/>
                </a:solidFill>
              </a:rPr>
            </a:b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title"/>
          </p:nvPr>
        </p:nvSpPr>
        <p:spPr>
          <a:xfrm>
            <a:off x="311700" y="445025"/>
            <a:ext cx="8520600" cy="572700"/>
          </a:xfrm>
          <a:prstGeom prst="rect">
            <a:avLst/>
          </a:prstGeom>
          <a:solidFill>
            <a:schemeClr val="accent5"/>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Plenary </a:t>
            </a:r>
            <a:endParaRPr/>
          </a:p>
        </p:txBody>
      </p:sp>
      <p:sp>
        <p:nvSpPr>
          <p:cNvPr id="92" name="Google Shape;92;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a:t>Evaluate the importance of exception handling in software development. In your answer, consider:</a:t>
            </a:r>
            <a:endParaRPr/>
          </a:p>
          <a:p>
            <a:pPr indent="-298450" lvl="0" marL="457200" rtl="0" algn="l">
              <a:spcBef>
                <a:spcPts val="1200"/>
              </a:spcBef>
              <a:spcAft>
                <a:spcPts val="0"/>
              </a:spcAft>
              <a:buClr>
                <a:schemeClr val="dk1"/>
              </a:buClr>
              <a:buSzPts val="1100"/>
              <a:buChar char="●"/>
            </a:pPr>
            <a:r>
              <a:rPr lang="en"/>
              <a:t>User experience</a:t>
            </a:r>
            <a:br>
              <a:rPr lang="en"/>
            </a:br>
            <a:endParaRPr/>
          </a:p>
          <a:p>
            <a:pPr indent="-298450" lvl="0" marL="457200" rtl="0" algn="l">
              <a:spcBef>
                <a:spcPts val="0"/>
              </a:spcBef>
              <a:spcAft>
                <a:spcPts val="0"/>
              </a:spcAft>
              <a:buClr>
                <a:schemeClr val="dk1"/>
              </a:buClr>
              <a:buSzPts val="1100"/>
              <a:buChar char="●"/>
            </a:pPr>
            <a:r>
              <a:rPr lang="en"/>
              <a:t>Program reliability</a:t>
            </a:r>
            <a:br>
              <a:rPr lang="en"/>
            </a:br>
            <a:endParaRPr/>
          </a:p>
          <a:p>
            <a:pPr indent="-298450" lvl="0" marL="457200" rtl="0" algn="l">
              <a:spcBef>
                <a:spcPts val="0"/>
              </a:spcBef>
              <a:spcAft>
                <a:spcPts val="0"/>
              </a:spcAft>
              <a:buClr>
                <a:schemeClr val="dk1"/>
              </a:buClr>
              <a:buSzPts val="1100"/>
              <a:buChar char="●"/>
            </a:pPr>
            <a:r>
              <a:rPr lang="en"/>
              <a:t>Debugging and testing</a:t>
            </a: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