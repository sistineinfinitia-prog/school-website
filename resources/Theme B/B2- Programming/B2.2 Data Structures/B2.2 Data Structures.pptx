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Robo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font" Target="fonts/Roboto-bold.fntdata"/><Relationship Id="rId10" Type="http://schemas.openxmlformats.org/officeDocument/2006/relationships/slide" Target="slides/slide5.xml"/><Relationship Id="rId21" Type="http://schemas.openxmlformats.org/officeDocument/2006/relationships/font" Target="fonts/Roboto-regular.fntdata"/><Relationship Id="rId13" Type="http://schemas.openxmlformats.org/officeDocument/2006/relationships/slide" Target="slides/slide8.xml"/><Relationship Id="rId24" Type="http://schemas.openxmlformats.org/officeDocument/2006/relationships/font" Target="fonts/Roboto-boldItalic.fntdata"/><Relationship Id="rId12" Type="http://schemas.openxmlformats.org/officeDocument/2006/relationships/slide" Target="slides/slide7.xml"/><Relationship Id="rId23" Type="http://schemas.openxmlformats.org/officeDocument/2006/relationships/font" Target="fonts/Robo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807a08956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807a08956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807a08956f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807a08956f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807a08956f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807a08956f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807a08956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807a08956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807a08956f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807a08956f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807a08956f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807a08956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807a08956f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807a08956f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807a08956f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807a08956f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807a08956f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807a08956f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807a08956f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807a08956f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807a08956f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807a08956f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807a08956f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807a08956f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807a08956f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807a08956f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807a08956f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807a08956f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B2.2 Data Structures</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B2.2.1 Compare static and dynamic data structures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Starter </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Clr>
                <a:schemeClr val="dk1"/>
              </a:buClr>
              <a:buSzPts val="1100"/>
              <a:buFont typeface="Arial"/>
              <a:buNone/>
            </a:pPr>
            <a:r>
              <a:rPr b="1" lang="en" sz="1700">
                <a:solidFill>
                  <a:schemeClr val="dk1"/>
                </a:solidFill>
                <a:latin typeface="Roboto"/>
                <a:ea typeface="Roboto"/>
                <a:cs typeface="Roboto"/>
                <a:sym typeface="Roboto"/>
              </a:rPr>
              <a:t>Seating vs Snacks</a:t>
            </a:r>
            <a:endParaRPr b="1" sz="1700">
              <a:solidFill>
                <a:schemeClr val="dk1"/>
              </a:solidFill>
              <a:latin typeface="Roboto"/>
              <a:ea typeface="Roboto"/>
              <a:cs typeface="Roboto"/>
              <a:sym typeface="Roboto"/>
            </a:endParaRPr>
          </a:p>
          <a:p>
            <a:pPr indent="0" lvl="0" marL="0" rtl="0" algn="l">
              <a:spcBef>
                <a:spcPts val="400"/>
              </a:spcBef>
              <a:spcAft>
                <a:spcPts val="0"/>
              </a:spcAft>
              <a:buNone/>
            </a:pPr>
            <a:r>
              <a:rPr lang="en">
                <a:solidFill>
                  <a:schemeClr val="dk1"/>
                </a:solidFill>
                <a:latin typeface="Roboto"/>
                <a:ea typeface="Roboto"/>
                <a:cs typeface="Roboto"/>
                <a:sym typeface="Roboto"/>
              </a:rPr>
              <a:t>Imagine you are selling tickets for a school concert with a fixed number of seats.</a:t>
            </a:r>
            <a:endParaRPr>
              <a:solidFill>
                <a:schemeClr val="dk1"/>
              </a:solidFill>
              <a:latin typeface="Roboto"/>
              <a:ea typeface="Roboto"/>
              <a:cs typeface="Roboto"/>
              <a:sym typeface="Roboto"/>
            </a:endParaRPr>
          </a:p>
          <a:p>
            <a:pPr indent="-342900" lvl="0" marL="457200" rtl="0" algn="l">
              <a:spcBef>
                <a:spcPts val="1200"/>
              </a:spcBef>
              <a:spcAft>
                <a:spcPts val="0"/>
              </a:spcAft>
              <a:buClr>
                <a:schemeClr val="dk1"/>
              </a:buClr>
              <a:buSzPts val="1800"/>
              <a:buFont typeface="Roboto"/>
              <a:buChar char="●"/>
            </a:pPr>
            <a:r>
              <a:rPr lang="en">
                <a:solidFill>
                  <a:schemeClr val="dk1"/>
                </a:solidFill>
                <a:latin typeface="Roboto"/>
                <a:ea typeface="Roboto"/>
                <a:cs typeface="Roboto"/>
                <a:sym typeface="Roboto"/>
              </a:rPr>
              <a:t>Can you sell more tickets than there are seats?"</a:t>
            </a:r>
            <a:endParaRPr>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
                <a:solidFill>
                  <a:schemeClr val="dk1"/>
                </a:solidFill>
                <a:latin typeface="Roboto"/>
                <a:ea typeface="Roboto"/>
                <a:cs typeface="Roboto"/>
                <a:sym typeface="Roboto"/>
              </a:rPr>
              <a:t>Discuss why this number must be fixed (to avoid complaints).</a:t>
            </a:r>
            <a:endParaRPr>
              <a:solidFill>
                <a:schemeClr val="dk1"/>
              </a:solidFill>
              <a:latin typeface="Roboto"/>
              <a:ea typeface="Roboto"/>
              <a:cs typeface="Roboto"/>
              <a:sym typeface="Roboto"/>
            </a:endParaRPr>
          </a:p>
          <a:p>
            <a:pPr indent="0" lvl="0" marL="0" rtl="0" algn="l">
              <a:spcBef>
                <a:spcPts val="900"/>
              </a:spcBef>
              <a:spcAft>
                <a:spcPts val="1200"/>
              </a:spcAft>
              <a:buNone/>
            </a:pPr>
            <a:r>
              <a:t/>
            </a:r>
            <a:endParaRPr sz="1200">
              <a:solidFill>
                <a:schemeClr val="dk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LINEAR SEARCH</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t/>
            </a:r>
            <a:endParaRPr sz="6200"/>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Extension</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100">
                <a:solidFill>
                  <a:schemeClr val="dk1"/>
                </a:solidFill>
                <a:latin typeface="Roboto"/>
                <a:ea typeface="Roboto"/>
                <a:cs typeface="Roboto"/>
                <a:sym typeface="Roboto"/>
              </a:rPr>
              <a:t>You are also selling snacks and drinks, but you don’t know how many you will sell.</a:t>
            </a:r>
            <a:endParaRPr sz="2100">
              <a:solidFill>
                <a:schemeClr val="dk1"/>
              </a:solidFill>
              <a:latin typeface="Roboto"/>
              <a:ea typeface="Roboto"/>
              <a:cs typeface="Roboto"/>
              <a:sym typeface="Roboto"/>
            </a:endParaRPr>
          </a:p>
          <a:p>
            <a:pPr indent="0" lvl="0" marL="0" rtl="0" algn="l">
              <a:spcBef>
                <a:spcPts val="1200"/>
              </a:spcBef>
              <a:spcAft>
                <a:spcPts val="1200"/>
              </a:spcAft>
              <a:buNone/>
            </a:pPr>
            <a:r>
              <a:rPr lang="en" sz="2100">
                <a:solidFill>
                  <a:schemeClr val="dk1"/>
                </a:solidFill>
                <a:latin typeface="Roboto"/>
                <a:ea typeface="Roboto"/>
                <a:cs typeface="Roboto"/>
                <a:sym typeface="Roboto"/>
              </a:rPr>
              <a:t>How can you keep track of snacks sold if the number changes all the time?</a:t>
            </a:r>
            <a:endParaRPr sz="2100">
              <a:solidFill>
                <a:schemeClr val="dk1"/>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Structure </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100">
                <a:solidFill>
                  <a:schemeClr val="dk1"/>
                </a:solidFill>
                <a:latin typeface="Roboto"/>
                <a:ea typeface="Roboto"/>
                <a:cs typeface="Roboto"/>
                <a:sym typeface="Roboto"/>
              </a:rPr>
              <a:t>A data structure is a way of organizing and storing data in a computer so it can be accessed and used efficiently. It combines data values, the relationships among them, and the operations you can perform on the data. Data structures help manage data in programs, making storage, retrieval, and manipulation faster and more effective</a:t>
            </a:r>
            <a:endParaRPr sz="2700"/>
          </a:p>
        </p:txBody>
      </p:sp>
      <p:sp>
        <p:nvSpPr>
          <p:cNvPr id="80" name="Google Shape;80;p17"/>
          <p:cNvSpPr txBox="1"/>
          <p:nvPr/>
        </p:nvSpPr>
        <p:spPr>
          <a:xfrm>
            <a:off x="5052950" y="2011775"/>
            <a:ext cx="4114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800"/>
              </a:spcBef>
              <a:spcAft>
                <a:spcPts val="0"/>
              </a:spcAft>
              <a:buClr>
                <a:schemeClr val="dk1"/>
              </a:buClr>
              <a:buSzPct val="44395"/>
              <a:buFont typeface="Arial"/>
              <a:buNone/>
            </a:pPr>
            <a:r>
              <a:rPr b="1" lang="en" sz="2478">
                <a:latin typeface="Roboto"/>
                <a:ea typeface="Roboto"/>
                <a:cs typeface="Roboto"/>
                <a:sym typeface="Roboto"/>
              </a:rPr>
              <a:t>Why Data Structures Matter</a:t>
            </a:r>
            <a:endParaRPr b="1" sz="2478">
              <a:latin typeface="Roboto"/>
              <a:ea typeface="Roboto"/>
              <a:cs typeface="Roboto"/>
              <a:sym typeface="Roboto"/>
            </a:endParaRPr>
          </a:p>
          <a:p>
            <a:pPr indent="0" lvl="0" marL="0" rtl="0" algn="l">
              <a:spcBef>
                <a:spcPts val="400"/>
              </a:spcBef>
              <a:spcAft>
                <a:spcPts val="0"/>
              </a:spcAft>
              <a:buNone/>
            </a:pPr>
            <a:r>
              <a:t/>
            </a:r>
            <a:endParaRPr/>
          </a:p>
        </p:txBody>
      </p:sp>
      <p:sp>
        <p:nvSpPr>
          <p:cNvPr id="86" name="Google Shape;86;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Clr>
                <a:schemeClr val="dk1"/>
              </a:buClr>
              <a:buSzPts val="1900"/>
              <a:buFont typeface="Roboto"/>
              <a:buChar char="●"/>
            </a:pPr>
            <a:r>
              <a:rPr lang="en" sz="1900">
                <a:solidFill>
                  <a:schemeClr val="dk1"/>
                </a:solidFill>
                <a:latin typeface="Roboto"/>
                <a:ea typeface="Roboto"/>
                <a:cs typeface="Roboto"/>
                <a:sym typeface="Roboto"/>
              </a:rPr>
              <a:t>Allow efficient searching and sorting of information</a:t>
            </a:r>
            <a:endParaRPr sz="1900">
              <a:solidFill>
                <a:schemeClr val="dk1"/>
              </a:solidFill>
              <a:latin typeface="Roboto"/>
              <a:ea typeface="Roboto"/>
              <a:cs typeface="Roboto"/>
              <a:sym typeface="Roboto"/>
            </a:endParaRPr>
          </a:p>
          <a:p>
            <a:pPr indent="-349250" lvl="0" marL="457200" rtl="0" algn="l">
              <a:spcBef>
                <a:spcPts val="0"/>
              </a:spcBef>
              <a:spcAft>
                <a:spcPts val="0"/>
              </a:spcAft>
              <a:buClr>
                <a:schemeClr val="dk1"/>
              </a:buClr>
              <a:buSzPts val="1900"/>
              <a:buFont typeface="Roboto"/>
              <a:buChar char="●"/>
            </a:pPr>
            <a:r>
              <a:rPr lang="en" sz="1900">
                <a:solidFill>
                  <a:schemeClr val="dk1"/>
                </a:solidFill>
                <a:latin typeface="Roboto"/>
                <a:ea typeface="Roboto"/>
                <a:cs typeface="Roboto"/>
                <a:sym typeface="Roboto"/>
              </a:rPr>
              <a:t>Help manage big amounts of data</a:t>
            </a:r>
            <a:endParaRPr sz="1900">
              <a:solidFill>
                <a:schemeClr val="dk1"/>
              </a:solidFill>
              <a:latin typeface="Roboto"/>
              <a:ea typeface="Roboto"/>
              <a:cs typeface="Roboto"/>
              <a:sym typeface="Roboto"/>
            </a:endParaRPr>
          </a:p>
          <a:p>
            <a:pPr indent="-349250" lvl="0" marL="457200" rtl="0" algn="l">
              <a:spcBef>
                <a:spcPts val="0"/>
              </a:spcBef>
              <a:spcAft>
                <a:spcPts val="0"/>
              </a:spcAft>
              <a:buClr>
                <a:schemeClr val="dk1"/>
              </a:buClr>
              <a:buSzPts val="1900"/>
              <a:buFont typeface="Roboto"/>
              <a:buChar char="●"/>
            </a:pPr>
            <a:r>
              <a:rPr lang="en" sz="1900">
                <a:solidFill>
                  <a:schemeClr val="dk1"/>
                </a:solidFill>
                <a:latin typeface="Roboto"/>
                <a:ea typeface="Roboto"/>
                <a:cs typeface="Roboto"/>
                <a:sym typeface="Roboto"/>
              </a:rPr>
              <a:t>Make it easier to program complex applications, like databases, operating systems, and AI.</a:t>
            </a:r>
            <a:endParaRPr sz="1900">
              <a:solidFill>
                <a:schemeClr val="dk1"/>
              </a:solidFill>
              <a:latin typeface="Roboto"/>
              <a:ea typeface="Roboto"/>
              <a:cs typeface="Roboto"/>
              <a:sym typeface="Roboto"/>
            </a:endParaRPr>
          </a:p>
          <a:p>
            <a:pPr indent="0" lvl="0" marL="0" rtl="0" algn="l">
              <a:spcBef>
                <a:spcPts val="600"/>
              </a:spcBef>
              <a:spcAft>
                <a:spcPts val="0"/>
              </a:spcAft>
              <a:buClr>
                <a:schemeClr val="dk1"/>
              </a:buClr>
              <a:buSzPts val="1100"/>
              <a:buFont typeface="Arial"/>
              <a:buNone/>
            </a:pPr>
            <a:r>
              <a:rPr lang="en" sz="1900">
                <a:solidFill>
                  <a:schemeClr val="dk1"/>
                </a:solidFill>
                <a:latin typeface="Roboto"/>
                <a:ea typeface="Roboto"/>
                <a:cs typeface="Roboto"/>
                <a:sym typeface="Roboto"/>
              </a:rPr>
              <a:t>In short, data structures are the building blocks for creating fast and powerful computer programs</a:t>
            </a:r>
            <a:endParaRPr sz="1900">
              <a:solidFill>
                <a:schemeClr val="dk1"/>
              </a:solidFill>
              <a:latin typeface="Roboto"/>
              <a:ea typeface="Roboto"/>
              <a:cs typeface="Roboto"/>
              <a:sym typeface="Roboto"/>
            </a:endParaRPr>
          </a:p>
          <a:p>
            <a:pPr indent="0" lvl="0" marL="0" rtl="0" algn="l">
              <a:spcBef>
                <a:spcPts val="6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800"/>
              </a:spcBef>
              <a:spcAft>
                <a:spcPts val="0"/>
              </a:spcAft>
              <a:buClr>
                <a:schemeClr val="dk1"/>
              </a:buClr>
              <a:buSzPct val="44395"/>
              <a:buFont typeface="Arial"/>
              <a:buNone/>
            </a:pPr>
            <a:r>
              <a:rPr b="1" lang="en" sz="2478">
                <a:latin typeface="Roboto"/>
                <a:ea typeface="Roboto"/>
                <a:cs typeface="Roboto"/>
                <a:sym typeface="Roboto"/>
              </a:rPr>
              <a:t>Main Types of Data Structures</a:t>
            </a:r>
            <a:endParaRPr b="1" sz="2478">
              <a:latin typeface="Roboto"/>
              <a:ea typeface="Roboto"/>
              <a:cs typeface="Roboto"/>
              <a:sym typeface="Roboto"/>
            </a:endParaRPr>
          </a:p>
          <a:p>
            <a:pPr indent="0" lvl="0" marL="0" rtl="0" algn="l">
              <a:spcBef>
                <a:spcPts val="400"/>
              </a:spcBef>
              <a:spcAft>
                <a:spcPts val="0"/>
              </a:spcAft>
              <a:buNone/>
            </a:pPr>
            <a:r>
              <a:t/>
            </a:r>
            <a:endParaRPr/>
          </a:p>
        </p:txBody>
      </p:sp>
      <p:sp>
        <p:nvSpPr>
          <p:cNvPr id="92" name="Google Shape;92;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81000" lvl="0" marL="457200" rtl="0" algn="l">
              <a:spcBef>
                <a:spcPts val="0"/>
              </a:spcBef>
              <a:spcAft>
                <a:spcPts val="0"/>
              </a:spcAft>
              <a:buClr>
                <a:schemeClr val="dk1"/>
              </a:buClr>
              <a:buSzPts val="2400"/>
              <a:buFont typeface="Roboto"/>
              <a:buChar char="●"/>
            </a:pPr>
            <a:r>
              <a:rPr lang="en" sz="2400">
                <a:solidFill>
                  <a:schemeClr val="dk1"/>
                </a:solidFill>
                <a:latin typeface="Roboto"/>
                <a:ea typeface="Roboto"/>
                <a:cs typeface="Roboto"/>
                <a:sym typeface="Roboto"/>
              </a:rPr>
              <a:t>Linear: Data is arranged in a sequence (like a line). Examples: arrays, stacks, queues, linked lists.</a:t>
            </a:r>
            <a:endParaRPr sz="2400">
              <a:solidFill>
                <a:schemeClr val="dk1"/>
              </a:solidFill>
              <a:latin typeface="Roboto"/>
              <a:ea typeface="Roboto"/>
              <a:cs typeface="Roboto"/>
              <a:sym typeface="Roboto"/>
            </a:endParaRPr>
          </a:p>
          <a:p>
            <a:pPr indent="-381000" lvl="0" marL="457200" rtl="0" algn="l">
              <a:spcBef>
                <a:spcPts val="0"/>
              </a:spcBef>
              <a:spcAft>
                <a:spcPts val="0"/>
              </a:spcAft>
              <a:buClr>
                <a:schemeClr val="dk1"/>
              </a:buClr>
              <a:buSzPts val="2400"/>
              <a:buFont typeface="Roboto"/>
              <a:buChar char="●"/>
            </a:pPr>
            <a:r>
              <a:rPr lang="en" sz="2400">
                <a:solidFill>
                  <a:schemeClr val="dk1"/>
                </a:solidFill>
                <a:latin typeface="Roboto"/>
                <a:ea typeface="Roboto"/>
                <a:cs typeface="Roboto"/>
                <a:sym typeface="Roboto"/>
              </a:rPr>
              <a:t>Non-linear: Data is arranged in a branching structure. Examples: trees, graphs.</a:t>
            </a:r>
            <a:endParaRPr sz="2400">
              <a:solidFill>
                <a:schemeClr val="dk1"/>
              </a:solidFill>
              <a:latin typeface="Roboto"/>
              <a:ea typeface="Roboto"/>
              <a:cs typeface="Roboto"/>
              <a:sym typeface="Roboto"/>
            </a:endParaRPr>
          </a:p>
          <a:p>
            <a:pPr indent="0" lvl="0" marL="0" rtl="0" algn="l">
              <a:spcBef>
                <a:spcPts val="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id="97" name="Google Shape;97;p20"/>
          <p:cNvPicPr preferRelativeResize="0"/>
          <p:nvPr/>
        </p:nvPicPr>
        <p:blipFill>
          <a:blip r:embed="rId3">
            <a:alphaModFix/>
          </a:blip>
          <a:stretch>
            <a:fillRect/>
          </a:stretch>
        </p:blipFill>
        <p:spPr>
          <a:xfrm>
            <a:off x="-69200" y="1237075"/>
            <a:ext cx="8839201" cy="276674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800"/>
              </a:spcBef>
              <a:spcAft>
                <a:spcPts val="400"/>
              </a:spcAft>
              <a:buClr>
                <a:schemeClr val="dk1"/>
              </a:buClr>
              <a:buSzPts val="1100"/>
              <a:buFont typeface="Arial"/>
              <a:buNone/>
            </a:pPr>
            <a:r>
              <a:rPr b="1" lang="en" sz="2300">
                <a:latin typeface="Roboto"/>
                <a:ea typeface="Roboto"/>
                <a:cs typeface="Roboto"/>
                <a:sym typeface="Roboto"/>
              </a:rPr>
              <a:t>Super Simple Example</a:t>
            </a:r>
            <a:endParaRPr sz="3400"/>
          </a:p>
        </p:txBody>
      </p:sp>
      <p:sp>
        <p:nvSpPr>
          <p:cNvPr id="103" name="Google Shape;103;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Clr>
                <a:schemeClr val="dk1"/>
              </a:buClr>
              <a:buSzPts val="1100"/>
              <a:buFont typeface="Arial"/>
              <a:buNone/>
            </a:pPr>
            <a:r>
              <a:t/>
            </a:r>
            <a:endParaRPr b="1" sz="1700">
              <a:solidFill>
                <a:schemeClr val="dk1"/>
              </a:solidFill>
              <a:latin typeface="Roboto"/>
              <a:ea typeface="Roboto"/>
              <a:cs typeface="Roboto"/>
              <a:sym typeface="Roboto"/>
            </a:endParaRPr>
          </a:p>
          <a:p>
            <a:pPr indent="-342900" lvl="0" marL="457200" rtl="0" algn="l">
              <a:spcBef>
                <a:spcPts val="400"/>
              </a:spcBef>
              <a:spcAft>
                <a:spcPts val="0"/>
              </a:spcAft>
              <a:buClr>
                <a:schemeClr val="dk1"/>
              </a:buClr>
              <a:buSzPts val="1800"/>
              <a:buFont typeface="Roboto"/>
              <a:buChar char="●"/>
            </a:pPr>
            <a:r>
              <a:rPr lang="en">
                <a:solidFill>
                  <a:schemeClr val="dk1"/>
                </a:solidFill>
                <a:latin typeface="Roboto"/>
                <a:ea typeface="Roboto"/>
                <a:cs typeface="Roboto"/>
                <a:sym typeface="Roboto"/>
              </a:rPr>
              <a:t>Static: An array for exactly 10 tickets.</a:t>
            </a:r>
            <a:endParaRPr>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
                <a:solidFill>
                  <a:schemeClr val="dk1"/>
                </a:solidFill>
                <a:latin typeface="Roboto"/>
                <a:ea typeface="Roboto"/>
                <a:cs typeface="Roboto"/>
                <a:sym typeface="Roboto"/>
              </a:rPr>
              <a:t>Dynamic: A list for drinks sold—you don’t know the number, it changes during the event.</a:t>
            </a:r>
            <a:endParaRPr>
              <a:solidFill>
                <a:schemeClr val="dk1"/>
              </a:solidFill>
              <a:latin typeface="Roboto"/>
              <a:ea typeface="Roboto"/>
              <a:cs typeface="Roboto"/>
              <a:sym typeface="Roboto"/>
            </a:endParaRPr>
          </a:p>
          <a:p>
            <a:pPr indent="0" lvl="0" marL="0" rtl="0" algn="l">
              <a:spcBef>
                <a:spcPts val="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800"/>
              </a:spcBef>
              <a:spcAft>
                <a:spcPts val="0"/>
              </a:spcAft>
              <a:buClr>
                <a:schemeClr val="dk1"/>
              </a:buClr>
              <a:buSzPct val="46479"/>
              <a:buFont typeface="Arial"/>
              <a:buNone/>
            </a:pPr>
            <a:r>
              <a:rPr b="1" lang="en" sz="2367">
                <a:latin typeface="Roboto"/>
                <a:ea typeface="Roboto"/>
                <a:cs typeface="Roboto"/>
                <a:sym typeface="Roboto"/>
              </a:rPr>
              <a:t>What is a Static Data Structure?</a:t>
            </a:r>
            <a:endParaRPr b="1" sz="2367">
              <a:latin typeface="Roboto"/>
              <a:ea typeface="Roboto"/>
              <a:cs typeface="Roboto"/>
              <a:sym typeface="Roboto"/>
            </a:endParaRPr>
          </a:p>
          <a:p>
            <a:pPr indent="0" lvl="0" marL="0" rtl="0" algn="l">
              <a:spcBef>
                <a:spcPts val="400"/>
              </a:spcBef>
              <a:spcAft>
                <a:spcPts val="0"/>
              </a:spcAft>
              <a:buNone/>
            </a:pPr>
            <a:r>
              <a:t/>
            </a:r>
            <a:endParaRPr/>
          </a:p>
        </p:txBody>
      </p:sp>
      <p:sp>
        <p:nvSpPr>
          <p:cNvPr id="109" name="Google Shape;109;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1950" lvl="0" marL="457200" rtl="0" algn="l">
              <a:spcBef>
                <a:spcPts val="0"/>
              </a:spcBef>
              <a:spcAft>
                <a:spcPts val="0"/>
              </a:spcAft>
              <a:buClr>
                <a:schemeClr val="dk1"/>
              </a:buClr>
              <a:buSzPts val="2100"/>
              <a:buFont typeface="Roboto"/>
              <a:buChar char="●"/>
            </a:pPr>
            <a:r>
              <a:rPr lang="en" sz="2100">
                <a:solidFill>
                  <a:schemeClr val="dk1"/>
                </a:solidFill>
                <a:latin typeface="Roboto"/>
                <a:ea typeface="Roboto"/>
                <a:cs typeface="Roboto"/>
                <a:sym typeface="Roboto"/>
              </a:rPr>
              <a:t>Fixed size: Number of items is set from the start (like concert seats).</a:t>
            </a:r>
            <a:endParaRPr sz="2100">
              <a:solidFill>
                <a:schemeClr val="dk1"/>
              </a:solidFill>
              <a:latin typeface="Roboto"/>
              <a:ea typeface="Roboto"/>
              <a:cs typeface="Roboto"/>
              <a:sym typeface="Roboto"/>
            </a:endParaRPr>
          </a:p>
          <a:p>
            <a:pPr indent="-361950" lvl="0" marL="457200" rtl="0" algn="l">
              <a:spcBef>
                <a:spcPts val="0"/>
              </a:spcBef>
              <a:spcAft>
                <a:spcPts val="0"/>
              </a:spcAft>
              <a:buClr>
                <a:schemeClr val="dk1"/>
              </a:buClr>
              <a:buSzPts val="2100"/>
              <a:buFont typeface="Roboto"/>
              <a:buChar char="●"/>
            </a:pPr>
            <a:r>
              <a:rPr lang="en" sz="2100">
                <a:solidFill>
                  <a:schemeClr val="dk1"/>
                </a:solidFill>
                <a:latin typeface="Roboto"/>
                <a:ea typeface="Roboto"/>
                <a:cs typeface="Roboto"/>
                <a:sym typeface="Roboto"/>
              </a:rPr>
              <a:t>If you need 100 seats, your data structure has 100 slots. No more, no less.</a:t>
            </a:r>
            <a:endParaRPr sz="2100">
              <a:solidFill>
                <a:schemeClr val="dk1"/>
              </a:solidFill>
              <a:latin typeface="Roboto"/>
              <a:ea typeface="Roboto"/>
              <a:cs typeface="Roboto"/>
              <a:sym typeface="Roboto"/>
            </a:endParaRPr>
          </a:p>
          <a:p>
            <a:pPr indent="-361950" lvl="0" marL="457200" rtl="0" algn="l">
              <a:spcBef>
                <a:spcPts val="0"/>
              </a:spcBef>
              <a:spcAft>
                <a:spcPts val="0"/>
              </a:spcAft>
              <a:buClr>
                <a:schemeClr val="dk1"/>
              </a:buClr>
              <a:buSzPts val="2100"/>
              <a:buFont typeface="Roboto"/>
              <a:buChar char="●"/>
            </a:pPr>
            <a:r>
              <a:rPr lang="en" sz="2100">
                <a:solidFill>
                  <a:schemeClr val="dk1"/>
                </a:solidFill>
                <a:latin typeface="Roboto"/>
                <a:ea typeface="Roboto"/>
                <a:cs typeface="Roboto"/>
                <a:sym typeface="Roboto"/>
              </a:rPr>
              <a:t>You cannot change the size while the program runs.</a:t>
            </a:r>
            <a:endParaRPr sz="2100">
              <a:solidFill>
                <a:schemeClr val="dk1"/>
              </a:solidFill>
              <a:latin typeface="Roboto"/>
              <a:ea typeface="Roboto"/>
              <a:cs typeface="Roboto"/>
              <a:sym typeface="Roboto"/>
            </a:endParaRPr>
          </a:p>
          <a:p>
            <a:pPr indent="0" lvl="0" marL="0" rtl="0" algn="l">
              <a:spcBef>
                <a:spcPts val="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800"/>
              </a:spcBef>
              <a:spcAft>
                <a:spcPts val="0"/>
              </a:spcAft>
              <a:buClr>
                <a:schemeClr val="dk1"/>
              </a:buClr>
              <a:buSzPct val="64706"/>
              <a:buFont typeface="Arial"/>
              <a:buNone/>
            </a:pPr>
            <a:r>
              <a:rPr b="1" lang="en" sz="1700">
                <a:latin typeface="Roboto"/>
                <a:ea typeface="Roboto"/>
                <a:cs typeface="Roboto"/>
                <a:sym typeface="Roboto"/>
              </a:rPr>
              <a:t>What is a Dynamic Data Structure?</a:t>
            </a:r>
            <a:endParaRPr b="1" sz="1700">
              <a:latin typeface="Roboto"/>
              <a:ea typeface="Roboto"/>
              <a:cs typeface="Roboto"/>
              <a:sym typeface="Roboto"/>
            </a:endParaRPr>
          </a:p>
          <a:p>
            <a:pPr indent="0" lvl="0" marL="0" rtl="0" algn="l">
              <a:spcBef>
                <a:spcPts val="400"/>
              </a:spcBef>
              <a:spcAft>
                <a:spcPts val="0"/>
              </a:spcAft>
              <a:buNone/>
            </a:pPr>
            <a:r>
              <a:t/>
            </a:r>
            <a:endParaRPr/>
          </a:p>
        </p:txBody>
      </p:sp>
      <p:sp>
        <p:nvSpPr>
          <p:cNvPr id="115" name="Google Shape;115;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1950" lvl="0" marL="457200" rtl="0" algn="l">
              <a:spcBef>
                <a:spcPts val="0"/>
              </a:spcBef>
              <a:spcAft>
                <a:spcPts val="0"/>
              </a:spcAft>
              <a:buClr>
                <a:schemeClr val="dk1"/>
              </a:buClr>
              <a:buSzPts val="2100"/>
              <a:buFont typeface="Roboto"/>
              <a:buChar char="●"/>
            </a:pPr>
            <a:r>
              <a:rPr lang="en" sz="2100">
                <a:solidFill>
                  <a:schemeClr val="dk1"/>
                </a:solidFill>
                <a:latin typeface="Roboto"/>
                <a:ea typeface="Roboto"/>
                <a:cs typeface="Roboto"/>
                <a:sym typeface="Roboto"/>
              </a:rPr>
              <a:t>Flexible size: Number of items can grow or shrink (like selling snacks).</a:t>
            </a:r>
            <a:endParaRPr sz="2100">
              <a:solidFill>
                <a:schemeClr val="dk1"/>
              </a:solidFill>
              <a:latin typeface="Roboto"/>
              <a:ea typeface="Roboto"/>
              <a:cs typeface="Roboto"/>
              <a:sym typeface="Roboto"/>
            </a:endParaRPr>
          </a:p>
          <a:p>
            <a:pPr indent="-361950" lvl="0" marL="457200" rtl="0" algn="l">
              <a:spcBef>
                <a:spcPts val="0"/>
              </a:spcBef>
              <a:spcAft>
                <a:spcPts val="0"/>
              </a:spcAft>
              <a:buClr>
                <a:schemeClr val="dk1"/>
              </a:buClr>
              <a:buSzPts val="2100"/>
              <a:buFont typeface="Roboto"/>
              <a:buChar char="●"/>
            </a:pPr>
            <a:r>
              <a:rPr lang="en" sz="2100">
                <a:solidFill>
                  <a:schemeClr val="dk1"/>
                </a:solidFill>
                <a:latin typeface="Roboto"/>
                <a:ea typeface="Roboto"/>
                <a:cs typeface="Roboto"/>
                <a:sym typeface="Roboto"/>
              </a:rPr>
              <a:t>List gets longer as you add new items, and shorter as you remove them.</a:t>
            </a:r>
            <a:endParaRPr sz="2100">
              <a:solidFill>
                <a:schemeClr val="dk1"/>
              </a:solidFill>
              <a:latin typeface="Roboto"/>
              <a:ea typeface="Roboto"/>
              <a:cs typeface="Roboto"/>
              <a:sym typeface="Roboto"/>
            </a:endParaRPr>
          </a:p>
          <a:p>
            <a:pPr indent="-361950" lvl="0" marL="457200" rtl="0" algn="l">
              <a:spcBef>
                <a:spcPts val="0"/>
              </a:spcBef>
              <a:spcAft>
                <a:spcPts val="0"/>
              </a:spcAft>
              <a:buClr>
                <a:schemeClr val="dk1"/>
              </a:buClr>
              <a:buSzPts val="2100"/>
              <a:buFont typeface="Roboto"/>
              <a:buChar char="●"/>
            </a:pPr>
            <a:r>
              <a:rPr lang="en" sz="2100">
                <a:solidFill>
                  <a:schemeClr val="dk1"/>
                </a:solidFill>
                <a:latin typeface="Roboto"/>
                <a:ea typeface="Roboto"/>
                <a:cs typeface="Roboto"/>
                <a:sym typeface="Roboto"/>
              </a:rPr>
              <a:t>You don't need to know the size ahead of time.</a:t>
            </a:r>
            <a:endParaRPr sz="2100">
              <a:solidFill>
                <a:schemeClr val="dk1"/>
              </a:solidFill>
              <a:latin typeface="Roboto"/>
              <a:ea typeface="Roboto"/>
              <a:cs typeface="Roboto"/>
              <a:sym typeface="Roboto"/>
            </a:endParaRPr>
          </a:p>
          <a:p>
            <a:pPr indent="0" lvl="0" marL="0" rtl="0" algn="l">
              <a:spcBef>
                <a:spcPts val="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id="120" name="Google Shape;120;p24"/>
          <p:cNvPicPr preferRelativeResize="0"/>
          <p:nvPr/>
        </p:nvPicPr>
        <p:blipFill>
          <a:blip r:embed="rId3">
            <a:alphaModFix/>
          </a:blip>
          <a:stretch>
            <a:fillRect/>
          </a:stretch>
        </p:blipFill>
        <p:spPr>
          <a:xfrm>
            <a:off x="0" y="1497175"/>
            <a:ext cx="9144000" cy="2727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5"/>
          <p:cNvSpPr txBox="1"/>
          <p:nvPr>
            <p:ph type="title"/>
          </p:nvPr>
        </p:nvSpPr>
        <p:spPr>
          <a:xfrm>
            <a:off x="311700" y="4683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Real -life examples</a:t>
            </a:r>
            <a:endParaRPr/>
          </a:p>
        </p:txBody>
      </p:sp>
      <p:sp>
        <p:nvSpPr>
          <p:cNvPr id="126" name="Google Shape;126;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1950" lvl="0" marL="457200" rtl="0" algn="l">
              <a:spcBef>
                <a:spcPts val="0"/>
              </a:spcBef>
              <a:spcAft>
                <a:spcPts val="0"/>
              </a:spcAft>
              <a:buClr>
                <a:schemeClr val="dk1"/>
              </a:buClr>
              <a:buSzPts val="2100"/>
              <a:buFont typeface="Roboto"/>
              <a:buChar char="●"/>
            </a:pPr>
            <a:r>
              <a:rPr lang="en" sz="2100">
                <a:solidFill>
                  <a:schemeClr val="dk1"/>
                </a:solidFill>
                <a:latin typeface="Roboto"/>
                <a:ea typeface="Roboto"/>
                <a:cs typeface="Roboto"/>
                <a:sym typeface="Roboto"/>
              </a:rPr>
              <a:t>Static (Fixed spots): Student register for one class, parking lot, seats at a theatre.</a:t>
            </a:r>
            <a:endParaRPr sz="2100">
              <a:solidFill>
                <a:schemeClr val="dk1"/>
              </a:solidFill>
              <a:latin typeface="Roboto"/>
              <a:ea typeface="Roboto"/>
              <a:cs typeface="Roboto"/>
              <a:sym typeface="Roboto"/>
            </a:endParaRPr>
          </a:p>
          <a:p>
            <a:pPr indent="-361950" lvl="0" marL="457200" rtl="0" algn="l">
              <a:spcBef>
                <a:spcPts val="0"/>
              </a:spcBef>
              <a:spcAft>
                <a:spcPts val="0"/>
              </a:spcAft>
              <a:buClr>
                <a:schemeClr val="dk1"/>
              </a:buClr>
              <a:buSzPts val="2100"/>
              <a:buFont typeface="Roboto"/>
              <a:buChar char="●"/>
            </a:pPr>
            <a:r>
              <a:rPr lang="en" sz="2100">
                <a:solidFill>
                  <a:schemeClr val="dk1"/>
                </a:solidFill>
                <a:latin typeface="Roboto"/>
                <a:ea typeface="Roboto"/>
                <a:cs typeface="Roboto"/>
                <a:sym typeface="Roboto"/>
              </a:rPr>
              <a:t>Dynamic (Changeable): Waiting list for tickets, snack sale list, sign-ups for clubs.</a:t>
            </a:r>
            <a:endParaRPr sz="2100">
              <a:solidFill>
                <a:schemeClr val="dk1"/>
              </a:solidFill>
              <a:latin typeface="Roboto"/>
              <a:ea typeface="Roboto"/>
              <a:cs typeface="Roboto"/>
              <a:sym typeface="Roboto"/>
            </a:endParaRPr>
          </a:p>
          <a:p>
            <a:pPr indent="0" lvl="0" marL="0" rtl="0" algn="l">
              <a:spcBef>
                <a:spcPts val="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800"/>
              </a:spcBef>
              <a:spcAft>
                <a:spcPts val="0"/>
              </a:spcAft>
              <a:buClr>
                <a:schemeClr val="dk1"/>
              </a:buClr>
              <a:buSzPct val="40741"/>
              <a:buFont typeface="Arial"/>
              <a:buNone/>
            </a:pPr>
            <a:r>
              <a:rPr b="1" lang="en" sz="2700">
                <a:latin typeface="Roboto"/>
                <a:ea typeface="Roboto"/>
                <a:cs typeface="Roboto"/>
                <a:sym typeface="Roboto"/>
              </a:rPr>
              <a:t>When to Use Which?</a:t>
            </a:r>
            <a:endParaRPr b="1" sz="2700">
              <a:latin typeface="Roboto"/>
              <a:ea typeface="Roboto"/>
              <a:cs typeface="Roboto"/>
              <a:sym typeface="Roboto"/>
            </a:endParaRPr>
          </a:p>
          <a:p>
            <a:pPr indent="0" lvl="0" marL="0" rtl="0" algn="l">
              <a:spcBef>
                <a:spcPts val="400"/>
              </a:spcBef>
              <a:spcAft>
                <a:spcPts val="0"/>
              </a:spcAft>
              <a:buNone/>
            </a:pPr>
            <a:r>
              <a:t/>
            </a:r>
            <a:endParaRPr/>
          </a:p>
        </p:txBody>
      </p:sp>
      <p:sp>
        <p:nvSpPr>
          <p:cNvPr id="132" name="Google Shape;132;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406400" lvl="0" marL="457200" rtl="0" algn="l">
              <a:spcBef>
                <a:spcPts val="0"/>
              </a:spcBef>
              <a:spcAft>
                <a:spcPts val="0"/>
              </a:spcAft>
              <a:buClr>
                <a:schemeClr val="dk1"/>
              </a:buClr>
              <a:buSzPts val="2800"/>
              <a:buFont typeface="Roboto"/>
              <a:buChar char="●"/>
            </a:pPr>
            <a:r>
              <a:rPr lang="en" sz="2800">
                <a:solidFill>
                  <a:schemeClr val="dk1"/>
                </a:solidFill>
                <a:latin typeface="Roboto"/>
                <a:ea typeface="Roboto"/>
                <a:cs typeface="Roboto"/>
                <a:sym typeface="Roboto"/>
              </a:rPr>
              <a:t>Use static if you know the number from the start.</a:t>
            </a:r>
            <a:endParaRPr sz="2800">
              <a:solidFill>
                <a:schemeClr val="dk1"/>
              </a:solidFill>
              <a:latin typeface="Roboto"/>
              <a:ea typeface="Roboto"/>
              <a:cs typeface="Roboto"/>
              <a:sym typeface="Roboto"/>
            </a:endParaRPr>
          </a:p>
          <a:p>
            <a:pPr indent="-406400" lvl="0" marL="457200" rtl="0" algn="l">
              <a:spcBef>
                <a:spcPts val="0"/>
              </a:spcBef>
              <a:spcAft>
                <a:spcPts val="0"/>
              </a:spcAft>
              <a:buClr>
                <a:schemeClr val="dk1"/>
              </a:buClr>
              <a:buSzPts val="2800"/>
              <a:buFont typeface="Roboto"/>
              <a:buChar char="●"/>
            </a:pPr>
            <a:r>
              <a:rPr lang="en" sz="2800">
                <a:solidFill>
                  <a:schemeClr val="dk1"/>
                </a:solidFill>
                <a:latin typeface="Roboto"/>
                <a:ea typeface="Roboto"/>
                <a:cs typeface="Roboto"/>
                <a:sym typeface="Roboto"/>
              </a:rPr>
              <a:t>Use dynamic if the number can change or you don’t know it ahead of time.</a:t>
            </a:r>
            <a:endParaRPr sz="2800">
              <a:solidFill>
                <a:schemeClr val="dk1"/>
              </a:solidFill>
              <a:latin typeface="Roboto"/>
              <a:ea typeface="Roboto"/>
              <a:cs typeface="Roboto"/>
              <a:sym typeface="Roboto"/>
            </a:endParaRPr>
          </a:p>
          <a:p>
            <a:pPr indent="0" lvl="0" marL="0" rtl="0" algn="l">
              <a:spcBef>
                <a:spcPts val="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800"/>
              </a:spcBef>
              <a:spcAft>
                <a:spcPts val="400"/>
              </a:spcAft>
              <a:buClr>
                <a:schemeClr val="dk1"/>
              </a:buClr>
              <a:buSzPts val="1100"/>
              <a:buFont typeface="Arial"/>
              <a:buNone/>
            </a:pPr>
            <a:r>
              <a:rPr b="1" lang="en" sz="1700">
                <a:latin typeface="Roboto"/>
                <a:ea typeface="Roboto"/>
                <a:cs typeface="Roboto"/>
                <a:sym typeface="Roboto"/>
              </a:rPr>
              <a:t>IB Exam Style Questions</a:t>
            </a:r>
            <a:endParaRPr/>
          </a:p>
        </p:txBody>
      </p:sp>
      <p:sp>
        <p:nvSpPr>
          <p:cNvPr id="138" name="Google Shape;138;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1800"/>
              </a:spcBef>
              <a:spcAft>
                <a:spcPts val="0"/>
              </a:spcAft>
              <a:buClr>
                <a:schemeClr val="dk1"/>
              </a:buClr>
              <a:buSzPct val="64706"/>
              <a:buFont typeface="Arial"/>
              <a:buNone/>
            </a:pPr>
            <a:r>
              <a:t/>
            </a:r>
            <a:endParaRPr b="1" sz="1700">
              <a:solidFill>
                <a:schemeClr val="dk1"/>
              </a:solidFill>
              <a:latin typeface="Roboto"/>
              <a:ea typeface="Roboto"/>
              <a:cs typeface="Roboto"/>
              <a:sym typeface="Roboto"/>
            </a:endParaRPr>
          </a:p>
          <a:p>
            <a:pPr indent="-293370" lvl="0" marL="457200" rtl="0" algn="l">
              <a:spcBef>
                <a:spcPts val="400"/>
              </a:spcBef>
              <a:spcAft>
                <a:spcPts val="0"/>
              </a:spcAft>
              <a:buClr>
                <a:schemeClr val="dk1"/>
              </a:buClr>
              <a:buSzPct val="100000"/>
              <a:buFont typeface="Roboto"/>
              <a:buAutoNum type="arabicPeriod"/>
            </a:pPr>
            <a:r>
              <a:rPr lang="en" sz="1200">
                <a:solidFill>
                  <a:schemeClr val="dk1"/>
                </a:solidFill>
                <a:latin typeface="Roboto"/>
                <a:ea typeface="Roboto"/>
                <a:cs typeface="Roboto"/>
                <a:sym typeface="Roboto"/>
              </a:rPr>
              <a:t>Define a static data structure and give one example.</a:t>
            </a:r>
            <a:br>
              <a:rPr lang="en" sz="1200">
                <a:solidFill>
                  <a:schemeClr val="dk1"/>
                </a:solidFill>
                <a:latin typeface="Roboto"/>
                <a:ea typeface="Roboto"/>
                <a:cs typeface="Roboto"/>
                <a:sym typeface="Roboto"/>
              </a:rPr>
            </a:br>
            <a:r>
              <a:rPr lang="en" sz="1200">
                <a:solidFill>
                  <a:schemeClr val="dk1"/>
                </a:solidFill>
                <a:latin typeface="Roboto"/>
                <a:ea typeface="Roboto"/>
                <a:cs typeface="Roboto"/>
                <a:sym typeface="Roboto"/>
              </a:rPr>
              <a:t>(2 marks)</a:t>
            </a:r>
            <a:endParaRPr sz="1200">
              <a:solidFill>
                <a:schemeClr val="dk1"/>
              </a:solidFill>
              <a:latin typeface="Roboto"/>
              <a:ea typeface="Roboto"/>
              <a:cs typeface="Roboto"/>
              <a:sym typeface="Roboto"/>
            </a:endParaRPr>
          </a:p>
          <a:p>
            <a:pPr indent="-293370" lvl="0" marL="457200" rtl="0" algn="l">
              <a:spcBef>
                <a:spcPts val="0"/>
              </a:spcBef>
              <a:spcAft>
                <a:spcPts val="0"/>
              </a:spcAft>
              <a:buClr>
                <a:schemeClr val="dk1"/>
              </a:buClr>
              <a:buSzPct val="100000"/>
              <a:buFont typeface="Roboto"/>
              <a:buAutoNum type="arabicPeriod"/>
            </a:pPr>
            <a:r>
              <a:rPr lang="en" sz="1200">
                <a:solidFill>
                  <a:schemeClr val="dk1"/>
                </a:solidFill>
                <a:latin typeface="Roboto"/>
                <a:ea typeface="Roboto"/>
                <a:cs typeface="Roboto"/>
                <a:sym typeface="Roboto"/>
              </a:rPr>
              <a:t>Define a dynamic data structure and give one example.</a:t>
            </a:r>
            <a:br>
              <a:rPr lang="en" sz="1200">
                <a:solidFill>
                  <a:schemeClr val="dk1"/>
                </a:solidFill>
                <a:latin typeface="Roboto"/>
                <a:ea typeface="Roboto"/>
                <a:cs typeface="Roboto"/>
                <a:sym typeface="Roboto"/>
              </a:rPr>
            </a:br>
            <a:r>
              <a:rPr lang="en" sz="1200">
                <a:solidFill>
                  <a:schemeClr val="dk1"/>
                </a:solidFill>
                <a:latin typeface="Roboto"/>
                <a:ea typeface="Roboto"/>
                <a:cs typeface="Roboto"/>
                <a:sym typeface="Roboto"/>
              </a:rPr>
              <a:t>(2 marks)</a:t>
            </a:r>
            <a:endParaRPr sz="1200">
              <a:solidFill>
                <a:schemeClr val="dk1"/>
              </a:solidFill>
              <a:latin typeface="Roboto"/>
              <a:ea typeface="Roboto"/>
              <a:cs typeface="Roboto"/>
              <a:sym typeface="Roboto"/>
            </a:endParaRPr>
          </a:p>
          <a:p>
            <a:pPr indent="-293370" lvl="0" marL="457200" rtl="0" algn="l">
              <a:spcBef>
                <a:spcPts val="0"/>
              </a:spcBef>
              <a:spcAft>
                <a:spcPts val="0"/>
              </a:spcAft>
              <a:buClr>
                <a:schemeClr val="dk1"/>
              </a:buClr>
              <a:buSzPct val="100000"/>
              <a:buFont typeface="Roboto"/>
              <a:buAutoNum type="arabicPeriod"/>
            </a:pPr>
            <a:r>
              <a:rPr lang="en" sz="1200">
                <a:solidFill>
                  <a:schemeClr val="dk1"/>
                </a:solidFill>
                <a:latin typeface="Roboto"/>
                <a:ea typeface="Roboto"/>
                <a:cs typeface="Roboto"/>
                <a:sym typeface="Roboto"/>
              </a:rPr>
              <a:t>Explain one advantage of using a static data structure over a dynamic data structure.</a:t>
            </a:r>
            <a:br>
              <a:rPr lang="en" sz="1200">
                <a:solidFill>
                  <a:schemeClr val="dk1"/>
                </a:solidFill>
                <a:latin typeface="Roboto"/>
                <a:ea typeface="Roboto"/>
                <a:cs typeface="Roboto"/>
                <a:sym typeface="Roboto"/>
              </a:rPr>
            </a:br>
            <a:r>
              <a:rPr lang="en" sz="1200">
                <a:solidFill>
                  <a:schemeClr val="dk1"/>
                </a:solidFill>
                <a:latin typeface="Roboto"/>
                <a:ea typeface="Roboto"/>
                <a:cs typeface="Roboto"/>
                <a:sym typeface="Roboto"/>
              </a:rPr>
              <a:t>(2 marks)</a:t>
            </a:r>
            <a:endParaRPr sz="1200">
              <a:solidFill>
                <a:schemeClr val="dk1"/>
              </a:solidFill>
              <a:latin typeface="Roboto"/>
              <a:ea typeface="Roboto"/>
              <a:cs typeface="Roboto"/>
              <a:sym typeface="Roboto"/>
            </a:endParaRPr>
          </a:p>
          <a:p>
            <a:pPr indent="-293370" lvl="0" marL="457200" rtl="0" algn="l">
              <a:spcBef>
                <a:spcPts val="0"/>
              </a:spcBef>
              <a:spcAft>
                <a:spcPts val="0"/>
              </a:spcAft>
              <a:buClr>
                <a:schemeClr val="dk1"/>
              </a:buClr>
              <a:buSzPct val="100000"/>
              <a:buFont typeface="Roboto"/>
              <a:buAutoNum type="arabicPeriod"/>
            </a:pPr>
            <a:r>
              <a:rPr lang="en" sz="1200">
                <a:solidFill>
                  <a:schemeClr val="dk1"/>
                </a:solidFill>
                <a:latin typeface="Roboto"/>
                <a:ea typeface="Roboto"/>
                <a:cs typeface="Roboto"/>
                <a:sym typeface="Roboto"/>
              </a:rPr>
              <a:t>Explain one advantage of using a dynamic data structure instead of a static one.</a:t>
            </a:r>
            <a:br>
              <a:rPr lang="en" sz="1200">
                <a:solidFill>
                  <a:schemeClr val="dk1"/>
                </a:solidFill>
                <a:latin typeface="Roboto"/>
                <a:ea typeface="Roboto"/>
                <a:cs typeface="Roboto"/>
                <a:sym typeface="Roboto"/>
              </a:rPr>
            </a:br>
            <a:r>
              <a:rPr lang="en" sz="1200">
                <a:solidFill>
                  <a:schemeClr val="dk1"/>
                </a:solidFill>
                <a:latin typeface="Roboto"/>
                <a:ea typeface="Roboto"/>
                <a:cs typeface="Roboto"/>
                <a:sym typeface="Roboto"/>
              </a:rPr>
              <a:t>(2 marks)</a:t>
            </a:r>
            <a:endParaRPr sz="1200">
              <a:solidFill>
                <a:schemeClr val="dk1"/>
              </a:solidFill>
              <a:latin typeface="Roboto"/>
              <a:ea typeface="Roboto"/>
              <a:cs typeface="Roboto"/>
              <a:sym typeface="Roboto"/>
            </a:endParaRPr>
          </a:p>
          <a:p>
            <a:pPr indent="-293370" lvl="0" marL="457200" rtl="0" algn="l">
              <a:spcBef>
                <a:spcPts val="0"/>
              </a:spcBef>
              <a:spcAft>
                <a:spcPts val="0"/>
              </a:spcAft>
              <a:buClr>
                <a:schemeClr val="dk1"/>
              </a:buClr>
              <a:buSzPct val="100000"/>
              <a:buFont typeface="Roboto"/>
              <a:buAutoNum type="arabicPeriod"/>
            </a:pPr>
            <a:r>
              <a:rPr lang="en" sz="1200">
                <a:solidFill>
                  <a:schemeClr val="dk1"/>
                </a:solidFill>
                <a:latin typeface="Roboto"/>
                <a:ea typeface="Roboto"/>
                <a:cs typeface="Roboto"/>
                <a:sym typeface="Roboto"/>
              </a:rPr>
              <a:t>A concert has 200 fixed seats and sells snacks with an unknown quantity.</a:t>
            </a:r>
            <a:br>
              <a:rPr lang="en" sz="1200">
                <a:solidFill>
                  <a:schemeClr val="dk1"/>
                </a:solidFill>
                <a:latin typeface="Roboto"/>
                <a:ea typeface="Roboto"/>
                <a:cs typeface="Roboto"/>
                <a:sym typeface="Roboto"/>
              </a:rPr>
            </a:br>
            <a:r>
              <a:rPr lang="en" sz="1200">
                <a:solidFill>
                  <a:schemeClr val="dk1"/>
                </a:solidFill>
                <a:latin typeface="Roboto"/>
                <a:ea typeface="Roboto"/>
                <a:cs typeface="Roboto"/>
                <a:sym typeface="Roboto"/>
              </a:rPr>
              <a:t>(a) Suggest which type of data structure should be used to store the seating information and explain why.</a:t>
            </a:r>
            <a:br>
              <a:rPr lang="en" sz="1200">
                <a:solidFill>
                  <a:schemeClr val="dk1"/>
                </a:solidFill>
                <a:latin typeface="Roboto"/>
                <a:ea typeface="Roboto"/>
                <a:cs typeface="Roboto"/>
                <a:sym typeface="Roboto"/>
              </a:rPr>
            </a:br>
            <a:r>
              <a:rPr lang="en" sz="1200">
                <a:solidFill>
                  <a:schemeClr val="dk1"/>
                </a:solidFill>
                <a:latin typeface="Roboto"/>
                <a:ea typeface="Roboto"/>
                <a:cs typeface="Roboto"/>
                <a:sym typeface="Roboto"/>
              </a:rPr>
              <a:t>(b) Suggest which type of data structure should be used to store the snacks sold and explain why.</a:t>
            </a:r>
            <a:br>
              <a:rPr lang="en" sz="1200">
                <a:solidFill>
                  <a:schemeClr val="dk1"/>
                </a:solidFill>
                <a:latin typeface="Roboto"/>
                <a:ea typeface="Roboto"/>
                <a:cs typeface="Roboto"/>
                <a:sym typeface="Roboto"/>
              </a:rPr>
            </a:br>
            <a:r>
              <a:rPr lang="en" sz="1200">
                <a:solidFill>
                  <a:schemeClr val="dk1"/>
                </a:solidFill>
                <a:latin typeface="Roboto"/>
                <a:ea typeface="Roboto"/>
                <a:cs typeface="Roboto"/>
                <a:sym typeface="Roboto"/>
              </a:rPr>
              <a:t>(4 marks)</a:t>
            </a:r>
            <a:endParaRPr sz="1200">
              <a:solidFill>
                <a:schemeClr val="dk1"/>
              </a:solidFill>
              <a:latin typeface="Roboto"/>
              <a:ea typeface="Roboto"/>
              <a:cs typeface="Roboto"/>
              <a:sym typeface="Roboto"/>
            </a:endParaRPr>
          </a:p>
          <a:p>
            <a:pPr indent="-293370" lvl="0" marL="457200" rtl="0" algn="l">
              <a:spcBef>
                <a:spcPts val="0"/>
              </a:spcBef>
              <a:spcAft>
                <a:spcPts val="0"/>
              </a:spcAft>
              <a:buClr>
                <a:schemeClr val="dk1"/>
              </a:buClr>
              <a:buSzPct val="100000"/>
              <a:buFont typeface="Roboto"/>
              <a:buAutoNum type="arabicPeriod"/>
            </a:pPr>
            <a:r>
              <a:rPr lang="en" sz="1200">
                <a:solidFill>
                  <a:schemeClr val="dk1"/>
                </a:solidFill>
                <a:latin typeface="Roboto"/>
                <a:ea typeface="Roboto"/>
                <a:cs typeface="Roboto"/>
                <a:sym typeface="Roboto"/>
              </a:rPr>
              <a:t>Outline one disadvantage of static data structures relating to memory usage.</a:t>
            </a:r>
            <a:br>
              <a:rPr lang="en" sz="1200">
                <a:solidFill>
                  <a:schemeClr val="dk1"/>
                </a:solidFill>
                <a:latin typeface="Roboto"/>
                <a:ea typeface="Roboto"/>
                <a:cs typeface="Roboto"/>
                <a:sym typeface="Roboto"/>
              </a:rPr>
            </a:br>
            <a:r>
              <a:rPr lang="en" sz="1200">
                <a:solidFill>
                  <a:schemeClr val="dk1"/>
                </a:solidFill>
                <a:latin typeface="Roboto"/>
                <a:ea typeface="Roboto"/>
                <a:cs typeface="Roboto"/>
                <a:sym typeface="Roboto"/>
              </a:rPr>
              <a:t>(1 mark)</a:t>
            </a:r>
            <a:endParaRPr sz="1200">
              <a:solidFill>
                <a:schemeClr val="dk1"/>
              </a:solidFill>
              <a:latin typeface="Roboto"/>
              <a:ea typeface="Roboto"/>
              <a:cs typeface="Roboto"/>
              <a:sym typeface="Roboto"/>
            </a:endParaRPr>
          </a:p>
          <a:p>
            <a:pPr indent="-293370" lvl="0" marL="457200" rtl="0" algn="l">
              <a:spcBef>
                <a:spcPts val="0"/>
              </a:spcBef>
              <a:spcAft>
                <a:spcPts val="0"/>
              </a:spcAft>
              <a:buClr>
                <a:schemeClr val="dk1"/>
              </a:buClr>
              <a:buSzPct val="100000"/>
              <a:buFont typeface="Roboto"/>
              <a:buAutoNum type="arabicPeriod"/>
            </a:pPr>
            <a:r>
              <a:rPr lang="en" sz="1200">
                <a:solidFill>
                  <a:schemeClr val="dk1"/>
                </a:solidFill>
                <a:latin typeface="Roboto"/>
                <a:ea typeface="Roboto"/>
                <a:cs typeface="Roboto"/>
                <a:sym typeface="Roboto"/>
              </a:rPr>
              <a:t>Explain why dynamic data structures might be slower than static data structures when accessing elements.</a:t>
            </a:r>
            <a:br>
              <a:rPr lang="en" sz="1200">
                <a:solidFill>
                  <a:schemeClr val="dk1"/>
                </a:solidFill>
                <a:latin typeface="Roboto"/>
                <a:ea typeface="Roboto"/>
                <a:cs typeface="Roboto"/>
                <a:sym typeface="Roboto"/>
              </a:rPr>
            </a:br>
            <a:r>
              <a:rPr lang="en" sz="1200">
                <a:solidFill>
                  <a:schemeClr val="dk1"/>
                </a:solidFill>
                <a:latin typeface="Roboto"/>
                <a:ea typeface="Roboto"/>
                <a:cs typeface="Roboto"/>
                <a:sym typeface="Roboto"/>
              </a:rPr>
              <a:t>(2 marks)</a:t>
            </a:r>
            <a:endParaRPr sz="1200">
              <a:solidFill>
                <a:schemeClr val="dk1"/>
              </a:solidFill>
              <a:latin typeface="Roboto"/>
              <a:ea typeface="Roboto"/>
              <a:cs typeface="Roboto"/>
              <a:sym typeface="Roboto"/>
            </a:endParaRPr>
          </a:p>
          <a:p>
            <a:pPr indent="-293370" lvl="0" marL="457200" rtl="0" algn="l">
              <a:spcBef>
                <a:spcPts val="0"/>
              </a:spcBef>
              <a:spcAft>
                <a:spcPts val="0"/>
              </a:spcAft>
              <a:buClr>
                <a:schemeClr val="dk1"/>
              </a:buClr>
              <a:buSzPct val="100000"/>
              <a:buFont typeface="Roboto"/>
              <a:buAutoNum type="arabicPeriod"/>
            </a:pPr>
            <a:r>
              <a:rPr lang="en" sz="1200">
                <a:solidFill>
                  <a:schemeClr val="dk1"/>
                </a:solidFill>
                <a:latin typeface="Roboto"/>
                <a:ea typeface="Roboto"/>
                <a:cs typeface="Roboto"/>
                <a:sym typeface="Roboto"/>
              </a:rPr>
              <a:t>Compare arrays and linked lists as examples of static and dynamic data structures respectively. Highlight one key difference.</a:t>
            </a:r>
            <a:br>
              <a:rPr lang="en" sz="1200">
                <a:solidFill>
                  <a:schemeClr val="dk1"/>
                </a:solidFill>
                <a:latin typeface="Roboto"/>
                <a:ea typeface="Roboto"/>
                <a:cs typeface="Roboto"/>
                <a:sym typeface="Roboto"/>
              </a:rPr>
            </a:br>
            <a:r>
              <a:rPr lang="en" sz="1200">
                <a:solidFill>
                  <a:schemeClr val="dk1"/>
                </a:solidFill>
                <a:latin typeface="Roboto"/>
                <a:ea typeface="Roboto"/>
                <a:cs typeface="Roboto"/>
                <a:sym typeface="Roboto"/>
              </a:rPr>
              <a:t>(3 marks)</a:t>
            </a:r>
            <a:endParaRPr sz="1200">
              <a:solidFill>
                <a:schemeClr val="dk1"/>
              </a:solidFill>
              <a:latin typeface="Roboto"/>
              <a:ea typeface="Roboto"/>
              <a:cs typeface="Roboto"/>
              <a:sym typeface="Roboto"/>
            </a:endParaRPr>
          </a:p>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