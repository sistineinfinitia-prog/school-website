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Nuni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italic.fntdata"/><Relationship Id="rId10" Type="http://schemas.openxmlformats.org/officeDocument/2006/relationships/slide" Target="slides/slide5.xml"/><Relationship Id="rId32" Type="http://schemas.openxmlformats.org/officeDocument/2006/relationships/font" Target="fonts/Nuni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Nuni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b314e411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1b314e411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1b314e41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1b314e41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1b314e411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81b314e411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1b314e41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1b314e41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1b314e41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1b314e41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1b314e411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1b314e411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1b314e41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1b314e41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1b314e411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1b314e411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1b314e41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1b314e41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1b314e41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1b314e41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1b314e41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1b314e41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1b314e411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1b314e41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1b314e41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1b314e41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1b314e411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1b314e411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1b314e411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1b314e411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1b314e41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1b314e41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1b314e41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1b314e41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1b314e41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1b314e41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2796e45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82796e45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2796e45d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2796e45d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2796e45d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2796e45d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2796e45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82796e45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2796e45d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82796e45d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2796e45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2796e45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SORTING</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BUBBLE AND SELECTION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Sorting Real Life Example </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Telephone Directory:</a:t>
            </a:r>
            <a:r>
              <a:rPr lang="en" sz="1350">
                <a:solidFill>
                  <a:srgbClr val="273239"/>
                </a:solidFill>
                <a:highlight>
                  <a:srgbClr val="FFFFFF"/>
                </a:highlight>
                <a:latin typeface="Nunito"/>
                <a:ea typeface="Nunito"/>
                <a:cs typeface="Nunito"/>
                <a:sym typeface="Nunito"/>
              </a:rPr>
              <a:t>  It is a book that contains telephone numbers and addresses of people in alphabetical order.</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Dictionary:</a:t>
            </a:r>
            <a:r>
              <a:rPr lang="en" sz="1350">
                <a:solidFill>
                  <a:srgbClr val="273239"/>
                </a:solidFill>
                <a:highlight>
                  <a:srgbClr val="FFFFFF"/>
                </a:highlight>
                <a:latin typeface="Nunito"/>
                <a:ea typeface="Nunito"/>
                <a:cs typeface="Nunito"/>
                <a:sym typeface="Nunito"/>
              </a:rPr>
              <a:t> It is a huge collection of words along with their meanings in alphabetical order.</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Contact List:</a:t>
            </a:r>
            <a:r>
              <a:rPr lang="en" sz="1350">
                <a:solidFill>
                  <a:srgbClr val="273239"/>
                </a:solidFill>
                <a:highlight>
                  <a:srgbClr val="FFFFFF"/>
                </a:highlight>
                <a:latin typeface="Nunito"/>
                <a:ea typeface="Nunito"/>
                <a:cs typeface="Nunito"/>
                <a:sym typeface="Nunito"/>
              </a:rPr>
              <a:t> It is a list of contact numbers of people in alphabetical order on a mobile phone.</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679175" y="437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Sorting </a:t>
            </a:r>
            <a:endParaRPr/>
          </a:p>
        </p:txBody>
      </p:sp>
      <p:sp>
        <p:nvSpPr>
          <p:cNvPr id="141" name="Google Shape;141;p15"/>
          <p:cNvSpPr txBox="1"/>
          <p:nvPr>
            <p:ph idx="1" type="body"/>
          </p:nvPr>
        </p:nvSpPr>
        <p:spPr>
          <a:xfrm>
            <a:off x="819150" y="1102050"/>
            <a:ext cx="7505700" cy="35691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0"/>
              </a:spcAft>
              <a:buNone/>
            </a:pPr>
            <a:r>
              <a:rPr b="1" lang="en" sz="1350">
                <a:solidFill>
                  <a:srgbClr val="273239"/>
                </a:solidFill>
                <a:highlight>
                  <a:srgbClr val="FFFFFF"/>
                </a:highlight>
                <a:latin typeface="Nunito"/>
                <a:ea typeface="Nunito"/>
                <a:cs typeface="Nunito"/>
                <a:sym typeface="Nunito"/>
              </a:rPr>
              <a:t>The different types of order are:</a:t>
            </a:r>
            <a:endParaRPr b="1"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80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Increasing Order: </a:t>
            </a:r>
            <a:r>
              <a:rPr lang="en" sz="1350">
                <a:solidFill>
                  <a:srgbClr val="273239"/>
                </a:solidFill>
                <a:highlight>
                  <a:srgbClr val="FFFFFF"/>
                </a:highlight>
                <a:latin typeface="Nunito"/>
                <a:ea typeface="Nunito"/>
                <a:cs typeface="Nunito"/>
                <a:sym typeface="Nunito"/>
              </a:rPr>
              <a:t>A set of values are said to be increasing order when every successive element is greater than its previous element. For example: 1, 2, 3, 4, 5. Here, the given sequence is in increasing order.</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Decreasing Order: </a:t>
            </a:r>
            <a:r>
              <a:rPr lang="en" sz="1350">
                <a:solidFill>
                  <a:srgbClr val="273239"/>
                </a:solidFill>
                <a:highlight>
                  <a:srgbClr val="FFFFFF"/>
                </a:highlight>
                <a:latin typeface="Nunito"/>
                <a:ea typeface="Nunito"/>
                <a:cs typeface="Nunito"/>
                <a:sym typeface="Nunito"/>
              </a:rPr>
              <a:t>A set of values are said to be in decreasing order when the successive element is always less than the previous one. For Example: 5, 4, 3, 2, 1. Here the given sequence is in decreasing order.</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Non-Increasing Order:</a:t>
            </a:r>
            <a:r>
              <a:rPr lang="en" sz="1350">
                <a:solidFill>
                  <a:srgbClr val="273239"/>
                </a:solidFill>
                <a:highlight>
                  <a:srgbClr val="FFFFFF"/>
                </a:highlight>
                <a:latin typeface="Nunito"/>
                <a:ea typeface="Nunito"/>
                <a:cs typeface="Nunito"/>
                <a:sym typeface="Nunito"/>
              </a:rPr>
              <a:t> A set of values are said to be in non-increasing order if every i</a:t>
            </a:r>
            <a:r>
              <a:rPr lang="en" sz="1000">
                <a:solidFill>
                  <a:srgbClr val="273239"/>
                </a:solidFill>
                <a:highlight>
                  <a:srgbClr val="FFFFFF"/>
                </a:highlight>
                <a:latin typeface="Nunito"/>
                <a:ea typeface="Nunito"/>
                <a:cs typeface="Nunito"/>
                <a:sym typeface="Nunito"/>
              </a:rPr>
              <a:t>th</a:t>
            </a:r>
            <a:r>
              <a:rPr lang="en" sz="1350">
                <a:solidFill>
                  <a:srgbClr val="273239"/>
                </a:solidFill>
                <a:highlight>
                  <a:srgbClr val="FFFFFF"/>
                </a:highlight>
                <a:latin typeface="Nunito"/>
                <a:ea typeface="Nunito"/>
                <a:cs typeface="Nunito"/>
                <a:sym typeface="Nunito"/>
              </a:rPr>
              <a:t> element present in the sequence is less than or equal to its (i-1)</a:t>
            </a:r>
            <a:r>
              <a:rPr lang="en" sz="1000">
                <a:solidFill>
                  <a:srgbClr val="273239"/>
                </a:solidFill>
                <a:highlight>
                  <a:srgbClr val="FFFFFF"/>
                </a:highlight>
                <a:latin typeface="Nunito"/>
                <a:ea typeface="Nunito"/>
                <a:cs typeface="Nunito"/>
                <a:sym typeface="Nunito"/>
              </a:rPr>
              <a:t>th</a:t>
            </a:r>
            <a:r>
              <a:rPr lang="en" sz="1350">
                <a:solidFill>
                  <a:srgbClr val="273239"/>
                </a:solidFill>
                <a:highlight>
                  <a:srgbClr val="FFFFFF"/>
                </a:highlight>
                <a:latin typeface="Nunito"/>
                <a:ea typeface="Nunito"/>
                <a:cs typeface="Nunito"/>
                <a:sym typeface="Nunito"/>
              </a:rPr>
              <a:t> element. This order occurs whenever there are numbers that are being repeated. For Example: 5, 4, 3, 2, 2, 1. Here 2 repeated two times.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Non-Decreasing Order:</a:t>
            </a:r>
            <a:r>
              <a:rPr lang="en" sz="1350">
                <a:solidFill>
                  <a:srgbClr val="273239"/>
                </a:solidFill>
                <a:highlight>
                  <a:srgbClr val="FFFFFF"/>
                </a:highlight>
                <a:latin typeface="Nunito"/>
                <a:ea typeface="Nunito"/>
                <a:cs typeface="Nunito"/>
                <a:sym typeface="Nunito"/>
              </a:rPr>
              <a:t> A set of values are said to be in non-decreasing order if every i</a:t>
            </a:r>
            <a:r>
              <a:rPr lang="en" sz="1000">
                <a:solidFill>
                  <a:srgbClr val="273239"/>
                </a:solidFill>
                <a:highlight>
                  <a:srgbClr val="FFFFFF"/>
                </a:highlight>
                <a:latin typeface="Nunito"/>
                <a:ea typeface="Nunito"/>
                <a:cs typeface="Nunito"/>
                <a:sym typeface="Nunito"/>
              </a:rPr>
              <a:t>th</a:t>
            </a:r>
            <a:r>
              <a:rPr lang="en" sz="1350">
                <a:solidFill>
                  <a:srgbClr val="273239"/>
                </a:solidFill>
                <a:highlight>
                  <a:srgbClr val="FFFFFF"/>
                </a:highlight>
                <a:latin typeface="Nunito"/>
                <a:ea typeface="Nunito"/>
                <a:cs typeface="Nunito"/>
                <a:sym typeface="Nunito"/>
              </a:rPr>
              <a:t> element present in the sequence is greater than or equal to its (i-1)</a:t>
            </a:r>
            <a:r>
              <a:rPr lang="en" sz="1000">
                <a:solidFill>
                  <a:srgbClr val="273239"/>
                </a:solidFill>
                <a:highlight>
                  <a:srgbClr val="FFFFFF"/>
                </a:highlight>
                <a:latin typeface="Nunito"/>
                <a:ea typeface="Nunito"/>
                <a:cs typeface="Nunito"/>
                <a:sym typeface="Nunito"/>
              </a:rPr>
              <a:t>th</a:t>
            </a:r>
            <a:r>
              <a:rPr lang="en" sz="1350">
                <a:solidFill>
                  <a:srgbClr val="273239"/>
                </a:solidFill>
                <a:highlight>
                  <a:srgbClr val="FFFFFF"/>
                </a:highlight>
                <a:latin typeface="Nunito"/>
                <a:ea typeface="Nunito"/>
                <a:cs typeface="Nunito"/>
                <a:sym typeface="Nunito"/>
              </a:rPr>
              <a:t> element. This order occurs whenever there are numbers that are being repeated. For Example: 1, 2, 2, 3, 4, 5. Here 2 repeated two times.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80575"/>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None/>
            </a:pPr>
            <a:r>
              <a:rPr b="1" lang="en" sz="2611">
                <a:solidFill>
                  <a:srgbClr val="273239"/>
                </a:solidFill>
                <a:highlight>
                  <a:srgbClr val="FFFFFF"/>
                </a:highlight>
              </a:rPr>
              <a:t>Sorting Techniques</a:t>
            </a:r>
            <a:endParaRPr b="1" sz="2611">
              <a:solidFill>
                <a:srgbClr val="273239"/>
              </a:solidFill>
              <a:highlight>
                <a:srgbClr val="FFFFFF"/>
              </a:highlight>
            </a:endParaRPr>
          </a:p>
          <a:p>
            <a:pPr indent="0" lvl="0" marL="0" rtl="0" algn="l">
              <a:spcBef>
                <a:spcPts val="1800"/>
              </a:spcBef>
              <a:spcAft>
                <a:spcPts val="0"/>
              </a:spcAft>
              <a:buNone/>
            </a:pPr>
            <a:r>
              <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Bubble </a:t>
            </a:r>
            <a:endParaRPr b="1" sz="1700"/>
          </a:p>
          <a:p>
            <a:pPr indent="0" lvl="0" marL="0" rtl="0" algn="l">
              <a:spcBef>
                <a:spcPts val="1200"/>
              </a:spcBef>
              <a:spcAft>
                <a:spcPts val="0"/>
              </a:spcAft>
              <a:buNone/>
            </a:pPr>
            <a:r>
              <a:rPr b="1" lang="en" sz="1700"/>
              <a:t>Selection </a:t>
            </a:r>
            <a:endParaRPr b="1" sz="1700"/>
          </a:p>
          <a:p>
            <a:pPr indent="0" lvl="0" marL="0" rtl="0" algn="l">
              <a:spcBef>
                <a:spcPts val="1200"/>
              </a:spcBef>
              <a:spcAft>
                <a:spcPts val="0"/>
              </a:spcAft>
              <a:buNone/>
            </a:pPr>
            <a:r>
              <a:rPr b="1" lang="en" sz="1700">
                <a:solidFill>
                  <a:srgbClr val="273239"/>
                </a:solidFill>
                <a:highlight>
                  <a:srgbClr val="FFFFFF"/>
                </a:highlight>
              </a:rPr>
              <a:t>Insertion Sort</a:t>
            </a:r>
            <a:endParaRPr b="1" sz="1700">
              <a:solidFill>
                <a:srgbClr val="273239"/>
              </a:solidFill>
              <a:highlight>
                <a:srgbClr val="FFFFFF"/>
              </a:highlight>
            </a:endParaRPr>
          </a:p>
          <a:p>
            <a:pPr indent="0" lvl="0" marL="0" rtl="0" algn="l">
              <a:spcBef>
                <a:spcPts val="1200"/>
              </a:spcBef>
              <a:spcAft>
                <a:spcPts val="0"/>
              </a:spcAft>
              <a:buNone/>
            </a:pPr>
            <a:r>
              <a:rPr b="1" lang="en" sz="1700">
                <a:solidFill>
                  <a:srgbClr val="273239"/>
                </a:solidFill>
                <a:highlight>
                  <a:srgbClr val="FFFFFF"/>
                </a:highlight>
              </a:rPr>
              <a:t>Merge Sort</a:t>
            </a:r>
            <a:endParaRPr b="1" sz="1700">
              <a:solidFill>
                <a:srgbClr val="273239"/>
              </a:solidFill>
              <a:highlight>
                <a:srgbClr val="FFFFFF"/>
              </a:highlight>
            </a:endParaRPr>
          </a:p>
          <a:p>
            <a:pPr indent="0" lvl="0" marL="0" rtl="0" algn="l">
              <a:spcBef>
                <a:spcPts val="1200"/>
              </a:spcBef>
              <a:spcAft>
                <a:spcPts val="0"/>
              </a:spcAft>
              <a:buNone/>
            </a:pPr>
            <a:r>
              <a:rPr b="1" lang="en" sz="1700">
                <a:solidFill>
                  <a:srgbClr val="273239"/>
                </a:solidFill>
                <a:highlight>
                  <a:srgbClr val="FFFFFF"/>
                </a:highlight>
              </a:rPr>
              <a:t>Quick Sort</a:t>
            </a:r>
            <a:endParaRPr b="1" sz="1700">
              <a:solidFill>
                <a:srgbClr val="273239"/>
              </a:solidFill>
              <a:highlight>
                <a:srgbClr val="FFFFFF"/>
              </a:highlight>
            </a:endParaRPr>
          </a:p>
          <a:p>
            <a:pPr indent="0" lvl="0" marL="0" rtl="0" algn="l">
              <a:spcBef>
                <a:spcPts val="1200"/>
              </a:spcBef>
              <a:spcAft>
                <a:spcPts val="1200"/>
              </a:spcAft>
              <a:buNone/>
            </a:pPr>
            <a:r>
              <a:rPr b="1" lang="en" sz="1700">
                <a:solidFill>
                  <a:srgbClr val="273239"/>
                </a:solidFill>
                <a:highlight>
                  <a:srgbClr val="FFFFFF"/>
                </a:highlight>
              </a:rPr>
              <a:t>Heap Sort</a:t>
            </a:r>
            <a:endParaRPr b="1" sz="1700">
              <a:solidFill>
                <a:srgbClr val="273239"/>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970775" y="3441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273239"/>
                </a:solidFill>
                <a:highlight>
                  <a:srgbClr val="FFFFFF"/>
                </a:highlight>
              </a:rPr>
              <a:t> Bubble Sort</a:t>
            </a:r>
            <a:endParaRPr/>
          </a:p>
        </p:txBody>
      </p:sp>
      <p:sp>
        <p:nvSpPr>
          <p:cNvPr id="153" name="Google Shape;153;p17"/>
          <p:cNvSpPr txBox="1"/>
          <p:nvPr>
            <p:ph idx="1" type="body"/>
          </p:nvPr>
        </p:nvSpPr>
        <p:spPr>
          <a:xfrm>
            <a:off x="469250" y="1454225"/>
            <a:ext cx="8325000" cy="3135000"/>
          </a:xfrm>
          <a:prstGeom prst="rect">
            <a:avLst/>
          </a:prstGeom>
        </p:spPr>
        <p:txBody>
          <a:bodyPr anchorCtr="0" anchor="t" bIns="91425" lIns="91425" spcFirstLastPara="1" rIns="91425" wrap="square" tIns="91425">
            <a:normAutofit fontScale="32500"/>
          </a:bodyPr>
          <a:lstStyle/>
          <a:p>
            <a:pPr indent="0" lvl="0" marL="0" rtl="0" algn="l">
              <a:spcBef>
                <a:spcPts val="0"/>
              </a:spcBef>
              <a:spcAft>
                <a:spcPts val="0"/>
              </a:spcAft>
              <a:buNone/>
            </a:pPr>
            <a:r>
              <a:rPr lang="en" sz="4373">
                <a:solidFill>
                  <a:srgbClr val="273239"/>
                </a:solidFill>
                <a:highlight>
                  <a:srgbClr val="FFFFFF"/>
                </a:highlight>
                <a:latin typeface="Nunito"/>
                <a:ea typeface="Nunito"/>
                <a:cs typeface="Nunito"/>
                <a:sym typeface="Nunito"/>
              </a:rPr>
              <a:t>Bubble Sort is the simplest sorting algorithm that works by repeatedly swapping the adjacent elements if they are in the wrong order. </a:t>
            </a:r>
            <a:endParaRPr sz="4373">
              <a:solidFill>
                <a:srgbClr val="273239"/>
              </a:solidFill>
              <a:highlight>
                <a:srgbClr val="FFFFFF"/>
              </a:highlight>
              <a:latin typeface="Nunito"/>
              <a:ea typeface="Nunito"/>
              <a:cs typeface="Nunito"/>
              <a:sym typeface="Nunito"/>
            </a:endParaRPr>
          </a:p>
          <a:p>
            <a:pPr indent="-318849" lvl="0" marL="685800" rtl="0" algn="l">
              <a:lnSpc>
                <a:spcPct val="158000"/>
              </a:lnSpc>
              <a:spcBef>
                <a:spcPts val="800"/>
              </a:spcBef>
              <a:spcAft>
                <a:spcPts val="0"/>
              </a:spcAft>
              <a:buClr>
                <a:srgbClr val="273239"/>
              </a:buClr>
              <a:buSzPct val="100000"/>
              <a:buFont typeface="Nunito"/>
              <a:buChar char="●"/>
            </a:pPr>
            <a:r>
              <a:rPr lang="en" sz="4373">
                <a:solidFill>
                  <a:srgbClr val="273239"/>
                </a:solidFill>
                <a:highlight>
                  <a:srgbClr val="FFFFFF"/>
                </a:highlight>
                <a:latin typeface="Nunito"/>
                <a:ea typeface="Nunito"/>
                <a:cs typeface="Nunito"/>
                <a:sym typeface="Nunito"/>
              </a:rPr>
              <a:t>Bubble Sort algorithm, sorts an array by repeatedly comparing adjacent elements and swapping them if they are in the wrong order.</a:t>
            </a:r>
            <a:endParaRPr sz="4373">
              <a:solidFill>
                <a:srgbClr val="273239"/>
              </a:solidFill>
              <a:highlight>
                <a:srgbClr val="FFFFFF"/>
              </a:highlight>
              <a:latin typeface="Nunito"/>
              <a:ea typeface="Nunito"/>
              <a:cs typeface="Nunito"/>
              <a:sym typeface="Nunito"/>
            </a:endParaRPr>
          </a:p>
          <a:p>
            <a:pPr indent="-318849" lvl="0" marL="685800" rtl="0" algn="l">
              <a:lnSpc>
                <a:spcPct val="158000"/>
              </a:lnSpc>
              <a:spcBef>
                <a:spcPts val="0"/>
              </a:spcBef>
              <a:spcAft>
                <a:spcPts val="0"/>
              </a:spcAft>
              <a:buClr>
                <a:srgbClr val="273239"/>
              </a:buClr>
              <a:buSzPct val="100000"/>
              <a:buFont typeface="Nunito"/>
              <a:buChar char="●"/>
            </a:pPr>
            <a:r>
              <a:rPr lang="en" sz="4373">
                <a:solidFill>
                  <a:srgbClr val="273239"/>
                </a:solidFill>
                <a:highlight>
                  <a:srgbClr val="FFFFFF"/>
                </a:highlight>
                <a:latin typeface="Nunito"/>
                <a:ea typeface="Nunito"/>
                <a:cs typeface="Nunito"/>
                <a:sym typeface="Nunito"/>
              </a:rPr>
              <a:t>The algorithm iterates through the array multiple times, with each pass pushing the largest unsorted element to its correct position at the end.</a:t>
            </a:r>
            <a:endParaRPr sz="4373">
              <a:solidFill>
                <a:srgbClr val="273239"/>
              </a:solidFill>
              <a:highlight>
                <a:srgbClr val="FFFFFF"/>
              </a:highlight>
              <a:latin typeface="Nunito"/>
              <a:ea typeface="Nunito"/>
              <a:cs typeface="Nunito"/>
              <a:sym typeface="Nunito"/>
            </a:endParaRPr>
          </a:p>
          <a:p>
            <a:pPr indent="-318849" lvl="0" marL="685800" rtl="0" algn="l">
              <a:lnSpc>
                <a:spcPct val="158000"/>
              </a:lnSpc>
              <a:spcBef>
                <a:spcPts val="0"/>
              </a:spcBef>
              <a:spcAft>
                <a:spcPts val="0"/>
              </a:spcAft>
              <a:buClr>
                <a:srgbClr val="273239"/>
              </a:buClr>
              <a:buSzPct val="100000"/>
              <a:buFont typeface="Nunito"/>
              <a:buChar char="●"/>
            </a:pPr>
            <a:r>
              <a:rPr lang="en" sz="4373">
                <a:solidFill>
                  <a:srgbClr val="273239"/>
                </a:solidFill>
                <a:highlight>
                  <a:srgbClr val="FFFFFF"/>
                </a:highlight>
                <a:latin typeface="Nunito"/>
                <a:ea typeface="Nunito"/>
                <a:cs typeface="Nunito"/>
                <a:sym typeface="Nunito"/>
              </a:rPr>
              <a:t>Code includes an optimization: if no swaps are made during a pass, the array is already sorted, and the sorting process stops.</a:t>
            </a:r>
            <a:endParaRPr sz="4373">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8"/>
          <p:cNvPicPr preferRelativeResize="0"/>
          <p:nvPr/>
        </p:nvPicPr>
        <p:blipFill>
          <a:blip r:embed="rId3">
            <a:alphaModFix/>
          </a:blip>
          <a:stretch>
            <a:fillRect/>
          </a:stretch>
        </p:blipFill>
        <p:spPr>
          <a:xfrm>
            <a:off x="614363" y="600075"/>
            <a:ext cx="7915275" cy="3943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9"/>
          <p:cNvPicPr preferRelativeResize="0"/>
          <p:nvPr/>
        </p:nvPicPr>
        <p:blipFill>
          <a:blip r:embed="rId3">
            <a:alphaModFix/>
          </a:blip>
          <a:stretch>
            <a:fillRect/>
          </a:stretch>
        </p:blipFill>
        <p:spPr>
          <a:xfrm>
            <a:off x="327350" y="657225"/>
            <a:ext cx="8048625" cy="3829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0"/>
          <p:cNvPicPr preferRelativeResize="0"/>
          <p:nvPr/>
        </p:nvPicPr>
        <p:blipFill>
          <a:blip r:embed="rId3">
            <a:alphaModFix/>
          </a:blip>
          <a:stretch>
            <a:fillRect/>
          </a:stretch>
        </p:blipFill>
        <p:spPr>
          <a:xfrm>
            <a:off x="583925" y="828875"/>
            <a:ext cx="8239125" cy="377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nvSpPr>
        <p:spPr>
          <a:xfrm>
            <a:off x="970550" y="825400"/>
            <a:ext cx="7527900" cy="347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mylist = [</a:t>
            </a:r>
            <a:r>
              <a:rPr lang="en" sz="1650">
                <a:solidFill>
                  <a:srgbClr val="990055"/>
                </a:solidFill>
                <a:highlight>
                  <a:srgbClr val="FFFFFF"/>
                </a:highlight>
                <a:latin typeface="Courier New"/>
                <a:ea typeface="Courier New"/>
                <a:cs typeface="Courier New"/>
                <a:sym typeface="Courier New"/>
              </a:rPr>
              <a:t>7</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3</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9</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12</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11</a:t>
            </a:r>
            <a:r>
              <a:rPr lang="en" sz="1650">
                <a:highlight>
                  <a:srgbClr val="FFFFFF"/>
                </a:highlight>
                <a:latin typeface="Courier New"/>
                <a:ea typeface="Courier New"/>
                <a:cs typeface="Courier New"/>
                <a:sym typeface="Courier New"/>
              </a:rPr>
              <a: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n = </a:t>
            </a:r>
            <a:r>
              <a:rPr lang="en" sz="1650">
                <a:solidFill>
                  <a:srgbClr val="005CC5"/>
                </a:solidFill>
                <a:highlight>
                  <a:srgbClr val="FFFFFF"/>
                </a:highlight>
                <a:latin typeface="Courier New"/>
                <a:ea typeface="Courier New"/>
                <a:cs typeface="Courier New"/>
                <a:sym typeface="Courier New"/>
              </a:rPr>
              <a:t>len</a:t>
            </a:r>
            <a:r>
              <a:rPr lang="en" sz="1650">
                <a:highlight>
                  <a:srgbClr val="FFFFFF"/>
                </a:highlight>
                <a:latin typeface="Courier New"/>
                <a:ea typeface="Courier New"/>
                <a:cs typeface="Courier New"/>
                <a:sym typeface="Courier New"/>
              </a:rPr>
              <a:t>(mylist)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solidFill>
                  <a:srgbClr val="005CC5"/>
                </a:solidFill>
                <a:highlight>
                  <a:srgbClr val="FFFFFF"/>
                </a:highlight>
                <a:latin typeface="Courier New"/>
                <a:ea typeface="Courier New"/>
                <a:cs typeface="Courier New"/>
                <a:sym typeface="Courier New"/>
              </a:rPr>
              <a:t>for</a:t>
            </a:r>
            <a:r>
              <a:rPr lang="en" sz="1650">
                <a:highlight>
                  <a:srgbClr val="FFFFFF"/>
                </a:highlight>
                <a:latin typeface="Courier New"/>
                <a:ea typeface="Courier New"/>
                <a:cs typeface="Courier New"/>
                <a:sym typeface="Courier New"/>
              </a:rPr>
              <a:t> i </a:t>
            </a:r>
            <a:r>
              <a:rPr lang="en" sz="1650">
                <a:solidFill>
                  <a:srgbClr val="005CC5"/>
                </a:solidFill>
                <a:highlight>
                  <a:srgbClr val="FFFFFF"/>
                </a:highlight>
                <a:latin typeface="Courier New"/>
                <a:ea typeface="Courier New"/>
                <a:cs typeface="Courier New"/>
                <a:sym typeface="Courier New"/>
              </a:rPr>
              <a:t>in</a:t>
            </a: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range</a:t>
            </a:r>
            <a:r>
              <a:rPr lang="en" sz="1650">
                <a:highlight>
                  <a:srgbClr val="FFFFFF"/>
                </a:highlight>
                <a:latin typeface="Courier New"/>
                <a:ea typeface="Courier New"/>
                <a:cs typeface="Courier New"/>
                <a:sym typeface="Courier New"/>
              </a:rPr>
              <a:t>(n-</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swapped = </a:t>
            </a:r>
            <a:r>
              <a:rPr lang="en" sz="1650">
                <a:solidFill>
                  <a:srgbClr val="005CC5"/>
                </a:solidFill>
                <a:highlight>
                  <a:srgbClr val="FFFFFF"/>
                </a:highlight>
                <a:latin typeface="Courier New"/>
                <a:ea typeface="Courier New"/>
                <a:cs typeface="Courier New"/>
                <a:sym typeface="Courier New"/>
              </a:rPr>
              <a:t>False</a:t>
            </a:r>
            <a:endParaRPr sz="1650">
              <a:solidFill>
                <a:srgbClr val="005CC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for</a:t>
            </a:r>
            <a:r>
              <a:rPr lang="en" sz="1650">
                <a:highlight>
                  <a:srgbClr val="FFFFFF"/>
                </a:highlight>
                <a:latin typeface="Courier New"/>
                <a:ea typeface="Courier New"/>
                <a:cs typeface="Courier New"/>
                <a:sym typeface="Courier New"/>
              </a:rPr>
              <a:t> j </a:t>
            </a:r>
            <a:r>
              <a:rPr lang="en" sz="1650">
                <a:solidFill>
                  <a:srgbClr val="005CC5"/>
                </a:solidFill>
                <a:highlight>
                  <a:srgbClr val="FFFFFF"/>
                </a:highlight>
                <a:latin typeface="Courier New"/>
                <a:ea typeface="Courier New"/>
                <a:cs typeface="Courier New"/>
                <a:sym typeface="Courier New"/>
              </a:rPr>
              <a:t>in</a:t>
            </a: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range</a:t>
            </a:r>
            <a:r>
              <a:rPr lang="en" sz="1650">
                <a:highlight>
                  <a:srgbClr val="FFFFFF"/>
                </a:highlight>
                <a:latin typeface="Courier New"/>
                <a:ea typeface="Courier New"/>
                <a:cs typeface="Courier New"/>
                <a:sym typeface="Courier New"/>
              </a:rPr>
              <a:t>(n-i-</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if</a:t>
            </a:r>
            <a:r>
              <a:rPr lang="en" sz="1650">
                <a:highlight>
                  <a:srgbClr val="FFFFFF"/>
                </a:highlight>
                <a:latin typeface="Courier New"/>
                <a:ea typeface="Courier New"/>
                <a:cs typeface="Courier New"/>
                <a:sym typeface="Courier New"/>
              </a:rPr>
              <a:t> mylist[j] &gt; mylist[j+</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mylist[j], mylist[j+</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 = mylist[j+</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 mylist[j]</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swapped = </a:t>
            </a:r>
            <a:r>
              <a:rPr lang="en" sz="1650">
                <a:solidFill>
                  <a:srgbClr val="005CC5"/>
                </a:solidFill>
                <a:highlight>
                  <a:srgbClr val="FFFFFF"/>
                </a:highlight>
                <a:latin typeface="Courier New"/>
                <a:ea typeface="Courier New"/>
                <a:cs typeface="Courier New"/>
                <a:sym typeface="Courier New"/>
              </a:rPr>
              <a:t>True</a:t>
            </a:r>
            <a:endParaRPr sz="1650">
              <a:solidFill>
                <a:srgbClr val="005CC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if</a:t>
            </a:r>
            <a:r>
              <a:rPr lang="en" sz="1650">
                <a:highlight>
                  <a:srgbClr val="FFFFFF"/>
                </a:highlight>
                <a:latin typeface="Courier New"/>
                <a:ea typeface="Courier New"/>
                <a:cs typeface="Courier New"/>
                <a:sym typeface="Courier New"/>
              </a:rPr>
              <a:t> not swapped:</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break</a:t>
            </a:r>
            <a:endParaRPr sz="1650">
              <a:solidFill>
                <a:srgbClr val="005CC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50">
                <a:solidFill>
                  <a:srgbClr val="005CC5"/>
                </a:solidFill>
                <a:highlight>
                  <a:srgbClr val="FFFFFF"/>
                </a:highlight>
                <a:latin typeface="Courier New"/>
                <a:ea typeface="Courier New"/>
                <a:cs typeface="Courier New"/>
                <a:sym typeface="Courier New"/>
              </a:rPr>
              <a:t>print</a:t>
            </a:r>
            <a:r>
              <a:rPr lang="en" sz="1650">
                <a:highlight>
                  <a:srgbClr val="FFFFFF"/>
                </a:highlight>
                <a:latin typeface="Courier New"/>
                <a:ea typeface="Courier New"/>
                <a:cs typeface="Courier New"/>
                <a:sym typeface="Courier New"/>
              </a:rPr>
              <a:t>(mylist)</a:t>
            </a:r>
            <a:endParaRPr b="1" sz="2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Big O Notation </a:t>
            </a:r>
            <a:endParaRPr/>
          </a:p>
        </p:txBody>
      </p:sp>
      <p:sp>
        <p:nvSpPr>
          <p:cNvPr id="179" name="Google Shape;179;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50">
                <a:solidFill>
                  <a:srgbClr val="273239"/>
                </a:solidFill>
                <a:highlight>
                  <a:srgbClr val="FFFFFF"/>
                </a:highlight>
                <a:latin typeface="Nunito"/>
                <a:ea typeface="Nunito"/>
                <a:cs typeface="Nunito"/>
                <a:sym typeface="Nunito"/>
              </a:rPr>
              <a:t>Time Complexity</a:t>
            </a:r>
            <a:r>
              <a:rPr lang="en" sz="1350">
                <a:solidFill>
                  <a:srgbClr val="273239"/>
                </a:solidFill>
                <a:highlight>
                  <a:srgbClr val="FFFFFF"/>
                </a:highlight>
                <a:latin typeface="Nunito"/>
                <a:ea typeface="Nunito"/>
                <a:cs typeface="Nunito"/>
                <a:sym typeface="Nunito"/>
              </a:rPr>
              <a:t>:  O(n</a:t>
            </a:r>
            <a:r>
              <a:rPr lang="en" sz="1000">
                <a:solidFill>
                  <a:srgbClr val="273239"/>
                </a:solidFill>
                <a:highlight>
                  <a:srgbClr val="FFFFFF"/>
                </a:highlight>
                <a:latin typeface="Nunito"/>
                <a:ea typeface="Nunito"/>
                <a:cs typeface="Nunito"/>
                <a:sym typeface="Nunito"/>
              </a:rPr>
              <a:t>2</a:t>
            </a:r>
            <a:r>
              <a:rPr lang="en" sz="1350">
                <a:solidFill>
                  <a:srgbClr val="273239"/>
                </a:solidFill>
                <a:highlight>
                  <a:srgbClr val="FFFFFF"/>
                </a:highlight>
                <a:latin typeface="Nunito"/>
                <a:ea typeface="Nunito"/>
                <a:cs typeface="Nunito"/>
                <a:sym typeface="Nunito"/>
              </a:rPr>
              <a:t>). However in practice, this optimized version might take less time as when array gets sorted, function would return.</a:t>
            </a:r>
            <a:endParaRPr sz="1350">
              <a:solidFill>
                <a:srgbClr val="273239"/>
              </a:solidFill>
              <a:highlight>
                <a:srgbClr val="FFFFFF"/>
              </a:highlight>
              <a:latin typeface="Nunito"/>
              <a:ea typeface="Nunito"/>
              <a:cs typeface="Nunito"/>
              <a:sym typeface="Nunito"/>
            </a:endParaRPr>
          </a:p>
          <a:p>
            <a:pPr indent="0" lvl="0" marL="0" rtl="0" algn="l">
              <a:spcBef>
                <a:spcPts val="1200"/>
              </a:spcBef>
              <a:spcAft>
                <a:spcPts val="1200"/>
              </a:spcAft>
              <a:buNone/>
            </a:pPr>
            <a:r>
              <a:rPr b="1" lang="en" sz="1350">
                <a:solidFill>
                  <a:srgbClr val="273239"/>
                </a:solidFill>
                <a:highlight>
                  <a:srgbClr val="FFFFFF"/>
                </a:highlight>
                <a:latin typeface="Nunito"/>
                <a:ea typeface="Nunito"/>
                <a:cs typeface="Nunito"/>
                <a:sym typeface="Nunito"/>
              </a:rPr>
              <a:t>Auxiliary Space</a:t>
            </a:r>
            <a:r>
              <a:rPr lang="en" sz="1350">
                <a:solidFill>
                  <a:srgbClr val="273239"/>
                </a:solidFill>
                <a:highlight>
                  <a:srgbClr val="FFFFFF"/>
                </a:highlight>
                <a:latin typeface="Nunito"/>
                <a:ea typeface="Nunito"/>
                <a:cs typeface="Nunito"/>
                <a:sym typeface="Nunito"/>
              </a:rPr>
              <a:t>: O(1).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SELECTION SORT</a:t>
            </a:r>
            <a:endParaRPr/>
          </a:p>
        </p:txBody>
      </p:sp>
      <p:sp>
        <p:nvSpPr>
          <p:cNvPr id="185" name="Google Shape;185;p23"/>
          <p:cNvSpPr txBox="1"/>
          <p:nvPr>
            <p:ph idx="1" type="body"/>
          </p:nvPr>
        </p:nvSpPr>
        <p:spPr>
          <a:xfrm>
            <a:off x="702600" y="1650200"/>
            <a:ext cx="7622400" cy="27885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b="1" lang="en" sz="1350">
                <a:solidFill>
                  <a:srgbClr val="273239"/>
                </a:solidFill>
                <a:highlight>
                  <a:srgbClr val="FFFFFF"/>
                </a:highlight>
                <a:latin typeface="Nunito"/>
                <a:ea typeface="Nunito"/>
                <a:cs typeface="Nunito"/>
                <a:sym typeface="Nunito"/>
              </a:rPr>
              <a:t>Selection Sort</a:t>
            </a:r>
            <a:r>
              <a:rPr lang="en" sz="1350">
                <a:solidFill>
                  <a:srgbClr val="273239"/>
                </a:solidFill>
                <a:highlight>
                  <a:srgbClr val="FFFFFF"/>
                </a:highlight>
                <a:latin typeface="Nunito"/>
                <a:ea typeface="Nunito"/>
                <a:cs typeface="Nunito"/>
                <a:sym typeface="Nunito"/>
              </a:rPr>
              <a:t> is a comparison-based sorting algorithm. It sorts an array by repeatedly selecting the </a:t>
            </a:r>
            <a:r>
              <a:rPr b="1" lang="en" sz="1350">
                <a:solidFill>
                  <a:srgbClr val="273239"/>
                </a:solidFill>
                <a:highlight>
                  <a:srgbClr val="FFFFFF"/>
                </a:highlight>
                <a:latin typeface="Nunito"/>
                <a:ea typeface="Nunito"/>
                <a:cs typeface="Nunito"/>
                <a:sym typeface="Nunito"/>
              </a:rPr>
              <a:t>smallest (or largest)</a:t>
            </a:r>
            <a:r>
              <a:rPr lang="en" sz="1350">
                <a:solidFill>
                  <a:srgbClr val="273239"/>
                </a:solidFill>
                <a:highlight>
                  <a:srgbClr val="FFFFFF"/>
                </a:highlight>
                <a:latin typeface="Nunito"/>
                <a:ea typeface="Nunito"/>
                <a:cs typeface="Nunito"/>
                <a:sym typeface="Nunito"/>
              </a:rPr>
              <a:t> element from the unsorted portion and swapping it with the first unsorted element. This process continues until the entire array is sorted.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First we find the smallest element and swap it with the first element. This way we get the smallest element at its correct position.</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Then we find the smallest among remaining elements (or second smallest) and swap it with the second element.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We keep doing this until we get all elements moved to correct position.</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4"/>
          <p:cNvPicPr preferRelativeResize="0"/>
          <p:nvPr/>
        </p:nvPicPr>
        <p:blipFill>
          <a:blip r:embed="rId3">
            <a:alphaModFix/>
          </a:blip>
          <a:stretch>
            <a:fillRect/>
          </a:stretch>
        </p:blipFill>
        <p:spPr>
          <a:xfrm>
            <a:off x="209550" y="374000"/>
            <a:ext cx="8724900" cy="422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5"/>
          <p:cNvPicPr preferRelativeResize="0"/>
          <p:nvPr/>
        </p:nvPicPr>
        <p:blipFill>
          <a:blip r:embed="rId3">
            <a:alphaModFix/>
          </a:blip>
          <a:stretch>
            <a:fillRect/>
          </a:stretch>
        </p:blipFill>
        <p:spPr>
          <a:xfrm>
            <a:off x="374000" y="537300"/>
            <a:ext cx="8277225" cy="4171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6"/>
          <p:cNvPicPr preferRelativeResize="0"/>
          <p:nvPr/>
        </p:nvPicPr>
        <p:blipFill>
          <a:blip r:embed="rId3">
            <a:alphaModFix/>
          </a:blip>
          <a:stretch>
            <a:fillRect/>
          </a:stretch>
        </p:blipFill>
        <p:spPr>
          <a:xfrm>
            <a:off x="333375" y="420675"/>
            <a:ext cx="8477250" cy="4438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7"/>
          <p:cNvPicPr preferRelativeResize="0"/>
          <p:nvPr/>
        </p:nvPicPr>
        <p:blipFill>
          <a:blip r:embed="rId3">
            <a:alphaModFix/>
          </a:blip>
          <a:stretch>
            <a:fillRect/>
          </a:stretch>
        </p:blipFill>
        <p:spPr>
          <a:xfrm>
            <a:off x="304800" y="371475"/>
            <a:ext cx="8534400" cy="4400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8"/>
          <p:cNvPicPr preferRelativeResize="0"/>
          <p:nvPr/>
        </p:nvPicPr>
        <p:blipFill>
          <a:blip r:embed="rId3">
            <a:alphaModFix/>
          </a:blip>
          <a:stretch>
            <a:fillRect/>
          </a:stretch>
        </p:blipFill>
        <p:spPr>
          <a:xfrm>
            <a:off x="247650" y="404813"/>
            <a:ext cx="8648700" cy="433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9"/>
          <p:cNvPicPr preferRelativeResize="0"/>
          <p:nvPr/>
        </p:nvPicPr>
        <p:blipFill>
          <a:blip r:embed="rId3">
            <a:alphaModFix/>
          </a:blip>
          <a:stretch>
            <a:fillRect/>
          </a:stretch>
        </p:blipFill>
        <p:spPr>
          <a:xfrm>
            <a:off x="245725" y="280700"/>
            <a:ext cx="8486775" cy="4362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nvSpPr>
        <p:spPr>
          <a:xfrm>
            <a:off x="405000" y="1146400"/>
            <a:ext cx="8299800" cy="30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mylist = [</a:t>
            </a:r>
            <a:r>
              <a:rPr lang="en" sz="1650">
                <a:solidFill>
                  <a:srgbClr val="990055"/>
                </a:solidFill>
                <a:highlight>
                  <a:srgbClr val="FFFFFF"/>
                </a:highlight>
                <a:latin typeface="Courier New"/>
                <a:ea typeface="Courier New"/>
                <a:cs typeface="Courier New"/>
                <a:sym typeface="Courier New"/>
              </a:rPr>
              <a:t>64</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34</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25</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12</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22</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11</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90</a:t>
            </a:r>
            <a:r>
              <a:rPr lang="en" sz="1650">
                <a:highlight>
                  <a:srgbClr val="FFFFFF"/>
                </a:highlight>
                <a:latin typeface="Courier New"/>
                <a:ea typeface="Courier New"/>
                <a:cs typeface="Courier New"/>
                <a:sym typeface="Courier New"/>
              </a:rPr>
              <a:t>, </a:t>
            </a:r>
            <a:r>
              <a:rPr lang="en" sz="1650">
                <a:solidFill>
                  <a:srgbClr val="990055"/>
                </a:solidFill>
                <a:highlight>
                  <a:srgbClr val="FFFFFF"/>
                </a:highlight>
                <a:latin typeface="Courier New"/>
                <a:ea typeface="Courier New"/>
                <a:cs typeface="Courier New"/>
                <a:sym typeface="Courier New"/>
              </a:rPr>
              <a:t>5</a:t>
            </a:r>
            <a:r>
              <a:rPr lang="en" sz="1650">
                <a:highlight>
                  <a:srgbClr val="FFFFFF"/>
                </a:highlight>
                <a:latin typeface="Courier New"/>
                <a:ea typeface="Courier New"/>
                <a:cs typeface="Courier New"/>
                <a:sym typeface="Courier New"/>
              </a:rPr>
              <a: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800"/>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n = </a:t>
            </a:r>
            <a:r>
              <a:rPr lang="en" sz="1650">
                <a:solidFill>
                  <a:srgbClr val="005CC5"/>
                </a:solidFill>
                <a:highlight>
                  <a:srgbClr val="FFFFFF"/>
                </a:highlight>
                <a:latin typeface="Courier New"/>
                <a:ea typeface="Courier New"/>
                <a:cs typeface="Courier New"/>
                <a:sym typeface="Courier New"/>
              </a:rPr>
              <a:t>len</a:t>
            </a:r>
            <a:r>
              <a:rPr lang="en" sz="1650">
                <a:highlight>
                  <a:srgbClr val="FFFFFF"/>
                </a:highlight>
                <a:latin typeface="Courier New"/>
                <a:ea typeface="Courier New"/>
                <a:cs typeface="Courier New"/>
                <a:sym typeface="Courier New"/>
              </a:rPr>
              <a:t>(mylist)</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solidFill>
                  <a:srgbClr val="005CC5"/>
                </a:solidFill>
                <a:highlight>
                  <a:srgbClr val="FFFFFF"/>
                </a:highlight>
                <a:latin typeface="Courier New"/>
                <a:ea typeface="Courier New"/>
                <a:cs typeface="Courier New"/>
                <a:sym typeface="Courier New"/>
              </a:rPr>
              <a:t>for</a:t>
            </a:r>
            <a:r>
              <a:rPr lang="en" sz="1650">
                <a:highlight>
                  <a:srgbClr val="FFFFFF"/>
                </a:highlight>
                <a:latin typeface="Courier New"/>
                <a:ea typeface="Courier New"/>
                <a:cs typeface="Courier New"/>
                <a:sym typeface="Courier New"/>
              </a:rPr>
              <a:t> i </a:t>
            </a:r>
            <a:r>
              <a:rPr lang="en" sz="1650">
                <a:solidFill>
                  <a:srgbClr val="005CC5"/>
                </a:solidFill>
                <a:highlight>
                  <a:srgbClr val="FFFFFF"/>
                </a:highlight>
                <a:latin typeface="Courier New"/>
                <a:ea typeface="Courier New"/>
                <a:cs typeface="Courier New"/>
                <a:sym typeface="Courier New"/>
              </a:rPr>
              <a:t>in</a:t>
            </a: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range</a:t>
            </a:r>
            <a:r>
              <a:rPr lang="en" sz="1650">
                <a:highlight>
                  <a:srgbClr val="FFFFFF"/>
                </a:highlight>
                <a:latin typeface="Courier New"/>
                <a:ea typeface="Courier New"/>
                <a:cs typeface="Courier New"/>
                <a:sym typeface="Courier New"/>
              </a:rPr>
              <a:t>(n):</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min_index = i</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for</a:t>
            </a:r>
            <a:r>
              <a:rPr lang="en" sz="1650">
                <a:highlight>
                  <a:srgbClr val="FFFFFF"/>
                </a:highlight>
                <a:latin typeface="Courier New"/>
                <a:ea typeface="Courier New"/>
                <a:cs typeface="Courier New"/>
                <a:sym typeface="Courier New"/>
              </a:rPr>
              <a:t> j </a:t>
            </a:r>
            <a:r>
              <a:rPr lang="en" sz="1650">
                <a:solidFill>
                  <a:srgbClr val="005CC5"/>
                </a:solidFill>
                <a:highlight>
                  <a:srgbClr val="FFFFFF"/>
                </a:highlight>
                <a:latin typeface="Courier New"/>
                <a:ea typeface="Courier New"/>
                <a:cs typeface="Courier New"/>
                <a:sym typeface="Courier New"/>
              </a:rPr>
              <a:t>in</a:t>
            </a: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range</a:t>
            </a:r>
            <a:r>
              <a:rPr lang="en" sz="1650">
                <a:highlight>
                  <a:srgbClr val="FFFFFF"/>
                </a:highlight>
                <a:latin typeface="Courier New"/>
                <a:ea typeface="Courier New"/>
                <a:cs typeface="Courier New"/>
                <a:sym typeface="Courier New"/>
              </a:rPr>
              <a:t>(i+</a:t>
            </a:r>
            <a:r>
              <a:rPr lang="en" sz="1650">
                <a:solidFill>
                  <a:srgbClr val="990055"/>
                </a:solidFill>
                <a:highlight>
                  <a:srgbClr val="FFFFFF"/>
                </a:highlight>
                <a:latin typeface="Courier New"/>
                <a:ea typeface="Courier New"/>
                <a:cs typeface="Courier New"/>
                <a:sym typeface="Courier New"/>
              </a:rPr>
              <a:t>1</a:t>
            </a:r>
            <a:r>
              <a:rPr lang="en" sz="1650">
                <a:highlight>
                  <a:srgbClr val="FFFFFF"/>
                </a:highlight>
                <a:latin typeface="Courier New"/>
                <a:ea typeface="Courier New"/>
                <a:cs typeface="Courier New"/>
                <a:sym typeface="Courier New"/>
              </a:rPr>
              <a:t>, n):</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a:t>
            </a:r>
            <a:r>
              <a:rPr lang="en" sz="1650">
                <a:solidFill>
                  <a:srgbClr val="005CC5"/>
                </a:solidFill>
                <a:highlight>
                  <a:srgbClr val="FFFFFF"/>
                </a:highlight>
                <a:latin typeface="Courier New"/>
                <a:ea typeface="Courier New"/>
                <a:cs typeface="Courier New"/>
                <a:sym typeface="Courier New"/>
              </a:rPr>
              <a:t>if</a:t>
            </a:r>
            <a:r>
              <a:rPr lang="en" sz="1650">
                <a:highlight>
                  <a:srgbClr val="FFFFFF"/>
                </a:highlight>
                <a:latin typeface="Courier New"/>
                <a:ea typeface="Courier New"/>
                <a:cs typeface="Courier New"/>
                <a:sym typeface="Courier New"/>
              </a:rPr>
              <a:t> mylist[j] &lt; mylist[min_index]:</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min_index = j</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650">
                <a:highlight>
                  <a:srgbClr val="FFFFFF"/>
                </a:highlight>
                <a:latin typeface="Courier New"/>
                <a:ea typeface="Courier New"/>
                <a:cs typeface="Courier New"/>
                <a:sym typeface="Courier New"/>
              </a:rPr>
              <a:t>  mylist[i], mylist[min_index] = mylist[min_index], mylist[i]</a:t>
            </a:r>
            <a:endParaRPr sz="165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800"/>
          </a:p>
          <a:p>
            <a:pPr indent="0" lvl="0" marL="0" rtl="0" algn="l">
              <a:spcBef>
                <a:spcPts val="0"/>
              </a:spcBef>
              <a:spcAft>
                <a:spcPts val="0"/>
              </a:spcAft>
              <a:buNone/>
            </a:pPr>
            <a:r>
              <a:rPr lang="en" sz="1650">
                <a:solidFill>
                  <a:srgbClr val="005CC5"/>
                </a:solidFill>
                <a:highlight>
                  <a:srgbClr val="FFFFFF"/>
                </a:highlight>
                <a:latin typeface="Courier New"/>
                <a:ea typeface="Courier New"/>
                <a:cs typeface="Courier New"/>
                <a:sym typeface="Courier New"/>
              </a:rPr>
              <a:t>print</a:t>
            </a:r>
            <a:r>
              <a:rPr lang="en" sz="1650">
                <a:highlight>
                  <a:srgbClr val="FFFFFF"/>
                </a:highlight>
                <a:latin typeface="Courier New"/>
                <a:ea typeface="Courier New"/>
                <a:cs typeface="Courier New"/>
                <a:sym typeface="Courier New"/>
              </a:rPr>
              <a:t>(mylist)</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nvSpPr>
        <p:spPr>
          <a:xfrm>
            <a:off x="1026350" y="991375"/>
            <a:ext cx="3000000" cy="73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50">
                <a:solidFill>
                  <a:srgbClr val="273239"/>
                </a:solidFill>
                <a:highlight>
                  <a:srgbClr val="FFFFFF"/>
                </a:highlight>
                <a:latin typeface="Nunito"/>
                <a:ea typeface="Nunito"/>
                <a:cs typeface="Nunito"/>
                <a:sym typeface="Nunito"/>
              </a:rPr>
              <a:t>Time Complexity</a:t>
            </a:r>
            <a:r>
              <a:rPr lang="en" sz="1350">
                <a:solidFill>
                  <a:srgbClr val="273239"/>
                </a:solidFill>
                <a:highlight>
                  <a:srgbClr val="FFFFFF"/>
                </a:highlight>
                <a:latin typeface="Nunito"/>
                <a:ea typeface="Nunito"/>
                <a:cs typeface="Nunito"/>
                <a:sym typeface="Nunito"/>
              </a:rPr>
              <a:t>:  O(n</a:t>
            </a:r>
            <a:r>
              <a:rPr lang="en" sz="1000">
                <a:solidFill>
                  <a:srgbClr val="273239"/>
                </a:solidFill>
                <a:highlight>
                  <a:srgbClr val="FFFFFF"/>
                </a:highlight>
                <a:latin typeface="Nunito"/>
                <a:ea typeface="Nunito"/>
                <a:cs typeface="Nunito"/>
                <a:sym typeface="Nunito"/>
              </a:rPr>
              <a:t>2</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800"/>
              </a:spcAft>
              <a:buNone/>
            </a:pPr>
            <a:r>
              <a:rPr b="1" lang="en" sz="1350">
                <a:solidFill>
                  <a:srgbClr val="273239"/>
                </a:solidFill>
                <a:highlight>
                  <a:srgbClr val="FFFFFF"/>
                </a:highlight>
                <a:latin typeface="Nunito"/>
                <a:ea typeface="Nunito"/>
                <a:cs typeface="Nunito"/>
                <a:sym typeface="Nunito"/>
              </a:rPr>
              <a:t>Auxiliary Space</a:t>
            </a:r>
            <a:r>
              <a:rPr lang="en" sz="1350">
                <a:solidFill>
                  <a:srgbClr val="273239"/>
                </a:solidFill>
                <a:highlight>
                  <a:srgbClr val="FFFFFF"/>
                </a:highlight>
                <a:latin typeface="Nunito"/>
                <a:ea typeface="Nunito"/>
                <a:cs typeface="Nunito"/>
                <a:sym typeface="Nunito"/>
              </a:rPr>
              <a:t>: O(1).</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Insertion Sorting </a:t>
            </a:r>
            <a:endParaRPr/>
          </a:p>
        </p:txBody>
      </p:sp>
      <p:sp>
        <p:nvSpPr>
          <p:cNvPr id="231" name="Google Shape;231;p32"/>
          <p:cNvSpPr txBox="1"/>
          <p:nvPr>
            <p:ph idx="1" type="body"/>
          </p:nvPr>
        </p:nvSpPr>
        <p:spPr>
          <a:xfrm>
            <a:off x="819150" y="1929600"/>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0000"/>
                </a:solidFill>
                <a:highlight>
                  <a:srgbClr val="FFFFFF"/>
                </a:highlight>
                <a:latin typeface="Arial"/>
                <a:ea typeface="Arial"/>
                <a:cs typeface="Arial"/>
                <a:sym typeface="Arial"/>
              </a:rPr>
              <a:t>The Insertion Sort algorithm uses one part of the array to hold the sorted values, and the other part of the array to hold values that are not sorted yet.</a:t>
            </a:r>
            <a:endParaRPr sz="2000">
              <a:solidFill>
                <a:srgbClr val="000000"/>
              </a:solidFill>
              <a:highlight>
                <a:srgbClr val="FFFFFF"/>
              </a:highlight>
              <a:latin typeface="Arial"/>
              <a:ea typeface="Arial"/>
              <a:cs typeface="Arial"/>
              <a:sym typeface="Arial"/>
            </a:endParaRPr>
          </a:p>
          <a:p>
            <a:pPr indent="0" lvl="0" marL="0" rtl="0" algn="l">
              <a:spcBef>
                <a:spcPts val="1200"/>
              </a:spcBef>
              <a:spcAft>
                <a:spcPts val="1200"/>
              </a:spcAft>
              <a:buNone/>
            </a:pPr>
            <a:r>
              <a:rPr lang="en" sz="2000">
                <a:solidFill>
                  <a:srgbClr val="000000"/>
                </a:solidFill>
                <a:highlight>
                  <a:srgbClr val="FFFFFF"/>
                </a:highlight>
                <a:latin typeface="Arial"/>
                <a:ea typeface="Arial"/>
                <a:cs typeface="Arial"/>
                <a:sym typeface="Arial"/>
              </a:rPr>
              <a:t>The algorithm takes one value at a time from the unsorted part of the array and puts it into the right place in the sorted part of the array, until the array is sorted.</a:t>
            </a:r>
            <a:endParaRPr sz="2000">
              <a:solidFill>
                <a:srgbClr val="000000"/>
              </a:solidFill>
              <a:highlight>
                <a:srgbClr val="FFFFFF"/>
              </a:highlight>
              <a:latin typeface="Arial"/>
              <a:ea typeface="Arial"/>
              <a:cs typeface="Arial"/>
              <a:sym typeface="Arial"/>
            </a:endParaRPr>
          </a:p>
        </p:txBody>
      </p:sp>
      <p:pic>
        <p:nvPicPr>
          <p:cNvPr id="232" name="Google Shape;232;p32"/>
          <p:cNvPicPr preferRelativeResize="0"/>
          <p:nvPr/>
        </p:nvPicPr>
        <p:blipFill>
          <a:blip r:embed="rId3">
            <a:alphaModFix/>
          </a:blip>
          <a:stretch>
            <a:fillRect/>
          </a:stretch>
        </p:blipFill>
        <p:spPr>
          <a:xfrm>
            <a:off x="6357999" y="390925"/>
            <a:ext cx="2323975" cy="1489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3"/>
          <p:cNvPicPr preferRelativeResize="0"/>
          <p:nvPr/>
        </p:nvPicPr>
        <p:blipFill>
          <a:blip r:embed="rId3">
            <a:alphaModFix/>
          </a:blip>
          <a:stretch>
            <a:fillRect/>
          </a:stretch>
        </p:blipFill>
        <p:spPr>
          <a:xfrm>
            <a:off x="636700" y="494750"/>
            <a:ext cx="7204224" cy="1615775"/>
          </a:xfrm>
          <a:prstGeom prst="rect">
            <a:avLst/>
          </a:prstGeom>
          <a:noFill/>
          <a:ln>
            <a:noFill/>
          </a:ln>
        </p:spPr>
      </p:pic>
      <p:sp>
        <p:nvSpPr>
          <p:cNvPr id="238" name="Google Shape;238;p33"/>
          <p:cNvSpPr txBox="1"/>
          <p:nvPr/>
        </p:nvSpPr>
        <p:spPr>
          <a:xfrm>
            <a:off x="703500" y="2271125"/>
            <a:ext cx="5718000" cy="19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 sz="2400">
                <a:highlight>
                  <a:srgbClr val="FFFFFF"/>
                </a:highlight>
              </a:rPr>
              <a:t>Manual Run Through</a:t>
            </a:r>
            <a:endParaRPr sz="2400">
              <a:highlight>
                <a:srgbClr val="FFFFFF"/>
              </a:highlight>
            </a:endParaRPr>
          </a:p>
          <a:p>
            <a:pPr indent="0" lvl="0" marL="0" rtl="0" algn="l">
              <a:lnSpc>
                <a:spcPct val="115000"/>
              </a:lnSpc>
              <a:spcBef>
                <a:spcPts val="1400"/>
              </a:spcBef>
              <a:spcAft>
                <a:spcPts val="0"/>
              </a:spcAft>
              <a:buNone/>
            </a:pPr>
            <a:r>
              <a:rPr lang="en" sz="1200">
                <a:highlight>
                  <a:srgbClr val="FFFFFF"/>
                </a:highlight>
              </a:rPr>
              <a:t>Before we implement the Insertion Sort algorithm in a Python program, let's manually run through a short array, just to get the idea.</a:t>
            </a:r>
            <a:endParaRPr sz="1200">
              <a:highlight>
                <a:srgbClr val="FFFFFF"/>
              </a:highlight>
            </a:endParaRPr>
          </a:p>
          <a:p>
            <a:pPr indent="0" lvl="0" marL="0" rtl="0" algn="l">
              <a:lnSpc>
                <a:spcPct val="115000"/>
              </a:lnSpc>
              <a:spcBef>
                <a:spcPts val="1400"/>
              </a:spcBef>
              <a:spcAft>
                <a:spcPts val="0"/>
              </a:spcAft>
              <a:buNone/>
            </a:pPr>
            <a:r>
              <a:rPr lang="en" sz="1200">
                <a:highlight>
                  <a:srgbClr val="FFFFFF"/>
                </a:highlight>
              </a:rPr>
              <a:t>Step 1: We start with an unsorted array.</a:t>
            </a:r>
            <a:endParaRPr sz="1200">
              <a:highlight>
                <a:srgbClr val="FFFFFF"/>
              </a:highlight>
            </a:endParaRPr>
          </a:p>
          <a:p>
            <a:pPr indent="0" lvl="0" marL="114300" marR="114300" rtl="0" algn="l">
              <a:lnSpc>
                <a:spcPct val="115000"/>
              </a:lnSpc>
              <a:spcBef>
                <a:spcPts val="1400"/>
              </a:spcBef>
              <a:spcAft>
                <a:spcPts val="1200"/>
              </a:spcAft>
              <a:buNone/>
            </a:pPr>
            <a:r>
              <a:rPr lang="en" sz="1150">
                <a:solidFill>
                  <a:srgbClr val="188038"/>
                </a:solidFill>
                <a:highlight>
                  <a:srgbClr val="FFFFFF"/>
                </a:highlight>
                <a:latin typeface="Courier New"/>
                <a:ea typeface="Courier New"/>
                <a:cs typeface="Courier New"/>
                <a:sym typeface="Courier New"/>
              </a:rPr>
              <a:t>[ 7, 12, 9, 11, 3]</a:t>
            </a:r>
            <a:endParaRPr sz="1150">
              <a:solidFill>
                <a:srgbClr val="188038"/>
              </a:solidFill>
              <a:highlight>
                <a:srgbClr val="FFFFFF"/>
              </a:highlight>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nvSpPr>
        <p:spPr>
          <a:xfrm>
            <a:off x="442525" y="467600"/>
            <a:ext cx="8124900" cy="44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200">
                <a:highlight>
                  <a:srgbClr val="FFFFFF"/>
                </a:highlight>
              </a:rPr>
              <a:t>Step 2: We can consider the first value as the initial sorted part of the array. If it is just one value, it must be sorted, right?</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a:t>
            </a:r>
            <a:r>
              <a:rPr lang="en" sz="1150">
                <a:highlight>
                  <a:srgbClr val="FCFC71"/>
                </a:highlight>
                <a:latin typeface="Courier New"/>
                <a:ea typeface="Courier New"/>
                <a:cs typeface="Courier New"/>
                <a:sym typeface="Courier New"/>
              </a:rPr>
              <a:t> 7</a:t>
            </a:r>
            <a:r>
              <a:rPr lang="en" sz="1150">
                <a:solidFill>
                  <a:srgbClr val="188038"/>
                </a:solidFill>
                <a:highlight>
                  <a:srgbClr val="FFFFFF"/>
                </a:highlight>
                <a:latin typeface="Courier New"/>
                <a:ea typeface="Courier New"/>
                <a:cs typeface="Courier New"/>
                <a:sym typeface="Courier New"/>
              </a:rPr>
              <a:t>, 12, 9, 11,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3: The next value 12 should now be moved into the correct position in the sorted part of the array. But 12 is higher than 7, so it is already in the correct position.</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a:t>
            </a:r>
            <a:r>
              <a:rPr lang="en" sz="1150">
                <a:highlight>
                  <a:srgbClr val="FCFC71"/>
                </a:highlight>
                <a:latin typeface="Courier New"/>
                <a:ea typeface="Courier New"/>
                <a:cs typeface="Courier New"/>
                <a:sym typeface="Courier New"/>
              </a:rPr>
              <a:t> 12</a:t>
            </a:r>
            <a:r>
              <a:rPr lang="en" sz="1150">
                <a:solidFill>
                  <a:srgbClr val="188038"/>
                </a:solidFill>
                <a:highlight>
                  <a:srgbClr val="FFFFFF"/>
                </a:highlight>
                <a:latin typeface="Courier New"/>
                <a:ea typeface="Courier New"/>
                <a:cs typeface="Courier New"/>
                <a:sym typeface="Courier New"/>
              </a:rPr>
              <a:t>, 9, 11,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4: Consider the next value 9.</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 12,</a:t>
            </a:r>
            <a:r>
              <a:rPr lang="en" sz="1150">
                <a:highlight>
                  <a:srgbClr val="FCFC71"/>
                </a:highlight>
                <a:latin typeface="Courier New"/>
                <a:ea typeface="Courier New"/>
                <a:cs typeface="Courier New"/>
                <a:sym typeface="Courier New"/>
              </a:rPr>
              <a:t> 9</a:t>
            </a:r>
            <a:r>
              <a:rPr lang="en" sz="1150">
                <a:solidFill>
                  <a:srgbClr val="188038"/>
                </a:solidFill>
                <a:highlight>
                  <a:srgbClr val="FFFFFF"/>
                </a:highlight>
                <a:latin typeface="Courier New"/>
                <a:ea typeface="Courier New"/>
                <a:cs typeface="Courier New"/>
                <a:sym typeface="Courier New"/>
              </a:rPr>
              <a:t>, 11,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5: The value 9 must now be moved into the correct position inside the sorted part of the array, so we move 9 in between 7 and 12.</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a:t>
            </a:r>
            <a:r>
              <a:rPr lang="en" sz="1150">
                <a:highlight>
                  <a:srgbClr val="FCFC71"/>
                </a:highlight>
                <a:latin typeface="Courier New"/>
                <a:ea typeface="Courier New"/>
                <a:cs typeface="Courier New"/>
                <a:sym typeface="Courier New"/>
              </a:rPr>
              <a:t> 9</a:t>
            </a:r>
            <a:r>
              <a:rPr lang="en" sz="1150">
                <a:solidFill>
                  <a:srgbClr val="188038"/>
                </a:solidFill>
                <a:highlight>
                  <a:srgbClr val="FFFFFF"/>
                </a:highlight>
                <a:latin typeface="Courier New"/>
                <a:ea typeface="Courier New"/>
                <a:cs typeface="Courier New"/>
                <a:sym typeface="Courier New"/>
              </a:rPr>
              <a:t>, 12, 11,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None/>
            </a:pPr>
            <a:r>
              <a:t/>
            </a:r>
            <a:endParaRPr sz="1150">
              <a:solidFill>
                <a:srgbClr val="188038"/>
              </a:solidFill>
              <a:highlight>
                <a:srgbClr val="FFFFFF"/>
              </a:highlight>
              <a:latin typeface="Courier New"/>
              <a:ea typeface="Courier New"/>
              <a:cs typeface="Courier New"/>
              <a:sym typeface="Courier New"/>
            </a:endParaRPr>
          </a:p>
          <a:p>
            <a:pPr indent="0" lvl="0" marL="114300" marR="114300" rtl="0" algn="l">
              <a:lnSpc>
                <a:spcPct val="115000"/>
              </a:lnSpc>
              <a:spcBef>
                <a:spcPts val="1200"/>
              </a:spcBef>
              <a:spcAft>
                <a:spcPts val="1200"/>
              </a:spcAft>
              <a:buNone/>
            </a:pPr>
            <a:r>
              <a:t/>
            </a:r>
            <a:endParaRPr sz="1150">
              <a:solidFill>
                <a:srgbClr val="188038"/>
              </a:solidFill>
              <a:highlight>
                <a:srgbClr val="FFFFFF"/>
              </a:highlight>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nvSpPr>
        <p:spPr>
          <a:xfrm>
            <a:off x="626650" y="392450"/>
            <a:ext cx="7089000" cy="41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200">
                <a:highlight>
                  <a:srgbClr val="FFFFFF"/>
                </a:highlight>
              </a:rPr>
              <a:t>Step 6: The next value is 11.</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 9, 12, &gt; 11,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7: We move it in between 9 and 12 in the sorted part of the array.</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 9,</a:t>
            </a:r>
            <a:r>
              <a:rPr lang="en" sz="1150">
                <a:highlight>
                  <a:srgbClr val="FCFC71"/>
                </a:highlight>
                <a:latin typeface="Courier New"/>
                <a:ea typeface="Courier New"/>
                <a:cs typeface="Courier New"/>
                <a:sym typeface="Courier New"/>
              </a:rPr>
              <a:t> 11</a:t>
            </a:r>
            <a:r>
              <a:rPr lang="en" sz="1150">
                <a:solidFill>
                  <a:srgbClr val="188038"/>
                </a:solidFill>
                <a:highlight>
                  <a:srgbClr val="FFFFFF"/>
                </a:highlight>
                <a:latin typeface="Courier New"/>
                <a:ea typeface="Courier New"/>
                <a:cs typeface="Courier New"/>
                <a:sym typeface="Courier New"/>
              </a:rPr>
              <a:t>, 12, 3]</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None/>
            </a:pPr>
            <a:r>
              <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8: The last value to insert into the correct position is 3.</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[ 7, 9, 11, 12,</a:t>
            </a:r>
            <a:r>
              <a:rPr lang="en" sz="1150">
                <a:highlight>
                  <a:srgbClr val="FCFC71"/>
                </a:highlight>
                <a:latin typeface="Courier New"/>
                <a:ea typeface="Courier New"/>
                <a:cs typeface="Courier New"/>
                <a:sym typeface="Courier New"/>
              </a:rPr>
              <a:t> 3</a:t>
            </a:r>
            <a:r>
              <a:rPr lang="en" sz="1150">
                <a:solidFill>
                  <a:srgbClr val="188038"/>
                </a:solidFill>
                <a:highlight>
                  <a:srgbClr val="FFFFFF"/>
                </a:highlight>
                <a:latin typeface="Courier New"/>
                <a:ea typeface="Courier New"/>
                <a:cs typeface="Courier New"/>
                <a:sym typeface="Courier New"/>
              </a:rPr>
              <a:t>]</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None/>
            </a:pPr>
            <a:r>
              <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0"/>
              </a:spcAft>
              <a:buNone/>
            </a:pPr>
            <a:r>
              <a:rPr lang="en" sz="1200">
                <a:highlight>
                  <a:srgbClr val="FFFFFF"/>
                </a:highlight>
              </a:rPr>
              <a:t>Step 9: We insert 3 in front of all other values because it is the lowest value.</a:t>
            </a:r>
            <a:endParaRPr sz="1200">
              <a:highlight>
                <a:srgbClr val="FFFFFF"/>
              </a:highlight>
            </a:endParaRPr>
          </a:p>
          <a:p>
            <a:pPr indent="0" lvl="0" marL="114300" marR="114300" rtl="0" algn="l">
              <a:lnSpc>
                <a:spcPct val="115000"/>
              </a:lnSpc>
              <a:spcBef>
                <a:spcPts val="1400"/>
              </a:spcBef>
              <a:spcAft>
                <a:spcPts val="0"/>
              </a:spcAft>
              <a:buNone/>
            </a:pPr>
            <a:r>
              <a:rPr lang="en" sz="1150">
                <a:solidFill>
                  <a:srgbClr val="188038"/>
                </a:solidFill>
                <a:highlight>
                  <a:srgbClr val="FFFFFF"/>
                </a:highlight>
                <a:latin typeface="Courier New"/>
                <a:ea typeface="Courier New"/>
                <a:cs typeface="Courier New"/>
                <a:sym typeface="Courier New"/>
              </a:rPr>
              <a:t>[</a:t>
            </a:r>
            <a:r>
              <a:rPr lang="en" sz="1150">
                <a:highlight>
                  <a:srgbClr val="FCFC71"/>
                </a:highlight>
                <a:latin typeface="Courier New"/>
                <a:ea typeface="Courier New"/>
                <a:cs typeface="Courier New"/>
                <a:sym typeface="Courier New"/>
              </a:rPr>
              <a:t> 3</a:t>
            </a:r>
            <a:r>
              <a:rPr lang="en" sz="1150">
                <a:solidFill>
                  <a:srgbClr val="188038"/>
                </a:solidFill>
                <a:highlight>
                  <a:srgbClr val="FFFFFF"/>
                </a:highlight>
                <a:latin typeface="Courier New"/>
                <a:ea typeface="Courier New"/>
                <a:cs typeface="Courier New"/>
                <a:sym typeface="Courier New"/>
              </a:rPr>
              <a:t>,7, 9, 11, 12]</a:t>
            </a:r>
            <a:endParaRPr sz="1150">
              <a:solidFill>
                <a:srgbClr val="188038"/>
              </a:solidFill>
              <a:highlight>
                <a:srgbClr val="FFFFFF"/>
              </a:highlight>
              <a:latin typeface="Courier New"/>
              <a:ea typeface="Courier New"/>
              <a:cs typeface="Courier New"/>
              <a:sym typeface="Courier New"/>
            </a:endParaRPr>
          </a:p>
          <a:p>
            <a:pPr indent="0" lvl="0" marL="0" rtl="0" algn="l">
              <a:lnSpc>
                <a:spcPct val="115000"/>
              </a:lnSpc>
              <a:spcBef>
                <a:spcPts val="1400"/>
              </a:spcBef>
              <a:spcAft>
                <a:spcPts val="1400"/>
              </a:spcAft>
              <a:buNone/>
            </a:pPr>
            <a:r>
              <a:rPr lang="en" sz="1200">
                <a:highlight>
                  <a:srgbClr val="FFFFFF"/>
                </a:highlight>
              </a:rPr>
              <a:t>Finally, the array is sorted.</a:t>
            </a:r>
            <a:endParaRPr sz="1200">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nvSpPr>
        <p:spPr>
          <a:xfrm>
            <a:off x="968575" y="509350"/>
            <a:ext cx="6221100" cy="422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mylist = [</a:t>
            </a:r>
            <a:r>
              <a:rPr lang="en" sz="1750">
                <a:solidFill>
                  <a:srgbClr val="990055"/>
                </a:solidFill>
                <a:highlight>
                  <a:srgbClr val="FFFFFF"/>
                </a:highlight>
                <a:latin typeface="Courier New"/>
                <a:ea typeface="Courier New"/>
                <a:cs typeface="Courier New"/>
                <a:sym typeface="Courier New"/>
              </a:rPr>
              <a:t>64</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34</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25</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12</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22</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11</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90</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5</a:t>
            </a:r>
            <a:r>
              <a:rPr lang="en" sz="1750">
                <a:highlight>
                  <a:srgbClr val="FFFFFF"/>
                </a:highlight>
                <a:latin typeface="Courier New"/>
                <a:ea typeface="Courier New"/>
                <a:cs typeface="Courier New"/>
                <a:sym typeface="Courier New"/>
              </a:rPr>
              <a:t>]</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750">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n = </a:t>
            </a:r>
            <a:r>
              <a:rPr lang="en" sz="1750">
                <a:solidFill>
                  <a:srgbClr val="005CC5"/>
                </a:solidFill>
                <a:highlight>
                  <a:srgbClr val="FFFFFF"/>
                </a:highlight>
                <a:latin typeface="Courier New"/>
                <a:ea typeface="Courier New"/>
                <a:cs typeface="Courier New"/>
                <a:sym typeface="Courier New"/>
              </a:rPr>
              <a:t>len</a:t>
            </a:r>
            <a:r>
              <a:rPr lang="en" sz="1750">
                <a:highlight>
                  <a:srgbClr val="FFFFFF"/>
                </a:highlight>
                <a:latin typeface="Courier New"/>
                <a:ea typeface="Courier New"/>
                <a:cs typeface="Courier New"/>
                <a:sym typeface="Courier New"/>
              </a:rPr>
              <a:t>(mylist)</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solidFill>
                  <a:srgbClr val="005CC5"/>
                </a:solidFill>
                <a:highlight>
                  <a:srgbClr val="FFFFFF"/>
                </a:highlight>
                <a:latin typeface="Courier New"/>
                <a:ea typeface="Courier New"/>
                <a:cs typeface="Courier New"/>
                <a:sym typeface="Courier New"/>
              </a:rPr>
              <a:t>for</a:t>
            </a:r>
            <a:r>
              <a:rPr lang="en" sz="1750">
                <a:highlight>
                  <a:srgbClr val="FFFFFF"/>
                </a:highlight>
                <a:latin typeface="Courier New"/>
                <a:ea typeface="Courier New"/>
                <a:cs typeface="Courier New"/>
                <a:sym typeface="Courier New"/>
              </a:rPr>
              <a:t> i </a:t>
            </a:r>
            <a:r>
              <a:rPr lang="en" sz="1750">
                <a:solidFill>
                  <a:srgbClr val="005CC5"/>
                </a:solidFill>
                <a:highlight>
                  <a:srgbClr val="FFFFFF"/>
                </a:highlight>
                <a:latin typeface="Courier New"/>
                <a:ea typeface="Courier New"/>
                <a:cs typeface="Courier New"/>
                <a:sym typeface="Courier New"/>
              </a:rPr>
              <a:t>in</a:t>
            </a: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range</a:t>
            </a:r>
            <a:r>
              <a:rPr lang="en" sz="1750">
                <a:highlight>
                  <a:srgbClr val="FFFFFF"/>
                </a:highlight>
                <a:latin typeface="Courier New"/>
                <a:ea typeface="Courier New"/>
                <a:cs typeface="Courier New"/>
                <a:sym typeface="Courier New"/>
              </a:rPr>
              <a:t>(</a:t>
            </a:r>
            <a:r>
              <a:rPr lang="en" sz="1750">
                <a:solidFill>
                  <a:srgbClr val="990055"/>
                </a:solidFill>
                <a:highlight>
                  <a:srgbClr val="FFFFFF"/>
                </a:highlight>
                <a:latin typeface="Courier New"/>
                <a:ea typeface="Courier New"/>
                <a:cs typeface="Courier New"/>
                <a:sym typeface="Courier New"/>
              </a:rPr>
              <a:t>1</a:t>
            </a:r>
            <a:r>
              <a:rPr lang="en" sz="1750">
                <a:highlight>
                  <a:srgbClr val="FFFFFF"/>
                </a:highlight>
                <a:latin typeface="Courier New"/>
                <a:ea typeface="Courier New"/>
                <a:cs typeface="Courier New"/>
                <a:sym typeface="Courier New"/>
              </a:rPr>
              <a:t>,n):</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insert_index = i</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current_value = mylist[i]</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for</a:t>
            </a:r>
            <a:r>
              <a:rPr lang="en" sz="1750">
                <a:highlight>
                  <a:srgbClr val="FFFFFF"/>
                </a:highlight>
                <a:latin typeface="Courier New"/>
                <a:ea typeface="Courier New"/>
                <a:cs typeface="Courier New"/>
                <a:sym typeface="Courier New"/>
              </a:rPr>
              <a:t> j </a:t>
            </a:r>
            <a:r>
              <a:rPr lang="en" sz="1750">
                <a:solidFill>
                  <a:srgbClr val="005CC5"/>
                </a:solidFill>
                <a:highlight>
                  <a:srgbClr val="FFFFFF"/>
                </a:highlight>
                <a:latin typeface="Courier New"/>
                <a:ea typeface="Courier New"/>
                <a:cs typeface="Courier New"/>
                <a:sym typeface="Courier New"/>
              </a:rPr>
              <a:t>in</a:t>
            </a: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range</a:t>
            </a:r>
            <a:r>
              <a:rPr lang="en" sz="1750">
                <a:highlight>
                  <a:srgbClr val="FFFFFF"/>
                </a:highlight>
                <a:latin typeface="Courier New"/>
                <a:ea typeface="Courier New"/>
                <a:cs typeface="Courier New"/>
                <a:sym typeface="Courier New"/>
              </a:rPr>
              <a:t>(i-</a:t>
            </a:r>
            <a:r>
              <a:rPr lang="en" sz="1750">
                <a:solidFill>
                  <a:srgbClr val="990055"/>
                </a:solidFill>
                <a:highlight>
                  <a:srgbClr val="FFFFFF"/>
                </a:highlight>
                <a:latin typeface="Courier New"/>
                <a:ea typeface="Courier New"/>
                <a:cs typeface="Courier New"/>
                <a:sym typeface="Courier New"/>
              </a:rPr>
              <a:t>1</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1</a:t>
            </a:r>
            <a:r>
              <a:rPr lang="en" sz="1750">
                <a:highlight>
                  <a:srgbClr val="FFFFFF"/>
                </a:highlight>
                <a:latin typeface="Courier New"/>
                <a:ea typeface="Courier New"/>
                <a:cs typeface="Courier New"/>
                <a:sym typeface="Courier New"/>
              </a:rPr>
              <a:t>, -</a:t>
            </a:r>
            <a:r>
              <a:rPr lang="en" sz="1750">
                <a:solidFill>
                  <a:srgbClr val="990055"/>
                </a:solidFill>
                <a:highlight>
                  <a:srgbClr val="FFFFFF"/>
                </a:highlight>
                <a:latin typeface="Courier New"/>
                <a:ea typeface="Courier New"/>
                <a:cs typeface="Courier New"/>
                <a:sym typeface="Courier New"/>
              </a:rPr>
              <a:t>1</a:t>
            </a:r>
            <a:r>
              <a:rPr lang="en" sz="1750">
                <a:highlight>
                  <a:srgbClr val="FFFFFF"/>
                </a:highlight>
                <a:latin typeface="Courier New"/>
                <a:ea typeface="Courier New"/>
                <a:cs typeface="Courier New"/>
                <a:sym typeface="Courier New"/>
              </a:rPr>
              <a:t>):</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if</a:t>
            </a:r>
            <a:r>
              <a:rPr lang="en" sz="1750">
                <a:highlight>
                  <a:srgbClr val="FFFFFF"/>
                </a:highlight>
                <a:latin typeface="Courier New"/>
                <a:ea typeface="Courier New"/>
                <a:cs typeface="Courier New"/>
                <a:sym typeface="Courier New"/>
              </a:rPr>
              <a:t> mylist[j] &gt; current_value:</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mylist[j+</a:t>
            </a:r>
            <a:r>
              <a:rPr lang="en" sz="1750">
                <a:solidFill>
                  <a:srgbClr val="990055"/>
                </a:solidFill>
                <a:highlight>
                  <a:srgbClr val="FFFFFF"/>
                </a:highlight>
                <a:latin typeface="Courier New"/>
                <a:ea typeface="Courier New"/>
                <a:cs typeface="Courier New"/>
                <a:sym typeface="Courier New"/>
              </a:rPr>
              <a:t>1</a:t>
            </a:r>
            <a:r>
              <a:rPr lang="en" sz="1750">
                <a:highlight>
                  <a:srgbClr val="FFFFFF"/>
                </a:highlight>
                <a:latin typeface="Courier New"/>
                <a:ea typeface="Courier New"/>
                <a:cs typeface="Courier New"/>
                <a:sym typeface="Courier New"/>
              </a:rPr>
              <a:t>] = mylist[j]</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insert_index = j</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else</a:t>
            </a:r>
            <a:r>
              <a:rPr lang="en" sz="1750">
                <a:highlight>
                  <a:srgbClr val="FFFFFF"/>
                </a:highlight>
                <a:latin typeface="Courier New"/>
                <a:ea typeface="Courier New"/>
                <a:cs typeface="Courier New"/>
                <a:sym typeface="Courier New"/>
              </a:rPr>
              <a:t>:</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a:t>
            </a:r>
            <a:r>
              <a:rPr lang="en" sz="1750">
                <a:solidFill>
                  <a:srgbClr val="005CC5"/>
                </a:solidFill>
                <a:highlight>
                  <a:srgbClr val="FFFFFF"/>
                </a:highlight>
                <a:latin typeface="Courier New"/>
                <a:ea typeface="Courier New"/>
                <a:cs typeface="Courier New"/>
                <a:sym typeface="Courier New"/>
              </a:rPr>
              <a:t>break</a:t>
            </a:r>
            <a:endParaRPr sz="1750">
              <a:solidFill>
                <a:srgbClr val="005CC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750">
                <a:highlight>
                  <a:srgbClr val="FFFFFF"/>
                </a:highlight>
                <a:latin typeface="Courier New"/>
                <a:ea typeface="Courier New"/>
                <a:cs typeface="Courier New"/>
                <a:sym typeface="Courier New"/>
              </a:rPr>
              <a:t>  mylist[insert_index] = current_value</a:t>
            </a:r>
            <a:endParaRPr sz="175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750">
              <a:latin typeface="Courier New"/>
              <a:ea typeface="Courier New"/>
              <a:cs typeface="Courier New"/>
              <a:sym typeface="Courier New"/>
            </a:endParaRPr>
          </a:p>
          <a:p>
            <a:pPr indent="0" lvl="0" marL="0" rtl="0" algn="l">
              <a:spcBef>
                <a:spcPts val="0"/>
              </a:spcBef>
              <a:spcAft>
                <a:spcPts val="0"/>
              </a:spcAft>
              <a:buNone/>
            </a:pPr>
            <a:r>
              <a:rPr lang="en" sz="1750">
                <a:solidFill>
                  <a:srgbClr val="005CC5"/>
                </a:solidFill>
                <a:highlight>
                  <a:srgbClr val="FFFFFF"/>
                </a:highlight>
                <a:latin typeface="Courier New"/>
                <a:ea typeface="Courier New"/>
                <a:cs typeface="Courier New"/>
                <a:sym typeface="Courier New"/>
              </a:rPr>
              <a:t>print</a:t>
            </a:r>
            <a:r>
              <a:rPr lang="en" sz="1750">
                <a:highlight>
                  <a:srgbClr val="FFFFFF"/>
                </a:highlight>
                <a:latin typeface="Courier New"/>
                <a:ea typeface="Courier New"/>
                <a:cs typeface="Courier New"/>
                <a:sym typeface="Courier New"/>
              </a:rPr>
              <a:t>(mylist)</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7"/>
          <p:cNvPicPr preferRelativeResize="0"/>
          <p:nvPr/>
        </p:nvPicPr>
        <p:blipFill>
          <a:blip r:embed="rId3">
            <a:alphaModFix/>
          </a:blip>
          <a:stretch>
            <a:fillRect/>
          </a:stretch>
        </p:blipFill>
        <p:spPr>
          <a:xfrm>
            <a:off x="1421600" y="762550"/>
            <a:ext cx="5843174" cy="39029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