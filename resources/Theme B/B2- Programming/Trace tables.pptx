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12192000"/>
  <p:notesSz cx="6858000" cy="9144000"/>
  <p:embeddedFontLst>
    <p:embeddedFont>
      <p:font typeface="Century Gothic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hnz2Q+wcFOjkilC8qZi6dto0qX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6B61F1-2DDD-48A3-BABB-F742EE9ACDEA}">
  <a:tblStyle styleId="{036B61F1-2DDD-48A3-BABB-F742EE9ACDE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CE7"/>
          </a:solidFill>
        </a:fill>
      </a:tcStyle>
    </a:wholeTbl>
    <a:band1H>
      <a:tcTxStyle/>
      <a:tcStyle>
        <a:fill>
          <a:solidFill>
            <a:srgbClr val="F8D6CC"/>
          </a:solidFill>
        </a:fill>
      </a:tcStyle>
    </a:band1H>
    <a:band2H>
      <a:tcTxStyle/>
    </a:band2H>
    <a:band1V>
      <a:tcTxStyle/>
      <a:tcStyle>
        <a:fill>
          <a:solidFill>
            <a:srgbClr val="F8D6CC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CenturyGothic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CenturyGothic-italic.fntdata"/><Relationship Id="rId14" Type="http://schemas.openxmlformats.org/officeDocument/2006/relationships/slide" Target="slides/slide8.xml"/><Relationship Id="rId36" Type="http://schemas.openxmlformats.org/officeDocument/2006/relationships/font" Target="fonts/CenturyGothic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CenturyGothic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a424a8f7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a424a8f7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7a424a8f7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 Title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/>
          <p:nvPr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txBody>
          <a:bodyPr anchorCtr="0" anchor="t" bIns="45700" lIns="91425" spcFirstLastPara="1" rIns="91425" wrap="square" tIns="18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CAMBRIDGE IGCSE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(0478/0984)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1"/>
          <p:cNvSpPr/>
          <p:nvPr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265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brush&#10;&#10;Description automatically generated" id="18" name="Google Shape;18;p31"/>
          <p:cNvPicPr preferRelativeResize="0"/>
          <p:nvPr/>
        </p:nvPicPr>
        <p:blipFill rotWithShape="1">
          <a:blip r:embed="rId2">
            <a:alphaModFix/>
          </a:blip>
          <a:srcRect b="-3" l="0" r="-3" t="161"/>
          <a:stretch/>
        </p:blipFill>
        <p:spPr>
          <a:xfrm>
            <a:off x="9029206" y="2474254"/>
            <a:ext cx="1912560" cy="1909489"/>
          </a:xfrm>
          <a:custGeom>
            <a:rect b="b" l="l" r="r" t="t"/>
            <a:pathLst>
              <a:path extrusionOk="0" h="6057610" w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9" name="Google Shape;19;p31"/>
          <p:cNvSpPr/>
          <p:nvPr/>
        </p:nvSpPr>
        <p:spPr>
          <a:xfrm>
            <a:off x="0" y="6451184"/>
            <a:ext cx="100888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Teacher site: </a:t>
            </a:r>
            <a:r>
              <a:rPr b="0" i="0" lang="en-GB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craigndave.org  |  </a:t>
            </a:r>
            <a:r>
              <a:rPr b="1" i="0" lang="en-GB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Student site: </a:t>
            </a:r>
            <a:r>
              <a:rPr b="0" i="0" lang="en-GB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student.craigndave.org  |  </a:t>
            </a:r>
            <a:r>
              <a:rPr b="1" i="0" lang="en-GB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Smart revise: </a:t>
            </a:r>
            <a:r>
              <a:rPr b="0" i="0" lang="en-GB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smartrevise.co.uk 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 content slide">
  <p:cSld name="Video content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24" name="Google Shape;24;p32"/>
          <p:cNvGrpSpPr/>
          <p:nvPr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25" name="Google Shape;25;p32"/>
            <p:cNvSpPr/>
            <p:nvPr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7 Algorithm design and problem-solving | Trace tables</a:t>
              </a:r>
              <a:endParaRPr/>
            </a:p>
          </p:txBody>
        </p:sp>
        <p:sp>
          <p:nvSpPr>
            <p:cNvPr id="26" name="Google Shape;26;p32"/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txBody>
            <a:bodyPr anchorCtr="0" anchor="t" bIns="45700" lIns="0" spcFirstLastPara="1" rIns="46800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CAMBRIDGE IGCSE (0478/0984)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" name="Google Shape;4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3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3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3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a424a8f75_0_0"/>
          <p:cNvSpPr txBox="1"/>
          <p:nvPr>
            <p:ph type="title"/>
          </p:nvPr>
        </p:nvSpPr>
        <p:spPr>
          <a:xfrm>
            <a:off x="838200" y="24023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4000">
                <a:solidFill>
                  <a:srgbClr val="C55A11"/>
                </a:solidFill>
              </a:rPr>
              <a:t>Trace tables</a:t>
            </a:r>
            <a:endParaRPr sz="4000">
              <a:solidFill>
                <a:srgbClr val="C55A1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404198" y="1887113"/>
            <a:ext cx="5510220" cy="3898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Tracing execution: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vital skill for understanding program flow and testing the accuracy of an algorithm for logic. 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involves examining a printed extract of program code and running thorough the program:</a:t>
            </a:r>
            <a:endParaRPr/>
          </a:p>
          <a:p>
            <a:pPr indent="-285749" lvl="0" marL="54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 each line at a time and write the current state of each variable in a trace table.</a:t>
            </a:r>
            <a:endParaRPr/>
          </a:p>
          <a:p>
            <a:pPr indent="-285749" lvl="0" marL="54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down any output the program produces.</a:t>
            </a:r>
            <a:endParaRPr/>
          </a:p>
          <a:p>
            <a:pPr indent="-285749" lvl="0" marL="54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variable present in the program should have its own column in the trace table.</a:t>
            </a:r>
            <a:endParaRPr/>
          </a:p>
          <a:p>
            <a:pPr indent="-285749" lvl="0" marL="54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new row should be added under any column if the state of a variable changes.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Trace tables are an excellent way to track down logic errors in a problem.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Trace tables</a:t>
            </a:r>
            <a:endParaRPr sz="12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sign&#10;&#10;Description automatically generated"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3004" y="611347"/>
            <a:ext cx="5892583" cy="589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ke_notes"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906" y="611347"/>
            <a:ext cx="1113436" cy="1113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1173468" y="3990462"/>
            <a:ext cx="52937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by identifying any variables in the program and put each one in its own column to create a trace table.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173468" y="3990462"/>
            <a:ext cx="52937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by identifying any variables in the program and put each one in its own column to create a trace table.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362075" y="1358392"/>
            <a:ext cx="847725" cy="289434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759538" y="1901147"/>
            <a:ext cx="847725" cy="289434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4"/>
          <p:cNvGraphicFramePr/>
          <p:nvPr/>
        </p:nvGraphicFramePr>
        <p:xfrm>
          <a:off x="9136121" y="83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1173468" y="3990462"/>
            <a:ext cx="52937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by identifying any variables in the program and put each one in its own column to create a trace table.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1866900" y="1906719"/>
            <a:ext cx="990600" cy="289434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5"/>
          <p:cNvGraphicFramePr/>
          <p:nvPr/>
        </p:nvGraphicFramePr>
        <p:xfrm>
          <a:off x="9136121" y="83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5"/>
          <p:cNvSpPr/>
          <p:nvPr/>
        </p:nvSpPr>
        <p:spPr>
          <a:xfrm>
            <a:off x="1990725" y="2461515"/>
            <a:ext cx="990600" cy="289434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759538" y="2190581"/>
            <a:ext cx="990600" cy="289434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1173468" y="3990462"/>
            <a:ext cx="52937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by identifying any variables in the program and put each one in its own column to create a trace table.</a:t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325866" y="1632774"/>
            <a:ext cx="760109" cy="289434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2" name="Google Shape;142;p6"/>
          <p:cNvGraphicFramePr/>
          <p:nvPr/>
        </p:nvGraphicFramePr>
        <p:xfrm>
          <a:off x="9136121" y="83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143" name="Google Shape;143;p6"/>
          <p:cNvSpPr/>
          <p:nvPr/>
        </p:nvSpPr>
        <p:spPr>
          <a:xfrm>
            <a:off x="1705920" y="2170065"/>
            <a:ext cx="760109" cy="289434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2734464" y="2173919"/>
            <a:ext cx="760109" cy="289434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2229639" y="2731192"/>
            <a:ext cx="760109" cy="289434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2" name="Google Shape;152;p7"/>
          <p:cNvGraphicFramePr/>
          <p:nvPr/>
        </p:nvGraphicFramePr>
        <p:xfrm>
          <a:off x="9136121" y="83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153" name="Google Shape;153;p7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9136120" y="4328829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9026997" y="3965937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3" name="Google Shape;163;p8"/>
          <p:cNvGraphicFramePr/>
          <p:nvPr/>
        </p:nvGraphicFramePr>
        <p:xfrm>
          <a:off x="9136121" y="83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C00000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164" name="Google Shape;164;p8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9136120" y="4328829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9026997" y="3965937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200151" y="1373292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" name="Google Shape;175;p9"/>
          <p:cNvGraphicFramePr/>
          <p:nvPr/>
        </p:nvGraphicFramePr>
        <p:xfrm>
          <a:off x="9136119" y="83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accent4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C0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>
                    <a:solidFill>
                      <a:srgbClr val="FFF2CC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176" name="Google Shape;176;p9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9136118" y="4328829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9026995" y="3965937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200151" y="1639992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10"/>
          <p:cNvGraphicFramePr/>
          <p:nvPr/>
        </p:nvGraphicFramePr>
        <p:xfrm>
          <a:off x="9136121" y="83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C0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188" name="Google Shape;188;p10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9136120" y="4328829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9026997" y="3965937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1200151" y="1916217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9" name="Google Shape;199;p11"/>
          <p:cNvGraphicFramePr/>
          <p:nvPr/>
        </p:nvGraphicFramePr>
        <p:xfrm>
          <a:off x="9136121" y="83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accent4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C0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>
                    <a:solidFill>
                      <a:srgbClr val="FFF2CC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200" name="Google Shape;200;p11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201" name="Google Shape;201;p11"/>
          <p:cNvSpPr txBox="1"/>
          <p:nvPr/>
        </p:nvSpPr>
        <p:spPr>
          <a:xfrm>
            <a:off x="9136120" y="4328829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9026997" y="3965937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1200151" y="2192442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1" name="Google Shape;211;p12"/>
          <p:cNvGraphicFramePr/>
          <p:nvPr/>
        </p:nvGraphicFramePr>
        <p:xfrm>
          <a:off x="9136121" y="83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C0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212" name="Google Shape;212;p12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9136120" y="4328829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9026997" y="3965937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200151" y="2440092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3" name="Google Shape;223;p13"/>
          <p:cNvGraphicFramePr/>
          <p:nvPr/>
        </p:nvGraphicFramePr>
        <p:xfrm>
          <a:off x="9136120" y="83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224" name="Google Shape;224;p13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225" name="Google Shape;225;p13"/>
          <p:cNvSpPr txBox="1"/>
          <p:nvPr/>
        </p:nvSpPr>
        <p:spPr>
          <a:xfrm>
            <a:off x="9136119" y="4328829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9026996" y="3965937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1200151" y="1906692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5" name="Google Shape;235;p14"/>
          <p:cNvGraphicFramePr/>
          <p:nvPr/>
        </p:nvGraphicFramePr>
        <p:xfrm>
          <a:off x="9136120" y="83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accent4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C0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>
                    <a:solidFill>
                      <a:srgbClr val="FFF2CC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236" name="Google Shape;236;p14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237" name="Google Shape;237;p14"/>
          <p:cNvSpPr txBox="1"/>
          <p:nvPr/>
        </p:nvSpPr>
        <p:spPr>
          <a:xfrm>
            <a:off x="9136119" y="4328829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9026996" y="3965937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1200151" y="2182917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7" name="Google Shape;247;p15"/>
          <p:cNvGraphicFramePr/>
          <p:nvPr/>
        </p:nvGraphicFramePr>
        <p:xfrm>
          <a:off x="9136120" y="83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C00000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00" marL="914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248" name="Google Shape;248;p15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249" name="Google Shape;249;p15"/>
          <p:cNvSpPr txBox="1"/>
          <p:nvPr/>
        </p:nvSpPr>
        <p:spPr>
          <a:xfrm>
            <a:off x="9136119" y="4328829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250" name="Google Shape;250;p15"/>
          <p:cNvSpPr/>
          <p:nvPr/>
        </p:nvSpPr>
        <p:spPr>
          <a:xfrm>
            <a:off x="9026996" y="3965937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1200151" y="2487717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9" name="Google Shape;259;p16"/>
          <p:cNvGraphicFramePr/>
          <p:nvPr/>
        </p:nvGraphicFramePr>
        <p:xfrm>
          <a:off x="9136120" y="83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260" name="Google Shape;260;p16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9136119" y="4328829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262" name="Google Shape;262;p16"/>
          <p:cNvSpPr/>
          <p:nvPr/>
        </p:nvSpPr>
        <p:spPr>
          <a:xfrm>
            <a:off x="9026996" y="3965937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1200151" y="1925742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1" name="Google Shape;271;p17"/>
          <p:cNvGraphicFramePr/>
          <p:nvPr/>
        </p:nvGraphicFramePr>
        <p:xfrm>
          <a:off x="9136120" y="83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accent4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C00000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>
                    <a:solidFill>
                      <a:srgbClr val="FFF2CC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272" name="Google Shape;272;p17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9136119" y="4328829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9026996" y="3965937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1200151" y="2173392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3" name="Google Shape;283;p18"/>
          <p:cNvGraphicFramePr/>
          <p:nvPr/>
        </p:nvGraphicFramePr>
        <p:xfrm>
          <a:off x="9136122" y="8366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C0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00" marL="914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284" name="Google Shape;284;p18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9136121" y="4332836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286" name="Google Shape;286;p18"/>
          <p:cNvSpPr/>
          <p:nvPr/>
        </p:nvSpPr>
        <p:spPr>
          <a:xfrm>
            <a:off x="9026998" y="3969944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1200151" y="2459142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19"/>
          <p:cNvGraphicFramePr/>
          <p:nvPr/>
        </p:nvGraphicFramePr>
        <p:xfrm>
          <a:off x="9136120" y="83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296" name="Google Shape;296;p19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9136119" y="4328829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9026996" y="3965937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1200151" y="1897167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7" name="Google Shape;307;p20"/>
          <p:cNvGraphicFramePr/>
          <p:nvPr/>
        </p:nvGraphicFramePr>
        <p:xfrm>
          <a:off x="9138452" y="832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accent4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C00000"/>
                          </a:solidFill>
                        </a:rPr>
                        <a:t>24</a:t>
                      </a:r>
                      <a:endParaRPr/>
                    </a:p>
                  </a:txBody>
                  <a:tcPr marT="45725" marB="45725" marR="91400" marL="91400">
                    <a:solidFill>
                      <a:srgbClr val="FFF2CC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308" name="Google Shape;308;p20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309" name="Google Shape;309;p20"/>
          <p:cNvSpPr txBox="1"/>
          <p:nvPr/>
        </p:nvSpPr>
        <p:spPr>
          <a:xfrm>
            <a:off x="9138451" y="4328247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310" name="Google Shape;310;p20"/>
          <p:cNvSpPr/>
          <p:nvPr/>
        </p:nvSpPr>
        <p:spPr>
          <a:xfrm>
            <a:off x="9029328" y="3965355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1200151" y="2182917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9" name="Google Shape;319;p21"/>
          <p:cNvGraphicFramePr/>
          <p:nvPr/>
        </p:nvGraphicFramePr>
        <p:xfrm>
          <a:off x="9137980" y="832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C00000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320" name="Google Shape;320;p21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1200151" y="2478192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1" name="Google Shape;331;p22"/>
          <p:cNvGraphicFramePr/>
          <p:nvPr/>
        </p:nvGraphicFramePr>
        <p:xfrm>
          <a:off x="9137980" y="832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332" name="Google Shape;332;p22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333" name="Google Shape;333;p22"/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1200151" y="1916217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3" name="Google Shape;343;p23"/>
          <p:cNvGraphicFramePr/>
          <p:nvPr/>
        </p:nvGraphicFramePr>
        <p:xfrm>
          <a:off x="9137980" y="832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accent4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C00000"/>
                          </a:solidFill>
                        </a:rPr>
                        <a:t>120</a:t>
                      </a:r>
                      <a:endParaRPr/>
                    </a:p>
                  </a:txBody>
                  <a:tcPr marT="45725" marB="45725" marR="91400" marL="91400">
                    <a:solidFill>
                      <a:srgbClr val="FFF2CC"/>
                    </a:solidFill>
                  </a:tcPr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344" name="Google Shape;344;p23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1200151" y="2173392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5" name="Google Shape;355;p24"/>
          <p:cNvGraphicFramePr/>
          <p:nvPr/>
        </p:nvGraphicFramePr>
        <p:xfrm>
          <a:off x="9137980" y="832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C00000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120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356" name="Google Shape;356;p24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357" name="Google Shape;357;p24"/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358" name="Google Shape;358;p24"/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1200151" y="2478192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7" name="Google Shape;367;p25"/>
          <p:cNvGraphicFramePr/>
          <p:nvPr/>
        </p:nvGraphicFramePr>
        <p:xfrm>
          <a:off x="9137980" y="832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120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368" name="Google Shape;368;p25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370" name="Google Shape;370;p25"/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1200151" y="1906692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9" name="Google Shape;379;p26"/>
          <p:cNvGraphicFramePr/>
          <p:nvPr/>
        </p:nvGraphicFramePr>
        <p:xfrm>
          <a:off x="9137980" y="832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120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380" name="Google Shape;380;p26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381" name="Google Shape;381;p26"/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120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382" name="Google Shape;382;p26"/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1200151" y="2735367"/>
            <a:ext cx="4600575" cy="28047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1" name="Google Shape;391;p27"/>
          <p:cNvGraphicFramePr/>
          <p:nvPr/>
        </p:nvGraphicFramePr>
        <p:xfrm>
          <a:off x="9137980" y="832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120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392" name="Google Shape;392;p27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393" name="Google Shape;393;p27"/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120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394" name="Google Shape;394;p27"/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7"/>
          <p:cNvSpPr/>
          <p:nvPr/>
        </p:nvSpPr>
        <p:spPr>
          <a:xfrm>
            <a:off x="4580611" y="3183663"/>
            <a:ext cx="3476625" cy="1872504"/>
          </a:xfrm>
          <a:prstGeom prst="wedgeRoundRectCallout">
            <a:avLst>
              <a:gd fmla="val -80833" name="adj1"/>
              <a:gd fmla="val -71791" name="adj2"/>
              <a:gd fmla="val 16667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So, what is this program doing?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7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2" y="849345"/>
            <a:ext cx="5118772" cy="26824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3" name="Google Shape;403;p28"/>
          <p:cNvGraphicFramePr/>
          <p:nvPr/>
        </p:nvGraphicFramePr>
        <p:xfrm>
          <a:off x="9137980" y="832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{036B61F1-2DDD-48A3-BABB-F742EE9ACDEA}</a:tableStyleId>
              </a:tblPr>
              <a:tblGrid>
                <a:gridCol w="851525"/>
                <a:gridCol w="851525"/>
                <a:gridCol w="851525"/>
              </a:tblGrid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number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counter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>
                          <a:solidFill>
                            <a:schemeClr val="lt1"/>
                          </a:solidFill>
                        </a:rPr>
                        <a:t>total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600" u="none" cap="none" strike="noStrike">
                          <a:solidFill>
                            <a:schemeClr val="dk1"/>
                          </a:solidFill>
                        </a:rPr>
                        <a:t>120</a:t>
                      </a:r>
                      <a:endParaRPr/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  <a:tr h="243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00" marL="91400"/>
                </a:tc>
              </a:tr>
            </a:tbl>
          </a:graphicData>
        </a:graphic>
      </p:graphicFrame>
      <p:sp>
        <p:nvSpPr>
          <p:cNvPr id="404" name="Google Shape;404;p28"/>
          <p:cNvSpPr/>
          <p:nvPr/>
        </p:nvSpPr>
        <p:spPr>
          <a:xfrm>
            <a:off x="1325866" y="1319135"/>
            <a:ext cx="536068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total 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counter = 1 to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total = total *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 counter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output(total)</a:t>
            </a:r>
            <a:endParaRPr/>
          </a:p>
        </p:txBody>
      </p:sp>
      <p:sp>
        <p:nvSpPr>
          <p:cNvPr id="405" name="Google Shape;405;p28"/>
          <p:cNvSpPr txBox="1"/>
          <p:nvPr/>
        </p:nvSpPr>
        <p:spPr>
          <a:xfrm>
            <a:off x="9137979" y="4328247"/>
            <a:ext cx="2554605" cy="163121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120</a:t>
            </a: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/>
          </a:p>
        </p:txBody>
      </p:sp>
      <p:sp>
        <p:nvSpPr>
          <p:cNvPr id="406" name="Google Shape;406;p28"/>
          <p:cNvSpPr/>
          <p:nvPr/>
        </p:nvSpPr>
        <p:spPr>
          <a:xfrm>
            <a:off x="9028856" y="3965355"/>
            <a:ext cx="19730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window: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8"/>
          <p:cNvSpPr/>
          <p:nvPr/>
        </p:nvSpPr>
        <p:spPr>
          <a:xfrm>
            <a:off x="4580611" y="3183663"/>
            <a:ext cx="3476625" cy="1872504"/>
          </a:xfrm>
          <a:prstGeom prst="wedgeRoundRectCallout">
            <a:avLst>
              <a:gd fmla="val -80833" name="adj1"/>
              <a:gd fmla="val -71791" name="adj2"/>
              <a:gd fmla="val 16667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is this program doing?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is outputting the factorial of the number entered.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Factorial 5 = 1*2*3*4*5 = 120</a:t>
            </a:r>
            <a:endParaRPr/>
          </a:p>
        </p:txBody>
      </p:sp>
      <p:sp>
        <p:nvSpPr>
          <p:cNvPr id="408" name="Google Shape;408;p28"/>
          <p:cNvSpPr/>
          <p:nvPr/>
        </p:nvSpPr>
        <p:spPr>
          <a:xfrm>
            <a:off x="-495" y="6480476"/>
            <a:ext cx="122161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first line of code executes – </a:t>
            </a:r>
            <a:r>
              <a:rPr lang="en-GB" sz="1800">
                <a:solidFill>
                  <a:schemeClr val="dk1"/>
                </a:solidFill>
                <a:highlight>
                  <a:srgbClr val="C0C0C0"/>
                </a:highlight>
                <a:latin typeface="Consolas"/>
                <a:ea typeface="Consolas"/>
                <a:cs typeface="Consolas"/>
                <a:sym typeface="Consolas"/>
              </a:rPr>
              <a:t>number = print("Enter a number")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assume the user enters the integer 5.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2019-10-14T15:21:06Z</dcterms:created>
  <dc:creator>Craig Sargent</dc:creator>
</cp:coreProperties>
</file>