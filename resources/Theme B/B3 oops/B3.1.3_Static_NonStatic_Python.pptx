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0" y="4572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1E40AF">
                    <a:alpha val="30000"/>
                  </a:srgbClr>
                </a:solidFill>
              </a:rPr>
              <a:t>{  }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594360" y="411480"/>
            <a:ext cx="1463040" cy="320040"/>
          </a:xfrm>
          <a:prstGeom prst="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411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IB CS  B3.1.3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&amp; Non-Static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in Python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94360" y="26974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· Methods · Scope · When to Use Each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B3.1.3  ·  Distinguish between static and non-static variables and methods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383280"/>
            <a:ext cx="164592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383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Instance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423160" y="3383280"/>
            <a:ext cx="1645920" cy="4572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5" name="Text 13"/>
          <p:cNvSpPr/>
          <p:nvPr/>
        </p:nvSpPr>
        <p:spPr>
          <a:xfrm>
            <a:off x="2423160" y="3383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Class / Static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3886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(Non-Static)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23160" y="3886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(Static)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Learning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94360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96012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Define static (class-level) and non-static (instance-level) members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20240"/>
            <a:ext cx="594360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92024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196596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Explain the difference between instance variables and class variables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26080"/>
            <a:ext cx="59436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92608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29718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Distinguish instance methods from static methods and know when each is used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931920"/>
            <a:ext cx="594360" cy="8229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93192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51560" y="397764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Apply correct Python syntax: self, @staticmethod, and class-name access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⭐  Starter Activity  — Think About It!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Consider a Library system. Which data belongs to each book vs. shared by ALL books?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1371600"/>
            <a:ext cx="2834640" cy="347472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371600"/>
            <a:ext cx="2834640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🟢  ENTRY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62763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Match It Up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938528"/>
            <a:ext cx="2606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Match each item to "Instance" or "Class":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Title of book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Author name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Number of copies in library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Borrowed status (yes/no)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Default genre for all books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72968" y="1371600"/>
            <a:ext cx="2834640" cy="347472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1371600"/>
            <a:ext cx="2834640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3264408" y="13716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🟡  CORE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64408" y="162763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Sort &amp; Explain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10128" y="1938528"/>
            <a:ext cx="2606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Sort these into class vs instance variables: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books_created counter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is_borrowed flag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DEFAULT_GENRE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page count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Then explain WHY in one sentence each.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63056" y="1371600"/>
            <a:ext cx="2834640" cy="3474720"/>
          </a:xfrm>
          <a:prstGeom prst="rect">
            <a:avLst/>
          </a:prstGeom>
          <a:solidFill>
            <a:srgbClr val="FFF1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1371600"/>
            <a:ext cx="283464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6254496" y="13716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🔴  STRETCH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54496" y="162763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Design &amp; Justify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0216" y="1938528"/>
            <a:ext cx="2606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Design a Student class for a school system.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List at least 3 instance variables.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List at least 1 class variable.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Suggest one static method and justify why it should NOT use self.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800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⏱ 5 minutes — Be ready to share your thinking!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Is a Class?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023360" cy="393192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02336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📐  The Blueprint Analogy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 class is like an architectural blueprint.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Blueprint (Class)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 defines the design for all houses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Individual House (Object/Instance)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 built FROM the blueprint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 has its own address, colour, residents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In Python, a class defines: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 attributes  (data / variables)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 methods  (behaviours / functions)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023360" cy="393192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22960"/>
            <a:ext cx="402336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822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🔑  Key Terms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298448"/>
            <a:ext cx="38404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33502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Class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57276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Template / blueprint for creating objects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956816"/>
            <a:ext cx="38404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9933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Object / Instance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231136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 concrete item created from the class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615184"/>
            <a:ext cx="38404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6517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Attribute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889504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 variable that belongs to a class or object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3273552"/>
            <a:ext cx="38404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3101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Method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3547872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 function defined inside a class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931920"/>
            <a:ext cx="38404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39684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self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420624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Refers to the current instance inside a method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Non-Static Members  —  Instance Variables &amp; Methods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840480" cy="411480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54864" cy="4114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503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What are they?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16152"/>
            <a:ext cx="35661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Instance members belong to EACH object individually.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
Each object has its OWN copy.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Instance Variables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Defined in __init__ using self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Unique to each object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Changed independently per object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Instance Methods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Have self as first parameter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Access/modify the object's own data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Called on an object: book1.borrow()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777240"/>
            <a:ext cx="4480560" cy="4114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80467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F3FC"/>
                </a:solidFill>
              </a:rPr>
              <a:t>Python Code Example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80560" y="1161288"/>
            <a:ext cx="42519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</a:t>
            </a:r>
            <a:pPr indent="0" marL="0">
              <a:buNone/>
            </a:pPr>
            <a:r>
              <a:rPr lang="en-US" sz="1050" b="1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(self, title, author, pages):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.title   = title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.author  = author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.pages   = pages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.is_borrowed = </a:t>
            </a:r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</a:t>
            </a:r>
            <a:pPr indent="0" marL="0">
              <a:buNone/>
            </a:pPr>
            <a:r>
              <a:rPr lang="en-US" sz="1050" b="1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borrow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(self):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.is_borrowed = </a:t>
            </a:r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
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Each object has own data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book1 = Book(</a:t>
            </a:r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"Hitchhiker's"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...)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book2 = Book(</a:t>
            </a:r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"Pride &amp; Prej."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...)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Static Members  —  Class Variables &amp; Static Methods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840480" cy="411480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54864" cy="41148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503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</a:rPr>
              <a:t>What are they?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16152"/>
            <a:ext cx="35661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Static members belong to the CLASS itself.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ONE shared copy for ALL objects.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Class Variables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Defined OUTSIDE __init__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Shared by every instance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Accessed via ClassName.variable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Static Methods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Decorated with @staticmethod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NO self parameter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Cannot access instance variables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Utility functions for the class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777240"/>
            <a:ext cx="4480560" cy="4114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80467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F3FC"/>
                </a:solidFill>
              </a:rPr>
              <a:t>Python Code Example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80560" y="1161288"/>
            <a:ext cx="42519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
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Class Variables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DEFAULT_GENRE = </a:t>
            </a:r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"Fiction"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books_created = </a:t>
            </a:r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</a:t>
            </a:r>
            <a:pPr indent="0" marL="0">
              <a:buNone/>
            </a:pPr>
            <a:r>
              <a:rPr lang="en-US" sz="1050" b="1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(self, title, ...):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.title = title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Book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.books_created += </a:t>
            </a:r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</a:t>
            </a:r>
            <a:pPr indent="0" marL="0">
              <a:buNone/>
            </a:pPr>
            <a:r>
              <a:rPr lang="en-US" sz="105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staticmethod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</a:t>
            </a:r>
            <a:pPr indent="0" marL="0">
              <a:buNone/>
            </a:pPr>
            <a:r>
              <a:rPr lang="en-US" sz="1050" b="1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get_total_books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.books_created
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Access via class name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.DEFAULT_GENRE)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Side-by-Side Comparison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2011680" cy="5120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301752" y="768096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40280" y="749808"/>
            <a:ext cx="3200400" cy="5120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2313432" y="768096"/>
            <a:ext cx="3090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Static (Class) Members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40680" y="749808"/>
            <a:ext cx="3474720" cy="5120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5513832" y="768096"/>
            <a:ext cx="33649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Non-Static (Instance) Members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1298448"/>
            <a:ext cx="20116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" y="1316736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Association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40280" y="1298448"/>
            <a:ext cx="3200400" cy="512064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3" name="Text 11"/>
          <p:cNvSpPr/>
          <p:nvPr/>
        </p:nvSpPr>
        <p:spPr>
          <a:xfrm>
            <a:off x="2313432" y="1316736"/>
            <a:ext cx="3090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580C"/>
                </a:solidFill>
              </a:rPr>
              <a:t>The class itself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40680" y="1298448"/>
            <a:ext cx="3474720" cy="512064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15" name="Text 13"/>
          <p:cNvSpPr/>
          <p:nvPr/>
        </p:nvSpPr>
        <p:spPr>
          <a:xfrm>
            <a:off x="5513832" y="1316736"/>
            <a:ext cx="33649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Individual objects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1847088"/>
            <a:ext cx="2011680" cy="51206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301752" y="1865376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Memory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40280" y="1847088"/>
            <a:ext cx="3200400" cy="512064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9" name="Text 17"/>
          <p:cNvSpPr/>
          <p:nvPr/>
        </p:nvSpPr>
        <p:spPr>
          <a:xfrm>
            <a:off x="2313432" y="1865376"/>
            <a:ext cx="3090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580C"/>
                </a:solidFill>
              </a:rPr>
              <a:t>ONE copy shared by all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1847088"/>
            <a:ext cx="3474720" cy="512064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21" name="Text 19"/>
          <p:cNvSpPr/>
          <p:nvPr/>
        </p:nvSpPr>
        <p:spPr>
          <a:xfrm>
            <a:off x="5513832" y="1865376"/>
            <a:ext cx="33649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Each object has its OWN copy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2395728"/>
            <a:ext cx="20116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301752" y="2414016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Access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40280" y="2395728"/>
            <a:ext cx="3200400" cy="512064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25" name="Text 23"/>
          <p:cNvSpPr/>
          <p:nvPr/>
        </p:nvSpPr>
        <p:spPr>
          <a:xfrm>
            <a:off x="2313432" y="2414016"/>
            <a:ext cx="3090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580C"/>
                </a:solidFill>
              </a:rPr>
              <a:t>ClassName.member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40680" y="2395728"/>
            <a:ext cx="3474720" cy="512064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27" name="Text 25"/>
          <p:cNvSpPr/>
          <p:nvPr/>
        </p:nvSpPr>
        <p:spPr>
          <a:xfrm>
            <a:off x="5513832" y="2414016"/>
            <a:ext cx="33649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object.member  (via self)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" y="2944368"/>
            <a:ext cx="2011680" cy="51206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301752" y="2962656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Variable use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40280" y="2944368"/>
            <a:ext cx="3200400" cy="512064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1" name="Text 29"/>
          <p:cNvSpPr/>
          <p:nvPr/>
        </p:nvSpPr>
        <p:spPr>
          <a:xfrm>
            <a:off x="2313432" y="2962656"/>
            <a:ext cx="3090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580C"/>
                </a:solidFill>
              </a:rPr>
              <a:t>Common/shared data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40680" y="2944368"/>
            <a:ext cx="3474720" cy="512064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33" name="Text 31"/>
          <p:cNvSpPr/>
          <p:nvPr/>
        </p:nvSpPr>
        <p:spPr>
          <a:xfrm>
            <a:off x="5513832" y="2962656"/>
            <a:ext cx="33649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State unique to each object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28600" y="3493008"/>
            <a:ext cx="20116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301752" y="3511296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Method use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240280" y="3493008"/>
            <a:ext cx="3200400" cy="512064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7" name="Text 35"/>
          <p:cNvSpPr/>
          <p:nvPr/>
        </p:nvSpPr>
        <p:spPr>
          <a:xfrm>
            <a:off x="2313432" y="3511296"/>
            <a:ext cx="3090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580C"/>
                </a:solidFill>
              </a:rPr>
              <a:t>Utilities; no instance data needed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40680" y="3493008"/>
            <a:ext cx="3474720" cy="512064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39" name="Text 37"/>
          <p:cNvSpPr/>
          <p:nvPr/>
        </p:nvSpPr>
        <p:spPr>
          <a:xfrm>
            <a:off x="5513832" y="3511296"/>
            <a:ext cx="33649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Operates on object's own state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28600" y="4041648"/>
            <a:ext cx="2011680" cy="51206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1" name="Text 39"/>
          <p:cNvSpPr/>
          <p:nvPr/>
        </p:nvSpPr>
        <p:spPr>
          <a:xfrm>
            <a:off x="301752" y="4059936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Access to instance vars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240280" y="4041648"/>
            <a:ext cx="3200400" cy="512064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43" name="Text 41"/>
          <p:cNvSpPr/>
          <p:nvPr/>
        </p:nvSpPr>
        <p:spPr>
          <a:xfrm>
            <a:off x="2313432" y="4059936"/>
            <a:ext cx="3090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580C"/>
                </a:solidFill>
              </a:rPr>
              <a:t>NOT directly (need object param)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40680" y="4041648"/>
            <a:ext cx="3474720" cy="512064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45" name="Text 43"/>
          <p:cNvSpPr/>
          <p:nvPr/>
        </p:nvSpPr>
        <p:spPr>
          <a:xfrm>
            <a:off x="5513832" y="4059936"/>
            <a:ext cx="33649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Yes — directly via self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28600" y="4590288"/>
            <a:ext cx="20116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301752" y="4608576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Python decorator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240280" y="4590288"/>
            <a:ext cx="3200400" cy="512064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49" name="Text 47"/>
          <p:cNvSpPr/>
          <p:nvPr/>
        </p:nvSpPr>
        <p:spPr>
          <a:xfrm>
            <a:off x="2313432" y="4608576"/>
            <a:ext cx="3090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580C"/>
                </a:solidFill>
              </a:rPr>
              <a:t>@staticmethod (no self)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440680" y="4590288"/>
            <a:ext cx="3474720" cy="512064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51" name="Text 49"/>
          <p:cNvSpPr/>
          <p:nvPr/>
        </p:nvSpPr>
        <p:spPr>
          <a:xfrm>
            <a:off x="5513832" y="4608576"/>
            <a:ext cx="33649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No decorator; self required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240280" y="4754880"/>
            <a:ext cx="228600" cy="2286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53" name="Shape 51"/>
          <p:cNvSpPr/>
          <p:nvPr/>
        </p:nvSpPr>
        <p:spPr>
          <a:xfrm>
            <a:off x="2240280" y="4754880"/>
            <a:ext cx="54864" cy="2286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4" name="Text 52"/>
          <p:cNvSpPr/>
          <p:nvPr/>
        </p:nvSpPr>
        <p:spPr>
          <a:xfrm>
            <a:off x="2542032" y="47548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580C"/>
                </a:solidFill>
              </a:rPr>
              <a:t>Static / Class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754880" y="4754880"/>
            <a:ext cx="228600" cy="22860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56" name="Shape 54"/>
          <p:cNvSpPr/>
          <p:nvPr/>
        </p:nvSpPr>
        <p:spPr>
          <a:xfrm>
            <a:off x="4754880" y="4754880"/>
            <a:ext cx="54864" cy="228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7" name="Text 55"/>
          <p:cNvSpPr/>
          <p:nvPr/>
        </p:nvSpPr>
        <p:spPr>
          <a:xfrm>
            <a:off x="5056632" y="47548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</a:rPr>
              <a:t>Instance / Non-Static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When to Use Instance vs. Class Members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0" y="804672"/>
            <a:ext cx="4572000" cy="5943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80467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Ask yourself: "Does EVERY object need its OWN value for this?"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4023360" cy="329184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54480"/>
            <a:ext cx="402336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554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YES → Use Instance Variable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084832"/>
            <a:ext cx="37490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Use self.variable_name in __init__
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Examples: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customer.address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song.duration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character.health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book.is_borrowed
</a:t>
            </a: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Each object holds its own independent value.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554480"/>
            <a:ext cx="4023360" cy="329184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554480"/>
            <a:ext cx="4023360" cy="4572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554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 NO → Use Class Variable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2084832"/>
            <a:ext cx="37490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Define outside any method in the class
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Examples: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Book.DEFAULT_GENRE = "Fiction"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Account.interest_rate = 0.05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Player.max_lives = 3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Book.books_created counter
</a:t>
            </a: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All objects share this single value.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70832" y="1691640"/>
            <a:ext cx="0" cy="301752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187952" y="2926080"/>
            <a:ext cx="4023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OR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🚀  Challenging Task  —  Design &amp; Code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0467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Scenario: Build a BankAccount class for a simple banking system.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859536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572768"/>
            <a:ext cx="54864" cy="10058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Shape 6"/>
          <p:cNvSpPr/>
          <p:nvPr/>
        </p:nvSpPr>
        <p:spPr>
          <a:xfrm>
            <a:off x="329184" y="1572768"/>
            <a:ext cx="1280160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" y="15727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🟢 LEVEL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91640" y="1609344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F3FC"/>
                </a:solidFill>
              </a:rPr>
              <a:t>Design the class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91640" y="1956816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Define instance variables: owner (str), balance (float), account_number (str)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Add a class variable: interest_rate = 0.03  and  total_accounts = 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Write __init__ that sets instance variables and increments total_accounts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715768"/>
            <a:ext cx="859536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2715768"/>
            <a:ext cx="54864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Shape 12"/>
          <p:cNvSpPr/>
          <p:nvPr/>
        </p:nvSpPr>
        <p:spPr>
          <a:xfrm>
            <a:off x="329184" y="2715768"/>
            <a:ext cx="12801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" y="27157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🟡 LEVEL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91640" y="2752344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F3FC"/>
                </a:solidFill>
              </a:rPr>
              <a:t>Add methods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91640" y="3099816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Write deposit(amount) and withdraw(amount) — instance methods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Write apply_interest() — adds interest to balance using the class variable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Write a static method get_total_accounts() that returns total_accounts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858768"/>
            <a:ext cx="859536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" y="3858768"/>
            <a:ext cx="54864" cy="1005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Shape 18"/>
          <p:cNvSpPr/>
          <p:nvPr/>
        </p:nvSpPr>
        <p:spPr>
          <a:xfrm>
            <a:off x="329184" y="3858768"/>
            <a:ext cx="1280160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" y="38587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🔴 LEVEL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91640" y="3895344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F3FC"/>
                </a:solidFill>
              </a:rPr>
              <a:t>Analyse &amp; Extend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91640" y="4242816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What happens if you do: account1.interest_rate = 0.05? Does it affect all accounts?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Change it correctly using BankAccount.interest_rate = 0.05 — observe the difference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Add a class method alternative using @classmethod. What is cls and how does it differ from self?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⏱ 15–20 minutes  ·  Compare outputs with a partner  ·  Be ready to present your solution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Summary  —  5 Golden Rules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7498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457200" cy="7498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859536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Instance variables in __init__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207008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Always initialise instance variables inside __init__ using self.variable = value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664208"/>
            <a:ext cx="8595360" cy="7498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664208"/>
            <a:ext cx="457200" cy="74980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664208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700784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</a:rPr>
              <a:t>Class variables outside methods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048256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Define class variables at the top of the class body, outside any method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505456"/>
            <a:ext cx="8595360" cy="7498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2505456"/>
            <a:ext cx="457200" cy="7498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505456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" y="2542032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Use ClassName to access class vars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2889504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Prefer Book.DEFAULT_GENRE over book1.DEFAULT_GENRE — it's clearer and conventional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346704"/>
            <a:ext cx="8595360" cy="7498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" y="3346704"/>
            <a:ext cx="457200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346704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" y="3383280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@staticmethod = no self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3730752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Static methods have no self; they cannot access instance data directly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187952"/>
            <a:ext cx="8595360" cy="7498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4187952"/>
            <a:ext cx="457200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187952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22960" y="4224528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Changing class vars affects all objects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4572000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Be careful: Book.interest_rate = 0.1 updates the rate for EVERY existing and future instance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B3.1.3  ·  IB Computer Science  ·  Static and Non-Static Python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B3.1.3 Static and Non-Static Python</dc:title>
  <dc:subject>PptxGenJS Presentation</dc:subject>
  <dc:creator>PptxGenJS</dc:creator>
  <cp:lastModifiedBy>PptxGenJS</cp:lastModifiedBy>
  <cp:revision>1</cp:revision>
  <dcterms:created xsi:type="dcterms:W3CDTF">2026-04-15T17:42:36Z</dcterms:created>
  <dcterms:modified xsi:type="dcterms:W3CDTF">2026-04-15T17:42:36Z</dcterms:modified>
</cp:coreProperties>
</file>