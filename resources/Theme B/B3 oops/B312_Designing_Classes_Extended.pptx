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0D9488"/>
          </a:solidFill>
          <a:ln w="12700">
            <a:solidFill>
              <a:srgbClr val="0D9488"/>
            </a:solidFill>
            <a:prstDash val="solid"/>
          </a:ln>
        </p:spPr>
      </p:sp>
      <p:sp>
        <p:nvSpPr>
          <p:cNvPr id="3" name="Shape 1"/>
          <p:cNvSpPr/>
          <p:nvPr/>
        </p:nvSpPr>
        <p:spPr>
          <a:xfrm>
            <a:off x="6858000" y="0"/>
            <a:ext cx="2286000" cy="5143500"/>
          </a:xfrm>
          <a:prstGeom prst="rect">
            <a:avLst/>
          </a:prstGeom>
          <a:solidFill>
            <a:srgbClr val="162035"/>
          </a:solidFill>
          <a:ln w="12700">
            <a:solidFill>
              <a:srgbClr val="162035"/>
            </a:solidFill>
            <a:prstDash val="solid"/>
          </a:ln>
        </p:spPr>
      </p:sp>
      <p:sp>
        <p:nvSpPr>
          <p:cNvPr id="4" name="Shape 2"/>
          <p:cNvSpPr/>
          <p:nvPr/>
        </p:nvSpPr>
        <p:spPr>
          <a:xfrm>
            <a:off x="7086600" y="457200"/>
            <a:ext cx="1828800" cy="0"/>
          </a:xfrm>
          <a:prstGeom prst="line">
            <a:avLst/>
          </a:prstGeom>
          <a:noFill/>
          <a:ln w="12700">
            <a:solidFill>
              <a:srgbClr val="253555"/>
            </a:solidFill>
            <a:prstDash val="solid"/>
          </a:ln>
        </p:spPr>
      </p:sp>
      <p:sp>
        <p:nvSpPr>
          <p:cNvPr id="5" name="Shape 3"/>
          <p:cNvSpPr/>
          <p:nvPr/>
        </p:nvSpPr>
        <p:spPr>
          <a:xfrm>
            <a:off x="7086600" y="1234440"/>
            <a:ext cx="1828800" cy="0"/>
          </a:xfrm>
          <a:prstGeom prst="line">
            <a:avLst/>
          </a:prstGeom>
          <a:noFill/>
          <a:ln w="12700">
            <a:solidFill>
              <a:srgbClr val="253555"/>
            </a:solidFill>
            <a:prstDash val="solid"/>
          </a:ln>
        </p:spPr>
      </p:sp>
      <p:sp>
        <p:nvSpPr>
          <p:cNvPr id="6" name="Shape 4"/>
          <p:cNvSpPr/>
          <p:nvPr/>
        </p:nvSpPr>
        <p:spPr>
          <a:xfrm>
            <a:off x="7086600" y="2011680"/>
            <a:ext cx="1828800" cy="0"/>
          </a:xfrm>
          <a:prstGeom prst="line">
            <a:avLst/>
          </a:prstGeom>
          <a:noFill/>
          <a:ln w="12700">
            <a:solidFill>
              <a:srgbClr val="253555"/>
            </a:solidFill>
            <a:prstDash val="solid"/>
          </a:ln>
        </p:spPr>
      </p:sp>
      <p:sp>
        <p:nvSpPr>
          <p:cNvPr id="7" name="Shape 5"/>
          <p:cNvSpPr/>
          <p:nvPr/>
        </p:nvSpPr>
        <p:spPr>
          <a:xfrm>
            <a:off x="7086600" y="2788920"/>
            <a:ext cx="1828800" cy="0"/>
          </a:xfrm>
          <a:prstGeom prst="line">
            <a:avLst/>
          </a:prstGeom>
          <a:noFill/>
          <a:ln w="12700">
            <a:solidFill>
              <a:srgbClr val="253555"/>
            </a:solidFill>
            <a:prstDash val="solid"/>
          </a:ln>
        </p:spPr>
      </p:sp>
      <p:sp>
        <p:nvSpPr>
          <p:cNvPr id="8" name="Shape 6"/>
          <p:cNvSpPr/>
          <p:nvPr/>
        </p:nvSpPr>
        <p:spPr>
          <a:xfrm>
            <a:off x="7086600" y="3566160"/>
            <a:ext cx="1828800" cy="0"/>
          </a:xfrm>
          <a:prstGeom prst="line">
            <a:avLst/>
          </a:prstGeom>
          <a:noFill/>
          <a:ln w="12700">
            <a:solidFill>
              <a:srgbClr val="253555"/>
            </a:solidFill>
            <a:prstDash val="solid"/>
          </a:ln>
        </p:spPr>
      </p:sp>
      <p:sp>
        <p:nvSpPr>
          <p:cNvPr id="9" name="Shape 7"/>
          <p:cNvSpPr/>
          <p:nvPr/>
        </p:nvSpPr>
        <p:spPr>
          <a:xfrm>
            <a:off x="7086600" y="4343400"/>
            <a:ext cx="1828800" cy="0"/>
          </a:xfrm>
          <a:prstGeom prst="line">
            <a:avLst/>
          </a:prstGeom>
          <a:noFill/>
          <a:ln w="12700">
            <a:solidFill>
              <a:srgbClr val="253555"/>
            </a:solidFill>
            <a:prstDash val="solid"/>
          </a:ln>
        </p:spPr>
      </p:sp>
      <p:sp>
        <p:nvSpPr>
          <p:cNvPr id="10" name="Shape 8"/>
          <p:cNvSpPr/>
          <p:nvPr/>
        </p:nvSpPr>
        <p:spPr>
          <a:xfrm>
            <a:off x="7086600" y="182880"/>
            <a:ext cx="0" cy="4754880"/>
          </a:xfrm>
          <a:prstGeom prst="line">
            <a:avLst/>
          </a:prstGeom>
          <a:noFill/>
          <a:ln w="12700">
            <a:solidFill>
              <a:srgbClr val="253555"/>
            </a:solidFill>
            <a:prstDash val="solid"/>
          </a:ln>
        </p:spPr>
      </p:sp>
      <p:sp>
        <p:nvSpPr>
          <p:cNvPr id="11" name="Shape 9"/>
          <p:cNvSpPr/>
          <p:nvPr/>
        </p:nvSpPr>
        <p:spPr>
          <a:xfrm>
            <a:off x="7589520" y="182880"/>
            <a:ext cx="0" cy="4754880"/>
          </a:xfrm>
          <a:prstGeom prst="line">
            <a:avLst/>
          </a:prstGeom>
          <a:noFill/>
          <a:ln w="12700">
            <a:solidFill>
              <a:srgbClr val="253555"/>
            </a:solidFill>
            <a:prstDash val="solid"/>
          </a:ln>
        </p:spPr>
      </p:sp>
      <p:sp>
        <p:nvSpPr>
          <p:cNvPr id="12" name="Shape 10"/>
          <p:cNvSpPr/>
          <p:nvPr/>
        </p:nvSpPr>
        <p:spPr>
          <a:xfrm>
            <a:off x="8092440" y="182880"/>
            <a:ext cx="0" cy="4754880"/>
          </a:xfrm>
          <a:prstGeom prst="line">
            <a:avLst/>
          </a:prstGeom>
          <a:noFill/>
          <a:ln w="12700">
            <a:solidFill>
              <a:srgbClr val="253555"/>
            </a:solidFill>
            <a:prstDash val="solid"/>
          </a:ln>
        </p:spPr>
      </p:sp>
      <p:sp>
        <p:nvSpPr>
          <p:cNvPr id="13" name="Shape 11"/>
          <p:cNvSpPr/>
          <p:nvPr/>
        </p:nvSpPr>
        <p:spPr>
          <a:xfrm>
            <a:off x="8595360" y="182880"/>
            <a:ext cx="0" cy="4754880"/>
          </a:xfrm>
          <a:prstGeom prst="line">
            <a:avLst/>
          </a:prstGeom>
          <a:noFill/>
          <a:ln w="12700">
            <a:solidFill>
              <a:srgbClr val="253555"/>
            </a:solidFill>
            <a:prstDash val="solid"/>
          </a:ln>
        </p:spPr>
      </p:sp>
      <p:sp>
        <p:nvSpPr>
          <p:cNvPr id="14" name="Text 12"/>
          <p:cNvSpPr/>
          <p:nvPr/>
        </p:nvSpPr>
        <p:spPr>
          <a:xfrm>
            <a:off x="7223760" y="2194560"/>
            <a:ext cx="1828800" cy="914400"/>
          </a:xfrm>
          <a:prstGeom prst="rect">
            <a:avLst/>
          </a:prstGeom>
          <a:noFill/>
          <a:ln/>
        </p:spPr>
        <p:txBody>
          <a:bodyPr wrap="square" rtlCol="0" anchor="ctr"/>
          <a:lstStyle/>
          <a:p>
            <a:pPr algn="ctr" indent="0" marL="0">
              <a:buNone/>
            </a:pPr>
            <a:r>
              <a:rPr lang="en-US" sz="5200" b="1" dirty="0">
                <a:solidFill>
                  <a:srgbClr val="2A4060"/>
                </a:solidFill>
                <a:latin typeface="Consolas" pitchFamily="34" charset="0"/>
                <a:ea typeface="Consolas" pitchFamily="34" charset="-122"/>
                <a:cs typeface="Consolas" pitchFamily="34" charset="-120"/>
              </a:rPr>
              <a:t>{ }</a:t>
            </a:r>
            <a:endParaRPr lang="en-US" sz="5200" dirty="0"/>
          </a:p>
        </p:txBody>
      </p:sp>
      <p:sp>
        <p:nvSpPr>
          <p:cNvPr id="15" name="Shape 13"/>
          <p:cNvSpPr/>
          <p:nvPr/>
        </p:nvSpPr>
        <p:spPr>
          <a:xfrm>
            <a:off x="411480" y="274320"/>
            <a:ext cx="1463040" cy="347472"/>
          </a:xfrm>
          <a:prstGeom prst="rect">
            <a:avLst/>
          </a:prstGeom>
          <a:solidFill>
            <a:srgbClr val="0D9488"/>
          </a:solidFill>
          <a:ln w="12700">
            <a:solidFill>
              <a:srgbClr val="0D9488"/>
            </a:solidFill>
            <a:prstDash val="solid"/>
          </a:ln>
        </p:spPr>
      </p:sp>
      <p:sp>
        <p:nvSpPr>
          <p:cNvPr id="16" name="Text 14"/>
          <p:cNvSpPr/>
          <p:nvPr/>
        </p:nvSpPr>
        <p:spPr>
          <a:xfrm>
            <a:off x="411480" y="274320"/>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rPr>
              <a:t>IB CS  B 3.1.2</a:t>
            </a:r>
            <a:endParaRPr lang="en-US" sz="1000" dirty="0"/>
          </a:p>
        </p:txBody>
      </p:sp>
      <p:sp>
        <p:nvSpPr>
          <p:cNvPr id="17" name="Text 15"/>
          <p:cNvSpPr/>
          <p:nvPr/>
        </p:nvSpPr>
        <p:spPr>
          <a:xfrm>
            <a:off x="457200" y="914400"/>
            <a:ext cx="6217920" cy="100584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Designing Classes</a:t>
            </a:r>
            <a:endParaRPr lang="en-US" sz="4400" dirty="0"/>
          </a:p>
        </p:txBody>
      </p:sp>
      <p:sp>
        <p:nvSpPr>
          <p:cNvPr id="18" name="Text 16"/>
          <p:cNvSpPr/>
          <p:nvPr/>
        </p:nvSpPr>
        <p:spPr>
          <a:xfrm>
            <a:off x="457200" y="1874520"/>
            <a:ext cx="6217920" cy="822960"/>
          </a:xfrm>
          <a:prstGeom prst="rect">
            <a:avLst/>
          </a:prstGeom>
          <a:noFill/>
          <a:ln/>
        </p:spPr>
        <p:txBody>
          <a:bodyPr wrap="square" lIns="0" tIns="0" rIns="0" bIns="0" rtlCol="0" anchor="ctr"/>
          <a:lstStyle/>
          <a:p>
            <a:pPr indent="0" marL="0">
              <a:buNone/>
            </a:pPr>
            <a:r>
              <a:rPr lang="en-US" sz="3600" dirty="0">
                <a:solidFill>
                  <a:srgbClr val="0D9488"/>
                </a:solidFill>
                <a:latin typeface="Calibri" pitchFamily="34" charset="0"/>
                <a:ea typeface="Calibri" pitchFamily="34" charset="-122"/>
                <a:cs typeface="Calibri" pitchFamily="34" charset="-120"/>
              </a:rPr>
              <a:t>Methods &amp; Behaviour</a:t>
            </a:r>
            <a:endParaRPr lang="en-US" sz="3600" dirty="0"/>
          </a:p>
        </p:txBody>
      </p:sp>
      <p:sp>
        <p:nvSpPr>
          <p:cNvPr id="19" name="Shape 17"/>
          <p:cNvSpPr/>
          <p:nvPr/>
        </p:nvSpPr>
        <p:spPr>
          <a:xfrm>
            <a:off x="457200" y="2788920"/>
            <a:ext cx="3657600" cy="45720"/>
          </a:xfrm>
          <a:prstGeom prst="rect">
            <a:avLst/>
          </a:prstGeom>
          <a:solidFill>
            <a:srgbClr val="F59E0B"/>
          </a:solidFill>
          <a:ln w="12700">
            <a:solidFill>
              <a:srgbClr val="F59E0B"/>
            </a:solidFill>
            <a:prstDash val="solid"/>
          </a:ln>
        </p:spPr>
      </p:sp>
      <p:sp>
        <p:nvSpPr>
          <p:cNvPr id="20" name="Text 18"/>
          <p:cNvSpPr/>
          <p:nvPr/>
        </p:nvSpPr>
        <p:spPr>
          <a:xfrm>
            <a:off x="457200" y="2926080"/>
            <a:ext cx="6217920" cy="411480"/>
          </a:xfrm>
          <a:prstGeom prst="rect">
            <a:avLst/>
          </a:prstGeom>
          <a:noFill/>
          <a:ln/>
        </p:spPr>
        <p:txBody>
          <a:bodyPr wrap="square"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UML Class Diagrams · OOP Design · Software Architecture</a:t>
            </a:r>
            <a:endParaRPr lang="en-US" sz="1400" dirty="0"/>
          </a:p>
        </p:txBody>
      </p:sp>
      <p:sp>
        <p:nvSpPr>
          <p:cNvPr id="21" name="Shape 19"/>
          <p:cNvSpPr/>
          <p:nvPr/>
        </p:nvSpPr>
        <p:spPr>
          <a:xfrm>
            <a:off x="457200" y="3931920"/>
            <a:ext cx="1371600" cy="502920"/>
          </a:xfrm>
          <a:prstGeom prst="rect">
            <a:avLst/>
          </a:prstGeom>
          <a:solidFill>
            <a:srgbClr val="F59E0B"/>
          </a:solidFill>
          <a:ln w="12700">
            <a:solidFill>
              <a:srgbClr val="F59E0B"/>
            </a:solidFill>
            <a:prstDash val="solid"/>
          </a:ln>
        </p:spPr>
      </p:sp>
      <p:sp>
        <p:nvSpPr>
          <p:cNvPr id="22" name="Text 20"/>
          <p:cNvSpPr/>
          <p:nvPr/>
        </p:nvSpPr>
        <p:spPr>
          <a:xfrm>
            <a:off x="457200" y="3931920"/>
            <a:ext cx="1371600" cy="502920"/>
          </a:xfrm>
          <a:prstGeom prst="rect">
            <a:avLst/>
          </a:prstGeom>
          <a:noFill/>
          <a:ln/>
        </p:spPr>
        <p:txBody>
          <a:bodyPr wrap="square" lIns="0" tIns="0" rIns="0" bIns="0" rtlCol="0" anchor="ctr"/>
          <a:lstStyle/>
          <a:p>
            <a:pPr algn="ctr" indent="0" marL="0">
              <a:buNone/>
            </a:pPr>
            <a:r>
              <a:rPr lang="en-US" sz="1300" b="1" dirty="0">
                <a:solidFill>
                  <a:srgbClr val="1A2744"/>
                </a:solidFill>
              </a:rPr>
              <a:t>⏱ 45 mins</a:t>
            </a:r>
            <a:endParaRPr lang="en-US" sz="1300" dirty="0"/>
          </a:p>
        </p:txBody>
      </p:sp>
      <p:sp>
        <p:nvSpPr>
          <p:cNvPr id="23" name="Shape 21"/>
          <p:cNvSpPr/>
          <p:nvPr/>
        </p:nvSpPr>
        <p:spPr>
          <a:xfrm>
            <a:off x="1965960" y="3931920"/>
            <a:ext cx="2011680" cy="502920"/>
          </a:xfrm>
          <a:prstGeom prst="rect">
            <a:avLst/>
          </a:prstGeom>
          <a:solidFill>
            <a:srgbClr val="253555"/>
          </a:solidFill>
          <a:ln w="12700">
            <a:solidFill>
              <a:srgbClr val="253555"/>
            </a:solidFill>
            <a:prstDash val="solid"/>
          </a:ln>
        </p:spPr>
      </p:sp>
      <p:sp>
        <p:nvSpPr>
          <p:cNvPr id="24" name="Text 22"/>
          <p:cNvSpPr/>
          <p:nvPr/>
        </p:nvSpPr>
        <p:spPr>
          <a:xfrm>
            <a:off x="1965960" y="3931920"/>
            <a:ext cx="2011680" cy="502920"/>
          </a:xfrm>
          <a:prstGeom prst="rect">
            <a:avLst/>
          </a:prstGeom>
          <a:noFill/>
          <a:ln/>
        </p:spPr>
        <p:txBody>
          <a:bodyPr wrap="square" lIns="0" tIns="0" rIns="0" bIns="0" rtlCol="0" anchor="ctr"/>
          <a:lstStyle/>
          <a:p>
            <a:pPr algn="ctr" indent="0" marL="0">
              <a:buNone/>
            </a:pPr>
            <a:r>
              <a:rPr lang="en-US" sz="1200" dirty="0">
                <a:solidFill>
                  <a:srgbClr val="94A3B8"/>
                </a:solidFill>
              </a:rPr>
              <a:t>Year 12 Computer Science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744"/>
          </a:solidFill>
          <a:ln w="12700">
            <a:solidFill>
              <a:srgbClr val="1A2744"/>
            </a:solidFill>
            <a:prstDash val="solid"/>
          </a:ln>
        </p:spPr>
      </p:sp>
      <p:sp>
        <p:nvSpPr>
          <p:cNvPr id="3" name="Text 1"/>
          <p:cNvSpPr/>
          <p:nvPr/>
        </p:nvSpPr>
        <p:spPr>
          <a:xfrm>
            <a:off x="365760" y="0"/>
            <a:ext cx="8229600" cy="685800"/>
          </a:xfrm>
          <a:prstGeom prst="rect">
            <a:avLst/>
          </a:prstGeom>
          <a:noFill/>
          <a:ln/>
        </p:spPr>
        <p:txBody>
          <a:bodyPr wrap="square" lIns="0" tIns="0" rIns="0" bIns="0" rtlCol="0" anchor="ctr"/>
          <a:lstStyle/>
          <a:p>
            <a:pPr indent="0" marL="0">
              <a:buNone/>
            </a:pPr>
            <a:r>
              <a:rPr lang="en-US" sz="2200" b="1" dirty="0">
                <a:solidFill>
                  <a:srgbClr val="FFFFFF"/>
                </a:solidFill>
              </a:rPr>
              <a:t>Lesson Overview</a:t>
            </a:r>
            <a:endParaRPr lang="en-US" sz="2200" dirty="0"/>
          </a:p>
        </p:txBody>
      </p:sp>
      <p:sp>
        <p:nvSpPr>
          <p:cNvPr id="4" name="Shape 2"/>
          <p:cNvSpPr/>
          <p:nvPr/>
        </p:nvSpPr>
        <p:spPr>
          <a:xfrm>
            <a:off x="320040" y="868680"/>
            <a:ext cx="4023360" cy="39319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320040" y="868680"/>
            <a:ext cx="4023360" cy="457200"/>
          </a:xfrm>
          <a:prstGeom prst="rect">
            <a:avLst/>
          </a:prstGeom>
          <a:solidFill>
            <a:srgbClr val="0D9488"/>
          </a:solidFill>
          <a:ln w="12700">
            <a:solidFill>
              <a:srgbClr val="0D9488"/>
            </a:solidFill>
            <a:prstDash val="solid"/>
          </a:ln>
        </p:spPr>
      </p:sp>
      <p:sp>
        <p:nvSpPr>
          <p:cNvPr id="6" name="Text 4"/>
          <p:cNvSpPr/>
          <p:nvPr/>
        </p:nvSpPr>
        <p:spPr>
          <a:xfrm>
            <a:off x="411480" y="868680"/>
            <a:ext cx="3840480" cy="457200"/>
          </a:xfrm>
          <a:prstGeom prst="rect">
            <a:avLst/>
          </a:prstGeom>
          <a:noFill/>
          <a:ln/>
        </p:spPr>
        <p:txBody>
          <a:bodyPr wrap="square" lIns="0" tIns="0" rIns="0" bIns="0" rtlCol="0" anchor="ctr"/>
          <a:lstStyle/>
          <a:p>
            <a:pPr indent="0" marL="0">
              <a:buNone/>
            </a:pPr>
            <a:r>
              <a:rPr lang="en-US" sz="1400" b="1" dirty="0">
                <a:solidFill>
                  <a:srgbClr val="FFFFFF"/>
                </a:solidFill>
              </a:rPr>
              <a:t>🎯  Learning Objectives</a:t>
            </a:r>
            <a:endParaRPr lang="en-US" sz="1400" dirty="0"/>
          </a:p>
        </p:txBody>
      </p:sp>
      <p:sp>
        <p:nvSpPr>
          <p:cNvPr id="7" name="Shape 5"/>
          <p:cNvSpPr/>
          <p:nvPr/>
        </p:nvSpPr>
        <p:spPr>
          <a:xfrm>
            <a:off x="457200" y="1463040"/>
            <a:ext cx="201168" cy="201168"/>
          </a:xfrm>
          <a:prstGeom prst="ellipse">
            <a:avLst/>
          </a:prstGeom>
          <a:solidFill>
            <a:srgbClr val="0D9488"/>
          </a:solidFill>
          <a:ln w="12700">
            <a:solidFill>
              <a:srgbClr val="0D9488"/>
            </a:solidFill>
            <a:prstDash val="solid"/>
          </a:ln>
        </p:spPr>
      </p:sp>
      <p:sp>
        <p:nvSpPr>
          <p:cNvPr id="8" name="Text 6"/>
          <p:cNvSpPr/>
          <p:nvPr/>
        </p:nvSpPr>
        <p:spPr>
          <a:xfrm>
            <a:off x="777240" y="1417320"/>
            <a:ext cx="3383280" cy="320040"/>
          </a:xfrm>
          <a:prstGeom prst="rect">
            <a:avLst/>
          </a:prstGeom>
          <a:noFill/>
          <a:ln/>
        </p:spPr>
        <p:txBody>
          <a:bodyPr wrap="square" lIns="0" tIns="0" rIns="0" bIns="0" rtlCol="0" anchor="ctr"/>
          <a:lstStyle/>
          <a:p>
            <a:pPr indent="0" marL="0">
              <a:buNone/>
            </a:pPr>
            <a:r>
              <a:rPr lang="en-US" sz="1200" dirty="0">
                <a:solidFill>
                  <a:srgbClr val="1E293B"/>
                </a:solidFill>
              </a:rPr>
              <a:t>Identify classes from application requirements</a:t>
            </a:r>
            <a:endParaRPr lang="en-US" sz="1200" dirty="0"/>
          </a:p>
        </p:txBody>
      </p:sp>
      <p:sp>
        <p:nvSpPr>
          <p:cNvPr id="9" name="Shape 7"/>
          <p:cNvSpPr/>
          <p:nvPr/>
        </p:nvSpPr>
        <p:spPr>
          <a:xfrm>
            <a:off x="457200" y="2039112"/>
            <a:ext cx="201168" cy="201168"/>
          </a:xfrm>
          <a:prstGeom prst="ellipse">
            <a:avLst/>
          </a:prstGeom>
          <a:solidFill>
            <a:srgbClr val="0D9488"/>
          </a:solidFill>
          <a:ln w="12700">
            <a:solidFill>
              <a:srgbClr val="0D9488"/>
            </a:solidFill>
            <a:prstDash val="solid"/>
          </a:ln>
        </p:spPr>
      </p:sp>
      <p:sp>
        <p:nvSpPr>
          <p:cNvPr id="10" name="Text 8"/>
          <p:cNvSpPr/>
          <p:nvPr/>
        </p:nvSpPr>
        <p:spPr>
          <a:xfrm>
            <a:off x="777240" y="1993392"/>
            <a:ext cx="3383280" cy="320040"/>
          </a:xfrm>
          <a:prstGeom prst="rect">
            <a:avLst/>
          </a:prstGeom>
          <a:noFill/>
          <a:ln/>
        </p:spPr>
        <p:txBody>
          <a:bodyPr wrap="square" lIns="0" tIns="0" rIns="0" bIns="0" rtlCol="0" anchor="ctr"/>
          <a:lstStyle/>
          <a:p>
            <a:pPr indent="0" marL="0">
              <a:buNone/>
            </a:pPr>
            <a:r>
              <a:rPr lang="en-US" sz="1200" dirty="0">
                <a:solidFill>
                  <a:srgbClr val="1E293B"/>
                </a:solidFill>
              </a:rPr>
              <a:t>Define attributes and methods for a class</a:t>
            </a:r>
            <a:endParaRPr lang="en-US" sz="1200" dirty="0"/>
          </a:p>
        </p:txBody>
      </p:sp>
      <p:sp>
        <p:nvSpPr>
          <p:cNvPr id="11" name="Shape 9"/>
          <p:cNvSpPr/>
          <p:nvPr/>
        </p:nvSpPr>
        <p:spPr>
          <a:xfrm>
            <a:off x="457200" y="2615184"/>
            <a:ext cx="201168" cy="201168"/>
          </a:xfrm>
          <a:prstGeom prst="ellipse">
            <a:avLst/>
          </a:prstGeom>
          <a:solidFill>
            <a:srgbClr val="0D9488"/>
          </a:solidFill>
          <a:ln w="12700">
            <a:solidFill>
              <a:srgbClr val="0D9488"/>
            </a:solidFill>
            <a:prstDash val="solid"/>
          </a:ln>
        </p:spPr>
      </p:sp>
      <p:sp>
        <p:nvSpPr>
          <p:cNvPr id="12" name="Text 10"/>
          <p:cNvSpPr/>
          <p:nvPr/>
        </p:nvSpPr>
        <p:spPr>
          <a:xfrm>
            <a:off x="777240" y="2569464"/>
            <a:ext cx="3383280" cy="320040"/>
          </a:xfrm>
          <a:prstGeom prst="rect">
            <a:avLst/>
          </a:prstGeom>
          <a:noFill/>
          <a:ln/>
        </p:spPr>
        <p:txBody>
          <a:bodyPr wrap="square" lIns="0" tIns="0" rIns="0" bIns="0" rtlCol="0" anchor="ctr"/>
          <a:lstStyle/>
          <a:p>
            <a:pPr indent="0" marL="0">
              <a:buNone/>
            </a:pPr>
            <a:r>
              <a:rPr lang="en-US" sz="1200" dirty="0">
                <a:solidFill>
                  <a:srgbClr val="1E293B"/>
                </a:solidFill>
              </a:rPr>
              <a:t>Read and draw UML class diagrams</a:t>
            </a:r>
            <a:endParaRPr lang="en-US" sz="1200" dirty="0"/>
          </a:p>
        </p:txBody>
      </p:sp>
      <p:sp>
        <p:nvSpPr>
          <p:cNvPr id="13" name="Shape 11"/>
          <p:cNvSpPr/>
          <p:nvPr/>
        </p:nvSpPr>
        <p:spPr>
          <a:xfrm>
            <a:off x="457200" y="3191256"/>
            <a:ext cx="201168" cy="201168"/>
          </a:xfrm>
          <a:prstGeom prst="ellipse">
            <a:avLst/>
          </a:prstGeom>
          <a:solidFill>
            <a:srgbClr val="0D9488"/>
          </a:solidFill>
          <a:ln w="12700">
            <a:solidFill>
              <a:srgbClr val="0D9488"/>
            </a:solidFill>
            <a:prstDash val="solid"/>
          </a:ln>
        </p:spPr>
      </p:sp>
      <p:sp>
        <p:nvSpPr>
          <p:cNvPr id="14" name="Text 12"/>
          <p:cNvSpPr/>
          <p:nvPr/>
        </p:nvSpPr>
        <p:spPr>
          <a:xfrm>
            <a:off x="777240" y="3145536"/>
            <a:ext cx="3383280" cy="320040"/>
          </a:xfrm>
          <a:prstGeom prst="rect">
            <a:avLst/>
          </a:prstGeom>
          <a:noFill/>
          <a:ln/>
        </p:spPr>
        <p:txBody>
          <a:bodyPr wrap="square" lIns="0" tIns="0" rIns="0" bIns="0" rtlCol="0" anchor="ctr"/>
          <a:lstStyle/>
          <a:p>
            <a:pPr indent="0" marL="0">
              <a:buNone/>
            </a:pPr>
            <a:r>
              <a:rPr lang="en-US" sz="1200" dirty="0">
                <a:solidFill>
                  <a:srgbClr val="1E293B"/>
                </a:solidFill>
              </a:rPr>
              <a:t>Use correct visibility notation (+  –  #)</a:t>
            </a:r>
            <a:endParaRPr lang="en-US" sz="1200" dirty="0"/>
          </a:p>
        </p:txBody>
      </p:sp>
      <p:sp>
        <p:nvSpPr>
          <p:cNvPr id="15" name="Shape 13"/>
          <p:cNvSpPr/>
          <p:nvPr/>
        </p:nvSpPr>
        <p:spPr>
          <a:xfrm>
            <a:off x="457200" y="3767328"/>
            <a:ext cx="201168" cy="201168"/>
          </a:xfrm>
          <a:prstGeom prst="ellipse">
            <a:avLst/>
          </a:prstGeom>
          <a:solidFill>
            <a:srgbClr val="0D9488"/>
          </a:solidFill>
          <a:ln w="12700">
            <a:solidFill>
              <a:srgbClr val="0D9488"/>
            </a:solidFill>
            <a:prstDash val="solid"/>
          </a:ln>
        </p:spPr>
      </p:sp>
      <p:sp>
        <p:nvSpPr>
          <p:cNvPr id="16" name="Text 14"/>
          <p:cNvSpPr/>
          <p:nvPr/>
        </p:nvSpPr>
        <p:spPr>
          <a:xfrm>
            <a:off x="777240" y="3721608"/>
            <a:ext cx="3383280" cy="320040"/>
          </a:xfrm>
          <a:prstGeom prst="rect">
            <a:avLst/>
          </a:prstGeom>
          <a:noFill/>
          <a:ln/>
        </p:spPr>
        <p:txBody>
          <a:bodyPr wrap="square" lIns="0" tIns="0" rIns="0" bIns="0" rtlCol="0" anchor="ctr"/>
          <a:lstStyle/>
          <a:p>
            <a:pPr indent="0" marL="0">
              <a:buNone/>
            </a:pPr>
            <a:r>
              <a:rPr lang="en-US" sz="1200" dirty="0">
                <a:solidFill>
                  <a:srgbClr val="1E293B"/>
                </a:solidFill>
              </a:rPr>
              <a:t>Represent relationships between classes</a:t>
            </a:r>
            <a:endParaRPr lang="en-US" sz="1200" dirty="0"/>
          </a:p>
        </p:txBody>
      </p:sp>
      <p:sp>
        <p:nvSpPr>
          <p:cNvPr id="17" name="Shape 15"/>
          <p:cNvSpPr/>
          <p:nvPr/>
        </p:nvSpPr>
        <p:spPr>
          <a:xfrm>
            <a:off x="4800600" y="868680"/>
            <a:ext cx="4023360" cy="393192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4800600" y="868680"/>
            <a:ext cx="4023360" cy="457200"/>
          </a:xfrm>
          <a:prstGeom prst="rect">
            <a:avLst/>
          </a:prstGeom>
          <a:solidFill>
            <a:srgbClr val="1A2744"/>
          </a:solidFill>
          <a:ln w="12700">
            <a:solidFill>
              <a:srgbClr val="1A2744"/>
            </a:solidFill>
            <a:prstDash val="solid"/>
          </a:ln>
        </p:spPr>
      </p:sp>
      <p:sp>
        <p:nvSpPr>
          <p:cNvPr id="19" name="Text 17"/>
          <p:cNvSpPr/>
          <p:nvPr/>
        </p:nvSpPr>
        <p:spPr>
          <a:xfrm>
            <a:off x="4892040" y="868680"/>
            <a:ext cx="3840480" cy="457200"/>
          </a:xfrm>
          <a:prstGeom prst="rect">
            <a:avLst/>
          </a:prstGeom>
          <a:noFill/>
          <a:ln/>
        </p:spPr>
        <p:txBody>
          <a:bodyPr wrap="square" lIns="0" tIns="0" rIns="0" bIns="0" rtlCol="0" anchor="ctr"/>
          <a:lstStyle/>
          <a:p>
            <a:pPr indent="0" marL="0">
              <a:buNone/>
            </a:pPr>
            <a:r>
              <a:rPr lang="en-US" sz="1400" b="1" dirty="0">
                <a:solidFill>
                  <a:srgbClr val="FFFFFF"/>
                </a:solidFill>
              </a:rPr>
              <a:t>⏱  Lesson Plan (45 min)</a:t>
            </a:r>
            <a:endParaRPr lang="en-US" sz="1400" dirty="0"/>
          </a:p>
        </p:txBody>
      </p:sp>
      <p:sp>
        <p:nvSpPr>
          <p:cNvPr id="20" name="Shape 18"/>
          <p:cNvSpPr/>
          <p:nvPr/>
        </p:nvSpPr>
        <p:spPr>
          <a:xfrm>
            <a:off x="4937760" y="1463040"/>
            <a:ext cx="914400" cy="347472"/>
          </a:xfrm>
          <a:prstGeom prst="rect">
            <a:avLst/>
          </a:prstGeom>
          <a:solidFill>
            <a:srgbClr val="7C3AED"/>
          </a:solidFill>
          <a:ln w="12700">
            <a:solidFill>
              <a:srgbClr val="7C3AED"/>
            </a:solidFill>
            <a:prstDash val="solid"/>
          </a:ln>
        </p:spPr>
      </p:sp>
      <p:sp>
        <p:nvSpPr>
          <p:cNvPr id="21" name="Text 19"/>
          <p:cNvSpPr/>
          <p:nvPr/>
        </p:nvSpPr>
        <p:spPr>
          <a:xfrm>
            <a:off x="4937760" y="1463040"/>
            <a:ext cx="914400" cy="347472"/>
          </a:xfrm>
          <a:prstGeom prst="rect">
            <a:avLst/>
          </a:prstGeom>
          <a:noFill/>
          <a:ln/>
        </p:spPr>
        <p:txBody>
          <a:bodyPr wrap="square" lIns="0" tIns="0" rIns="0" bIns="0" rtlCol="0" anchor="ctr"/>
          <a:lstStyle/>
          <a:p>
            <a:pPr algn="ctr" indent="0" marL="0">
              <a:buNone/>
            </a:pPr>
            <a:r>
              <a:rPr lang="en-US" sz="1000" b="1" dirty="0">
                <a:solidFill>
                  <a:srgbClr val="FFFFFF"/>
                </a:solidFill>
              </a:rPr>
              <a:t>0–8 min</a:t>
            </a:r>
            <a:endParaRPr lang="en-US" sz="1000" dirty="0"/>
          </a:p>
        </p:txBody>
      </p:sp>
      <p:sp>
        <p:nvSpPr>
          <p:cNvPr id="22" name="Text 20"/>
          <p:cNvSpPr/>
          <p:nvPr/>
        </p:nvSpPr>
        <p:spPr>
          <a:xfrm>
            <a:off x="5943600" y="1463040"/>
            <a:ext cx="2743200" cy="347472"/>
          </a:xfrm>
          <a:prstGeom prst="rect">
            <a:avLst/>
          </a:prstGeom>
          <a:noFill/>
          <a:ln/>
        </p:spPr>
        <p:txBody>
          <a:bodyPr wrap="square" lIns="0" tIns="0" rIns="0" bIns="0" rtlCol="0" anchor="ctr"/>
          <a:lstStyle/>
          <a:p>
            <a:pPr indent="0" marL="0">
              <a:buNone/>
            </a:pPr>
            <a:r>
              <a:rPr lang="en-US" sz="1200" dirty="0">
                <a:solidFill>
                  <a:srgbClr val="1E293B"/>
                </a:solidFill>
              </a:rPr>
              <a:t>Starter Activity</a:t>
            </a:r>
            <a:endParaRPr lang="en-US" sz="1200" dirty="0"/>
          </a:p>
        </p:txBody>
      </p:sp>
      <p:sp>
        <p:nvSpPr>
          <p:cNvPr id="23" name="Shape 21"/>
          <p:cNvSpPr/>
          <p:nvPr/>
        </p:nvSpPr>
        <p:spPr>
          <a:xfrm>
            <a:off x="4937760" y="1984248"/>
            <a:ext cx="914400" cy="347472"/>
          </a:xfrm>
          <a:prstGeom prst="rect">
            <a:avLst/>
          </a:prstGeom>
          <a:solidFill>
            <a:srgbClr val="0D9488"/>
          </a:solidFill>
          <a:ln w="12700">
            <a:solidFill>
              <a:srgbClr val="0D9488"/>
            </a:solidFill>
            <a:prstDash val="solid"/>
          </a:ln>
        </p:spPr>
      </p:sp>
      <p:sp>
        <p:nvSpPr>
          <p:cNvPr id="24" name="Text 22"/>
          <p:cNvSpPr/>
          <p:nvPr/>
        </p:nvSpPr>
        <p:spPr>
          <a:xfrm>
            <a:off x="4937760" y="1984248"/>
            <a:ext cx="914400" cy="347472"/>
          </a:xfrm>
          <a:prstGeom prst="rect">
            <a:avLst/>
          </a:prstGeom>
          <a:noFill/>
          <a:ln/>
        </p:spPr>
        <p:txBody>
          <a:bodyPr wrap="square" lIns="0" tIns="0" rIns="0" bIns="0" rtlCol="0" anchor="ctr"/>
          <a:lstStyle/>
          <a:p>
            <a:pPr algn="ctr" indent="0" marL="0">
              <a:buNone/>
            </a:pPr>
            <a:r>
              <a:rPr lang="en-US" sz="1000" b="1" dirty="0">
                <a:solidFill>
                  <a:srgbClr val="FFFFFF"/>
                </a:solidFill>
              </a:rPr>
              <a:t>8–15 min</a:t>
            </a:r>
            <a:endParaRPr lang="en-US" sz="1000" dirty="0"/>
          </a:p>
        </p:txBody>
      </p:sp>
      <p:sp>
        <p:nvSpPr>
          <p:cNvPr id="25" name="Text 23"/>
          <p:cNvSpPr/>
          <p:nvPr/>
        </p:nvSpPr>
        <p:spPr>
          <a:xfrm>
            <a:off x="5943600" y="1984248"/>
            <a:ext cx="2743200" cy="347472"/>
          </a:xfrm>
          <a:prstGeom prst="rect">
            <a:avLst/>
          </a:prstGeom>
          <a:noFill/>
          <a:ln/>
        </p:spPr>
        <p:txBody>
          <a:bodyPr wrap="square" lIns="0" tIns="0" rIns="0" bIns="0" rtlCol="0" anchor="ctr"/>
          <a:lstStyle/>
          <a:p>
            <a:pPr indent="0" marL="0">
              <a:buNone/>
            </a:pPr>
            <a:r>
              <a:rPr lang="en-US" sz="1200" dirty="0">
                <a:solidFill>
                  <a:srgbClr val="1E293B"/>
                </a:solidFill>
              </a:rPr>
              <a:t>Requirements → Classes</a:t>
            </a:r>
            <a:endParaRPr lang="en-US" sz="1200" dirty="0"/>
          </a:p>
        </p:txBody>
      </p:sp>
      <p:sp>
        <p:nvSpPr>
          <p:cNvPr id="26" name="Shape 24"/>
          <p:cNvSpPr/>
          <p:nvPr/>
        </p:nvSpPr>
        <p:spPr>
          <a:xfrm>
            <a:off x="4937760" y="2505456"/>
            <a:ext cx="914400" cy="347472"/>
          </a:xfrm>
          <a:prstGeom prst="rect">
            <a:avLst/>
          </a:prstGeom>
          <a:solidFill>
            <a:srgbClr val="0D9488"/>
          </a:solidFill>
          <a:ln w="12700">
            <a:solidFill>
              <a:srgbClr val="0D9488"/>
            </a:solidFill>
            <a:prstDash val="solid"/>
          </a:ln>
        </p:spPr>
      </p:sp>
      <p:sp>
        <p:nvSpPr>
          <p:cNvPr id="27" name="Text 25"/>
          <p:cNvSpPr/>
          <p:nvPr/>
        </p:nvSpPr>
        <p:spPr>
          <a:xfrm>
            <a:off x="4937760" y="2505456"/>
            <a:ext cx="914400" cy="347472"/>
          </a:xfrm>
          <a:prstGeom prst="rect">
            <a:avLst/>
          </a:prstGeom>
          <a:noFill/>
          <a:ln/>
        </p:spPr>
        <p:txBody>
          <a:bodyPr wrap="square" lIns="0" tIns="0" rIns="0" bIns="0" rtlCol="0" anchor="ctr"/>
          <a:lstStyle/>
          <a:p>
            <a:pPr algn="ctr" indent="0" marL="0">
              <a:buNone/>
            </a:pPr>
            <a:r>
              <a:rPr lang="en-US" sz="1000" b="1" dirty="0">
                <a:solidFill>
                  <a:srgbClr val="FFFFFF"/>
                </a:solidFill>
              </a:rPr>
              <a:t>15–25 min</a:t>
            </a:r>
            <a:endParaRPr lang="en-US" sz="1000" dirty="0"/>
          </a:p>
        </p:txBody>
      </p:sp>
      <p:sp>
        <p:nvSpPr>
          <p:cNvPr id="28" name="Text 26"/>
          <p:cNvSpPr/>
          <p:nvPr/>
        </p:nvSpPr>
        <p:spPr>
          <a:xfrm>
            <a:off x="5943600" y="2505456"/>
            <a:ext cx="2743200" cy="347472"/>
          </a:xfrm>
          <a:prstGeom prst="rect">
            <a:avLst/>
          </a:prstGeom>
          <a:noFill/>
          <a:ln/>
        </p:spPr>
        <p:txBody>
          <a:bodyPr wrap="square" lIns="0" tIns="0" rIns="0" bIns="0" rtlCol="0" anchor="ctr"/>
          <a:lstStyle/>
          <a:p>
            <a:pPr indent="0" marL="0">
              <a:buNone/>
            </a:pPr>
            <a:r>
              <a:rPr lang="en-US" sz="1200" dirty="0">
                <a:solidFill>
                  <a:srgbClr val="1E293B"/>
                </a:solidFill>
              </a:rPr>
              <a:t>UML Diagram Notation</a:t>
            </a:r>
            <a:endParaRPr lang="en-US" sz="1200" dirty="0"/>
          </a:p>
        </p:txBody>
      </p:sp>
      <p:sp>
        <p:nvSpPr>
          <p:cNvPr id="29" name="Shape 27"/>
          <p:cNvSpPr/>
          <p:nvPr/>
        </p:nvSpPr>
        <p:spPr>
          <a:xfrm>
            <a:off x="4937760" y="3026664"/>
            <a:ext cx="914400" cy="347472"/>
          </a:xfrm>
          <a:prstGeom prst="rect">
            <a:avLst/>
          </a:prstGeom>
          <a:solidFill>
            <a:srgbClr val="0D9488"/>
          </a:solidFill>
          <a:ln w="12700">
            <a:solidFill>
              <a:srgbClr val="0D9488"/>
            </a:solidFill>
            <a:prstDash val="solid"/>
          </a:ln>
        </p:spPr>
      </p:sp>
      <p:sp>
        <p:nvSpPr>
          <p:cNvPr id="30" name="Text 28"/>
          <p:cNvSpPr/>
          <p:nvPr/>
        </p:nvSpPr>
        <p:spPr>
          <a:xfrm>
            <a:off x="4937760" y="3026664"/>
            <a:ext cx="914400" cy="347472"/>
          </a:xfrm>
          <a:prstGeom prst="rect">
            <a:avLst/>
          </a:prstGeom>
          <a:noFill/>
          <a:ln/>
        </p:spPr>
        <p:txBody>
          <a:bodyPr wrap="square" lIns="0" tIns="0" rIns="0" bIns="0" rtlCol="0" anchor="ctr"/>
          <a:lstStyle/>
          <a:p>
            <a:pPr algn="ctr" indent="0" marL="0">
              <a:buNone/>
            </a:pPr>
            <a:r>
              <a:rPr lang="en-US" sz="1000" b="1" dirty="0">
                <a:solidFill>
                  <a:srgbClr val="FFFFFF"/>
                </a:solidFill>
              </a:rPr>
              <a:t>25–35 min</a:t>
            </a:r>
            <a:endParaRPr lang="en-US" sz="1000" dirty="0"/>
          </a:p>
        </p:txBody>
      </p:sp>
      <p:sp>
        <p:nvSpPr>
          <p:cNvPr id="31" name="Text 29"/>
          <p:cNvSpPr/>
          <p:nvPr/>
        </p:nvSpPr>
        <p:spPr>
          <a:xfrm>
            <a:off x="5943600" y="3026664"/>
            <a:ext cx="2743200" cy="347472"/>
          </a:xfrm>
          <a:prstGeom prst="rect">
            <a:avLst/>
          </a:prstGeom>
          <a:noFill/>
          <a:ln/>
        </p:spPr>
        <p:txBody>
          <a:bodyPr wrap="square" lIns="0" tIns="0" rIns="0" bIns="0" rtlCol="0" anchor="ctr"/>
          <a:lstStyle/>
          <a:p>
            <a:pPr indent="0" marL="0">
              <a:buNone/>
            </a:pPr>
            <a:r>
              <a:rPr lang="en-US" sz="1200" dirty="0">
                <a:solidFill>
                  <a:srgbClr val="1E293B"/>
                </a:solidFill>
              </a:rPr>
              <a:t>Class Relationships</a:t>
            </a:r>
            <a:endParaRPr lang="en-US" sz="1200" dirty="0"/>
          </a:p>
        </p:txBody>
      </p:sp>
      <p:sp>
        <p:nvSpPr>
          <p:cNvPr id="32" name="Shape 30"/>
          <p:cNvSpPr/>
          <p:nvPr/>
        </p:nvSpPr>
        <p:spPr>
          <a:xfrm>
            <a:off x="4937760" y="3547872"/>
            <a:ext cx="914400" cy="347472"/>
          </a:xfrm>
          <a:prstGeom prst="rect">
            <a:avLst/>
          </a:prstGeom>
          <a:solidFill>
            <a:srgbClr val="DC2626"/>
          </a:solidFill>
          <a:ln w="12700">
            <a:solidFill>
              <a:srgbClr val="DC2626"/>
            </a:solidFill>
            <a:prstDash val="solid"/>
          </a:ln>
        </p:spPr>
      </p:sp>
      <p:sp>
        <p:nvSpPr>
          <p:cNvPr id="33" name="Text 31"/>
          <p:cNvSpPr/>
          <p:nvPr/>
        </p:nvSpPr>
        <p:spPr>
          <a:xfrm>
            <a:off x="4937760" y="3547872"/>
            <a:ext cx="914400" cy="347472"/>
          </a:xfrm>
          <a:prstGeom prst="rect">
            <a:avLst/>
          </a:prstGeom>
          <a:noFill/>
          <a:ln/>
        </p:spPr>
        <p:txBody>
          <a:bodyPr wrap="square" lIns="0" tIns="0" rIns="0" bIns="0" rtlCol="0" anchor="ctr"/>
          <a:lstStyle/>
          <a:p>
            <a:pPr algn="ctr" indent="0" marL="0">
              <a:buNone/>
            </a:pPr>
            <a:r>
              <a:rPr lang="en-US" sz="1000" b="1" dirty="0">
                <a:solidFill>
                  <a:srgbClr val="FFFFFF"/>
                </a:solidFill>
              </a:rPr>
              <a:t>35–42 min</a:t>
            </a:r>
            <a:endParaRPr lang="en-US" sz="1000" dirty="0"/>
          </a:p>
        </p:txBody>
      </p:sp>
      <p:sp>
        <p:nvSpPr>
          <p:cNvPr id="34" name="Text 32"/>
          <p:cNvSpPr/>
          <p:nvPr/>
        </p:nvSpPr>
        <p:spPr>
          <a:xfrm>
            <a:off x="5943600" y="3547872"/>
            <a:ext cx="2743200" cy="347472"/>
          </a:xfrm>
          <a:prstGeom prst="rect">
            <a:avLst/>
          </a:prstGeom>
          <a:noFill/>
          <a:ln/>
        </p:spPr>
        <p:txBody>
          <a:bodyPr wrap="square" lIns="0" tIns="0" rIns="0" bIns="0" rtlCol="0" anchor="ctr"/>
          <a:lstStyle/>
          <a:p>
            <a:pPr indent="0" marL="0">
              <a:buNone/>
            </a:pPr>
            <a:r>
              <a:rPr lang="en-US" sz="1200" dirty="0">
                <a:solidFill>
                  <a:srgbClr val="1E293B"/>
                </a:solidFill>
              </a:rPr>
              <a:t>Challenge Tasks</a:t>
            </a:r>
            <a:endParaRPr lang="en-US" sz="1200" dirty="0"/>
          </a:p>
        </p:txBody>
      </p:sp>
      <p:sp>
        <p:nvSpPr>
          <p:cNvPr id="35" name="Shape 33"/>
          <p:cNvSpPr/>
          <p:nvPr/>
        </p:nvSpPr>
        <p:spPr>
          <a:xfrm>
            <a:off x="4937760" y="4069080"/>
            <a:ext cx="914400" cy="347472"/>
          </a:xfrm>
          <a:prstGeom prst="rect">
            <a:avLst/>
          </a:prstGeom>
          <a:solidFill>
            <a:srgbClr val="1A2744"/>
          </a:solidFill>
          <a:ln w="12700">
            <a:solidFill>
              <a:srgbClr val="1A2744"/>
            </a:solidFill>
            <a:prstDash val="solid"/>
          </a:ln>
        </p:spPr>
      </p:sp>
      <p:sp>
        <p:nvSpPr>
          <p:cNvPr id="36" name="Text 34"/>
          <p:cNvSpPr/>
          <p:nvPr/>
        </p:nvSpPr>
        <p:spPr>
          <a:xfrm>
            <a:off x="4937760" y="4069080"/>
            <a:ext cx="914400" cy="347472"/>
          </a:xfrm>
          <a:prstGeom prst="rect">
            <a:avLst/>
          </a:prstGeom>
          <a:noFill/>
          <a:ln/>
        </p:spPr>
        <p:txBody>
          <a:bodyPr wrap="square" lIns="0" tIns="0" rIns="0" bIns="0" rtlCol="0" anchor="ctr"/>
          <a:lstStyle/>
          <a:p>
            <a:pPr algn="ctr" indent="0" marL="0">
              <a:buNone/>
            </a:pPr>
            <a:r>
              <a:rPr lang="en-US" sz="1000" b="1" dirty="0">
                <a:solidFill>
                  <a:srgbClr val="FFFFFF"/>
                </a:solidFill>
              </a:rPr>
              <a:t>42–45 min</a:t>
            </a:r>
            <a:endParaRPr lang="en-US" sz="1000" dirty="0"/>
          </a:p>
        </p:txBody>
      </p:sp>
      <p:sp>
        <p:nvSpPr>
          <p:cNvPr id="37" name="Text 35"/>
          <p:cNvSpPr/>
          <p:nvPr/>
        </p:nvSpPr>
        <p:spPr>
          <a:xfrm>
            <a:off x="5943600" y="4069080"/>
            <a:ext cx="2743200" cy="347472"/>
          </a:xfrm>
          <a:prstGeom prst="rect">
            <a:avLst/>
          </a:prstGeom>
          <a:noFill/>
          <a:ln/>
        </p:spPr>
        <p:txBody>
          <a:bodyPr wrap="square" lIns="0" tIns="0" rIns="0" bIns="0" rtlCol="0" anchor="ctr"/>
          <a:lstStyle/>
          <a:p>
            <a:pPr indent="0" marL="0">
              <a:buNone/>
            </a:pPr>
            <a:r>
              <a:rPr lang="en-US" sz="1200" dirty="0">
                <a:solidFill>
                  <a:srgbClr val="1E293B"/>
                </a:solidFill>
              </a:rPr>
              <a:t>Exit Ticket / Plenary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7C3AED"/>
          </a:solidFill>
          <a:ln w="12700">
            <a:solidFill>
              <a:srgbClr val="7C3AED"/>
            </a:solidFill>
            <a:prstDash val="solid"/>
          </a:ln>
        </p:spPr>
      </p:sp>
      <p:sp>
        <p:nvSpPr>
          <p:cNvPr id="3" name="Text 1"/>
          <p:cNvSpPr/>
          <p:nvPr/>
        </p:nvSpPr>
        <p:spPr>
          <a:xfrm>
            <a:off x="365760" y="0"/>
            <a:ext cx="8229600" cy="685800"/>
          </a:xfrm>
          <a:prstGeom prst="rect">
            <a:avLst/>
          </a:prstGeom>
          <a:noFill/>
          <a:ln/>
        </p:spPr>
        <p:txBody>
          <a:bodyPr wrap="square" lIns="0" tIns="0" rIns="0" bIns="0" rtlCol="0" anchor="ctr"/>
          <a:lstStyle/>
          <a:p>
            <a:pPr indent="0" marL="0">
              <a:buNone/>
            </a:pPr>
            <a:r>
              <a:rPr lang="en-US" sz="2200" b="1" dirty="0">
                <a:solidFill>
                  <a:srgbClr val="FFFFFF"/>
                </a:solidFill>
              </a:rPr>
              <a:t>⚡  Starter Activity  (8 minutes)</a:t>
            </a:r>
            <a:endParaRPr lang="en-US" sz="2200" dirty="0"/>
          </a:p>
        </p:txBody>
      </p:sp>
      <p:sp>
        <p:nvSpPr>
          <p:cNvPr id="4" name="Text 2"/>
          <p:cNvSpPr/>
          <p:nvPr/>
        </p:nvSpPr>
        <p:spPr>
          <a:xfrm>
            <a:off x="365760" y="777240"/>
            <a:ext cx="8412480" cy="411480"/>
          </a:xfrm>
          <a:prstGeom prst="rect">
            <a:avLst/>
          </a:prstGeom>
          <a:noFill/>
          <a:ln/>
        </p:spPr>
        <p:txBody>
          <a:bodyPr wrap="square" rtlCol="0" anchor="ctr"/>
          <a:lstStyle/>
          <a:p>
            <a:pPr indent="0" marL="0">
              <a:buNone/>
            </a:pPr>
            <a:r>
              <a:rPr lang="en-US" sz="1400" i="1" dirty="0">
                <a:solidFill>
                  <a:srgbClr val="1E293B"/>
                </a:solidFill>
              </a:rPr>
              <a:t>Look at the scenario below. What 'things' can you identify?</a:t>
            </a:r>
            <a:endParaRPr lang="en-US" sz="1400" dirty="0"/>
          </a:p>
        </p:txBody>
      </p:sp>
      <p:sp>
        <p:nvSpPr>
          <p:cNvPr id="5" name="Shape 3"/>
          <p:cNvSpPr/>
          <p:nvPr/>
        </p:nvSpPr>
        <p:spPr>
          <a:xfrm>
            <a:off x="320040" y="1188720"/>
            <a:ext cx="8503920" cy="868680"/>
          </a:xfrm>
          <a:prstGeom prst="rect">
            <a:avLst/>
          </a:prstGeom>
          <a:solidFill>
            <a:srgbClr val="EDE9FE"/>
          </a:solidFill>
          <a:ln w="12700">
            <a:solidFill>
              <a:srgbClr val="7C3AED"/>
            </a:solidFill>
            <a:prstDash val="solid"/>
          </a:ln>
        </p:spPr>
      </p:sp>
      <p:sp>
        <p:nvSpPr>
          <p:cNvPr id="6" name="Text 4"/>
          <p:cNvSpPr/>
          <p:nvPr/>
        </p:nvSpPr>
        <p:spPr>
          <a:xfrm>
            <a:off x="457200" y="1234440"/>
            <a:ext cx="8229600" cy="749808"/>
          </a:xfrm>
          <a:prstGeom prst="rect">
            <a:avLst/>
          </a:prstGeom>
          <a:noFill/>
          <a:ln/>
        </p:spPr>
        <p:txBody>
          <a:bodyPr wrap="square" rtlCol="0" anchor="ctr"/>
          <a:lstStyle/>
          <a:p>
            <a:pPr indent="0" marL="0">
              <a:buNone/>
            </a:pPr>
            <a:r>
              <a:rPr lang="en-US" sz="1300" b="1" dirty="0">
                <a:solidFill>
                  <a:srgbClr val="7C3AED"/>
                </a:solidFill>
              </a:rPr>
              <a:t>Scenario: </a:t>
            </a:r>
            <a:pPr indent="0" marL="0">
              <a:buNone/>
            </a:pPr>
            <a:r>
              <a:rPr lang="en-US" sz="1300" dirty="0">
                <a:solidFill>
                  <a:srgbClr val="1E293B"/>
                </a:solidFill>
              </a:rPr>
              <a:t>A school wants a system to manage student clubs. Students can join clubs, and each club has a teacher supervisor. The system must track which students are in which club and allow clubs to schedule meetings.</a:t>
            </a:r>
            <a:endParaRPr lang="en-US" sz="1300" dirty="0"/>
          </a:p>
        </p:txBody>
      </p:sp>
      <p:sp>
        <p:nvSpPr>
          <p:cNvPr id="7" name="Shape 5"/>
          <p:cNvSpPr/>
          <p:nvPr/>
        </p:nvSpPr>
        <p:spPr>
          <a:xfrm>
            <a:off x="182880" y="2194560"/>
            <a:ext cx="2834640" cy="2651760"/>
          </a:xfrm>
          <a:prstGeom prst="rect">
            <a:avLst/>
          </a:prstGeom>
          <a:solidFill>
            <a:srgbClr val="DBEAFE"/>
          </a:solidFill>
          <a:ln w="25400">
            <a:solidFill>
              <a:srgbClr val="0284C7"/>
            </a:solidFill>
            <a:prstDash val="solid"/>
          </a:ln>
          <a:effectLst>
            <a:outerShdw sx="100000" sy="100000" kx="0" ky="0" algn="bl" rotWithShape="0" blurRad="101600" dist="38100" dir="8100000">
              <a:srgbClr val="000000">
                <a:alpha val="12000"/>
              </a:srgbClr>
            </a:outerShdw>
          </a:effectLst>
        </p:spPr>
      </p:sp>
      <p:sp>
        <p:nvSpPr>
          <p:cNvPr id="8" name="Shape 6"/>
          <p:cNvSpPr/>
          <p:nvPr/>
        </p:nvSpPr>
        <p:spPr>
          <a:xfrm>
            <a:off x="182880" y="2194560"/>
            <a:ext cx="2834640" cy="438912"/>
          </a:xfrm>
          <a:prstGeom prst="rect">
            <a:avLst/>
          </a:prstGeom>
          <a:solidFill>
            <a:srgbClr val="0284C7"/>
          </a:solidFill>
          <a:ln w="12700">
            <a:solidFill>
              <a:srgbClr val="0284C7"/>
            </a:solidFill>
            <a:prstDash val="solid"/>
          </a:ln>
        </p:spPr>
      </p:sp>
      <p:sp>
        <p:nvSpPr>
          <p:cNvPr id="9" name="Text 7"/>
          <p:cNvSpPr/>
          <p:nvPr/>
        </p:nvSpPr>
        <p:spPr>
          <a:xfrm>
            <a:off x="228600" y="2194560"/>
            <a:ext cx="2743200" cy="438912"/>
          </a:xfrm>
          <a:prstGeom prst="rect">
            <a:avLst/>
          </a:prstGeom>
          <a:noFill/>
          <a:ln/>
        </p:spPr>
        <p:txBody>
          <a:bodyPr wrap="square" lIns="0" tIns="0" rIns="0" bIns="0" rtlCol="0" anchor="ctr"/>
          <a:lstStyle/>
          <a:p>
            <a:pPr indent="0" marL="0">
              <a:buNone/>
            </a:pPr>
            <a:r>
              <a:rPr lang="en-US" sz="1300" b="1" dirty="0">
                <a:solidFill>
                  <a:srgbClr val="FFFFFF"/>
                </a:solidFill>
              </a:rPr>
              <a:t>🟢  Foundation</a:t>
            </a:r>
            <a:endParaRPr lang="en-US" sz="1300" dirty="0"/>
          </a:p>
        </p:txBody>
      </p:sp>
      <p:sp>
        <p:nvSpPr>
          <p:cNvPr id="10" name="Text 8"/>
          <p:cNvSpPr/>
          <p:nvPr/>
        </p:nvSpPr>
        <p:spPr>
          <a:xfrm>
            <a:off x="292608" y="2706624"/>
            <a:ext cx="2633472" cy="1417320"/>
          </a:xfrm>
          <a:prstGeom prst="rect">
            <a:avLst/>
          </a:prstGeom>
          <a:noFill/>
          <a:ln/>
        </p:spPr>
        <p:txBody>
          <a:bodyPr wrap="square" lIns="0" tIns="0" rIns="0" bIns="0" rtlCol="0" anchor="t"/>
          <a:lstStyle/>
          <a:p>
            <a:pPr indent="0" marL="0">
              <a:buNone/>
            </a:pPr>
            <a:r>
              <a:rPr lang="en-US" sz="1100" dirty="0">
                <a:solidFill>
                  <a:srgbClr val="1E293B"/>
                </a:solidFill>
              </a:rPr>
              <a:t>List as many 'real-world things' (nouns) from the scenario as you can. For each one, write 2 pieces of information it might need to store.</a:t>
            </a:r>
            <a:endParaRPr lang="en-US" sz="1100" dirty="0"/>
          </a:p>
        </p:txBody>
      </p:sp>
      <p:sp>
        <p:nvSpPr>
          <p:cNvPr id="11" name="Shape 9"/>
          <p:cNvSpPr/>
          <p:nvPr/>
        </p:nvSpPr>
        <p:spPr>
          <a:xfrm>
            <a:off x="274320" y="4187952"/>
            <a:ext cx="2651760" cy="566928"/>
          </a:xfrm>
          <a:prstGeom prst="rect">
            <a:avLst/>
          </a:prstGeom>
          <a:solidFill>
            <a:srgbClr val="FFFFFF"/>
          </a:solidFill>
          <a:ln w="12700">
            <a:solidFill>
              <a:srgbClr val="0284C7"/>
            </a:solidFill>
            <a:prstDash val="solid"/>
          </a:ln>
        </p:spPr>
      </p:sp>
      <p:sp>
        <p:nvSpPr>
          <p:cNvPr id="12" name="Text 10"/>
          <p:cNvSpPr/>
          <p:nvPr/>
        </p:nvSpPr>
        <p:spPr>
          <a:xfrm>
            <a:off x="320040" y="4206240"/>
            <a:ext cx="2560320" cy="548640"/>
          </a:xfrm>
          <a:prstGeom prst="rect">
            <a:avLst/>
          </a:prstGeom>
          <a:noFill/>
          <a:ln/>
        </p:spPr>
        <p:txBody>
          <a:bodyPr wrap="square" lIns="0" tIns="0" rIns="0" bIns="0" rtlCol="0" anchor="ctr"/>
          <a:lstStyle/>
          <a:p>
            <a:pPr indent="0" marL="0">
              <a:buNone/>
            </a:pPr>
            <a:r>
              <a:rPr lang="en-US" sz="1000" i="1" dirty="0">
                <a:solidFill>
                  <a:srgbClr val="0284C7"/>
                </a:solidFill>
              </a:rPr>
              <a:t>Hint: Start with Student and Club — what details would you keep about each?</a:t>
            </a:r>
            <a:endParaRPr lang="en-US" sz="1000" dirty="0"/>
          </a:p>
        </p:txBody>
      </p:sp>
      <p:sp>
        <p:nvSpPr>
          <p:cNvPr id="13" name="Shape 11"/>
          <p:cNvSpPr/>
          <p:nvPr/>
        </p:nvSpPr>
        <p:spPr>
          <a:xfrm>
            <a:off x="3172968" y="2194560"/>
            <a:ext cx="2834640" cy="2651760"/>
          </a:xfrm>
          <a:prstGeom prst="rect">
            <a:avLst/>
          </a:prstGeom>
          <a:solidFill>
            <a:srgbClr val="CCFBF1"/>
          </a:solidFill>
          <a:ln w="25400">
            <a:solidFill>
              <a:srgbClr val="0D9488"/>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3172968" y="2194560"/>
            <a:ext cx="2834640" cy="438912"/>
          </a:xfrm>
          <a:prstGeom prst="rect">
            <a:avLst/>
          </a:prstGeom>
          <a:solidFill>
            <a:srgbClr val="0D9488"/>
          </a:solidFill>
          <a:ln w="12700">
            <a:solidFill>
              <a:srgbClr val="0D9488"/>
            </a:solidFill>
            <a:prstDash val="solid"/>
          </a:ln>
        </p:spPr>
      </p:sp>
      <p:sp>
        <p:nvSpPr>
          <p:cNvPr id="15" name="Text 13"/>
          <p:cNvSpPr/>
          <p:nvPr/>
        </p:nvSpPr>
        <p:spPr>
          <a:xfrm>
            <a:off x="3218688" y="2194560"/>
            <a:ext cx="2743200" cy="438912"/>
          </a:xfrm>
          <a:prstGeom prst="rect">
            <a:avLst/>
          </a:prstGeom>
          <a:noFill/>
          <a:ln/>
        </p:spPr>
        <p:txBody>
          <a:bodyPr wrap="square" lIns="0" tIns="0" rIns="0" bIns="0" rtlCol="0" anchor="ctr"/>
          <a:lstStyle/>
          <a:p>
            <a:pPr indent="0" marL="0">
              <a:buNone/>
            </a:pPr>
            <a:r>
              <a:rPr lang="en-US" sz="1300" b="1" dirty="0">
                <a:solidFill>
                  <a:srgbClr val="FFFFFF"/>
                </a:solidFill>
              </a:rPr>
              <a:t>🟡  Core</a:t>
            </a:r>
            <a:endParaRPr lang="en-US" sz="1300" dirty="0"/>
          </a:p>
        </p:txBody>
      </p:sp>
      <p:sp>
        <p:nvSpPr>
          <p:cNvPr id="16" name="Text 14"/>
          <p:cNvSpPr/>
          <p:nvPr/>
        </p:nvSpPr>
        <p:spPr>
          <a:xfrm>
            <a:off x="3282696" y="2706624"/>
            <a:ext cx="2633472" cy="1417320"/>
          </a:xfrm>
          <a:prstGeom prst="rect">
            <a:avLst/>
          </a:prstGeom>
          <a:noFill/>
          <a:ln/>
        </p:spPr>
        <p:txBody>
          <a:bodyPr wrap="square" lIns="0" tIns="0" rIns="0" bIns="0" rtlCol="0" anchor="t"/>
          <a:lstStyle/>
          <a:p>
            <a:pPr indent="0" marL="0">
              <a:buNone/>
            </a:pPr>
            <a:r>
              <a:rPr lang="en-US" sz="1100" dirty="0">
                <a:solidFill>
                  <a:srgbClr val="1E293B"/>
                </a:solidFill>
              </a:rPr>
              <a:t>Identify at least 3 classes from the scenario. For each class, suggest 2 attributes and 2 methods. Think about what actions are described in the scenario.</a:t>
            </a:r>
            <a:endParaRPr lang="en-US" sz="1100" dirty="0"/>
          </a:p>
        </p:txBody>
      </p:sp>
      <p:sp>
        <p:nvSpPr>
          <p:cNvPr id="17" name="Shape 15"/>
          <p:cNvSpPr/>
          <p:nvPr/>
        </p:nvSpPr>
        <p:spPr>
          <a:xfrm>
            <a:off x="3264408" y="4187952"/>
            <a:ext cx="2651760" cy="566928"/>
          </a:xfrm>
          <a:prstGeom prst="rect">
            <a:avLst/>
          </a:prstGeom>
          <a:solidFill>
            <a:srgbClr val="FFFFFF"/>
          </a:solidFill>
          <a:ln w="12700">
            <a:solidFill>
              <a:srgbClr val="0D9488"/>
            </a:solidFill>
            <a:prstDash val="solid"/>
          </a:ln>
        </p:spPr>
      </p:sp>
      <p:sp>
        <p:nvSpPr>
          <p:cNvPr id="18" name="Text 16"/>
          <p:cNvSpPr/>
          <p:nvPr/>
        </p:nvSpPr>
        <p:spPr>
          <a:xfrm>
            <a:off x="3310128" y="4206240"/>
            <a:ext cx="2560320" cy="548640"/>
          </a:xfrm>
          <a:prstGeom prst="rect">
            <a:avLst/>
          </a:prstGeom>
          <a:noFill/>
          <a:ln/>
        </p:spPr>
        <p:txBody>
          <a:bodyPr wrap="square" lIns="0" tIns="0" rIns="0" bIns="0" rtlCol="0" anchor="ctr"/>
          <a:lstStyle/>
          <a:p>
            <a:pPr indent="0" marL="0">
              <a:buNone/>
            </a:pPr>
            <a:r>
              <a:rPr lang="en-US" sz="1000" i="1" dirty="0">
                <a:solidFill>
                  <a:srgbClr val="0D9488"/>
                </a:solidFill>
              </a:rPr>
              <a:t>Hint: Verbs in the scenario (join, schedule, track) often become methods!</a:t>
            </a:r>
            <a:endParaRPr lang="en-US" sz="1000" dirty="0"/>
          </a:p>
        </p:txBody>
      </p:sp>
      <p:sp>
        <p:nvSpPr>
          <p:cNvPr id="19" name="Shape 17"/>
          <p:cNvSpPr/>
          <p:nvPr/>
        </p:nvSpPr>
        <p:spPr>
          <a:xfrm>
            <a:off x="6163056" y="2194560"/>
            <a:ext cx="2834640" cy="2651760"/>
          </a:xfrm>
          <a:prstGeom prst="rect">
            <a:avLst/>
          </a:prstGeom>
          <a:solidFill>
            <a:srgbClr val="FEE2E2"/>
          </a:solidFill>
          <a:ln w="25400">
            <a:solidFill>
              <a:srgbClr val="DC2626"/>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6163056" y="2194560"/>
            <a:ext cx="2834640" cy="438912"/>
          </a:xfrm>
          <a:prstGeom prst="rect">
            <a:avLst/>
          </a:prstGeom>
          <a:solidFill>
            <a:srgbClr val="DC2626"/>
          </a:solidFill>
          <a:ln w="12700">
            <a:solidFill>
              <a:srgbClr val="DC2626"/>
            </a:solidFill>
            <a:prstDash val="solid"/>
          </a:ln>
        </p:spPr>
      </p:sp>
      <p:sp>
        <p:nvSpPr>
          <p:cNvPr id="21" name="Text 19"/>
          <p:cNvSpPr/>
          <p:nvPr/>
        </p:nvSpPr>
        <p:spPr>
          <a:xfrm>
            <a:off x="6208776" y="2194560"/>
            <a:ext cx="2743200" cy="438912"/>
          </a:xfrm>
          <a:prstGeom prst="rect">
            <a:avLst/>
          </a:prstGeom>
          <a:noFill/>
          <a:ln/>
        </p:spPr>
        <p:txBody>
          <a:bodyPr wrap="square" lIns="0" tIns="0" rIns="0" bIns="0" rtlCol="0" anchor="ctr"/>
          <a:lstStyle/>
          <a:p>
            <a:pPr indent="0" marL="0">
              <a:buNone/>
            </a:pPr>
            <a:r>
              <a:rPr lang="en-US" sz="1300" b="1" dirty="0">
                <a:solidFill>
                  <a:srgbClr val="FFFFFF"/>
                </a:solidFill>
              </a:rPr>
              <a:t>🔴  Extension</a:t>
            </a:r>
            <a:endParaRPr lang="en-US" sz="1300" dirty="0"/>
          </a:p>
        </p:txBody>
      </p:sp>
      <p:sp>
        <p:nvSpPr>
          <p:cNvPr id="22" name="Text 20"/>
          <p:cNvSpPr/>
          <p:nvPr/>
        </p:nvSpPr>
        <p:spPr>
          <a:xfrm>
            <a:off x="6272784" y="2706624"/>
            <a:ext cx="2633472" cy="1417320"/>
          </a:xfrm>
          <a:prstGeom prst="rect">
            <a:avLst/>
          </a:prstGeom>
          <a:noFill/>
          <a:ln/>
        </p:spPr>
        <p:txBody>
          <a:bodyPr wrap="square" lIns="0" tIns="0" rIns="0" bIns="0" rtlCol="0" anchor="t"/>
          <a:lstStyle/>
          <a:p>
            <a:pPr indent="0" marL="0">
              <a:buNone/>
            </a:pPr>
            <a:r>
              <a:rPr lang="en-US" sz="1100" dirty="0">
                <a:solidFill>
                  <a:srgbClr val="1E293B"/>
                </a:solidFill>
              </a:rPr>
              <a:t>Identify all classes, their attributes and methods. Then sketch the relationships between them. Which classes know about each other? Is any class part of another?</a:t>
            </a:r>
            <a:endParaRPr lang="en-US" sz="1100" dirty="0"/>
          </a:p>
        </p:txBody>
      </p:sp>
      <p:sp>
        <p:nvSpPr>
          <p:cNvPr id="23" name="Shape 21"/>
          <p:cNvSpPr/>
          <p:nvPr/>
        </p:nvSpPr>
        <p:spPr>
          <a:xfrm>
            <a:off x="6254496" y="4187952"/>
            <a:ext cx="2651760" cy="566928"/>
          </a:xfrm>
          <a:prstGeom prst="rect">
            <a:avLst/>
          </a:prstGeom>
          <a:solidFill>
            <a:srgbClr val="FFFFFF"/>
          </a:solidFill>
          <a:ln w="12700">
            <a:solidFill>
              <a:srgbClr val="DC2626"/>
            </a:solidFill>
            <a:prstDash val="solid"/>
          </a:ln>
        </p:spPr>
      </p:sp>
      <p:sp>
        <p:nvSpPr>
          <p:cNvPr id="24" name="Text 22"/>
          <p:cNvSpPr/>
          <p:nvPr/>
        </p:nvSpPr>
        <p:spPr>
          <a:xfrm>
            <a:off x="6300216" y="4206240"/>
            <a:ext cx="2560320" cy="548640"/>
          </a:xfrm>
          <a:prstGeom prst="rect">
            <a:avLst/>
          </a:prstGeom>
          <a:noFill/>
          <a:ln/>
        </p:spPr>
        <p:txBody>
          <a:bodyPr wrap="square" lIns="0" tIns="0" rIns="0" bIns="0" rtlCol="0" anchor="ctr"/>
          <a:lstStyle/>
          <a:p>
            <a:pPr indent="0" marL="0">
              <a:buNone/>
            </a:pPr>
            <a:r>
              <a:rPr lang="en-US" sz="1000" i="1" dirty="0">
                <a:solidFill>
                  <a:srgbClr val="DC2626"/>
                </a:solidFill>
              </a:rPr>
              <a:t>Hint: Consider whether a Meeting can exist without a Club (composition vs aggregation).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9488"/>
          </a:solidFill>
          <a:ln w="12700">
            <a:solidFill>
              <a:srgbClr val="0D9488"/>
            </a:solidFill>
            <a:prstDash val="solid"/>
          </a:ln>
        </p:spPr>
      </p:sp>
      <p:sp>
        <p:nvSpPr>
          <p:cNvPr id="3" name="Text 1"/>
          <p:cNvSpPr/>
          <p:nvPr/>
        </p:nvSpPr>
        <p:spPr>
          <a:xfrm>
            <a:off x="365760" y="0"/>
            <a:ext cx="8229600" cy="685800"/>
          </a:xfrm>
          <a:prstGeom prst="rect">
            <a:avLst/>
          </a:prstGeom>
          <a:noFill/>
          <a:ln/>
        </p:spPr>
        <p:txBody>
          <a:bodyPr wrap="square" lIns="0" tIns="0" rIns="0" bIns="0" rtlCol="0" anchor="ctr"/>
          <a:lstStyle/>
          <a:p>
            <a:pPr indent="0" marL="0">
              <a:buNone/>
            </a:pPr>
            <a:r>
              <a:rPr lang="en-US" sz="2200" b="1" dirty="0">
                <a:solidFill>
                  <a:srgbClr val="FFFFFF"/>
                </a:solidFill>
              </a:rPr>
              <a:t>📋  From Requirements to Classes</a:t>
            </a:r>
            <a:endParaRPr lang="en-US" sz="2200" dirty="0"/>
          </a:p>
        </p:txBody>
      </p:sp>
      <p:sp>
        <p:nvSpPr>
          <p:cNvPr id="4" name="Shape 2"/>
          <p:cNvSpPr/>
          <p:nvPr/>
        </p:nvSpPr>
        <p:spPr>
          <a:xfrm>
            <a:off x="274320" y="822960"/>
            <a:ext cx="2743200" cy="33832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274320" y="822960"/>
            <a:ext cx="2743200" cy="502920"/>
          </a:xfrm>
          <a:prstGeom prst="rect">
            <a:avLst/>
          </a:prstGeom>
          <a:solidFill>
            <a:srgbClr val="0D9488"/>
          </a:solidFill>
          <a:ln w="12700">
            <a:solidFill>
              <a:srgbClr val="0D9488"/>
            </a:solidFill>
            <a:prstDash val="solid"/>
          </a:ln>
        </p:spPr>
      </p:sp>
      <p:sp>
        <p:nvSpPr>
          <p:cNvPr id="6" name="Text 4"/>
          <p:cNvSpPr/>
          <p:nvPr/>
        </p:nvSpPr>
        <p:spPr>
          <a:xfrm>
            <a:off x="274320" y="822960"/>
            <a:ext cx="2743200" cy="502920"/>
          </a:xfrm>
          <a:prstGeom prst="rect">
            <a:avLst/>
          </a:prstGeom>
          <a:noFill/>
          <a:ln/>
        </p:spPr>
        <p:txBody>
          <a:bodyPr wrap="square" lIns="0" tIns="0" rIns="0" bIns="0" rtlCol="0" anchor="ctr"/>
          <a:lstStyle/>
          <a:p>
            <a:pPr algn="ctr" indent="0" marL="0">
              <a:buNone/>
            </a:pPr>
            <a:r>
              <a:rPr lang="en-US" sz="1300" b="1" dirty="0">
                <a:solidFill>
                  <a:srgbClr val="FFFFFF"/>
                </a:solidFill>
              </a:rPr>
              <a:t>Step 1</a:t>
            </a:r>
            <a:endParaRPr lang="en-US" sz="1300" dirty="0"/>
          </a:p>
        </p:txBody>
      </p:sp>
      <p:sp>
        <p:nvSpPr>
          <p:cNvPr id="7" name="Text 5"/>
          <p:cNvSpPr/>
          <p:nvPr/>
        </p:nvSpPr>
        <p:spPr>
          <a:xfrm>
            <a:off x="365760" y="1389888"/>
            <a:ext cx="2560320" cy="457200"/>
          </a:xfrm>
          <a:prstGeom prst="rect">
            <a:avLst/>
          </a:prstGeom>
          <a:noFill/>
          <a:ln/>
        </p:spPr>
        <p:txBody>
          <a:bodyPr wrap="square" lIns="0" tIns="0" rIns="0" bIns="0" rtlCol="0" anchor="ctr"/>
          <a:lstStyle/>
          <a:p>
            <a:pPr indent="0" marL="0">
              <a:buNone/>
            </a:pPr>
            <a:r>
              <a:rPr lang="en-US" sz="1400" b="1" dirty="0">
                <a:solidFill>
                  <a:srgbClr val="0D9488"/>
                </a:solidFill>
              </a:rPr>
              <a:t>Read the Requirements</a:t>
            </a:r>
            <a:endParaRPr lang="en-US" sz="1400" dirty="0"/>
          </a:p>
        </p:txBody>
      </p:sp>
      <p:sp>
        <p:nvSpPr>
          <p:cNvPr id="8" name="Text 6"/>
          <p:cNvSpPr/>
          <p:nvPr/>
        </p:nvSpPr>
        <p:spPr>
          <a:xfrm>
            <a:off x="365760" y="1920240"/>
            <a:ext cx="2560320" cy="2103120"/>
          </a:xfrm>
          <a:prstGeom prst="rect">
            <a:avLst/>
          </a:prstGeom>
          <a:noFill/>
          <a:ln/>
        </p:spPr>
        <p:txBody>
          <a:bodyPr wrap="square" lIns="0" tIns="0" rIns="0" bIns="0" rtlCol="0" anchor="ctr"/>
          <a:lstStyle/>
          <a:p>
            <a:pPr indent="0" marL="0">
              <a:buNone/>
            </a:pPr>
            <a:r>
              <a:rPr lang="en-US" sz="1200" dirty="0">
                <a:solidFill>
                  <a:srgbClr val="1E293B"/>
                </a:solidFill>
              </a:rPr>
              <a:t>What problem does the software solve?</a:t>
            </a:r>
            <a:endParaRPr lang="en-US" sz="1200" dirty="0"/>
          </a:p>
          <a:p>
            <a:pPr indent="0" marL="0">
              <a:buNone/>
            </a:pPr>
            <a:r>
              <a:rPr lang="en-US" sz="1200" dirty="0">
                <a:solidFill>
                  <a:srgbClr val="1E293B"/>
                </a:solidFill>
              </a:rPr>
              <a:t>What must the system do?</a:t>
            </a:r>
            <a:endParaRPr lang="en-US" sz="1200" dirty="0"/>
          </a:p>
          <a:p>
            <a:pPr indent="0" marL="0">
              <a:buNone/>
            </a:pPr>
            <a:r>
              <a:rPr lang="en-US" sz="1200" dirty="0">
                <a:solidFill>
                  <a:srgbClr val="1E293B"/>
                </a:solidFill>
              </a:rPr>
              <a:t>What must the system store?</a:t>
            </a:r>
            <a:endParaRPr lang="en-US" sz="1200" dirty="0"/>
          </a:p>
        </p:txBody>
      </p:sp>
      <p:sp>
        <p:nvSpPr>
          <p:cNvPr id="9" name="Shape 7"/>
          <p:cNvSpPr/>
          <p:nvPr/>
        </p:nvSpPr>
        <p:spPr>
          <a:xfrm>
            <a:off x="3218688" y="822960"/>
            <a:ext cx="2743200" cy="33832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3218688" y="822960"/>
            <a:ext cx="2743200" cy="502920"/>
          </a:xfrm>
          <a:prstGeom prst="rect">
            <a:avLst/>
          </a:prstGeom>
          <a:solidFill>
            <a:srgbClr val="F59E0B"/>
          </a:solidFill>
          <a:ln w="12700">
            <a:solidFill>
              <a:srgbClr val="F59E0B"/>
            </a:solidFill>
            <a:prstDash val="solid"/>
          </a:ln>
        </p:spPr>
      </p:sp>
      <p:sp>
        <p:nvSpPr>
          <p:cNvPr id="11" name="Text 9"/>
          <p:cNvSpPr/>
          <p:nvPr/>
        </p:nvSpPr>
        <p:spPr>
          <a:xfrm>
            <a:off x="3218688" y="822960"/>
            <a:ext cx="2743200" cy="502920"/>
          </a:xfrm>
          <a:prstGeom prst="rect">
            <a:avLst/>
          </a:prstGeom>
          <a:noFill/>
          <a:ln/>
        </p:spPr>
        <p:txBody>
          <a:bodyPr wrap="square" lIns="0" tIns="0" rIns="0" bIns="0" rtlCol="0" anchor="ctr"/>
          <a:lstStyle/>
          <a:p>
            <a:pPr algn="ctr" indent="0" marL="0">
              <a:buNone/>
            </a:pPr>
            <a:r>
              <a:rPr lang="en-US" sz="1300" b="1" dirty="0">
                <a:solidFill>
                  <a:srgbClr val="FFFFFF"/>
                </a:solidFill>
              </a:rPr>
              <a:t>Step 2</a:t>
            </a:r>
            <a:endParaRPr lang="en-US" sz="1300" dirty="0"/>
          </a:p>
        </p:txBody>
      </p:sp>
      <p:sp>
        <p:nvSpPr>
          <p:cNvPr id="12" name="Text 10"/>
          <p:cNvSpPr/>
          <p:nvPr/>
        </p:nvSpPr>
        <p:spPr>
          <a:xfrm>
            <a:off x="3310128" y="1389888"/>
            <a:ext cx="2560320" cy="457200"/>
          </a:xfrm>
          <a:prstGeom prst="rect">
            <a:avLst/>
          </a:prstGeom>
          <a:noFill/>
          <a:ln/>
        </p:spPr>
        <p:txBody>
          <a:bodyPr wrap="square" lIns="0" tIns="0" rIns="0" bIns="0" rtlCol="0" anchor="ctr"/>
          <a:lstStyle/>
          <a:p>
            <a:pPr indent="0" marL="0">
              <a:buNone/>
            </a:pPr>
            <a:r>
              <a:rPr lang="en-US" sz="1400" b="1" dirty="0">
                <a:solidFill>
                  <a:srgbClr val="F59E0B"/>
                </a:solidFill>
              </a:rPr>
              <a:t>Find the Nouns</a:t>
            </a:r>
            <a:endParaRPr lang="en-US" sz="1400" dirty="0"/>
          </a:p>
        </p:txBody>
      </p:sp>
      <p:sp>
        <p:nvSpPr>
          <p:cNvPr id="13" name="Text 11"/>
          <p:cNvSpPr/>
          <p:nvPr/>
        </p:nvSpPr>
        <p:spPr>
          <a:xfrm>
            <a:off x="3310128" y="1920240"/>
            <a:ext cx="2560320" cy="2103120"/>
          </a:xfrm>
          <a:prstGeom prst="rect">
            <a:avLst/>
          </a:prstGeom>
          <a:noFill/>
          <a:ln/>
        </p:spPr>
        <p:txBody>
          <a:bodyPr wrap="square" lIns="0" tIns="0" rIns="0" bIns="0" rtlCol="0" anchor="ctr"/>
          <a:lstStyle/>
          <a:p>
            <a:pPr indent="0" marL="0">
              <a:buNone/>
            </a:pPr>
            <a:r>
              <a:rPr lang="en-US" sz="1200" dirty="0">
                <a:solidFill>
                  <a:srgbClr val="1E293B"/>
                </a:solidFill>
              </a:rPr>
              <a:t>Nouns = potential classes</a:t>
            </a:r>
            <a:endParaRPr lang="en-US" sz="1200" dirty="0"/>
          </a:p>
          <a:p>
            <a:pPr indent="0" marL="0">
              <a:buNone/>
            </a:pPr>
            <a:r>
              <a:rPr lang="en-US" sz="1200" dirty="0">
                <a:solidFill>
                  <a:srgbClr val="1E293B"/>
                </a:solidFill>
              </a:rPr>
              <a:t>e.g. Book, User, Loan</a:t>
            </a:r>
            <a:endParaRPr lang="en-US" sz="1200" dirty="0"/>
          </a:p>
          <a:p>
            <a:pPr indent="0" marL="0">
              <a:buNone/>
            </a:pPr>
            <a:r>
              <a:rPr lang="en-US" sz="1200" dirty="0">
                <a:solidFill>
                  <a:srgbClr val="1E293B"/>
                </a:solidFill>
              </a:rPr>
              <a:t>Ask: Is this a distinct 'thing' with its own data?</a:t>
            </a:r>
            <a:endParaRPr lang="en-US" sz="1200" dirty="0"/>
          </a:p>
        </p:txBody>
      </p:sp>
      <p:sp>
        <p:nvSpPr>
          <p:cNvPr id="14" name="Shape 12"/>
          <p:cNvSpPr/>
          <p:nvPr/>
        </p:nvSpPr>
        <p:spPr>
          <a:xfrm>
            <a:off x="6163056" y="822960"/>
            <a:ext cx="2743200" cy="338328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6163056" y="822960"/>
            <a:ext cx="2743200" cy="502920"/>
          </a:xfrm>
          <a:prstGeom prst="rect">
            <a:avLst/>
          </a:prstGeom>
          <a:solidFill>
            <a:srgbClr val="1A2744"/>
          </a:solidFill>
          <a:ln w="12700">
            <a:solidFill>
              <a:srgbClr val="1A2744"/>
            </a:solidFill>
            <a:prstDash val="solid"/>
          </a:ln>
        </p:spPr>
      </p:sp>
      <p:sp>
        <p:nvSpPr>
          <p:cNvPr id="16" name="Text 14"/>
          <p:cNvSpPr/>
          <p:nvPr/>
        </p:nvSpPr>
        <p:spPr>
          <a:xfrm>
            <a:off x="6163056" y="822960"/>
            <a:ext cx="2743200" cy="502920"/>
          </a:xfrm>
          <a:prstGeom prst="rect">
            <a:avLst/>
          </a:prstGeom>
          <a:noFill/>
          <a:ln/>
        </p:spPr>
        <p:txBody>
          <a:bodyPr wrap="square" lIns="0" tIns="0" rIns="0" bIns="0" rtlCol="0" anchor="ctr"/>
          <a:lstStyle/>
          <a:p>
            <a:pPr algn="ctr" indent="0" marL="0">
              <a:buNone/>
            </a:pPr>
            <a:r>
              <a:rPr lang="en-US" sz="1300" b="1" dirty="0">
                <a:solidFill>
                  <a:srgbClr val="FFFFFF"/>
                </a:solidFill>
              </a:rPr>
              <a:t>Step 3</a:t>
            </a:r>
            <a:endParaRPr lang="en-US" sz="1300" dirty="0"/>
          </a:p>
        </p:txBody>
      </p:sp>
      <p:sp>
        <p:nvSpPr>
          <p:cNvPr id="17" name="Text 15"/>
          <p:cNvSpPr/>
          <p:nvPr/>
        </p:nvSpPr>
        <p:spPr>
          <a:xfrm>
            <a:off x="6254496" y="1389888"/>
            <a:ext cx="2560320" cy="457200"/>
          </a:xfrm>
          <a:prstGeom prst="rect">
            <a:avLst/>
          </a:prstGeom>
          <a:noFill/>
          <a:ln/>
        </p:spPr>
        <p:txBody>
          <a:bodyPr wrap="square" lIns="0" tIns="0" rIns="0" bIns="0" rtlCol="0" anchor="ctr"/>
          <a:lstStyle/>
          <a:p>
            <a:pPr indent="0" marL="0">
              <a:buNone/>
            </a:pPr>
            <a:r>
              <a:rPr lang="en-US" sz="1400" b="1" dirty="0">
                <a:solidFill>
                  <a:srgbClr val="1A2744"/>
                </a:solidFill>
              </a:rPr>
              <a:t>Find the Verbs</a:t>
            </a:r>
            <a:endParaRPr lang="en-US" sz="1400" dirty="0"/>
          </a:p>
        </p:txBody>
      </p:sp>
      <p:sp>
        <p:nvSpPr>
          <p:cNvPr id="18" name="Text 16"/>
          <p:cNvSpPr/>
          <p:nvPr/>
        </p:nvSpPr>
        <p:spPr>
          <a:xfrm>
            <a:off x="6254496" y="1920240"/>
            <a:ext cx="2560320" cy="2103120"/>
          </a:xfrm>
          <a:prstGeom prst="rect">
            <a:avLst/>
          </a:prstGeom>
          <a:noFill/>
          <a:ln/>
        </p:spPr>
        <p:txBody>
          <a:bodyPr wrap="square" lIns="0" tIns="0" rIns="0" bIns="0" rtlCol="0" anchor="ctr"/>
          <a:lstStyle/>
          <a:p>
            <a:pPr indent="0" marL="0">
              <a:buNone/>
            </a:pPr>
            <a:r>
              <a:rPr lang="en-US" sz="1200" dirty="0">
                <a:solidFill>
                  <a:srgbClr val="1E293B"/>
                </a:solidFill>
              </a:rPr>
              <a:t>Verbs = potential methods</a:t>
            </a:r>
            <a:endParaRPr lang="en-US" sz="1200" dirty="0"/>
          </a:p>
          <a:p>
            <a:pPr indent="0" marL="0">
              <a:buNone/>
            </a:pPr>
            <a:r>
              <a:rPr lang="en-US" sz="1200" dirty="0">
                <a:solidFill>
                  <a:srgbClr val="1E293B"/>
                </a:solidFill>
              </a:rPr>
              <a:t>e.g. borrow(), returnBook()</a:t>
            </a:r>
            <a:endParaRPr lang="en-US" sz="1200" dirty="0"/>
          </a:p>
          <a:p>
            <a:pPr indent="0" marL="0">
              <a:buNone/>
            </a:pPr>
            <a:r>
              <a:rPr lang="en-US" sz="1200" dirty="0">
                <a:solidFill>
                  <a:srgbClr val="1E293B"/>
                </a:solidFill>
              </a:rPr>
              <a:t>Ask: What actions does this thing perform?</a:t>
            </a:r>
            <a:endParaRPr lang="en-US" sz="1200" dirty="0"/>
          </a:p>
        </p:txBody>
      </p:sp>
      <p:sp>
        <p:nvSpPr>
          <p:cNvPr id="19" name="Shape 17"/>
          <p:cNvSpPr/>
          <p:nvPr/>
        </p:nvSpPr>
        <p:spPr>
          <a:xfrm>
            <a:off x="3017520" y="2514600"/>
            <a:ext cx="201168" cy="0"/>
          </a:xfrm>
          <a:prstGeom prst="line">
            <a:avLst/>
          </a:prstGeom>
          <a:noFill/>
          <a:ln w="25400">
            <a:solidFill>
              <a:srgbClr val="94A3B8"/>
            </a:solidFill>
            <a:prstDash val="solid"/>
          </a:ln>
        </p:spPr>
      </p:sp>
      <p:sp>
        <p:nvSpPr>
          <p:cNvPr id="20" name="Shape 18"/>
          <p:cNvSpPr/>
          <p:nvPr/>
        </p:nvSpPr>
        <p:spPr>
          <a:xfrm>
            <a:off x="5961888" y="2514600"/>
            <a:ext cx="201168" cy="0"/>
          </a:xfrm>
          <a:prstGeom prst="line">
            <a:avLst/>
          </a:prstGeom>
          <a:noFill/>
          <a:ln w="25400">
            <a:solidFill>
              <a:srgbClr val="94A3B8"/>
            </a:solidFill>
            <a:prstDash val="solid"/>
          </a:ln>
        </p:spPr>
      </p:sp>
      <p:sp>
        <p:nvSpPr>
          <p:cNvPr id="21" name="Shape 19"/>
          <p:cNvSpPr/>
          <p:nvPr/>
        </p:nvSpPr>
        <p:spPr>
          <a:xfrm>
            <a:off x="274320" y="4343400"/>
            <a:ext cx="8595360" cy="640080"/>
          </a:xfrm>
          <a:prstGeom prst="rect">
            <a:avLst/>
          </a:prstGeom>
          <a:solidFill>
            <a:srgbClr val="F0FDF9"/>
          </a:solidFill>
          <a:ln w="12700">
            <a:solidFill>
              <a:srgbClr val="0D9488"/>
            </a:solidFill>
            <a:prstDash val="solid"/>
          </a:ln>
        </p:spPr>
      </p:sp>
      <p:sp>
        <p:nvSpPr>
          <p:cNvPr id="22" name="Text 20"/>
          <p:cNvSpPr/>
          <p:nvPr/>
        </p:nvSpPr>
        <p:spPr>
          <a:xfrm>
            <a:off x="411480" y="4370832"/>
            <a:ext cx="8321040" cy="566928"/>
          </a:xfrm>
          <a:prstGeom prst="rect">
            <a:avLst/>
          </a:prstGeom>
          <a:noFill/>
          <a:ln/>
        </p:spPr>
        <p:txBody>
          <a:bodyPr wrap="square" rtlCol="0" anchor="ctr"/>
          <a:lstStyle/>
          <a:p>
            <a:pPr indent="0" marL="0">
              <a:buNone/>
            </a:pPr>
            <a:r>
              <a:rPr lang="en-US" sz="1200" b="1" dirty="0">
                <a:solidFill>
                  <a:srgbClr val="0D9488"/>
                </a:solidFill>
              </a:rPr>
              <a:t>Library System example: </a:t>
            </a:r>
            <a:pPr indent="0" marL="0">
              <a:buNone/>
            </a:pPr>
            <a:r>
              <a:rPr lang="en-US" sz="1200" dirty="0">
                <a:solidFill>
                  <a:srgbClr val="1E293B"/>
                </a:solidFill>
              </a:rPr>
              <a:t>"The system needs to keep track of books (nouns → </a:t>
            </a:r>
            <a:pPr indent="0" marL="0">
              <a:buNone/>
            </a:pPr>
            <a:r>
              <a:rPr lang="en-US" sz="1200" b="1" dirty="0">
                <a:solidFill>
                  <a:srgbClr val="0D9488"/>
                </a:solidFill>
              </a:rPr>
              <a:t>Book class</a:t>
            </a:r>
            <a:pPr indent="0" marL="0">
              <a:buNone/>
            </a:pPr>
            <a:r>
              <a:rPr lang="en-US" sz="1200" dirty="0">
                <a:solidFill>
                  <a:srgbClr val="1E293B"/>
                </a:solidFill>
              </a:rPr>
              <a:t>) and allow users to borrow them (verbs → </a:t>
            </a:r>
            <a:pPr indent="0" marL="0">
              <a:buNone/>
            </a:pPr>
            <a:r>
              <a:rPr lang="en-US" sz="1200" b="1" dirty="0">
                <a:solidFill>
                  <a:srgbClr val="0D9488"/>
                </a:solidFill>
              </a:rPr>
              <a:t>borrow() method</a:t>
            </a:r>
            <a:pPr indent="0" marL="0">
              <a:buNone/>
            </a:pPr>
            <a:r>
              <a:rPr lang="en-US" sz="1200" dirty="0">
                <a:solidFill>
                  <a:srgbClr val="1E293B"/>
                </a:solidFill>
              </a:rPr>
              <a: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744"/>
          </a:solidFill>
          <a:ln w="12700">
            <a:solidFill>
              <a:srgbClr val="1A2744"/>
            </a:solidFill>
            <a:prstDash val="solid"/>
          </a:ln>
        </p:spPr>
      </p:sp>
      <p:sp>
        <p:nvSpPr>
          <p:cNvPr id="3" name="Text 1"/>
          <p:cNvSpPr/>
          <p:nvPr/>
        </p:nvSpPr>
        <p:spPr>
          <a:xfrm>
            <a:off x="365760" y="0"/>
            <a:ext cx="8229600" cy="685800"/>
          </a:xfrm>
          <a:prstGeom prst="rect">
            <a:avLst/>
          </a:prstGeom>
          <a:noFill/>
          <a:ln/>
        </p:spPr>
        <p:txBody>
          <a:bodyPr wrap="square" lIns="0" tIns="0" rIns="0" bIns="0" rtlCol="0" anchor="ctr"/>
          <a:lstStyle/>
          <a:p>
            <a:pPr indent="0" marL="0">
              <a:buNone/>
            </a:pPr>
            <a:r>
              <a:rPr lang="en-US" sz="2200" b="1" dirty="0">
                <a:solidFill>
                  <a:srgbClr val="FFFFFF"/>
                </a:solidFill>
              </a:rPr>
              <a:t>📐  Anatomy of a UML Class Diagram</a:t>
            </a:r>
            <a:endParaRPr lang="en-US" sz="2200" dirty="0"/>
          </a:p>
        </p:txBody>
      </p:sp>
      <p:sp>
        <p:nvSpPr>
          <p:cNvPr id="4" name="Shape 2"/>
          <p:cNvSpPr/>
          <p:nvPr/>
        </p:nvSpPr>
        <p:spPr>
          <a:xfrm>
            <a:off x="365760" y="822960"/>
            <a:ext cx="3657600" cy="2697480"/>
          </a:xfrm>
          <a:prstGeom prst="rect">
            <a:avLst/>
          </a:prstGeom>
          <a:solidFill>
            <a:srgbClr val="FFFFFF"/>
          </a:solidFill>
          <a:ln w="25400">
            <a:solidFill>
              <a:srgbClr val="1A2744"/>
            </a:solidFill>
            <a:prstDash val="solid"/>
          </a:ln>
        </p:spPr>
      </p:sp>
      <p:sp>
        <p:nvSpPr>
          <p:cNvPr id="5" name="Shape 3"/>
          <p:cNvSpPr/>
          <p:nvPr/>
        </p:nvSpPr>
        <p:spPr>
          <a:xfrm>
            <a:off x="365760" y="822960"/>
            <a:ext cx="3657600" cy="502920"/>
          </a:xfrm>
          <a:prstGeom prst="rect">
            <a:avLst/>
          </a:prstGeom>
          <a:solidFill>
            <a:srgbClr val="1A2744"/>
          </a:solidFill>
          <a:ln w="12700">
            <a:solidFill>
              <a:srgbClr val="1A2744"/>
            </a:solidFill>
            <a:prstDash val="solid"/>
          </a:ln>
        </p:spPr>
      </p:sp>
      <p:sp>
        <p:nvSpPr>
          <p:cNvPr id="6" name="Text 4"/>
          <p:cNvSpPr/>
          <p:nvPr/>
        </p:nvSpPr>
        <p:spPr>
          <a:xfrm>
            <a:off x="365760" y="822960"/>
            <a:ext cx="3657600" cy="502920"/>
          </a:xfrm>
          <a:prstGeom prst="rect">
            <a:avLst/>
          </a:prstGeom>
          <a:noFill/>
          <a:ln/>
        </p:spPr>
        <p:txBody>
          <a:bodyPr wrap="square" lIns="0" tIns="0" rIns="0" bIns="0" rtlCol="0" anchor="ctr"/>
          <a:lstStyle/>
          <a:p>
            <a:pPr algn="ctr" indent="0" marL="0">
              <a:buNone/>
            </a:pPr>
            <a:r>
              <a:rPr lang="en-US" sz="1800" b="1" dirty="0">
                <a:solidFill>
                  <a:srgbClr val="FFFFFF"/>
                </a:solidFill>
              </a:rPr>
              <a:t>Book</a:t>
            </a:r>
            <a:endParaRPr lang="en-US" sz="1800" dirty="0"/>
          </a:p>
        </p:txBody>
      </p:sp>
      <p:sp>
        <p:nvSpPr>
          <p:cNvPr id="7" name="Shape 5"/>
          <p:cNvSpPr/>
          <p:nvPr/>
        </p:nvSpPr>
        <p:spPr>
          <a:xfrm>
            <a:off x="365760" y="2560320"/>
            <a:ext cx="3657600" cy="0"/>
          </a:xfrm>
          <a:prstGeom prst="line">
            <a:avLst/>
          </a:prstGeom>
          <a:noFill/>
          <a:ln w="19050">
            <a:solidFill>
              <a:srgbClr val="1A2744"/>
            </a:solidFill>
            <a:prstDash val="solid"/>
          </a:ln>
        </p:spPr>
      </p:sp>
      <p:sp>
        <p:nvSpPr>
          <p:cNvPr id="8" name="Text 6"/>
          <p:cNvSpPr/>
          <p:nvPr/>
        </p:nvSpPr>
        <p:spPr>
          <a:xfrm>
            <a:off x="493776" y="1371600"/>
            <a:ext cx="3474720" cy="265176"/>
          </a:xfrm>
          <a:prstGeom prst="rect">
            <a:avLst/>
          </a:prstGeom>
          <a:noFill/>
          <a:ln/>
        </p:spPr>
        <p:txBody>
          <a:bodyPr wrap="square" lIns="0" tIns="0" rIns="0" bIns="0" rtlCol="0" anchor="ctr"/>
          <a:lstStyle/>
          <a:p>
            <a:pPr indent="0" marL="0">
              <a:buNone/>
            </a:pPr>
            <a:r>
              <a:rPr lang="en-US" sz="1200" dirty="0">
                <a:solidFill>
                  <a:srgbClr val="0D9488"/>
                </a:solidFill>
                <a:latin typeface="Consolas" pitchFamily="34" charset="0"/>
                <a:ea typeface="Consolas" pitchFamily="34" charset="-122"/>
                <a:cs typeface="Consolas" pitchFamily="34" charset="-120"/>
              </a:rPr>
              <a:t>+ title: String</a:t>
            </a:r>
            <a:endParaRPr lang="en-US" sz="1200" dirty="0"/>
          </a:p>
        </p:txBody>
      </p:sp>
      <p:sp>
        <p:nvSpPr>
          <p:cNvPr id="9" name="Text 7"/>
          <p:cNvSpPr/>
          <p:nvPr/>
        </p:nvSpPr>
        <p:spPr>
          <a:xfrm>
            <a:off x="493776" y="1655064"/>
            <a:ext cx="3474720" cy="265176"/>
          </a:xfrm>
          <a:prstGeom prst="rect">
            <a:avLst/>
          </a:prstGeom>
          <a:noFill/>
          <a:ln/>
        </p:spPr>
        <p:txBody>
          <a:bodyPr wrap="square" lIns="0" tIns="0" rIns="0" bIns="0" rtlCol="0" anchor="ctr"/>
          <a:lstStyle/>
          <a:p>
            <a:pPr indent="0" marL="0">
              <a:buNone/>
            </a:pPr>
            <a:r>
              <a:rPr lang="en-US" sz="1200" dirty="0">
                <a:solidFill>
                  <a:srgbClr val="0D9488"/>
                </a:solidFill>
                <a:latin typeface="Consolas" pitchFamily="34" charset="0"/>
                <a:ea typeface="Consolas" pitchFamily="34" charset="-122"/>
                <a:cs typeface="Consolas" pitchFamily="34" charset="-120"/>
              </a:rPr>
              <a:t>+ author: String</a:t>
            </a:r>
            <a:endParaRPr lang="en-US" sz="1200" dirty="0"/>
          </a:p>
        </p:txBody>
      </p:sp>
      <p:sp>
        <p:nvSpPr>
          <p:cNvPr id="10" name="Text 8"/>
          <p:cNvSpPr/>
          <p:nvPr/>
        </p:nvSpPr>
        <p:spPr>
          <a:xfrm>
            <a:off x="493776" y="1938528"/>
            <a:ext cx="3474720" cy="265176"/>
          </a:xfrm>
          <a:prstGeom prst="rect">
            <a:avLst/>
          </a:prstGeom>
          <a:noFill/>
          <a:ln/>
        </p:spPr>
        <p:txBody>
          <a:bodyPr wrap="square" lIns="0" tIns="0" rIns="0" bIns="0" rtlCol="0" anchor="ctr"/>
          <a:lstStyle/>
          <a:p>
            <a:pPr indent="0" marL="0">
              <a:buNone/>
            </a:pPr>
            <a:r>
              <a:rPr lang="en-US" sz="1200" dirty="0">
                <a:solidFill>
                  <a:srgbClr val="0D9488"/>
                </a:solidFill>
                <a:latin typeface="Consolas" pitchFamily="34" charset="0"/>
                <a:ea typeface="Consolas" pitchFamily="34" charset="-122"/>
                <a:cs typeface="Consolas" pitchFamily="34" charset="-120"/>
              </a:rPr>
              <a:t>+ isbn: String</a:t>
            </a:r>
            <a:endParaRPr lang="en-US" sz="1200" dirty="0"/>
          </a:p>
        </p:txBody>
      </p:sp>
      <p:sp>
        <p:nvSpPr>
          <p:cNvPr id="11" name="Text 9"/>
          <p:cNvSpPr/>
          <p:nvPr/>
        </p:nvSpPr>
        <p:spPr>
          <a:xfrm>
            <a:off x="493776" y="2221992"/>
            <a:ext cx="3474720" cy="265176"/>
          </a:xfrm>
          <a:prstGeom prst="rect">
            <a:avLst/>
          </a:prstGeom>
          <a:noFill/>
          <a:ln/>
        </p:spPr>
        <p:txBody>
          <a:bodyPr wrap="square" lIns="0" tIns="0" rIns="0" bIns="0" rtlCol="0" anchor="ctr"/>
          <a:lstStyle/>
          <a:p>
            <a:pPr indent="0" marL="0">
              <a:buNone/>
            </a:pPr>
            <a:r>
              <a:rPr lang="en-US" sz="1200" dirty="0">
                <a:solidFill>
                  <a:srgbClr val="DC2626"/>
                </a:solidFill>
                <a:latin typeface="Consolas" pitchFamily="34" charset="0"/>
                <a:ea typeface="Consolas" pitchFamily="34" charset="-122"/>
                <a:cs typeface="Consolas" pitchFamily="34" charset="-120"/>
              </a:rPr>
              <a:t>– isBorrowed: Boolean</a:t>
            </a:r>
            <a:endParaRPr lang="en-US" sz="1200" dirty="0"/>
          </a:p>
        </p:txBody>
      </p:sp>
      <p:sp>
        <p:nvSpPr>
          <p:cNvPr id="12" name="Text 10"/>
          <p:cNvSpPr/>
          <p:nvPr/>
        </p:nvSpPr>
        <p:spPr>
          <a:xfrm>
            <a:off x="493776" y="2624328"/>
            <a:ext cx="3474720" cy="265176"/>
          </a:xfrm>
          <a:prstGeom prst="rect">
            <a:avLst/>
          </a:prstGeom>
          <a:noFill/>
          <a:ln/>
        </p:spPr>
        <p:txBody>
          <a:bodyPr wrap="square" lIns="0" tIns="0" rIns="0" bIns="0" rtlCol="0" anchor="ctr"/>
          <a:lstStyle/>
          <a:p>
            <a:pPr indent="0" marL="0">
              <a:buNone/>
            </a:pPr>
            <a:r>
              <a:rPr lang="en-US" sz="1200" dirty="0">
                <a:solidFill>
                  <a:srgbClr val="0D9488"/>
                </a:solidFill>
                <a:latin typeface="Consolas" pitchFamily="34" charset="0"/>
                <a:ea typeface="Consolas" pitchFamily="34" charset="-122"/>
                <a:cs typeface="Consolas" pitchFamily="34" charset="-120"/>
              </a:rPr>
              <a:t>+ borrow(): void</a:t>
            </a:r>
            <a:endParaRPr lang="en-US" sz="1200" dirty="0"/>
          </a:p>
        </p:txBody>
      </p:sp>
      <p:sp>
        <p:nvSpPr>
          <p:cNvPr id="13" name="Text 11"/>
          <p:cNvSpPr/>
          <p:nvPr/>
        </p:nvSpPr>
        <p:spPr>
          <a:xfrm>
            <a:off x="493776" y="2907792"/>
            <a:ext cx="3474720" cy="265176"/>
          </a:xfrm>
          <a:prstGeom prst="rect">
            <a:avLst/>
          </a:prstGeom>
          <a:noFill/>
          <a:ln/>
        </p:spPr>
        <p:txBody>
          <a:bodyPr wrap="square" lIns="0" tIns="0" rIns="0" bIns="0" rtlCol="0" anchor="ctr"/>
          <a:lstStyle/>
          <a:p>
            <a:pPr indent="0" marL="0">
              <a:buNone/>
            </a:pPr>
            <a:r>
              <a:rPr lang="en-US" sz="1200" dirty="0">
                <a:solidFill>
                  <a:srgbClr val="0D9488"/>
                </a:solidFill>
                <a:latin typeface="Consolas" pitchFamily="34" charset="0"/>
                <a:ea typeface="Consolas" pitchFamily="34" charset="-122"/>
                <a:cs typeface="Consolas" pitchFamily="34" charset="-120"/>
              </a:rPr>
              <a:t>+ return(): void</a:t>
            </a:r>
            <a:endParaRPr lang="en-US" sz="1200" dirty="0"/>
          </a:p>
        </p:txBody>
      </p:sp>
      <p:sp>
        <p:nvSpPr>
          <p:cNvPr id="14" name="Text 12"/>
          <p:cNvSpPr/>
          <p:nvPr/>
        </p:nvSpPr>
        <p:spPr>
          <a:xfrm>
            <a:off x="493776" y="3191256"/>
            <a:ext cx="3474720" cy="265176"/>
          </a:xfrm>
          <a:prstGeom prst="rect">
            <a:avLst/>
          </a:prstGeom>
          <a:noFill/>
          <a:ln/>
        </p:spPr>
        <p:txBody>
          <a:bodyPr wrap="square" lIns="0" tIns="0" rIns="0" bIns="0" rtlCol="0" anchor="ctr"/>
          <a:lstStyle/>
          <a:p>
            <a:pPr indent="0" marL="0">
              <a:buNone/>
            </a:pPr>
            <a:r>
              <a:rPr lang="en-US" sz="1200" dirty="0">
                <a:solidFill>
                  <a:srgbClr val="0D9488"/>
                </a:solidFill>
                <a:latin typeface="Consolas" pitchFamily="34" charset="0"/>
                <a:ea typeface="Consolas" pitchFamily="34" charset="-122"/>
                <a:cs typeface="Consolas" pitchFamily="34" charset="-120"/>
              </a:rPr>
              <a:t>+ getTitle(): String</a:t>
            </a:r>
            <a:endParaRPr lang="en-US" sz="1200" dirty="0"/>
          </a:p>
        </p:txBody>
      </p:sp>
      <p:sp>
        <p:nvSpPr>
          <p:cNvPr id="15" name="Shape 13"/>
          <p:cNvSpPr/>
          <p:nvPr/>
        </p:nvSpPr>
        <p:spPr>
          <a:xfrm>
            <a:off x="4023360" y="1074420"/>
            <a:ext cx="411480" cy="0"/>
          </a:xfrm>
          <a:prstGeom prst="line">
            <a:avLst/>
          </a:prstGeom>
          <a:noFill/>
          <a:ln w="19050">
            <a:solidFill>
              <a:srgbClr val="1A2744"/>
            </a:solidFill>
            <a:prstDash val="solid"/>
          </a:ln>
        </p:spPr>
      </p:sp>
      <p:sp>
        <p:nvSpPr>
          <p:cNvPr id="16" name="Shape 14"/>
          <p:cNvSpPr/>
          <p:nvPr/>
        </p:nvSpPr>
        <p:spPr>
          <a:xfrm>
            <a:off x="4572000" y="690372"/>
            <a:ext cx="4251960" cy="822960"/>
          </a:xfrm>
          <a:prstGeom prst="rect">
            <a:avLst/>
          </a:prstGeom>
          <a:solidFill>
            <a:srgbClr val="FFFFFF"/>
          </a:solidFill>
          <a:ln w="19050">
            <a:solidFill>
              <a:srgbClr val="1A2744"/>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4663440" y="726948"/>
            <a:ext cx="4069080" cy="274320"/>
          </a:xfrm>
          <a:prstGeom prst="rect">
            <a:avLst/>
          </a:prstGeom>
          <a:noFill/>
          <a:ln/>
        </p:spPr>
        <p:txBody>
          <a:bodyPr wrap="square" lIns="0" tIns="0" rIns="0" bIns="0" rtlCol="0" anchor="ctr"/>
          <a:lstStyle/>
          <a:p>
            <a:pPr indent="0" marL="0">
              <a:buNone/>
            </a:pPr>
            <a:r>
              <a:rPr lang="en-US" sz="1300" b="1" dirty="0">
                <a:solidFill>
                  <a:srgbClr val="1A2744"/>
                </a:solidFill>
              </a:rPr>
              <a:t>① Class Name</a:t>
            </a:r>
            <a:endParaRPr lang="en-US" sz="1300" dirty="0"/>
          </a:p>
        </p:txBody>
      </p:sp>
      <p:sp>
        <p:nvSpPr>
          <p:cNvPr id="18" name="Text 16"/>
          <p:cNvSpPr/>
          <p:nvPr/>
        </p:nvSpPr>
        <p:spPr>
          <a:xfrm>
            <a:off x="4663440" y="992124"/>
            <a:ext cx="4069080" cy="457200"/>
          </a:xfrm>
          <a:prstGeom prst="rect">
            <a:avLst/>
          </a:prstGeom>
          <a:noFill/>
          <a:ln/>
        </p:spPr>
        <p:txBody>
          <a:bodyPr wrap="square" lIns="0" tIns="0" rIns="0" bIns="0" rtlCol="0" anchor="ctr"/>
          <a:lstStyle/>
          <a:p>
            <a:pPr indent="0" marL="0">
              <a:buNone/>
            </a:pPr>
            <a:r>
              <a:rPr lang="en-US" sz="1100" dirty="0">
                <a:solidFill>
                  <a:srgbClr val="1E293B"/>
                </a:solidFill>
              </a:rPr>
              <a:t>Title Case noun — describes the entity</a:t>
            </a:r>
            <a:endParaRPr lang="en-US" sz="1100" dirty="0"/>
          </a:p>
        </p:txBody>
      </p:sp>
      <p:sp>
        <p:nvSpPr>
          <p:cNvPr id="19" name="Shape 17"/>
          <p:cNvSpPr/>
          <p:nvPr/>
        </p:nvSpPr>
        <p:spPr>
          <a:xfrm>
            <a:off x="4023360" y="1943100"/>
            <a:ext cx="411480" cy="0"/>
          </a:xfrm>
          <a:prstGeom prst="line">
            <a:avLst/>
          </a:prstGeom>
          <a:noFill/>
          <a:ln w="19050">
            <a:solidFill>
              <a:srgbClr val="0D9488"/>
            </a:solidFill>
            <a:prstDash val="solid"/>
          </a:ln>
        </p:spPr>
      </p:sp>
      <p:sp>
        <p:nvSpPr>
          <p:cNvPr id="20" name="Shape 18"/>
          <p:cNvSpPr/>
          <p:nvPr/>
        </p:nvSpPr>
        <p:spPr>
          <a:xfrm>
            <a:off x="4572000" y="1559052"/>
            <a:ext cx="4251960" cy="822960"/>
          </a:xfrm>
          <a:prstGeom prst="rect">
            <a:avLst/>
          </a:prstGeom>
          <a:solidFill>
            <a:srgbClr val="FFFFFF"/>
          </a:solidFill>
          <a:ln w="19050">
            <a:solidFill>
              <a:srgbClr val="0D9488"/>
            </a:solidFill>
            <a:prstDash val="solid"/>
          </a:ln>
          <a:effectLst>
            <a:outerShdw sx="100000" sy="100000" kx="0" ky="0" algn="bl" rotWithShape="0" blurRad="101600" dist="38100" dir="8100000">
              <a:srgbClr val="000000">
                <a:alpha val="12000"/>
              </a:srgbClr>
            </a:outerShdw>
          </a:effectLst>
        </p:spPr>
      </p:sp>
      <p:sp>
        <p:nvSpPr>
          <p:cNvPr id="21" name="Text 19"/>
          <p:cNvSpPr/>
          <p:nvPr/>
        </p:nvSpPr>
        <p:spPr>
          <a:xfrm>
            <a:off x="4663440" y="1595628"/>
            <a:ext cx="4069080" cy="274320"/>
          </a:xfrm>
          <a:prstGeom prst="rect">
            <a:avLst/>
          </a:prstGeom>
          <a:noFill/>
          <a:ln/>
        </p:spPr>
        <p:txBody>
          <a:bodyPr wrap="square" lIns="0" tIns="0" rIns="0" bIns="0" rtlCol="0" anchor="ctr"/>
          <a:lstStyle/>
          <a:p>
            <a:pPr indent="0" marL="0">
              <a:buNone/>
            </a:pPr>
            <a:r>
              <a:rPr lang="en-US" sz="1300" b="1" dirty="0">
                <a:solidFill>
                  <a:srgbClr val="0D9488"/>
                </a:solidFill>
              </a:rPr>
              <a:t>② Attributes</a:t>
            </a:r>
            <a:endParaRPr lang="en-US" sz="1300" dirty="0"/>
          </a:p>
        </p:txBody>
      </p:sp>
      <p:sp>
        <p:nvSpPr>
          <p:cNvPr id="22" name="Text 20"/>
          <p:cNvSpPr/>
          <p:nvPr/>
        </p:nvSpPr>
        <p:spPr>
          <a:xfrm>
            <a:off x="4663440" y="1860804"/>
            <a:ext cx="4069080" cy="457200"/>
          </a:xfrm>
          <a:prstGeom prst="rect">
            <a:avLst/>
          </a:prstGeom>
          <a:noFill/>
          <a:ln/>
        </p:spPr>
        <p:txBody>
          <a:bodyPr wrap="square" lIns="0" tIns="0" rIns="0" bIns="0" rtlCol="0" anchor="ctr"/>
          <a:lstStyle/>
          <a:p>
            <a:pPr indent="0" marL="0">
              <a:buNone/>
            </a:pPr>
            <a:r>
              <a:rPr lang="en-US" sz="1100" dirty="0">
                <a:solidFill>
                  <a:srgbClr val="1E293B"/>
                </a:solidFill>
              </a:rPr>
              <a:t>Store object state</a:t>
            </a:r>
            <a:endParaRPr lang="en-US" sz="1100" dirty="0"/>
          </a:p>
          <a:p>
            <a:pPr indent="0" marL="0">
              <a:buNone/>
            </a:pPr>
            <a:r>
              <a:rPr lang="en-US" sz="1100" dirty="0">
                <a:solidFill>
                  <a:srgbClr val="1E293B"/>
                </a:solidFill>
              </a:rPr>
              <a:t>visibility  name : Type</a:t>
            </a:r>
            <a:endParaRPr lang="en-US" sz="1100" dirty="0"/>
          </a:p>
        </p:txBody>
      </p:sp>
      <p:sp>
        <p:nvSpPr>
          <p:cNvPr id="23" name="Shape 21"/>
          <p:cNvSpPr/>
          <p:nvPr/>
        </p:nvSpPr>
        <p:spPr>
          <a:xfrm>
            <a:off x="4023360" y="3040380"/>
            <a:ext cx="411480" cy="0"/>
          </a:xfrm>
          <a:prstGeom prst="line">
            <a:avLst/>
          </a:prstGeom>
          <a:noFill/>
          <a:ln w="19050">
            <a:solidFill>
              <a:srgbClr val="F59E0B"/>
            </a:solidFill>
            <a:prstDash val="solid"/>
          </a:ln>
        </p:spPr>
      </p:sp>
      <p:sp>
        <p:nvSpPr>
          <p:cNvPr id="24" name="Shape 22"/>
          <p:cNvSpPr/>
          <p:nvPr/>
        </p:nvSpPr>
        <p:spPr>
          <a:xfrm>
            <a:off x="4572000" y="2656332"/>
            <a:ext cx="4251960" cy="822960"/>
          </a:xfrm>
          <a:prstGeom prst="rect">
            <a:avLst/>
          </a:prstGeom>
          <a:solidFill>
            <a:srgbClr val="FFFFFF"/>
          </a:solidFill>
          <a:ln w="19050">
            <a:solidFill>
              <a:srgbClr val="F59E0B"/>
            </a:solidFill>
            <a:prstDash val="solid"/>
          </a:ln>
          <a:effectLst>
            <a:outerShdw sx="100000" sy="100000" kx="0" ky="0" algn="bl" rotWithShape="0" blurRad="101600" dist="38100" dir="8100000">
              <a:srgbClr val="000000">
                <a:alpha val="12000"/>
              </a:srgbClr>
            </a:outerShdw>
          </a:effectLst>
        </p:spPr>
      </p:sp>
      <p:sp>
        <p:nvSpPr>
          <p:cNvPr id="25" name="Text 23"/>
          <p:cNvSpPr/>
          <p:nvPr/>
        </p:nvSpPr>
        <p:spPr>
          <a:xfrm>
            <a:off x="4663440" y="2692908"/>
            <a:ext cx="4069080" cy="274320"/>
          </a:xfrm>
          <a:prstGeom prst="rect">
            <a:avLst/>
          </a:prstGeom>
          <a:noFill/>
          <a:ln/>
        </p:spPr>
        <p:txBody>
          <a:bodyPr wrap="square" lIns="0" tIns="0" rIns="0" bIns="0" rtlCol="0" anchor="ctr"/>
          <a:lstStyle/>
          <a:p>
            <a:pPr indent="0" marL="0">
              <a:buNone/>
            </a:pPr>
            <a:r>
              <a:rPr lang="en-US" sz="1300" b="1" dirty="0">
                <a:solidFill>
                  <a:srgbClr val="F59E0B"/>
                </a:solidFill>
              </a:rPr>
              <a:t>③ Methods</a:t>
            </a:r>
            <a:endParaRPr lang="en-US" sz="1300" dirty="0"/>
          </a:p>
        </p:txBody>
      </p:sp>
      <p:sp>
        <p:nvSpPr>
          <p:cNvPr id="26" name="Text 24"/>
          <p:cNvSpPr/>
          <p:nvPr/>
        </p:nvSpPr>
        <p:spPr>
          <a:xfrm>
            <a:off x="4663440" y="2958084"/>
            <a:ext cx="4069080" cy="457200"/>
          </a:xfrm>
          <a:prstGeom prst="rect">
            <a:avLst/>
          </a:prstGeom>
          <a:noFill/>
          <a:ln/>
        </p:spPr>
        <p:txBody>
          <a:bodyPr wrap="square" lIns="0" tIns="0" rIns="0" bIns="0" rtlCol="0" anchor="ctr"/>
          <a:lstStyle/>
          <a:p>
            <a:pPr indent="0" marL="0">
              <a:buNone/>
            </a:pPr>
            <a:r>
              <a:rPr lang="en-US" sz="1100" dirty="0">
                <a:solidFill>
                  <a:srgbClr val="1E293B"/>
                </a:solidFill>
              </a:rPr>
              <a:t>Define behaviour</a:t>
            </a:r>
            <a:endParaRPr lang="en-US" sz="1100" dirty="0"/>
          </a:p>
          <a:p>
            <a:pPr indent="0" marL="0">
              <a:buNone/>
            </a:pPr>
            <a:r>
              <a:rPr lang="en-US" sz="1100" dirty="0">
                <a:solidFill>
                  <a:srgbClr val="1E293B"/>
                </a:solidFill>
              </a:rPr>
              <a:t>visibility  name(): ReturnType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9488"/>
          </a:solidFill>
          <a:ln w="12700">
            <a:solidFill>
              <a:srgbClr val="0D9488"/>
            </a:solidFill>
            <a:prstDash val="solid"/>
          </a:ln>
        </p:spPr>
      </p:sp>
      <p:sp>
        <p:nvSpPr>
          <p:cNvPr id="3" name="Text 1"/>
          <p:cNvSpPr/>
          <p:nvPr/>
        </p:nvSpPr>
        <p:spPr>
          <a:xfrm>
            <a:off x="365760" y="0"/>
            <a:ext cx="8229600" cy="685800"/>
          </a:xfrm>
          <a:prstGeom prst="rect">
            <a:avLst/>
          </a:prstGeom>
          <a:noFill/>
          <a:ln/>
        </p:spPr>
        <p:txBody>
          <a:bodyPr wrap="square" lIns="0" tIns="0" rIns="0" bIns="0" rtlCol="0" anchor="ctr"/>
          <a:lstStyle/>
          <a:p>
            <a:pPr indent="0" marL="0">
              <a:buNone/>
            </a:pPr>
            <a:r>
              <a:rPr lang="en-US" sz="2200" b="1" dirty="0">
                <a:solidFill>
                  <a:srgbClr val="FFFFFF"/>
                </a:solidFill>
              </a:rPr>
              <a:t>🔒  Visibility Symbols in UML</a:t>
            </a:r>
            <a:endParaRPr lang="en-US" sz="2200" dirty="0"/>
          </a:p>
        </p:txBody>
      </p:sp>
      <p:sp>
        <p:nvSpPr>
          <p:cNvPr id="4" name="Shape 2"/>
          <p:cNvSpPr/>
          <p:nvPr/>
        </p:nvSpPr>
        <p:spPr>
          <a:xfrm>
            <a:off x="274320" y="868680"/>
            <a:ext cx="4114800" cy="1965960"/>
          </a:xfrm>
          <a:prstGeom prst="rect">
            <a:avLst/>
          </a:prstGeom>
          <a:solidFill>
            <a:srgbClr val="DCFCE7"/>
          </a:solidFill>
          <a:ln w="25400">
            <a:solidFill>
              <a:srgbClr val="16A34A"/>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274320" y="868680"/>
            <a:ext cx="914400" cy="1965960"/>
          </a:xfrm>
          <a:prstGeom prst="rect">
            <a:avLst/>
          </a:prstGeom>
          <a:solidFill>
            <a:srgbClr val="16A34A"/>
          </a:solidFill>
          <a:ln w="12700">
            <a:solidFill>
              <a:srgbClr val="16A34A"/>
            </a:solidFill>
            <a:prstDash val="solid"/>
          </a:ln>
        </p:spPr>
      </p:sp>
      <p:sp>
        <p:nvSpPr>
          <p:cNvPr id="6" name="Text 4"/>
          <p:cNvSpPr/>
          <p:nvPr/>
        </p:nvSpPr>
        <p:spPr>
          <a:xfrm>
            <a:off x="274320" y="868680"/>
            <a:ext cx="914400" cy="1965960"/>
          </a:xfrm>
          <a:prstGeom prst="rect">
            <a:avLst/>
          </a:prstGeom>
          <a:noFill/>
          <a:ln/>
        </p:spPr>
        <p:txBody>
          <a:bodyPr wrap="square" lIns="0" tIns="0" rIns="0" bIns="0" rtlCol="0" anchor="ctr"/>
          <a:lstStyle/>
          <a:p>
            <a:pPr algn="ctr" indent="0" marL="0">
              <a:buNone/>
            </a:pPr>
            <a:r>
              <a:rPr lang="en-US" sz="4800" b="1" dirty="0">
                <a:solidFill>
                  <a:srgbClr val="FFFFFF"/>
                </a:solidFill>
                <a:latin typeface="Consolas" pitchFamily="34" charset="0"/>
                <a:ea typeface="Consolas" pitchFamily="34" charset="-122"/>
                <a:cs typeface="Consolas" pitchFamily="34" charset="-120"/>
              </a:rPr>
              <a:t>+</a:t>
            </a:r>
            <a:endParaRPr lang="en-US" sz="4800" dirty="0"/>
          </a:p>
        </p:txBody>
      </p:sp>
      <p:sp>
        <p:nvSpPr>
          <p:cNvPr id="7" name="Text 5"/>
          <p:cNvSpPr/>
          <p:nvPr/>
        </p:nvSpPr>
        <p:spPr>
          <a:xfrm>
            <a:off x="1280160" y="1097280"/>
            <a:ext cx="2971800" cy="411480"/>
          </a:xfrm>
          <a:prstGeom prst="rect">
            <a:avLst/>
          </a:prstGeom>
          <a:noFill/>
          <a:ln/>
        </p:spPr>
        <p:txBody>
          <a:bodyPr wrap="square" lIns="0" tIns="0" rIns="0" bIns="0" rtlCol="0" anchor="ctr"/>
          <a:lstStyle/>
          <a:p>
            <a:pPr indent="0" marL="0">
              <a:buNone/>
            </a:pPr>
            <a:r>
              <a:rPr lang="en-US" sz="1800" b="1" dirty="0">
                <a:solidFill>
                  <a:srgbClr val="16A34A"/>
                </a:solidFill>
              </a:rPr>
              <a:t>Public</a:t>
            </a:r>
            <a:endParaRPr lang="en-US" sz="1800" dirty="0"/>
          </a:p>
        </p:txBody>
      </p:sp>
      <p:sp>
        <p:nvSpPr>
          <p:cNvPr id="8" name="Text 6"/>
          <p:cNvSpPr/>
          <p:nvPr/>
        </p:nvSpPr>
        <p:spPr>
          <a:xfrm>
            <a:off x="1280160" y="1554480"/>
            <a:ext cx="2971800" cy="1051560"/>
          </a:xfrm>
          <a:prstGeom prst="rect">
            <a:avLst/>
          </a:prstGeom>
          <a:noFill/>
          <a:ln/>
        </p:spPr>
        <p:txBody>
          <a:bodyPr wrap="square" lIns="0" tIns="0" rIns="0" bIns="0" rtlCol="0" anchor="ctr"/>
          <a:lstStyle/>
          <a:p>
            <a:pPr indent="0" marL="0">
              <a:buNone/>
            </a:pPr>
            <a:r>
              <a:rPr lang="en-US" sz="1200" dirty="0">
                <a:solidFill>
                  <a:srgbClr val="1E293B"/>
                </a:solidFill>
              </a:rPr>
              <a:t>Accessible from ANY other class.</a:t>
            </a:r>
            <a:endParaRPr lang="en-US" sz="1200" dirty="0"/>
          </a:p>
          <a:p>
            <a:pPr indent="0" marL="0">
              <a:buNone/>
            </a:pPr>
            <a:r>
              <a:rPr lang="en-US" sz="1200" dirty="0">
                <a:solidFill>
                  <a:srgbClr val="1E293B"/>
                </a:solidFill>
              </a:rPr>
              <a:t>Use for methods that form the public interface.</a:t>
            </a:r>
            <a:endParaRPr lang="en-US" sz="1200" dirty="0"/>
          </a:p>
        </p:txBody>
      </p:sp>
      <p:sp>
        <p:nvSpPr>
          <p:cNvPr id="9" name="Shape 7"/>
          <p:cNvSpPr/>
          <p:nvPr/>
        </p:nvSpPr>
        <p:spPr>
          <a:xfrm>
            <a:off x="4709160" y="868680"/>
            <a:ext cx="4114800" cy="1965960"/>
          </a:xfrm>
          <a:prstGeom prst="rect">
            <a:avLst/>
          </a:prstGeom>
          <a:solidFill>
            <a:srgbClr val="FEE2E2"/>
          </a:solidFill>
          <a:ln w="25400">
            <a:solidFill>
              <a:srgbClr val="DC2626"/>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4709160" y="868680"/>
            <a:ext cx="914400" cy="1965960"/>
          </a:xfrm>
          <a:prstGeom prst="rect">
            <a:avLst/>
          </a:prstGeom>
          <a:solidFill>
            <a:srgbClr val="DC2626"/>
          </a:solidFill>
          <a:ln w="12700">
            <a:solidFill>
              <a:srgbClr val="DC2626"/>
            </a:solidFill>
            <a:prstDash val="solid"/>
          </a:ln>
        </p:spPr>
      </p:sp>
      <p:sp>
        <p:nvSpPr>
          <p:cNvPr id="11" name="Text 9"/>
          <p:cNvSpPr/>
          <p:nvPr/>
        </p:nvSpPr>
        <p:spPr>
          <a:xfrm>
            <a:off x="4709160" y="868680"/>
            <a:ext cx="914400" cy="1965960"/>
          </a:xfrm>
          <a:prstGeom prst="rect">
            <a:avLst/>
          </a:prstGeom>
          <a:noFill/>
          <a:ln/>
        </p:spPr>
        <p:txBody>
          <a:bodyPr wrap="square" lIns="0" tIns="0" rIns="0" bIns="0" rtlCol="0" anchor="ctr"/>
          <a:lstStyle/>
          <a:p>
            <a:pPr algn="ctr" indent="0" marL="0">
              <a:buNone/>
            </a:pPr>
            <a:r>
              <a:rPr lang="en-US" sz="4800" b="1" dirty="0">
                <a:solidFill>
                  <a:srgbClr val="FFFFFF"/>
                </a:solidFill>
                <a:latin typeface="Consolas" pitchFamily="34" charset="0"/>
                <a:ea typeface="Consolas" pitchFamily="34" charset="-122"/>
                <a:cs typeface="Consolas" pitchFamily="34" charset="-120"/>
              </a:rPr>
              <a:t>–</a:t>
            </a:r>
            <a:endParaRPr lang="en-US" sz="4800" dirty="0"/>
          </a:p>
        </p:txBody>
      </p:sp>
      <p:sp>
        <p:nvSpPr>
          <p:cNvPr id="12" name="Text 10"/>
          <p:cNvSpPr/>
          <p:nvPr/>
        </p:nvSpPr>
        <p:spPr>
          <a:xfrm>
            <a:off x="5715000" y="1097280"/>
            <a:ext cx="2971800" cy="411480"/>
          </a:xfrm>
          <a:prstGeom prst="rect">
            <a:avLst/>
          </a:prstGeom>
          <a:noFill/>
          <a:ln/>
        </p:spPr>
        <p:txBody>
          <a:bodyPr wrap="square" lIns="0" tIns="0" rIns="0" bIns="0" rtlCol="0" anchor="ctr"/>
          <a:lstStyle/>
          <a:p>
            <a:pPr indent="0" marL="0">
              <a:buNone/>
            </a:pPr>
            <a:r>
              <a:rPr lang="en-US" sz="1800" b="1" dirty="0">
                <a:solidFill>
                  <a:srgbClr val="DC2626"/>
                </a:solidFill>
              </a:rPr>
              <a:t>Private</a:t>
            </a:r>
            <a:endParaRPr lang="en-US" sz="1800" dirty="0"/>
          </a:p>
        </p:txBody>
      </p:sp>
      <p:sp>
        <p:nvSpPr>
          <p:cNvPr id="13" name="Text 11"/>
          <p:cNvSpPr/>
          <p:nvPr/>
        </p:nvSpPr>
        <p:spPr>
          <a:xfrm>
            <a:off x="5715000" y="1554480"/>
            <a:ext cx="2971800" cy="1051560"/>
          </a:xfrm>
          <a:prstGeom prst="rect">
            <a:avLst/>
          </a:prstGeom>
          <a:noFill/>
          <a:ln/>
        </p:spPr>
        <p:txBody>
          <a:bodyPr wrap="square" lIns="0" tIns="0" rIns="0" bIns="0" rtlCol="0" anchor="ctr"/>
          <a:lstStyle/>
          <a:p>
            <a:pPr indent="0" marL="0">
              <a:buNone/>
            </a:pPr>
            <a:r>
              <a:rPr lang="en-US" sz="1200" dirty="0">
                <a:solidFill>
                  <a:srgbClr val="1E293B"/>
                </a:solidFill>
              </a:rPr>
              <a:t>Accessible ONLY within the class itself.</a:t>
            </a:r>
            <a:endParaRPr lang="en-US" sz="1200" dirty="0"/>
          </a:p>
          <a:p>
            <a:pPr indent="0" marL="0">
              <a:buNone/>
            </a:pPr>
            <a:r>
              <a:rPr lang="en-US" sz="1200" dirty="0">
                <a:solidFill>
                  <a:srgbClr val="1E293B"/>
                </a:solidFill>
              </a:rPr>
              <a:t>Supports encapsulation — hides internal data.</a:t>
            </a:r>
            <a:endParaRPr lang="en-US" sz="1200" dirty="0"/>
          </a:p>
        </p:txBody>
      </p:sp>
      <p:sp>
        <p:nvSpPr>
          <p:cNvPr id="14" name="Shape 12"/>
          <p:cNvSpPr/>
          <p:nvPr/>
        </p:nvSpPr>
        <p:spPr>
          <a:xfrm>
            <a:off x="274320" y="3017520"/>
            <a:ext cx="4114800" cy="1965960"/>
          </a:xfrm>
          <a:prstGeom prst="rect">
            <a:avLst/>
          </a:prstGeom>
          <a:solidFill>
            <a:srgbClr val="FEF9C3"/>
          </a:solidFill>
          <a:ln w="25400">
            <a:solidFill>
              <a:srgbClr val="F59E0B"/>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274320" y="3017520"/>
            <a:ext cx="914400" cy="1965960"/>
          </a:xfrm>
          <a:prstGeom prst="rect">
            <a:avLst/>
          </a:prstGeom>
          <a:solidFill>
            <a:srgbClr val="F59E0B"/>
          </a:solidFill>
          <a:ln w="12700">
            <a:solidFill>
              <a:srgbClr val="F59E0B"/>
            </a:solidFill>
            <a:prstDash val="solid"/>
          </a:ln>
        </p:spPr>
      </p:sp>
      <p:sp>
        <p:nvSpPr>
          <p:cNvPr id="16" name="Text 14"/>
          <p:cNvSpPr/>
          <p:nvPr/>
        </p:nvSpPr>
        <p:spPr>
          <a:xfrm>
            <a:off x="274320" y="3017520"/>
            <a:ext cx="914400" cy="1965960"/>
          </a:xfrm>
          <a:prstGeom prst="rect">
            <a:avLst/>
          </a:prstGeom>
          <a:noFill/>
          <a:ln/>
        </p:spPr>
        <p:txBody>
          <a:bodyPr wrap="square" lIns="0" tIns="0" rIns="0" bIns="0" rtlCol="0" anchor="ctr"/>
          <a:lstStyle/>
          <a:p>
            <a:pPr algn="ctr" indent="0" marL="0">
              <a:buNone/>
            </a:pPr>
            <a:r>
              <a:rPr lang="en-US" sz="4800" b="1" dirty="0">
                <a:solidFill>
                  <a:srgbClr val="FFFFFF"/>
                </a:solidFill>
                <a:latin typeface="Consolas" pitchFamily="34" charset="0"/>
                <a:ea typeface="Consolas" pitchFamily="34" charset="-122"/>
                <a:cs typeface="Consolas" pitchFamily="34" charset="-120"/>
              </a:rPr>
              <a:t>#</a:t>
            </a:r>
            <a:endParaRPr lang="en-US" sz="4800" dirty="0"/>
          </a:p>
        </p:txBody>
      </p:sp>
      <p:sp>
        <p:nvSpPr>
          <p:cNvPr id="17" name="Text 15"/>
          <p:cNvSpPr/>
          <p:nvPr/>
        </p:nvSpPr>
        <p:spPr>
          <a:xfrm>
            <a:off x="1280160" y="3246120"/>
            <a:ext cx="2971800" cy="411480"/>
          </a:xfrm>
          <a:prstGeom prst="rect">
            <a:avLst/>
          </a:prstGeom>
          <a:noFill/>
          <a:ln/>
        </p:spPr>
        <p:txBody>
          <a:bodyPr wrap="square" lIns="0" tIns="0" rIns="0" bIns="0" rtlCol="0" anchor="ctr"/>
          <a:lstStyle/>
          <a:p>
            <a:pPr indent="0" marL="0">
              <a:buNone/>
            </a:pPr>
            <a:r>
              <a:rPr lang="en-US" sz="1800" b="1" dirty="0">
                <a:solidFill>
                  <a:srgbClr val="F59E0B"/>
                </a:solidFill>
              </a:rPr>
              <a:t>Protected</a:t>
            </a:r>
            <a:endParaRPr lang="en-US" sz="1800" dirty="0"/>
          </a:p>
        </p:txBody>
      </p:sp>
      <p:sp>
        <p:nvSpPr>
          <p:cNvPr id="18" name="Text 16"/>
          <p:cNvSpPr/>
          <p:nvPr/>
        </p:nvSpPr>
        <p:spPr>
          <a:xfrm>
            <a:off x="1280160" y="3703320"/>
            <a:ext cx="2971800" cy="1051560"/>
          </a:xfrm>
          <a:prstGeom prst="rect">
            <a:avLst/>
          </a:prstGeom>
          <a:noFill/>
          <a:ln/>
        </p:spPr>
        <p:txBody>
          <a:bodyPr wrap="square" lIns="0" tIns="0" rIns="0" bIns="0" rtlCol="0" anchor="ctr"/>
          <a:lstStyle/>
          <a:p>
            <a:pPr indent="0" marL="0">
              <a:buNone/>
            </a:pPr>
            <a:r>
              <a:rPr lang="en-US" sz="1200" dirty="0">
                <a:solidFill>
                  <a:srgbClr val="1E293B"/>
                </a:solidFill>
              </a:rPr>
              <a:t>Accessible within the class AND its subclasses.</a:t>
            </a:r>
            <a:endParaRPr lang="en-US" sz="1200" dirty="0"/>
          </a:p>
          <a:p>
            <a:pPr indent="0" marL="0">
              <a:buNone/>
            </a:pPr>
            <a:r>
              <a:rPr lang="en-US" sz="1200" dirty="0">
                <a:solidFill>
                  <a:srgbClr val="1E293B"/>
                </a:solidFill>
              </a:rPr>
              <a:t>Used with inheritance hierarchies.</a:t>
            </a:r>
            <a:endParaRPr lang="en-US" sz="1200" dirty="0"/>
          </a:p>
        </p:txBody>
      </p:sp>
      <p:sp>
        <p:nvSpPr>
          <p:cNvPr id="19" name="Shape 17"/>
          <p:cNvSpPr/>
          <p:nvPr/>
        </p:nvSpPr>
        <p:spPr>
          <a:xfrm>
            <a:off x="4709160" y="3017520"/>
            <a:ext cx="4114800" cy="1965960"/>
          </a:xfrm>
          <a:prstGeom prst="rect">
            <a:avLst/>
          </a:prstGeom>
          <a:solidFill>
            <a:srgbClr val="E2E8F0"/>
          </a:solidFill>
          <a:ln w="25400">
            <a:solidFill>
              <a:srgbClr val="94A3B8"/>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4709160" y="3017520"/>
            <a:ext cx="914400" cy="1965960"/>
          </a:xfrm>
          <a:prstGeom prst="rect">
            <a:avLst/>
          </a:prstGeom>
          <a:solidFill>
            <a:srgbClr val="94A3B8"/>
          </a:solidFill>
          <a:ln w="12700">
            <a:solidFill>
              <a:srgbClr val="94A3B8"/>
            </a:solidFill>
            <a:prstDash val="solid"/>
          </a:ln>
        </p:spPr>
      </p:sp>
      <p:sp>
        <p:nvSpPr>
          <p:cNvPr id="21" name="Text 19"/>
          <p:cNvSpPr/>
          <p:nvPr/>
        </p:nvSpPr>
        <p:spPr>
          <a:xfrm>
            <a:off x="4709160" y="3017520"/>
            <a:ext cx="914400" cy="1965960"/>
          </a:xfrm>
          <a:prstGeom prst="rect">
            <a:avLst/>
          </a:prstGeom>
          <a:noFill/>
          <a:ln/>
        </p:spPr>
        <p:txBody>
          <a:bodyPr wrap="square" lIns="0" tIns="0" rIns="0" bIns="0" rtlCol="0" anchor="ctr"/>
          <a:lstStyle/>
          <a:p>
            <a:pPr algn="ctr" indent="0" marL="0">
              <a:buNone/>
            </a:pPr>
            <a:r>
              <a:rPr lang="en-US" sz="4800" b="1" dirty="0">
                <a:solidFill>
                  <a:srgbClr val="FFFFFF"/>
                </a:solidFill>
                <a:latin typeface="Consolas" pitchFamily="34" charset="0"/>
                <a:ea typeface="Consolas" pitchFamily="34" charset="-122"/>
                <a:cs typeface="Consolas" pitchFamily="34" charset="-120"/>
              </a:rPr>
              <a:t>~</a:t>
            </a:r>
            <a:endParaRPr lang="en-US" sz="4800" dirty="0"/>
          </a:p>
        </p:txBody>
      </p:sp>
      <p:sp>
        <p:nvSpPr>
          <p:cNvPr id="22" name="Text 20"/>
          <p:cNvSpPr/>
          <p:nvPr/>
        </p:nvSpPr>
        <p:spPr>
          <a:xfrm>
            <a:off x="5715000" y="3246120"/>
            <a:ext cx="2971800" cy="411480"/>
          </a:xfrm>
          <a:prstGeom prst="rect">
            <a:avLst/>
          </a:prstGeom>
          <a:noFill/>
          <a:ln/>
        </p:spPr>
        <p:txBody>
          <a:bodyPr wrap="square" lIns="0" tIns="0" rIns="0" bIns="0" rtlCol="0" anchor="ctr"/>
          <a:lstStyle/>
          <a:p>
            <a:pPr indent="0" marL="0">
              <a:buNone/>
            </a:pPr>
            <a:r>
              <a:rPr lang="en-US" sz="1800" b="1" dirty="0">
                <a:solidFill>
                  <a:srgbClr val="94A3B8"/>
                </a:solidFill>
              </a:rPr>
              <a:t>Package</a:t>
            </a:r>
            <a:endParaRPr lang="en-US" sz="1800" dirty="0"/>
          </a:p>
        </p:txBody>
      </p:sp>
      <p:sp>
        <p:nvSpPr>
          <p:cNvPr id="23" name="Text 21"/>
          <p:cNvSpPr/>
          <p:nvPr/>
        </p:nvSpPr>
        <p:spPr>
          <a:xfrm>
            <a:off x="5715000" y="3703320"/>
            <a:ext cx="2971800" cy="1051560"/>
          </a:xfrm>
          <a:prstGeom prst="rect">
            <a:avLst/>
          </a:prstGeom>
          <a:noFill/>
          <a:ln/>
        </p:spPr>
        <p:txBody>
          <a:bodyPr wrap="square" lIns="0" tIns="0" rIns="0" bIns="0" rtlCol="0" anchor="ctr"/>
          <a:lstStyle/>
          <a:p>
            <a:pPr indent="0" marL="0">
              <a:buNone/>
            </a:pPr>
            <a:r>
              <a:rPr lang="en-US" sz="1200" dirty="0">
                <a:solidFill>
                  <a:srgbClr val="1E293B"/>
                </a:solidFill>
              </a:rPr>
              <a:t>Accessible within the same package.</a:t>
            </a:r>
            <a:endParaRPr lang="en-US" sz="1200" dirty="0"/>
          </a:p>
          <a:p>
            <a:pPr indent="0" marL="0">
              <a:buNone/>
            </a:pPr>
            <a:r>
              <a:rPr lang="en-US" sz="1200" dirty="0">
                <a:solidFill>
                  <a:srgbClr val="1E293B"/>
                </a:solidFill>
              </a:rPr>
              <a:t>The default if no symbol is specified.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744"/>
          </a:solidFill>
          <a:ln w="12700">
            <a:solidFill>
              <a:srgbClr val="1A2744"/>
            </a:solidFill>
            <a:prstDash val="solid"/>
          </a:ln>
        </p:spPr>
      </p:sp>
      <p:sp>
        <p:nvSpPr>
          <p:cNvPr id="3" name="Text 1"/>
          <p:cNvSpPr/>
          <p:nvPr/>
        </p:nvSpPr>
        <p:spPr>
          <a:xfrm>
            <a:off x="365760" y="0"/>
            <a:ext cx="8229600" cy="685800"/>
          </a:xfrm>
          <a:prstGeom prst="rect">
            <a:avLst/>
          </a:prstGeom>
          <a:noFill/>
          <a:ln/>
        </p:spPr>
        <p:txBody>
          <a:bodyPr wrap="square" lIns="0" tIns="0" rIns="0" bIns="0" rtlCol="0" anchor="ctr"/>
          <a:lstStyle/>
          <a:p>
            <a:pPr indent="0" marL="0">
              <a:buNone/>
            </a:pPr>
            <a:r>
              <a:rPr lang="en-US" sz="2200" b="1" dirty="0">
                <a:solidFill>
                  <a:srgbClr val="FFFFFF"/>
                </a:solidFill>
              </a:rPr>
              <a:t>🔗  Class Relationships</a:t>
            </a:r>
            <a:endParaRPr lang="en-US" sz="2200" dirty="0"/>
          </a:p>
        </p:txBody>
      </p:sp>
      <p:sp>
        <p:nvSpPr>
          <p:cNvPr id="4" name="Shape 2"/>
          <p:cNvSpPr/>
          <p:nvPr/>
        </p:nvSpPr>
        <p:spPr>
          <a:xfrm>
            <a:off x="274320" y="822960"/>
            <a:ext cx="8595360" cy="749808"/>
          </a:xfrm>
          <a:prstGeom prst="rect">
            <a:avLst/>
          </a:prstGeom>
          <a:solidFill>
            <a:srgbClr val="FFFFFF"/>
          </a:solidFill>
          <a:ln w="19050">
            <a:solidFill>
              <a:srgbClr val="94A3B8"/>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274320" y="822960"/>
            <a:ext cx="1463040" cy="749808"/>
          </a:xfrm>
          <a:prstGeom prst="rect">
            <a:avLst/>
          </a:prstGeom>
          <a:solidFill>
            <a:srgbClr val="94A3B8"/>
          </a:solidFill>
          <a:ln w="12700">
            <a:solidFill>
              <a:srgbClr val="94A3B8"/>
            </a:solidFill>
            <a:prstDash val="solid"/>
          </a:ln>
        </p:spPr>
      </p:sp>
      <p:sp>
        <p:nvSpPr>
          <p:cNvPr id="6" name="Text 4"/>
          <p:cNvSpPr/>
          <p:nvPr/>
        </p:nvSpPr>
        <p:spPr>
          <a:xfrm>
            <a:off x="320040" y="822960"/>
            <a:ext cx="1371600" cy="749808"/>
          </a:xfrm>
          <a:prstGeom prst="rect">
            <a:avLst/>
          </a:prstGeom>
          <a:noFill/>
          <a:ln/>
        </p:spPr>
        <p:txBody>
          <a:bodyPr wrap="square" lIns="0" tIns="0" rIns="0" bIns="0" rtlCol="0" anchor="ctr"/>
          <a:lstStyle/>
          <a:p>
            <a:pPr algn="ctr" indent="0" marL="0">
              <a:buNone/>
            </a:pPr>
            <a:r>
              <a:rPr lang="en-US" sz="1100" b="1" dirty="0">
                <a:solidFill>
                  <a:srgbClr val="FFFFFF"/>
                </a:solidFill>
              </a:rPr>
              <a:t>Dependency</a:t>
            </a:r>
            <a:endParaRPr lang="en-US" sz="1100" dirty="0"/>
          </a:p>
        </p:txBody>
      </p:sp>
      <p:sp>
        <p:nvSpPr>
          <p:cNvPr id="7" name="Text 5"/>
          <p:cNvSpPr/>
          <p:nvPr/>
        </p:nvSpPr>
        <p:spPr>
          <a:xfrm>
            <a:off x="1828800" y="868680"/>
            <a:ext cx="2103120" cy="320040"/>
          </a:xfrm>
          <a:prstGeom prst="rect">
            <a:avLst/>
          </a:prstGeom>
          <a:noFill/>
          <a:ln/>
        </p:spPr>
        <p:txBody>
          <a:bodyPr wrap="square" lIns="0" tIns="0" rIns="0" bIns="0" rtlCol="0" anchor="ctr"/>
          <a:lstStyle/>
          <a:p>
            <a:pPr indent="0" marL="0">
              <a:buNone/>
            </a:pPr>
            <a:r>
              <a:rPr lang="en-US" sz="1200" b="1" i="1" dirty="0">
                <a:solidFill>
                  <a:srgbClr val="94A3B8"/>
                </a:solidFill>
              </a:rPr>
              <a:t>"uses-a"</a:t>
            </a:r>
            <a:endParaRPr lang="en-US" sz="1200" dirty="0"/>
          </a:p>
        </p:txBody>
      </p:sp>
      <p:sp>
        <p:nvSpPr>
          <p:cNvPr id="8" name="Text 6"/>
          <p:cNvSpPr/>
          <p:nvPr/>
        </p:nvSpPr>
        <p:spPr>
          <a:xfrm>
            <a:off x="1828800" y="1207008"/>
            <a:ext cx="3931920" cy="320040"/>
          </a:xfrm>
          <a:prstGeom prst="rect">
            <a:avLst/>
          </a:prstGeom>
          <a:noFill/>
          <a:ln/>
        </p:spPr>
        <p:txBody>
          <a:bodyPr wrap="square" lIns="0" tIns="0" rIns="0" bIns="0" rtlCol="0" anchor="ctr"/>
          <a:lstStyle/>
          <a:p>
            <a:pPr indent="0" marL="0">
              <a:buNone/>
            </a:pPr>
            <a:r>
              <a:rPr lang="en-US" sz="1100" dirty="0">
                <a:solidFill>
                  <a:srgbClr val="1E293B"/>
                </a:solidFill>
              </a:rPr>
              <a:t>Weakest link. One class uses another temporarily.</a:t>
            </a:r>
            <a:endParaRPr lang="en-US" sz="1100" dirty="0"/>
          </a:p>
        </p:txBody>
      </p:sp>
      <p:sp>
        <p:nvSpPr>
          <p:cNvPr id="9" name="Shape 7"/>
          <p:cNvSpPr/>
          <p:nvPr/>
        </p:nvSpPr>
        <p:spPr>
          <a:xfrm>
            <a:off x="5943600" y="914400"/>
            <a:ext cx="2834640" cy="566928"/>
          </a:xfrm>
          <a:prstGeom prst="rect">
            <a:avLst/>
          </a:prstGeom>
          <a:solidFill>
            <a:srgbClr val="F8FAFC"/>
          </a:solidFill>
          <a:ln w="12700">
            <a:solidFill>
              <a:srgbClr val="E2E8F0"/>
            </a:solidFill>
            <a:prstDash val="solid"/>
          </a:ln>
        </p:spPr>
      </p:sp>
      <p:sp>
        <p:nvSpPr>
          <p:cNvPr id="10" name="Text 8"/>
          <p:cNvSpPr/>
          <p:nvPr/>
        </p:nvSpPr>
        <p:spPr>
          <a:xfrm>
            <a:off x="5943600" y="914400"/>
            <a:ext cx="2834640" cy="566928"/>
          </a:xfrm>
          <a:prstGeom prst="rect">
            <a:avLst/>
          </a:prstGeom>
          <a:noFill/>
          <a:ln/>
        </p:spPr>
        <p:txBody>
          <a:bodyPr wrap="square" lIns="0" tIns="0" rIns="0" bIns="0" rtlCol="0" anchor="ctr"/>
          <a:lstStyle/>
          <a:p>
            <a:pPr algn="ctr" indent="0" marL="0">
              <a:buNone/>
            </a:pPr>
            <a:r>
              <a:rPr lang="en-US" sz="1300" dirty="0">
                <a:solidFill>
                  <a:srgbClr val="1E293B"/>
                </a:solidFill>
                <a:latin typeface="Consolas" pitchFamily="34" charset="0"/>
                <a:ea typeface="Consolas" pitchFamily="34" charset="-122"/>
                <a:cs typeface="Consolas" pitchFamily="34" charset="-120"/>
              </a:rPr>
              <a:t>Student ···→ Calculator</a:t>
            </a:r>
            <a:endParaRPr lang="en-US" sz="1300" dirty="0"/>
          </a:p>
        </p:txBody>
      </p:sp>
      <p:sp>
        <p:nvSpPr>
          <p:cNvPr id="11" name="Shape 9"/>
          <p:cNvSpPr/>
          <p:nvPr/>
        </p:nvSpPr>
        <p:spPr>
          <a:xfrm>
            <a:off x="274320" y="1664208"/>
            <a:ext cx="8595360" cy="749808"/>
          </a:xfrm>
          <a:prstGeom prst="rect">
            <a:avLst/>
          </a:prstGeom>
          <a:solidFill>
            <a:srgbClr val="FFFFFF"/>
          </a:solidFill>
          <a:ln w="19050">
            <a:solidFill>
              <a:srgbClr val="0D9488"/>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274320" y="1664208"/>
            <a:ext cx="1463040" cy="749808"/>
          </a:xfrm>
          <a:prstGeom prst="rect">
            <a:avLst/>
          </a:prstGeom>
          <a:solidFill>
            <a:srgbClr val="0D9488"/>
          </a:solidFill>
          <a:ln w="12700">
            <a:solidFill>
              <a:srgbClr val="0D9488"/>
            </a:solidFill>
            <a:prstDash val="solid"/>
          </a:ln>
        </p:spPr>
      </p:sp>
      <p:sp>
        <p:nvSpPr>
          <p:cNvPr id="13" name="Text 11"/>
          <p:cNvSpPr/>
          <p:nvPr/>
        </p:nvSpPr>
        <p:spPr>
          <a:xfrm>
            <a:off x="320040" y="1664208"/>
            <a:ext cx="1371600" cy="749808"/>
          </a:xfrm>
          <a:prstGeom prst="rect">
            <a:avLst/>
          </a:prstGeom>
          <a:noFill/>
          <a:ln/>
        </p:spPr>
        <p:txBody>
          <a:bodyPr wrap="square" lIns="0" tIns="0" rIns="0" bIns="0" rtlCol="0" anchor="ctr"/>
          <a:lstStyle/>
          <a:p>
            <a:pPr algn="ctr" indent="0" marL="0">
              <a:buNone/>
            </a:pPr>
            <a:r>
              <a:rPr lang="en-US" sz="1100" b="1" dirty="0">
                <a:solidFill>
                  <a:srgbClr val="FFFFFF"/>
                </a:solidFill>
              </a:rPr>
              <a:t>Association</a:t>
            </a:r>
            <a:endParaRPr lang="en-US" sz="1100" dirty="0"/>
          </a:p>
        </p:txBody>
      </p:sp>
      <p:sp>
        <p:nvSpPr>
          <p:cNvPr id="14" name="Text 12"/>
          <p:cNvSpPr/>
          <p:nvPr/>
        </p:nvSpPr>
        <p:spPr>
          <a:xfrm>
            <a:off x="1828800" y="1709928"/>
            <a:ext cx="2103120" cy="320040"/>
          </a:xfrm>
          <a:prstGeom prst="rect">
            <a:avLst/>
          </a:prstGeom>
          <a:noFill/>
          <a:ln/>
        </p:spPr>
        <p:txBody>
          <a:bodyPr wrap="square" lIns="0" tIns="0" rIns="0" bIns="0" rtlCol="0" anchor="ctr"/>
          <a:lstStyle/>
          <a:p>
            <a:pPr indent="0" marL="0">
              <a:buNone/>
            </a:pPr>
            <a:r>
              <a:rPr lang="en-US" sz="1200" b="1" i="1" dirty="0">
                <a:solidFill>
                  <a:srgbClr val="0D9488"/>
                </a:solidFill>
              </a:rPr>
              <a:t>"has-a / knows-about"</a:t>
            </a:r>
            <a:endParaRPr lang="en-US" sz="1200" dirty="0"/>
          </a:p>
        </p:txBody>
      </p:sp>
      <p:sp>
        <p:nvSpPr>
          <p:cNvPr id="15" name="Text 13"/>
          <p:cNvSpPr/>
          <p:nvPr/>
        </p:nvSpPr>
        <p:spPr>
          <a:xfrm>
            <a:off x="1828800" y="2048256"/>
            <a:ext cx="3931920" cy="320040"/>
          </a:xfrm>
          <a:prstGeom prst="rect">
            <a:avLst/>
          </a:prstGeom>
          <a:noFill/>
          <a:ln/>
        </p:spPr>
        <p:txBody>
          <a:bodyPr wrap="square" lIns="0" tIns="0" rIns="0" bIns="0" rtlCol="0" anchor="ctr"/>
          <a:lstStyle/>
          <a:p>
            <a:pPr indent="0" marL="0">
              <a:buNone/>
            </a:pPr>
            <a:r>
              <a:rPr lang="en-US" sz="1100" dirty="0">
                <a:solidFill>
                  <a:srgbClr val="1E293B"/>
                </a:solidFill>
              </a:rPr>
              <a:t>General relationship — objects interact with each other.</a:t>
            </a:r>
            <a:endParaRPr lang="en-US" sz="1100" dirty="0"/>
          </a:p>
        </p:txBody>
      </p:sp>
      <p:sp>
        <p:nvSpPr>
          <p:cNvPr id="16" name="Shape 14"/>
          <p:cNvSpPr/>
          <p:nvPr/>
        </p:nvSpPr>
        <p:spPr>
          <a:xfrm>
            <a:off x="5943600" y="1755648"/>
            <a:ext cx="2834640" cy="566928"/>
          </a:xfrm>
          <a:prstGeom prst="rect">
            <a:avLst/>
          </a:prstGeom>
          <a:solidFill>
            <a:srgbClr val="F8FAFC"/>
          </a:solidFill>
          <a:ln w="12700">
            <a:solidFill>
              <a:srgbClr val="E2E8F0"/>
            </a:solidFill>
            <a:prstDash val="solid"/>
          </a:ln>
        </p:spPr>
      </p:sp>
      <p:sp>
        <p:nvSpPr>
          <p:cNvPr id="17" name="Text 15"/>
          <p:cNvSpPr/>
          <p:nvPr/>
        </p:nvSpPr>
        <p:spPr>
          <a:xfrm>
            <a:off x="5943600" y="1755648"/>
            <a:ext cx="2834640" cy="566928"/>
          </a:xfrm>
          <a:prstGeom prst="rect">
            <a:avLst/>
          </a:prstGeom>
          <a:noFill/>
          <a:ln/>
        </p:spPr>
        <p:txBody>
          <a:bodyPr wrap="square" lIns="0" tIns="0" rIns="0" bIns="0" rtlCol="0" anchor="ctr"/>
          <a:lstStyle/>
          <a:p>
            <a:pPr algn="ctr" indent="0" marL="0">
              <a:buNone/>
            </a:pPr>
            <a:r>
              <a:rPr lang="en-US" sz="1300" dirty="0">
                <a:solidFill>
                  <a:srgbClr val="1E293B"/>
                </a:solidFill>
                <a:latin typeface="Consolas" pitchFamily="34" charset="0"/>
                <a:ea typeface="Consolas" pitchFamily="34" charset="-122"/>
                <a:cs typeface="Consolas" pitchFamily="34" charset="-120"/>
              </a:rPr>
              <a:t>Teacher ——— Student</a:t>
            </a:r>
            <a:endParaRPr lang="en-US" sz="1300" dirty="0"/>
          </a:p>
        </p:txBody>
      </p:sp>
      <p:sp>
        <p:nvSpPr>
          <p:cNvPr id="18" name="Shape 16"/>
          <p:cNvSpPr/>
          <p:nvPr/>
        </p:nvSpPr>
        <p:spPr>
          <a:xfrm>
            <a:off x="274320" y="2505456"/>
            <a:ext cx="8595360" cy="749808"/>
          </a:xfrm>
          <a:prstGeom prst="rect">
            <a:avLst/>
          </a:prstGeom>
          <a:solidFill>
            <a:srgbClr val="FFFFFF"/>
          </a:solidFill>
          <a:ln w="19050">
            <a:solidFill>
              <a:srgbClr val="F59E0B"/>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274320" y="2505456"/>
            <a:ext cx="1463040" cy="749808"/>
          </a:xfrm>
          <a:prstGeom prst="rect">
            <a:avLst/>
          </a:prstGeom>
          <a:solidFill>
            <a:srgbClr val="F59E0B"/>
          </a:solidFill>
          <a:ln w="12700">
            <a:solidFill>
              <a:srgbClr val="F59E0B"/>
            </a:solidFill>
            <a:prstDash val="solid"/>
          </a:ln>
        </p:spPr>
      </p:sp>
      <p:sp>
        <p:nvSpPr>
          <p:cNvPr id="20" name="Text 18"/>
          <p:cNvSpPr/>
          <p:nvPr/>
        </p:nvSpPr>
        <p:spPr>
          <a:xfrm>
            <a:off x="320040" y="2505456"/>
            <a:ext cx="1371600" cy="749808"/>
          </a:xfrm>
          <a:prstGeom prst="rect">
            <a:avLst/>
          </a:prstGeom>
          <a:noFill/>
          <a:ln/>
        </p:spPr>
        <p:txBody>
          <a:bodyPr wrap="square" lIns="0" tIns="0" rIns="0" bIns="0" rtlCol="0" anchor="ctr"/>
          <a:lstStyle/>
          <a:p>
            <a:pPr algn="ctr" indent="0" marL="0">
              <a:buNone/>
            </a:pPr>
            <a:r>
              <a:rPr lang="en-US" sz="1100" b="1" dirty="0">
                <a:solidFill>
                  <a:srgbClr val="FFFFFF"/>
                </a:solidFill>
              </a:rPr>
              <a:t>Aggregation</a:t>
            </a:r>
            <a:endParaRPr lang="en-US" sz="1100" dirty="0"/>
          </a:p>
        </p:txBody>
      </p:sp>
      <p:sp>
        <p:nvSpPr>
          <p:cNvPr id="21" name="Text 19"/>
          <p:cNvSpPr/>
          <p:nvPr/>
        </p:nvSpPr>
        <p:spPr>
          <a:xfrm>
            <a:off x="1828800" y="2551176"/>
            <a:ext cx="2103120" cy="320040"/>
          </a:xfrm>
          <a:prstGeom prst="rect">
            <a:avLst/>
          </a:prstGeom>
          <a:noFill/>
          <a:ln/>
        </p:spPr>
        <p:txBody>
          <a:bodyPr wrap="square" lIns="0" tIns="0" rIns="0" bIns="0" rtlCol="0" anchor="ctr"/>
          <a:lstStyle/>
          <a:p>
            <a:pPr indent="0" marL="0">
              <a:buNone/>
            </a:pPr>
            <a:r>
              <a:rPr lang="en-US" sz="1200" b="1" i="1" dirty="0">
                <a:solidFill>
                  <a:srgbClr val="F59E0B"/>
                </a:solidFill>
              </a:rPr>
              <a:t>"has-a (weak)"</a:t>
            </a:r>
            <a:endParaRPr lang="en-US" sz="1200" dirty="0"/>
          </a:p>
        </p:txBody>
      </p:sp>
      <p:sp>
        <p:nvSpPr>
          <p:cNvPr id="22" name="Text 20"/>
          <p:cNvSpPr/>
          <p:nvPr/>
        </p:nvSpPr>
        <p:spPr>
          <a:xfrm>
            <a:off x="1828800" y="2889504"/>
            <a:ext cx="3931920" cy="320040"/>
          </a:xfrm>
          <a:prstGeom prst="rect">
            <a:avLst/>
          </a:prstGeom>
          <a:noFill/>
          <a:ln/>
        </p:spPr>
        <p:txBody>
          <a:bodyPr wrap="square" lIns="0" tIns="0" rIns="0" bIns="0" rtlCol="0" anchor="ctr"/>
          <a:lstStyle/>
          <a:p>
            <a:pPr indent="0" marL="0">
              <a:buNone/>
            </a:pPr>
            <a:r>
              <a:rPr lang="en-US" sz="1100" dirty="0">
                <a:solidFill>
                  <a:srgbClr val="1E293B"/>
                </a:solidFill>
              </a:rPr>
              <a:t>Whole-part: the part CAN exist without the whole.</a:t>
            </a:r>
            <a:endParaRPr lang="en-US" sz="1100" dirty="0"/>
          </a:p>
        </p:txBody>
      </p:sp>
      <p:sp>
        <p:nvSpPr>
          <p:cNvPr id="23" name="Shape 21"/>
          <p:cNvSpPr/>
          <p:nvPr/>
        </p:nvSpPr>
        <p:spPr>
          <a:xfrm>
            <a:off x="5943600" y="2596896"/>
            <a:ext cx="2834640" cy="566928"/>
          </a:xfrm>
          <a:prstGeom prst="rect">
            <a:avLst/>
          </a:prstGeom>
          <a:solidFill>
            <a:srgbClr val="F8FAFC"/>
          </a:solidFill>
          <a:ln w="12700">
            <a:solidFill>
              <a:srgbClr val="E2E8F0"/>
            </a:solidFill>
            <a:prstDash val="solid"/>
          </a:ln>
        </p:spPr>
      </p:sp>
      <p:sp>
        <p:nvSpPr>
          <p:cNvPr id="24" name="Text 22"/>
          <p:cNvSpPr/>
          <p:nvPr/>
        </p:nvSpPr>
        <p:spPr>
          <a:xfrm>
            <a:off x="5943600" y="2596896"/>
            <a:ext cx="2834640" cy="566928"/>
          </a:xfrm>
          <a:prstGeom prst="rect">
            <a:avLst/>
          </a:prstGeom>
          <a:noFill/>
          <a:ln/>
        </p:spPr>
        <p:txBody>
          <a:bodyPr wrap="square" lIns="0" tIns="0" rIns="0" bIns="0" rtlCol="0" anchor="ctr"/>
          <a:lstStyle/>
          <a:p>
            <a:pPr algn="ctr" indent="0" marL="0">
              <a:buNone/>
            </a:pPr>
            <a:r>
              <a:rPr lang="en-US" sz="1300" dirty="0">
                <a:solidFill>
                  <a:srgbClr val="1E293B"/>
                </a:solidFill>
                <a:latin typeface="Consolas" pitchFamily="34" charset="0"/>
                <a:ea typeface="Consolas" pitchFamily="34" charset="-122"/>
                <a:cs typeface="Consolas" pitchFamily="34" charset="-120"/>
              </a:rPr>
              <a:t>Department ◇—— Teacher</a:t>
            </a:r>
            <a:endParaRPr lang="en-US" sz="1300" dirty="0"/>
          </a:p>
        </p:txBody>
      </p:sp>
      <p:sp>
        <p:nvSpPr>
          <p:cNvPr id="25" name="Shape 23"/>
          <p:cNvSpPr/>
          <p:nvPr/>
        </p:nvSpPr>
        <p:spPr>
          <a:xfrm>
            <a:off x="274320" y="3346704"/>
            <a:ext cx="8595360" cy="749808"/>
          </a:xfrm>
          <a:prstGeom prst="rect">
            <a:avLst/>
          </a:prstGeom>
          <a:solidFill>
            <a:srgbClr val="FFFFFF"/>
          </a:solidFill>
          <a:ln w="19050">
            <a:solidFill>
              <a:srgbClr val="DC2626"/>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274320" y="3346704"/>
            <a:ext cx="1463040" cy="749808"/>
          </a:xfrm>
          <a:prstGeom prst="rect">
            <a:avLst/>
          </a:prstGeom>
          <a:solidFill>
            <a:srgbClr val="DC2626"/>
          </a:solidFill>
          <a:ln w="12700">
            <a:solidFill>
              <a:srgbClr val="DC2626"/>
            </a:solidFill>
            <a:prstDash val="solid"/>
          </a:ln>
        </p:spPr>
      </p:sp>
      <p:sp>
        <p:nvSpPr>
          <p:cNvPr id="27" name="Text 25"/>
          <p:cNvSpPr/>
          <p:nvPr/>
        </p:nvSpPr>
        <p:spPr>
          <a:xfrm>
            <a:off x="320040" y="3346704"/>
            <a:ext cx="1371600" cy="749808"/>
          </a:xfrm>
          <a:prstGeom prst="rect">
            <a:avLst/>
          </a:prstGeom>
          <a:noFill/>
          <a:ln/>
        </p:spPr>
        <p:txBody>
          <a:bodyPr wrap="square" lIns="0" tIns="0" rIns="0" bIns="0" rtlCol="0" anchor="ctr"/>
          <a:lstStyle/>
          <a:p>
            <a:pPr algn="ctr" indent="0" marL="0">
              <a:buNone/>
            </a:pPr>
            <a:r>
              <a:rPr lang="en-US" sz="1100" b="1" dirty="0">
                <a:solidFill>
                  <a:srgbClr val="FFFFFF"/>
                </a:solidFill>
              </a:rPr>
              <a:t>Composition</a:t>
            </a:r>
            <a:endParaRPr lang="en-US" sz="1100" dirty="0"/>
          </a:p>
        </p:txBody>
      </p:sp>
      <p:sp>
        <p:nvSpPr>
          <p:cNvPr id="28" name="Text 26"/>
          <p:cNvSpPr/>
          <p:nvPr/>
        </p:nvSpPr>
        <p:spPr>
          <a:xfrm>
            <a:off x="1828800" y="3392424"/>
            <a:ext cx="2103120" cy="320040"/>
          </a:xfrm>
          <a:prstGeom prst="rect">
            <a:avLst/>
          </a:prstGeom>
          <a:noFill/>
          <a:ln/>
        </p:spPr>
        <p:txBody>
          <a:bodyPr wrap="square" lIns="0" tIns="0" rIns="0" bIns="0" rtlCol="0" anchor="ctr"/>
          <a:lstStyle/>
          <a:p>
            <a:pPr indent="0" marL="0">
              <a:buNone/>
            </a:pPr>
            <a:r>
              <a:rPr lang="en-US" sz="1200" b="1" i="1" dirty="0">
                <a:solidFill>
                  <a:srgbClr val="DC2626"/>
                </a:solidFill>
              </a:rPr>
              <a:t>"has-a (strong)"</a:t>
            </a:r>
            <a:endParaRPr lang="en-US" sz="1200" dirty="0"/>
          </a:p>
        </p:txBody>
      </p:sp>
      <p:sp>
        <p:nvSpPr>
          <p:cNvPr id="29" name="Text 27"/>
          <p:cNvSpPr/>
          <p:nvPr/>
        </p:nvSpPr>
        <p:spPr>
          <a:xfrm>
            <a:off x="1828800" y="3730752"/>
            <a:ext cx="3931920" cy="320040"/>
          </a:xfrm>
          <a:prstGeom prst="rect">
            <a:avLst/>
          </a:prstGeom>
          <a:noFill/>
          <a:ln/>
        </p:spPr>
        <p:txBody>
          <a:bodyPr wrap="square" lIns="0" tIns="0" rIns="0" bIns="0" rtlCol="0" anchor="ctr"/>
          <a:lstStyle/>
          <a:p>
            <a:pPr indent="0" marL="0">
              <a:buNone/>
            </a:pPr>
            <a:r>
              <a:rPr lang="en-US" sz="1100" dirty="0">
                <a:solidFill>
                  <a:srgbClr val="1E293B"/>
                </a:solidFill>
              </a:rPr>
              <a:t>Whole-part: the part CANNOT exist without the whole.</a:t>
            </a:r>
            <a:endParaRPr lang="en-US" sz="1100" dirty="0"/>
          </a:p>
        </p:txBody>
      </p:sp>
      <p:sp>
        <p:nvSpPr>
          <p:cNvPr id="30" name="Shape 28"/>
          <p:cNvSpPr/>
          <p:nvPr/>
        </p:nvSpPr>
        <p:spPr>
          <a:xfrm>
            <a:off x="5943600" y="3438144"/>
            <a:ext cx="2834640" cy="566928"/>
          </a:xfrm>
          <a:prstGeom prst="rect">
            <a:avLst/>
          </a:prstGeom>
          <a:solidFill>
            <a:srgbClr val="F8FAFC"/>
          </a:solidFill>
          <a:ln w="12700">
            <a:solidFill>
              <a:srgbClr val="E2E8F0"/>
            </a:solidFill>
            <a:prstDash val="solid"/>
          </a:ln>
        </p:spPr>
      </p:sp>
      <p:sp>
        <p:nvSpPr>
          <p:cNvPr id="31" name="Text 29"/>
          <p:cNvSpPr/>
          <p:nvPr/>
        </p:nvSpPr>
        <p:spPr>
          <a:xfrm>
            <a:off x="5943600" y="3438144"/>
            <a:ext cx="2834640" cy="566928"/>
          </a:xfrm>
          <a:prstGeom prst="rect">
            <a:avLst/>
          </a:prstGeom>
          <a:noFill/>
          <a:ln/>
        </p:spPr>
        <p:txBody>
          <a:bodyPr wrap="square" lIns="0" tIns="0" rIns="0" bIns="0" rtlCol="0" anchor="ctr"/>
          <a:lstStyle/>
          <a:p>
            <a:pPr algn="ctr" indent="0" marL="0">
              <a:buNone/>
            </a:pPr>
            <a:r>
              <a:rPr lang="en-US" sz="1300" dirty="0">
                <a:solidFill>
                  <a:srgbClr val="1E293B"/>
                </a:solidFill>
                <a:latin typeface="Consolas" pitchFamily="34" charset="0"/>
                <a:ea typeface="Consolas" pitchFamily="34" charset="-122"/>
                <a:cs typeface="Consolas" pitchFamily="34" charset="-120"/>
              </a:rPr>
              <a:t>Order ◆—— OrderItem</a:t>
            </a:r>
            <a:endParaRPr lang="en-US" sz="1300" dirty="0"/>
          </a:p>
        </p:txBody>
      </p:sp>
      <p:sp>
        <p:nvSpPr>
          <p:cNvPr id="32" name="Shape 30"/>
          <p:cNvSpPr/>
          <p:nvPr/>
        </p:nvSpPr>
        <p:spPr>
          <a:xfrm>
            <a:off x="274320" y="4187952"/>
            <a:ext cx="8595360" cy="749808"/>
          </a:xfrm>
          <a:prstGeom prst="rect">
            <a:avLst/>
          </a:prstGeom>
          <a:solidFill>
            <a:srgbClr val="FFFFFF"/>
          </a:solidFill>
          <a:ln w="19050">
            <a:solidFill>
              <a:srgbClr val="1A2744"/>
            </a:solidFill>
            <a:prstDash val="solid"/>
          </a:ln>
          <a:effectLst>
            <a:outerShdw sx="100000" sy="100000" kx="0" ky="0" algn="bl" rotWithShape="0" blurRad="101600" dist="38100" dir="8100000">
              <a:srgbClr val="000000">
                <a:alpha val="12000"/>
              </a:srgbClr>
            </a:outerShdw>
          </a:effectLst>
        </p:spPr>
      </p:sp>
      <p:sp>
        <p:nvSpPr>
          <p:cNvPr id="33" name="Shape 31"/>
          <p:cNvSpPr/>
          <p:nvPr/>
        </p:nvSpPr>
        <p:spPr>
          <a:xfrm>
            <a:off x="274320" y="4187952"/>
            <a:ext cx="1463040" cy="749808"/>
          </a:xfrm>
          <a:prstGeom prst="rect">
            <a:avLst/>
          </a:prstGeom>
          <a:solidFill>
            <a:srgbClr val="1A2744"/>
          </a:solidFill>
          <a:ln w="12700">
            <a:solidFill>
              <a:srgbClr val="1A2744"/>
            </a:solidFill>
            <a:prstDash val="solid"/>
          </a:ln>
        </p:spPr>
      </p:sp>
      <p:sp>
        <p:nvSpPr>
          <p:cNvPr id="34" name="Text 32"/>
          <p:cNvSpPr/>
          <p:nvPr/>
        </p:nvSpPr>
        <p:spPr>
          <a:xfrm>
            <a:off x="320040" y="4187952"/>
            <a:ext cx="1371600" cy="749808"/>
          </a:xfrm>
          <a:prstGeom prst="rect">
            <a:avLst/>
          </a:prstGeom>
          <a:noFill/>
          <a:ln/>
        </p:spPr>
        <p:txBody>
          <a:bodyPr wrap="square" lIns="0" tIns="0" rIns="0" bIns="0" rtlCol="0" anchor="ctr"/>
          <a:lstStyle/>
          <a:p>
            <a:pPr algn="ctr" indent="0" marL="0">
              <a:buNone/>
            </a:pPr>
            <a:r>
              <a:rPr lang="en-US" sz="1100" b="1" dirty="0">
                <a:solidFill>
                  <a:srgbClr val="FFFFFF"/>
                </a:solidFill>
              </a:rPr>
              <a:t>Inheritance</a:t>
            </a:r>
            <a:endParaRPr lang="en-US" sz="1100" dirty="0"/>
          </a:p>
        </p:txBody>
      </p:sp>
      <p:sp>
        <p:nvSpPr>
          <p:cNvPr id="35" name="Text 33"/>
          <p:cNvSpPr/>
          <p:nvPr/>
        </p:nvSpPr>
        <p:spPr>
          <a:xfrm>
            <a:off x="1828800" y="4233672"/>
            <a:ext cx="2103120" cy="320040"/>
          </a:xfrm>
          <a:prstGeom prst="rect">
            <a:avLst/>
          </a:prstGeom>
          <a:noFill/>
          <a:ln/>
        </p:spPr>
        <p:txBody>
          <a:bodyPr wrap="square" lIns="0" tIns="0" rIns="0" bIns="0" rtlCol="0" anchor="ctr"/>
          <a:lstStyle/>
          <a:p>
            <a:pPr indent="0" marL="0">
              <a:buNone/>
            </a:pPr>
            <a:r>
              <a:rPr lang="en-US" sz="1200" b="1" i="1" dirty="0">
                <a:solidFill>
                  <a:srgbClr val="1A2744"/>
                </a:solidFill>
              </a:rPr>
              <a:t>"is-a"</a:t>
            </a:r>
            <a:endParaRPr lang="en-US" sz="1200" dirty="0"/>
          </a:p>
        </p:txBody>
      </p:sp>
      <p:sp>
        <p:nvSpPr>
          <p:cNvPr id="36" name="Text 34"/>
          <p:cNvSpPr/>
          <p:nvPr/>
        </p:nvSpPr>
        <p:spPr>
          <a:xfrm>
            <a:off x="1828800" y="4572000"/>
            <a:ext cx="3931920" cy="320040"/>
          </a:xfrm>
          <a:prstGeom prst="rect">
            <a:avLst/>
          </a:prstGeom>
          <a:noFill/>
          <a:ln/>
        </p:spPr>
        <p:txBody>
          <a:bodyPr wrap="square" lIns="0" tIns="0" rIns="0" bIns="0" rtlCol="0" anchor="ctr"/>
          <a:lstStyle/>
          <a:p>
            <a:pPr indent="0" marL="0">
              <a:buNone/>
            </a:pPr>
            <a:r>
              <a:rPr lang="en-US" sz="1100" dirty="0">
                <a:solidFill>
                  <a:srgbClr val="1E293B"/>
                </a:solidFill>
              </a:rPr>
              <a:t>Subclass inherits from superclass. Arrow points UP.</a:t>
            </a:r>
            <a:endParaRPr lang="en-US" sz="1100" dirty="0"/>
          </a:p>
        </p:txBody>
      </p:sp>
      <p:sp>
        <p:nvSpPr>
          <p:cNvPr id="37" name="Shape 35"/>
          <p:cNvSpPr/>
          <p:nvPr/>
        </p:nvSpPr>
        <p:spPr>
          <a:xfrm>
            <a:off x="5943600" y="4279392"/>
            <a:ext cx="2834640" cy="566928"/>
          </a:xfrm>
          <a:prstGeom prst="rect">
            <a:avLst/>
          </a:prstGeom>
          <a:solidFill>
            <a:srgbClr val="F8FAFC"/>
          </a:solidFill>
          <a:ln w="12700">
            <a:solidFill>
              <a:srgbClr val="E2E8F0"/>
            </a:solidFill>
            <a:prstDash val="solid"/>
          </a:ln>
        </p:spPr>
      </p:sp>
      <p:sp>
        <p:nvSpPr>
          <p:cNvPr id="38" name="Text 36"/>
          <p:cNvSpPr/>
          <p:nvPr/>
        </p:nvSpPr>
        <p:spPr>
          <a:xfrm>
            <a:off x="5943600" y="4279392"/>
            <a:ext cx="2834640" cy="566928"/>
          </a:xfrm>
          <a:prstGeom prst="rect">
            <a:avLst/>
          </a:prstGeom>
          <a:noFill/>
          <a:ln/>
        </p:spPr>
        <p:txBody>
          <a:bodyPr wrap="square" lIns="0" tIns="0" rIns="0" bIns="0" rtlCol="0" anchor="ctr"/>
          <a:lstStyle/>
          <a:p>
            <a:pPr algn="ctr" indent="0" marL="0">
              <a:buNone/>
            </a:pPr>
            <a:r>
              <a:rPr lang="en-US" sz="1300" dirty="0">
                <a:solidFill>
                  <a:srgbClr val="1E293B"/>
                </a:solidFill>
                <a:latin typeface="Consolas" pitchFamily="34" charset="0"/>
                <a:ea typeface="Consolas" pitchFamily="34" charset="-122"/>
                <a:cs typeface="Consolas" pitchFamily="34" charset="-120"/>
              </a:rPr>
              <a:t>Dog ——▷ Animal</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9488"/>
          </a:solidFill>
          <a:ln w="12700">
            <a:solidFill>
              <a:srgbClr val="0D9488"/>
            </a:solidFill>
            <a:prstDash val="solid"/>
          </a:ln>
        </p:spPr>
      </p:sp>
      <p:sp>
        <p:nvSpPr>
          <p:cNvPr id="3" name="Text 1"/>
          <p:cNvSpPr/>
          <p:nvPr/>
        </p:nvSpPr>
        <p:spPr>
          <a:xfrm>
            <a:off x="365760" y="0"/>
            <a:ext cx="8229600" cy="685800"/>
          </a:xfrm>
          <a:prstGeom prst="rect">
            <a:avLst/>
          </a:prstGeom>
          <a:noFill/>
          <a:ln/>
        </p:spPr>
        <p:txBody>
          <a:bodyPr wrap="square" lIns="0" tIns="0" rIns="0" bIns="0" rtlCol="0" anchor="ctr"/>
          <a:lstStyle/>
          <a:p>
            <a:pPr indent="0" marL="0">
              <a:buNone/>
            </a:pPr>
            <a:r>
              <a:rPr lang="en-US" sz="2200" b="1" dirty="0">
                <a:solidFill>
                  <a:srgbClr val="FFFFFF"/>
                </a:solidFill>
              </a:rPr>
              <a:t>🧑‍💻  Worked Example — Library System</a:t>
            </a:r>
            <a:endParaRPr lang="en-US" sz="2200" dirty="0"/>
          </a:p>
        </p:txBody>
      </p:sp>
      <p:sp>
        <p:nvSpPr>
          <p:cNvPr id="4" name="Shape 2"/>
          <p:cNvSpPr/>
          <p:nvPr/>
        </p:nvSpPr>
        <p:spPr>
          <a:xfrm>
            <a:off x="365760" y="914400"/>
            <a:ext cx="2926080" cy="2688336"/>
          </a:xfrm>
          <a:prstGeom prst="rect">
            <a:avLst/>
          </a:prstGeom>
          <a:solidFill>
            <a:srgbClr val="FFFFFF"/>
          </a:solidFill>
          <a:ln w="19050">
            <a:solidFill>
              <a:srgbClr val="1A2744"/>
            </a:solidFill>
            <a:prstDash val="solid"/>
          </a:ln>
        </p:spPr>
      </p:sp>
      <p:sp>
        <p:nvSpPr>
          <p:cNvPr id="5" name="Shape 3"/>
          <p:cNvSpPr/>
          <p:nvPr/>
        </p:nvSpPr>
        <p:spPr>
          <a:xfrm>
            <a:off x="365760" y="914400"/>
            <a:ext cx="2926080" cy="457200"/>
          </a:xfrm>
          <a:prstGeom prst="rect">
            <a:avLst/>
          </a:prstGeom>
          <a:solidFill>
            <a:srgbClr val="0D9488"/>
          </a:solidFill>
          <a:ln w="12700">
            <a:solidFill>
              <a:srgbClr val="0D9488"/>
            </a:solidFill>
            <a:prstDash val="solid"/>
          </a:ln>
        </p:spPr>
      </p:sp>
      <p:sp>
        <p:nvSpPr>
          <p:cNvPr id="6" name="Text 4"/>
          <p:cNvSpPr/>
          <p:nvPr/>
        </p:nvSpPr>
        <p:spPr>
          <a:xfrm>
            <a:off x="365760" y="914400"/>
            <a:ext cx="2926080" cy="457200"/>
          </a:xfrm>
          <a:prstGeom prst="rect">
            <a:avLst/>
          </a:prstGeom>
          <a:noFill/>
          <a:ln/>
        </p:spPr>
        <p:txBody>
          <a:bodyPr wrap="square" lIns="0" tIns="0" rIns="0" bIns="0" rtlCol="0" anchor="ctr"/>
          <a:lstStyle/>
          <a:p>
            <a:pPr algn="ctr" indent="0" marL="0">
              <a:buNone/>
            </a:pPr>
            <a:r>
              <a:rPr lang="en-US" sz="1500" b="1" dirty="0">
                <a:solidFill>
                  <a:srgbClr val="FFFFFF"/>
                </a:solidFill>
              </a:rPr>
              <a:t>Book</a:t>
            </a:r>
            <a:endParaRPr lang="en-US" sz="1500" dirty="0"/>
          </a:p>
        </p:txBody>
      </p:sp>
      <p:sp>
        <p:nvSpPr>
          <p:cNvPr id="7" name="Shape 5"/>
          <p:cNvSpPr/>
          <p:nvPr/>
        </p:nvSpPr>
        <p:spPr>
          <a:xfrm>
            <a:off x="365760" y="2633472"/>
            <a:ext cx="2926080" cy="0"/>
          </a:xfrm>
          <a:prstGeom prst="line">
            <a:avLst/>
          </a:prstGeom>
          <a:noFill/>
          <a:ln w="12700">
            <a:solidFill>
              <a:srgbClr val="1A2744"/>
            </a:solidFill>
            <a:prstDash val="solid"/>
          </a:ln>
        </p:spPr>
      </p:sp>
      <p:sp>
        <p:nvSpPr>
          <p:cNvPr id="8" name="Text 6"/>
          <p:cNvSpPr/>
          <p:nvPr/>
        </p:nvSpPr>
        <p:spPr>
          <a:xfrm>
            <a:off x="457200" y="1417320"/>
            <a:ext cx="2788920" cy="292608"/>
          </a:xfrm>
          <a:prstGeom prst="rect">
            <a:avLst/>
          </a:prstGeom>
          <a:noFill/>
          <a:ln/>
        </p:spPr>
        <p:txBody>
          <a:bodyPr wrap="square" lIns="0" tIns="0" rIns="0" bIns="0" rtlCol="0" anchor="ctr"/>
          <a:lstStyle/>
          <a:p>
            <a:pPr indent="0" marL="0">
              <a:buNone/>
            </a:pPr>
            <a:r>
              <a:rPr lang="en-US" sz="1100" dirty="0">
                <a:solidFill>
                  <a:srgbClr val="0D9488"/>
                </a:solidFill>
                <a:latin typeface="Consolas" pitchFamily="34" charset="0"/>
                <a:ea typeface="Consolas" pitchFamily="34" charset="-122"/>
                <a:cs typeface="Consolas" pitchFamily="34" charset="-120"/>
              </a:rPr>
              <a:t>+ title: String</a:t>
            </a:r>
            <a:endParaRPr lang="en-US" sz="1100" dirty="0"/>
          </a:p>
        </p:txBody>
      </p:sp>
      <p:sp>
        <p:nvSpPr>
          <p:cNvPr id="9" name="Text 7"/>
          <p:cNvSpPr/>
          <p:nvPr/>
        </p:nvSpPr>
        <p:spPr>
          <a:xfrm>
            <a:off x="457200" y="1709928"/>
            <a:ext cx="2788920" cy="292608"/>
          </a:xfrm>
          <a:prstGeom prst="rect">
            <a:avLst/>
          </a:prstGeom>
          <a:noFill/>
          <a:ln/>
        </p:spPr>
        <p:txBody>
          <a:bodyPr wrap="square" lIns="0" tIns="0" rIns="0" bIns="0" rtlCol="0" anchor="ctr"/>
          <a:lstStyle/>
          <a:p>
            <a:pPr indent="0" marL="0">
              <a:buNone/>
            </a:pPr>
            <a:r>
              <a:rPr lang="en-US" sz="1100" dirty="0">
                <a:solidFill>
                  <a:srgbClr val="0D9488"/>
                </a:solidFill>
                <a:latin typeface="Consolas" pitchFamily="34" charset="0"/>
                <a:ea typeface="Consolas" pitchFamily="34" charset="-122"/>
                <a:cs typeface="Consolas" pitchFamily="34" charset="-120"/>
              </a:rPr>
              <a:t>+ author: String</a:t>
            </a:r>
            <a:endParaRPr lang="en-US" sz="1100" dirty="0"/>
          </a:p>
        </p:txBody>
      </p:sp>
      <p:sp>
        <p:nvSpPr>
          <p:cNvPr id="10" name="Text 8"/>
          <p:cNvSpPr/>
          <p:nvPr/>
        </p:nvSpPr>
        <p:spPr>
          <a:xfrm>
            <a:off x="457200" y="2002536"/>
            <a:ext cx="2788920" cy="292608"/>
          </a:xfrm>
          <a:prstGeom prst="rect">
            <a:avLst/>
          </a:prstGeom>
          <a:noFill/>
          <a:ln/>
        </p:spPr>
        <p:txBody>
          <a:bodyPr wrap="square" lIns="0" tIns="0" rIns="0" bIns="0" rtlCol="0" anchor="ctr"/>
          <a:lstStyle/>
          <a:p>
            <a:pPr indent="0" marL="0">
              <a:buNone/>
            </a:pPr>
            <a:r>
              <a:rPr lang="en-US" sz="1100" dirty="0">
                <a:solidFill>
                  <a:srgbClr val="0D9488"/>
                </a:solidFill>
                <a:latin typeface="Consolas" pitchFamily="34" charset="0"/>
                <a:ea typeface="Consolas" pitchFamily="34" charset="-122"/>
                <a:cs typeface="Consolas" pitchFamily="34" charset="-120"/>
              </a:rPr>
              <a:t>+ isbn: String</a:t>
            </a:r>
            <a:endParaRPr lang="en-US" sz="1100" dirty="0"/>
          </a:p>
        </p:txBody>
      </p:sp>
      <p:sp>
        <p:nvSpPr>
          <p:cNvPr id="11" name="Text 9"/>
          <p:cNvSpPr/>
          <p:nvPr/>
        </p:nvSpPr>
        <p:spPr>
          <a:xfrm>
            <a:off x="457200" y="2295144"/>
            <a:ext cx="2788920" cy="292608"/>
          </a:xfrm>
          <a:prstGeom prst="rect">
            <a:avLst/>
          </a:prstGeom>
          <a:noFill/>
          <a:ln/>
        </p:spPr>
        <p:txBody>
          <a:bodyPr wrap="square" lIns="0" tIns="0" rIns="0" bIns="0" rtlCol="0" anchor="ctr"/>
          <a:lstStyle/>
          <a:p>
            <a:pPr indent="0" marL="0">
              <a:buNone/>
            </a:pPr>
            <a:r>
              <a:rPr lang="en-US" sz="1100" dirty="0">
                <a:solidFill>
                  <a:srgbClr val="DC2626"/>
                </a:solidFill>
                <a:latin typeface="Consolas" pitchFamily="34" charset="0"/>
                <a:ea typeface="Consolas" pitchFamily="34" charset="-122"/>
                <a:cs typeface="Consolas" pitchFamily="34" charset="-120"/>
              </a:rPr>
              <a:t>– isBorrowed: Boolean</a:t>
            </a:r>
            <a:endParaRPr lang="en-US" sz="1100" dirty="0"/>
          </a:p>
        </p:txBody>
      </p:sp>
      <p:sp>
        <p:nvSpPr>
          <p:cNvPr id="12" name="Text 10"/>
          <p:cNvSpPr/>
          <p:nvPr/>
        </p:nvSpPr>
        <p:spPr>
          <a:xfrm>
            <a:off x="457200" y="2724912"/>
            <a:ext cx="2788920" cy="292608"/>
          </a:xfrm>
          <a:prstGeom prst="rect">
            <a:avLst/>
          </a:prstGeom>
          <a:noFill/>
          <a:ln/>
        </p:spPr>
        <p:txBody>
          <a:bodyPr wrap="square" lIns="0" tIns="0" rIns="0" bIns="0" rtlCol="0" anchor="ctr"/>
          <a:lstStyle/>
          <a:p>
            <a:pPr indent="0" marL="0">
              <a:buNone/>
            </a:pPr>
            <a:r>
              <a:rPr lang="en-US" sz="1100" dirty="0">
                <a:solidFill>
                  <a:srgbClr val="1A2744"/>
                </a:solidFill>
                <a:latin typeface="Consolas" pitchFamily="34" charset="0"/>
                <a:ea typeface="Consolas" pitchFamily="34" charset="-122"/>
                <a:cs typeface="Consolas" pitchFamily="34" charset="-120"/>
              </a:rPr>
              <a:t>+ borrow(): void</a:t>
            </a:r>
            <a:endParaRPr lang="en-US" sz="1100" dirty="0"/>
          </a:p>
        </p:txBody>
      </p:sp>
      <p:sp>
        <p:nvSpPr>
          <p:cNvPr id="13" name="Text 11"/>
          <p:cNvSpPr/>
          <p:nvPr/>
        </p:nvSpPr>
        <p:spPr>
          <a:xfrm>
            <a:off x="457200" y="3017520"/>
            <a:ext cx="2788920" cy="292608"/>
          </a:xfrm>
          <a:prstGeom prst="rect">
            <a:avLst/>
          </a:prstGeom>
          <a:noFill/>
          <a:ln/>
        </p:spPr>
        <p:txBody>
          <a:bodyPr wrap="square" lIns="0" tIns="0" rIns="0" bIns="0" rtlCol="0" anchor="ctr"/>
          <a:lstStyle/>
          <a:p>
            <a:pPr indent="0" marL="0">
              <a:buNone/>
            </a:pPr>
            <a:r>
              <a:rPr lang="en-US" sz="1100" dirty="0">
                <a:solidFill>
                  <a:srgbClr val="1A2744"/>
                </a:solidFill>
                <a:latin typeface="Consolas" pitchFamily="34" charset="0"/>
                <a:ea typeface="Consolas" pitchFamily="34" charset="-122"/>
                <a:cs typeface="Consolas" pitchFamily="34" charset="-120"/>
              </a:rPr>
              <a:t>+ return(): void</a:t>
            </a:r>
            <a:endParaRPr lang="en-US" sz="1100" dirty="0"/>
          </a:p>
        </p:txBody>
      </p:sp>
      <p:sp>
        <p:nvSpPr>
          <p:cNvPr id="14" name="Text 12"/>
          <p:cNvSpPr/>
          <p:nvPr/>
        </p:nvSpPr>
        <p:spPr>
          <a:xfrm>
            <a:off x="457200" y="3310128"/>
            <a:ext cx="2788920" cy="292608"/>
          </a:xfrm>
          <a:prstGeom prst="rect">
            <a:avLst/>
          </a:prstGeom>
          <a:noFill/>
          <a:ln/>
        </p:spPr>
        <p:txBody>
          <a:bodyPr wrap="square" lIns="0" tIns="0" rIns="0" bIns="0" rtlCol="0" anchor="ctr"/>
          <a:lstStyle/>
          <a:p>
            <a:pPr indent="0" marL="0">
              <a:buNone/>
            </a:pPr>
            <a:r>
              <a:rPr lang="en-US" sz="1100" dirty="0">
                <a:solidFill>
                  <a:srgbClr val="1A2744"/>
                </a:solidFill>
                <a:latin typeface="Consolas" pitchFamily="34" charset="0"/>
                <a:ea typeface="Consolas" pitchFamily="34" charset="-122"/>
                <a:cs typeface="Consolas" pitchFamily="34" charset="-120"/>
              </a:rPr>
              <a:t>+ getTitle(): String</a:t>
            </a:r>
            <a:endParaRPr lang="en-US" sz="1100" dirty="0"/>
          </a:p>
        </p:txBody>
      </p:sp>
      <p:sp>
        <p:nvSpPr>
          <p:cNvPr id="15" name="Shape 13"/>
          <p:cNvSpPr/>
          <p:nvPr/>
        </p:nvSpPr>
        <p:spPr>
          <a:xfrm>
            <a:off x="3566160" y="914400"/>
            <a:ext cx="2926080" cy="2395728"/>
          </a:xfrm>
          <a:prstGeom prst="rect">
            <a:avLst/>
          </a:prstGeom>
          <a:solidFill>
            <a:srgbClr val="FFFFFF"/>
          </a:solidFill>
          <a:ln w="19050">
            <a:solidFill>
              <a:srgbClr val="1A2744"/>
            </a:solidFill>
            <a:prstDash val="solid"/>
          </a:ln>
        </p:spPr>
      </p:sp>
      <p:sp>
        <p:nvSpPr>
          <p:cNvPr id="16" name="Shape 14"/>
          <p:cNvSpPr/>
          <p:nvPr/>
        </p:nvSpPr>
        <p:spPr>
          <a:xfrm>
            <a:off x="3566160" y="914400"/>
            <a:ext cx="2926080" cy="457200"/>
          </a:xfrm>
          <a:prstGeom prst="rect">
            <a:avLst/>
          </a:prstGeom>
          <a:solidFill>
            <a:srgbClr val="1A2744"/>
          </a:solidFill>
          <a:ln w="12700">
            <a:solidFill>
              <a:srgbClr val="1A2744"/>
            </a:solidFill>
            <a:prstDash val="solid"/>
          </a:ln>
        </p:spPr>
      </p:sp>
      <p:sp>
        <p:nvSpPr>
          <p:cNvPr id="17" name="Text 15"/>
          <p:cNvSpPr/>
          <p:nvPr/>
        </p:nvSpPr>
        <p:spPr>
          <a:xfrm>
            <a:off x="3566160" y="914400"/>
            <a:ext cx="2926080" cy="457200"/>
          </a:xfrm>
          <a:prstGeom prst="rect">
            <a:avLst/>
          </a:prstGeom>
          <a:noFill/>
          <a:ln/>
        </p:spPr>
        <p:txBody>
          <a:bodyPr wrap="square" lIns="0" tIns="0" rIns="0" bIns="0" rtlCol="0" anchor="ctr"/>
          <a:lstStyle/>
          <a:p>
            <a:pPr algn="ctr" indent="0" marL="0">
              <a:buNone/>
            </a:pPr>
            <a:r>
              <a:rPr lang="en-US" sz="1500" b="1" dirty="0">
                <a:solidFill>
                  <a:srgbClr val="FFFFFF"/>
                </a:solidFill>
              </a:rPr>
              <a:t>User</a:t>
            </a:r>
            <a:endParaRPr lang="en-US" sz="1500" dirty="0"/>
          </a:p>
        </p:txBody>
      </p:sp>
      <p:sp>
        <p:nvSpPr>
          <p:cNvPr id="18" name="Shape 16"/>
          <p:cNvSpPr/>
          <p:nvPr/>
        </p:nvSpPr>
        <p:spPr>
          <a:xfrm>
            <a:off x="3566160" y="2340864"/>
            <a:ext cx="2926080" cy="0"/>
          </a:xfrm>
          <a:prstGeom prst="line">
            <a:avLst/>
          </a:prstGeom>
          <a:noFill/>
          <a:ln w="12700">
            <a:solidFill>
              <a:srgbClr val="1A2744"/>
            </a:solidFill>
            <a:prstDash val="solid"/>
          </a:ln>
        </p:spPr>
      </p:sp>
      <p:sp>
        <p:nvSpPr>
          <p:cNvPr id="19" name="Text 17"/>
          <p:cNvSpPr/>
          <p:nvPr/>
        </p:nvSpPr>
        <p:spPr>
          <a:xfrm>
            <a:off x="3657600" y="1417320"/>
            <a:ext cx="2788920" cy="292608"/>
          </a:xfrm>
          <a:prstGeom prst="rect">
            <a:avLst/>
          </a:prstGeom>
          <a:noFill/>
          <a:ln/>
        </p:spPr>
        <p:txBody>
          <a:bodyPr wrap="square" lIns="0" tIns="0" rIns="0" bIns="0" rtlCol="0" anchor="ctr"/>
          <a:lstStyle/>
          <a:p>
            <a:pPr indent="0" marL="0">
              <a:buNone/>
            </a:pPr>
            <a:r>
              <a:rPr lang="en-US" sz="1100" dirty="0">
                <a:solidFill>
                  <a:srgbClr val="0D9488"/>
                </a:solidFill>
                <a:latin typeface="Consolas" pitchFamily="34" charset="0"/>
                <a:ea typeface="Consolas" pitchFamily="34" charset="-122"/>
                <a:cs typeface="Consolas" pitchFamily="34" charset="-120"/>
              </a:rPr>
              <a:t>+ name: String</a:t>
            </a:r>
            <a:endParaRPr lang="en-US" sz="1100" dirty="0"/>
          </a:p>
        </p:txBody>
      </p:sp>
      <p:sp>
        <p:nvSpPr>
          <p:cNvPr id="20" name="Text 18"/>
          <p:cNvSpPr/>
          <p:nvPr/>
        </p:nvSpPr>
        <p:spPr>
          <a:xfrm>
            <a:off x="3657600" y="1709928"/>
            <a:ext cx="2788920" cy="292608"/>
          </a:xfrm>
          <a:prstGeom prst="rect">
            <a:avLst/>
          </a:prstGeom>
          <a:noFill/>
          <a:ln/>
        </p:spPr>
        <p:txBody>
          <a:bodyPr wrap="square" lIns="0" tIns="0" rIns="0" bIns="0" rtlCol="0" anchor="ctr"/>
          <a:lstStyle/>
          <a:p>
            <a:pPr indent="0" marL="0">
              <a:buNone/>
            </a:pPr>
            <a:r>
              <a:rPr lang="en-US" sz="1100" dirty="0">
                <a:solidFill>
                  <a:srgbClr val="0D9488"/>
                </a:solidFill>
                <a:latin typeface="Consolas" pitchFamily="34" charset="0"/>
                <a:ea typeface="Consolas" pitchFamily="34" charset="-122"/>
                <a:cs typeface="Consolas" pitchFamily="34" charset="-120"/>
              </a:rPr>
              <a:t>+ userID: String</a:t>
            </a:r>
            <a:endParaRPr lang="en-US" sz="1100" dirty="0"/>
          </a:p>
        </p:txBody>
      </p:sp>
      <p:sp>
        <p:nvSpPr>
          <p:cNvPr id="21" name="Text 19"/>
          <p:cNvSpPr/>
          <p:nvPr/>
        </p:nvSpPr>
        <p:spPr>
          <a:xfrm>
            <a:off x="3657600" y="2002536"/>
            <a:ext cx="2788920" cy="292608"/>
          </a:xfrm>
          <a:prstGeom prst="rect">
            <a:avLst/>
          </a:prstGeom>
          <a:noFill/>
          <a:ln/>
        </p:spPr>
        <p:txBody>
          <a:bodyPr wrap="square" lIns="0" tIns="0" rIns="0" bIns="0" rtlCol="0" anchor="ctr"/>
          <a:lstStyle/>
          <a:p>
            <a:pPr indent="0" marL="0">
              <a:buNone/>
            </a:pPr>
            <a:r>
              <a:rPr lang="en-US" sz="1100" dirty="0">
                <a:solidFill>
                  <a:srgbClr val="DC2626"/>
                </a:solidFill>
                <a:latin typeface="Consolas" pitchFamily="34" charset="0"/>
                <a:ea typeface="Consolas" pitchFamily="34" charset="-122"/>
                <a:cs typeface="Consolas" pitchFamily="34" charset="-120"/>
              </a:rPr>
              <a:t>– borrowedBooks: List</a:t>
            </a:r>
            <a:endParaRPr lang="en-US" sz="1100" dirty="0"/>
          </a:p>
        </p:txBody>
      </p:sp>
      <p:sp>
        <p:nvSpPr>
          <p:cNvPr id="22" name="Text 20"/>
          <p:cNvSpPr/>
          <p:nvPr/>
        </p:nvSpPr>
        <p:spPr>
          <a:xfrm>
            <a:off x="3657600" y="2432304"/>
            <a:ext cx="2788920" cy="292608"/>
          </a:xfrm>
          <a:prstGeom prst="rect">
            <a:avLst/>
          </a:prstGeom>
          <a:noFill/>
          <a:ln/>
        </p:spPr>
        <p:txBody>
          <a:bodyPr wrap="square" lIns="0" tIns="0" rIns="0" bIns="0" rtlCol="0" anchor="ctr"/>
          <a:lstStyle/>
          <a:p>
            <a:pPr indent="0" marL="0">
              <a:buNone/>
            </a:pPr>
            <a:r>
              <a:rPr lang="en-US" sz="1100" dirty="0">
                <a:solidFill>
                  <a:srgbClr val="1A2744"/>
                </a:solidFill>
                <a:latin typeface="Consolas" pitchFamily="34" charset="0"/>
                <a:ea typeface="Consolas" pitchFamily="34" charset="-122"/>
                <a:cs typeface="Consolas" pitchFamily="34" charset="-120"/>
              </a:rPr>
              <a:t>+ borrowBook(b: Book)</a:t>
            </a:r>
            <a:endParaRPr lang="en-US" sz="1100" dirty="0"/>
          </a:p>
        </p:txBody>
      </p:sp>
      <p:sp>
        <p:nvSpPr>
          <p:cNvPr id="23" name="Text 21"/>
          <p:cNvSpPr/>
          <p:nvPr/>
        </p:nvSpPr>
        <p:spPr>
          <a:xfrm>
            <a:off x="3657600" y="2724912"/>
            <a:ext cx="2788920" cy="292608"/>
          </a:xfrm>
          <a:prstGeom prst="rect">
            <a:avLst/>
          </a:prstGeom>
          <a:noFill/>
          <a:ln/>
        </p:spPr>
        <p:txBody>
          <a:bodyPr wrap="square" lIns="0" tIns="0" rIns="0" bIns="0" rtlCol="0" anchor="ctr"/>
          <a:lstStyle/>
          <a:p>
            <a:pPr indent="0" marL="0">
              <a:buNone/>
            </a:pPr>
            <a:r>
              <a:rPr lang="en-US" sz="1100" dirty="0">
                <a:solidFill>
                  <a:srgbClr val="1A2744"/>
                </a:solidFill>
                <a:latin typeface="Consolas" pitchFamily="34" charset="0"/>
                <a:ea typeface="Consolas" pitchFamily="34" charset="-122"/>
                <a:cs typeface="Consolas" pitchFamily="34" charset="-120"/>
              </a:rPr>
              <a:t>+ returnBook(b: Book)</a:t>
            </a:r>
            <a:endParaRPr lang="en-US" sz="1100" dirty="0"/>
          </a:p>
        </p:txBody>
      </p:sp>
      <p:sp>
        <p:nvSpPr>
          <p:cNvPr id="24" name="Text 22"/>
          <p:cNvSpPr/>
          <p:nvPr/>
        </p:nvSpPr>
        <p:spPr>
          <a:xfrm>
            <a:off x="3657600" y="3017520"/>
            <a:ext cx="2788920" cy="292608"/>
          </a:xfrm>
          <a:prstGeom prst="rect">
            <a:avLst/>
          </a:prstGeom>
          <a:noFill/>
          <a:ln/>
        </p:spPr>
        <p:txBody>
          <a:bodyPr wrap="square" lIns="0" tIns="0" rIns="0" bIns="0" rtlCol="0" anchor="ctr"/>
          <a:lstStyle/>
          <a:p>
            <a:pPr indent="0" marL="0">
              <a:buNone/>
            </a:pPr>
            <a:r>
              <a:rPr lang="en-US" sz="1100" dirty="0">
                <a:solidFill>
                  <a:srgbClr val="1A2744"/>
                </a:solidFill>
                <a:latin typeface="Consolas" pitchFamily="34" charset="0"/>
                <a:ea typeface="Consolas" pitchFamily="34" charset="-122"/>
                <a:cs typeface="Consolas" pitchFamily="34" charset="-120"/>
              </a:rPr>
              <a:t>+ getBorrowedBooks()</a:t>
            </a:r>
            <a:endParaRPr lang="en-US" sz="1100" dirty="0"/>
          </a:p>
        </p:txBody>
      </p:sp>
      <p:sp>
        <p:nvSpPr>
          <p:cNvPr id="25" name="Shape 23"/>
          <p:cNvSpPr/>
          <p:nvPr/>
        </p:nvSpPr>
        <p:spPr>
          <a:xfrm>
            <a:off x="6766560" y="914400"/>
            <a:ext cx="2103120" cy="1517904"/>
          </a:xfrm>
          <a:prstGeom prst="rect">
            <a:avLst/>
          </a:prstGeom>
          <a:solidFill>
            <a:srgbClr val="FFFFFF"/>
          </a:solidFill>
          <a:ln w="19050">
            <a:solidFill>
              <a:srgbClr val="1A2744"/>
            </a:solidFill>
            <a:prstDash val="solid"/>
          </a:ln>
        </p:spPr>
      </p:sp>
      <p:sp>
        <p:nvSpPr>
          <p:cNvPr id="26" name="Shape 24"/>
          <p:cNvSpPr/>
          <p:nvPr/>
        </p:nvSpPr>
        <p:spPr>
          <a:xfrm>
            <a:off x="6766560" y="914400"/>
            <a:ext cx="2103120" cy="457200"/>
          </a:xfrm>
          <a:prstGeom prst="rect">
            <a:avLst/>
          </a:prstGeom>
          <a:solidFill>
            <a:srgbClr val="F59E0B"/>
          </a:solidFill>
          <a:ln w="12700">
            <a:solidFill>
              <a:srgbClr val="F59E0B"/>
            </a:solidFill>
            <a:prstDash val="solid"/>
          </a:ln>
        </p:spPr>
      </p:sp>
      <p:sp>
        <p:nvSpPr>
          <p:cNvPr id="27" name="Text 25"/>
          <p:cNvSpPr/>
          <p:nvPr/>
        </p:nvSpPr>
        <p:spPr>
          <a:xfrm>
            <a:off x="6766560" y="914400"/>
            <a:ext cx="2103120" cy="457200"/>
          </a:xfrm>
          <a:prstGeom prst="rect">
            <a:avLst/>
          </a:prstGeom>
          <a:noFill/>
          <a:ln/>
        </p:spPr>
        <p:txBody>
          <a:bodyPr wrap="square" lIns="0" tIns="0" rIns="0" bIns="0" rtlCol="0" anchor="ctr"/>
          <a:lstStyle/>
          <a:p>
            <a:pPr algn="ctr" indent="0" marL="0">
              <a:buNone/>
            </a:pPr>
            <a:r>
              <a:rPr lang="en-US" sz="1500" b="1" dirty="0">
                <a:solidFill>
                  <a:srgbClr val="FFFFFF"/>
                </a:solidFill>
              </a:rPr>
              <a:t>Loan</a:t>
            </a:r>
            <a:endParaRPr lang="en-US" sz="1500" dirty="0"/>
          </a:p>
        </p:txBody>
      </p:sp>
      <p:sp>
        <p:nvSpPr>
          <p:cNvPr id="28" name="Shape 26"/>
          <p:cNvSpPr/>
          <p:nvPr/>
        </p:nvSpPr>
        <p:spPr>
          <a:xfrm>
            <a:off x="6766560" y="2048256"/>
            <a:ext cx="2103120" cy="0"/>
          </a:xfrm>
          <a:prstGeom prst="line">
            <a:avLst/>
          </a:prstGeom>
          <a:noFill/>
          <a:ln w="12700">
            <a:solidFill>
              <a:srgbClr val="1A2744"/>
            </a:solidFill>
            <a:prstDash val="solid"/>
          </a:ln>
        </p:spPr>
      </p:sp>
      <p:sp>
        <p:nvSpPr>
          <p:cNvPr id="29" name="Text 27"/>
          <p:cNvSpPr/>
          <p:nvPr/>
        </p:nvSpPr>
        <p:spPr>
          <a:xfrm>
            <a:off x="6858000" y="1417320"/>
            <a:ext cx="1965960" cy="292608"/>
          </a:xfrm>
          <a:prstGeom prst="rect">
            <a:avLst/>
          </a:prstGeom>
          <a:noFill/>
          <a:ln/>
        </p:spPr>
        <p:txBody>
          <a:bodyPr wrap="square" lIns="0" tIns="0" rIns="0" bIns="0" rtlCol="0" anchor="ctr"/>
          <a:lstStyle/>
          <a:p>
            <a:pPr indent="0" marL="0">
              <a:buNone/>
            </a:pPr>
            <a:r>
              <a:rPr lang="en-US" sz="1100" dirty="0">
                <a:solidFill>
                  <a:srgbClr val="0D9488"/>
                </a:solidFill>
                <a:latin typeface="Consolas" pitchFamily="34" charset="0"/>
                <a:ea typeface="Consolas" pitchFamily="34" charset="-122"/>
                <a:cs typeface="Consolas" pitchFamily="34" charset="-120"/>
              </a:rPr>
              <a:t>+ loanDate: Date</a:t>
            </a:r>
            <a:endParaRPr lang="en-US" sz="1100" dirty="0"/>
          </a:p>
        </p:txBody>
      </p:sp>
      <p:sp>
        <p:nvSpPr>
          <p:cNvPr id="30" name="Text 28"/>
          <p:cNvSpPr/>
          <p:nvPr/>
        </p:nvSpPr>
        <p:spPr>
          <a:xfrm>
            <a:off x="6858000" y="1709928"/>
            <a:ext cx="1965960" cy="292608"/>
          </a:xfrm>
          <a:prstGeom prst="rect">
            <a:avLst/>
          </a:prstGeom>
          <a:noFill/>
          <a:ln/>
        </p:spPr>
        <p:txBody>
          <a:bodyPr wrap="square" lIns="0" tIns="0" rIns="0" bIns="0" rtlCol="0" anchor="ctr"/>
          <a:lstStyle/>
          <a:p>
            <a:pPr indent="0" marL="0">
              <a:buNone/>
            </a:pPr>
            <a:r>
              <a:rPr lang="en-US" sz="1100" dirty="0">
                <a:solidFill>
                  <a:srgbClr val="0D9488"/>
                </a:solidFill>
                <a:latin typeface="Consolas" pitchFamily="34" charset="0"/>
                <a:ea typeface="Consolas" pitchFamily="34" charset="-122"/>
                <a:cs typeface="Consolas" pitchFamily="34" charset="-120"/>
              </a:rPr>
              <a:t>+ dueDate: Date</a:t>
            </a:r>
            <a:endParaRPr lang="en-US" sz="1100" dirty="0"/>
          </a:p>
        </p:txBody>
      </p:sp>
      <p:sp>
        <p:nvSpPr>
          <p:cNvPr id="31" name="Text 29"/>
          <p:cNvSpPr/>
          <p:nvPr/>
        </p:nvSpPr>
        <p:spPr>
          <a:xfrm>
            <a:off x="6858000" y="2139696"/>
            <a:ext cx="1965960" cy="292608"/>
          </a:xfrm>
          <a:prstGeom prst="rect">
            <a:avLst/>
          </a:prstGeom>
          <a:noFill/>
          <a:ln/>
        </p:spPr>
        <p:txBody>
          <a:bodyPr wrap="square" lIns="0" tIns="0" rIns="0" bIns="0" rtlCol="0" anchor="ctr"/>
          <a:lstStyle/>
          <a:p>
            <a:pPr indent="0" marL="0">
              <a:buNone/>
            </a:pPr>
            <a:r>
              <a:rPr lang="en-US" sz="1100" dirty="0">
                <a:solidFill>
                  <a:srgbClr val="1A2744"/>
                </a:solidFill>
                <a:latin typeface="Consolas" pitchFamily="34" charset="0"/>
                <a:ea typeface="Consolas" pitchFamily="34" charset="-122"/>
                <a:cs typeface="Consolas" pitchFamily="34" charset="-120"/>
              </a:rPr>
              <a:t>+ isOverdue(): Boolean</a:t>
            </a:r>
            <a:endParaRPr lang="en-US" sz="1100" dirty="0"/>
          </a:p>
        </p:txBody>
      </p:sp>
      <p:sp>
        <p:nvSpPr>
          <p:cNvPr id="32" name="Shape 30"/>
          <p:cNvSpPr/>
          <p:nvPr/>
        </p:nvSpPr>
        <p:spPr>
          <a:xfrm>
            <a:off x="3291840" y="2286000"/>
            <a:ext cx="274320" cy="0"/>
          </a:xfrm>
          <a:prstGeom prst="line">
            <a:avLst/>
          </a:prstGeom>
          <a:noFill/>
          <a:ln w="25400">
            <a:solidFill>
              <a:srgbClr val="94A3B8"/>
            </a:solidFill>
            <a:prstDash val="solid"/>
          </a:ln>
        </p:spPr>
      </p:sp>
      <p:sp>
        <p:nvSpPr>
          <p:cNvPr id="33" name="Text 31"/>
          <p:cNvSpPr/>
          <p:nvPr/>
        </p:nvSpPr>
        <p:spPr>
          <a:xfrm>
            <a:off x="3310128" y="2057400"/>
            <a:ext cx="731520" cy="256032"/>
          </a:xfrm>
          <a:prstGeom prst="rect">
            <a:avLst/>
          </a:prstGeom>
          <a:noFill/>
          <a:ln/>
        </p:spPr>
        <p:txBody>
          <a:bodyPr wrap="square" rtlCol="0" anchor="ctr"/>
          <a:lstStyle/>
          <a:p>
            <a:pPr algn="ctr" indent="0" marL="0">
              <a:buNone/>
            </a:pPr>
            <a:r>
              <a:rPr lang="en-US" sz="900" i="1" dirty="0">
                <a:solidFill>
                  <a:srgbClr val="94A3B8"/>
                </a:solidFill>
              </a:rPr>
              <a:t>borrows</a:t>
            </a:r>
            <a:endParaRPr lang="en-US" sz="900" dirty="0"/>
          </a:p>
        </p:txBody>
      </p:sp>
      <p:sp>
        <p:nvSpPr>
          <p:cNvPr id="34" name="Shape 32"/>
          <p:cNvSpPr/>
          <p:nvPr/>
        </p:nvSpPr>
        <p:spPr>
          <a:xfrm>
            <a:off x="6492240" y="2286000"/>
            <a:ext cx="274320" cy="0"/>
          </a:xfrm>
          <a:prstGeom prst="line">
            <a:avLst/>
          </a:prstGeom>
          <a:noFill/>
          <a:ln w="25400">
            <a:solidFill>
              <a:srgbClr val="F59E0B"/>
            </a:solidFill>
            <a:prstDash val="solid"/>
          </a:ln>
        </p:spPr>
      </p:sp>
      <p:sp>
        <p:nvSpPr>
          <p:cNvPr id="35" name="Shape 33"/>
          <p:cNvSpPr/>
          <p:nvPr/>
        </p:nvSpPr>
        <p:spPr>
          <a:xfrm>
            <a:off x="365760" y="4114800"/>
            <a:ext cx="8412480" cy="841248"/>
          </a:xfrm>
          <a:prstGeom prst="rect">
            <a:avLst/>
          </a:prstGeom>
          <a:solidFill>
            <a:srgbClr val="FFF7ED"/>
          </a:solidFill>
          <a:ln w="12700">
            <a:solidFill>
              <a:srgbClr val="F59E0B"/>
            </a:solidFill>
            <a:prstDash val="solid"/>
          </a:ln>
        </p:spPr>
      </p:sp>
      <p:sp>
        <p:nvSpPr>
          <p:cNvPr id="36" name="Text 34"/>
          <p:cNvSpPr/>
          <p:nvPr/>
        </p:nvSpPr>
        <p:spPr>
          <a:xfrm>
            <a:off x="548640" y="4133088"/>
            <a:ext cx="8046720" cy="786384"/>
          </a:xfrm>
          <a:prstGeom prst="rect">
            <a:avLst/>
          </a:prstGeom>
          <a:noFill/>
          <a:ln/>
        </p:spPr>
        <p:txBody>
          <a:bodyPr wrap="square" rtlCol="0" anchor="ctr"/>
          <a:lstStyle/>
          <a:p>
            <a:pPr indent="0" marL="0">
              <a:buNone/>
            </a:pPr>
            <a:r>
              <a:rPr lang="en-US" sz="1200" b="1" dirty="0">
                <a:solidFill>
                  <a:srgbClr val="F59E0B"/>
                </a:solidFill>
              </a:rPr>
              <a:t>💡 Key Decisions: </a:t>
            </a:r>
            <a:pPr indent="0" marL="0">
              <a:buNone/>
            </a:pPr>
            <a:r>
              <a:rPr lang="en-US" sz="1200" dirty="0">
                <a:solidFill>
                  <a:srgbClr val="1E293B"/>
                </a:solidFill>
              </a:rPr>
              <a:t>isBorrowed is private (–) to protect it from direct modification. borrowBook() is a method on User because the user performs the action. Loan is a separate class to record who borrowed what — avoiding a direct attribute on Book.</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DC2626"/>
          </a:solidFill>
          <a:ln w="12700">
            <a:solidFill>
              <a:srgbClr val="DC2626"/>
            </a:solidFill>
            <a:prstDash val="solid"/>
          </a:ln>
        </p:spPr>
      </p:sp>
      <p:sp>
        <p:nvSpPr>
          <p:cNvPr id="3" name="Text 1"/>
          <p:cNvSpPr/>
          <p:nvPr/>
        </p:nvSpPr>
        <p:spPr>
          <a:xfrm>
            <a:off x="365760" y="0"/>
            <a:ext cx="8229600" cy="685800"/>
          </a:xfrm>
          <a:prstGeom prst="rect">
            <a:avLst/>
          </a:prstGeom>
          <a:noFill/>
          <a:ln/>
        </p:spPr>
        <p:txBody>
          <a:bodyPr wrap="square" lIns="0" tIns="0" rIns="0" bIns="0" rtlCol="0" anchor="ctr"/>
          <a:lstStyle/>
          <a:p>
            <a:pPr indent="0" marL="0">
              <a:buNone/>
            </a:pPr>
            <a:r>
              <a:rPr lang="en-US" sz="2200" b="1" dirty="0">
                <a:solidFill>
                  <a:srgbClr val="FFFFFF"/>
                </a:solidFill>
              </a:rPr>
              <a:t>🔴  Challenge Tasks  (10 minutes)</a:t>
            </a:r>
            <a:endParaRPr lang="en-US" sz="2200" dirty="0"/>
          </a:p>
        </p:txBody>
      </p:sp>
      <p:sp>
        <p:nvSpPr>
          <p:cNvPr id="4" name="Shape 2"/>
          <p:cNvSpPr/>
          <p:nvPr/>
        </p:nvSpPr>
        <p:spPr>
          <a:xfrm>
            <a:off x="274320" y="777240"/>
            <a:ext cx="8595360" cy="1298448"/>
          </a:xfrm>
          <a:prstGeom prst="rect">
            <a:avLst/>
          </a:prstGeom>
          <a:solidFill>
            <a:srgbClr val="F0FDF9"/>
          </a:solidFill>
          <a:ln w="25400">
            <a:solidFill>
              <a:srgbClr val="0D9488"/>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274320" y="777240"/>
            <a:ext cx="822960" cy="1298448"/>
          </a:xfrm>
          <a:prstGeom prst="rect">
            <a:avLst/>
          </a:prstGeom>
          <a:solidFill>
            <a:srgbClr val="0D9488"/>
          </a:solidFill>
          <a:ln w="12700">
            <a:solidFill>
              <a:srgbClr val="0D9488"/>
            </a:solidFill>
            <a:prstDash val="solid"/>
          </a:ln>
        </p:spPr>
      </p:sp>
      <p:sp>
        <p:nvSpPr>
          <p:cNvPr id="6" name="Text 4"/>
          <p:cNvSpPr/>
          <p:nvPr/>
        </p:nvSpPr>
        <p:spPr>
          <a:xfrm>
            <a:off x="274320" y="777240"/>
            <a:ext cx="82296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onsolas" pitchFamily="34" charset="0"/>
                <a:ea typeface="Consolas" pitchFamily="34" charset="-122"/>
                <a:cs typeface="Consolas" pitchFamily="34" charset="-120"/>
              </a:rPr>
              <a:t>C1</a:t>
            </a:r>
            <a:endParaRPr lang="en-US" sz="2000" dirty="0"/>
          </a:p>
        </p:txBody>
      </p:sp>
      <p:sp>
        <p:nvSpPr>
          <p:cNvPr id="7" name="Text 5"/>
          <p:cNvSpPr/>
          <p:nvPr/>
        </p:nvSpPr>
        <p:spPr>
          <a:xfrm>
            <a:off x="274320" y="1435608"/>
            <a:ext cx="822960" cy="640080"/>
          </a:xfrm>
          <a:prstGeom prst="rect">
            <a:avLst/>
          </a:prstGeom>
          <a:noFill/>
          <a:ln/>
        </p:spPr>
        <p:txBody>
          <a:bodyPr wrap="square" lIns="0" tIns="0" rIns="0" bIns="0" rtlCol="0" anchor="t"/>
          <a:lstStyle/>
          <a:p>
            <a:pPr algn="ctr" indent="0" marL="0">
              <a:buNone/>
            </a:pPr>
            <a:r>
              <a:rPr lang="en-US" sz="1000" dirty="0">
                <a:solidFill>
                  <a:srgbClr val="FFFFFF"/>
                </a:solidFill>
              </a:rPr>
              <a:t>Core</a:t>
            </a:r>
            <a:endParaRPr lang="en-US" sz="1000" dirty="0"/>
          </a:p>
        </p:txBody>
      </p:sp>
      <p:sp>
        <p:nvSpPr>
          <p:cNvPr id="8" name="Text 6"/>
          <p:cNvSpPr/>
          <p:nvPr/>
        </p:nvSpPr>
        <p:spPr>
          <a:xfrm>
            <a:off x="1188720" y="850392"/>
            <a:ext cx="7543800" cy="347472"/>
          </a:xfrm>
          <a:prstGeom prst="rect">
            <a:avLst/>
          </a:prstGeom>
          <a:noFill/>
          <a:ln/>
        </p:spPr>
        <p:txBody>
          <a:bodyPr wrap="square" lIns="0" tIns="0" rIns="0" bIns="0" rtlCol="0" anchor="ctr"/>
          <a:lstStyle/>
          <a:p>
            <a:pPr indent="0" marL="0">
              <a:buNone/>
            </a:pPr>
            <a:r>
              <a:rPr lang="en-US" sz="1400" b="1" dirty="0">
                <a:solidFill>
                  <a:srgbClr val="0D9488"/>
                </a:solidFill>
              </a:rPr>
              <a:t>Design the User Class</a:t>
            </a:r>
            <a:endParaRPr lang="en-US" sz="1400" dirty="0"/>
          </a:p>
        </p:txBody>
      </p:sp>
      <p:sp>
        <p:nvSpPr>
          <p:cNvPr id="9" name="Text 7"/>
          <p:cNvSpPr/>
          <p:nvPr/>
        </p:nvSpPr>
        <p:spPr>
          <a:xfrm>
            <a:off x="1188720" y="1216152"/>
            <a:ext cx="7543800" cy="594360"/>
          </a:xfrm>
          <a:prstGeom prst="rect">
            <a:avLst/>
          </a:prstGeom>
          <a:noFill/>
          <a:ln/>
        </p:spPr>
        <p:txBody>
          <a:bodyPr wrap="square" lIns="0" tIns="0" rIns="0" bIns="0" rtlCol="0" anchor="ctr"/>
          <a:lstStyle/>
          <a:p>
            <a:pPr indent="0" marL="0">
              <a:buNone/>
            </a:pPr>
            <a:r>
              <a:rPr lang="en-US" sz="1100" dirty="0">
                <a:solidFill>
                  <a:srgbClr val="1E293B"/>
                </a:solidFill>
              </a:rPr>
              <a:t>Using the library scenario, write the full UML class diagram for the User class in PlantUML syntax. Include at least 3 attributes and 3 methods with correct visibility symbols. Consider: what does a User NEED to know? What can a User DO?</a:t>
            </a:r>
            <a:endParaRPr lang="en-US" sz="1100" dirty="0"/>
          </a:p>
        </p:txBody>
      </p:sp>
      <p:sp>
        <p:nvSpPr>
          <p:cNvPr id="10" name="Text 8"/>
          <p:cNvSpPr/>
          <p:nvPr/>
        </p:nvSpPr>
        <p:spPr>
          <a:xfrm>
            <a:off x="1188720" y="1837944"/>
            <a:ext cx="7543800" cy="201168"/>
          </a:xfrm>
          <a:prstGeom prst="rect">
            <a:avLst/>
          </a:prstGeom>
          <a:noFill/>
          <a:ln/>
        </p:spPr>
        <p:txBody>
          <a:bodyPr wrap="square" lIns="0" tIns="0" rIns="0" bIns="0" rtlCol="0" anchor="ctr"/>
          <a:lstStyle/>
          <a:p>
            <a:pPr indent="0" marL="0">
              <a:buNone/>
            </a:pPr>
            <a:r>
              <a:rPr lang="en-US" sz="1000" i="1" dirty="0">
                <a:solidFill>
                  <a:srgbClr val="0D9488"/>
                </a:solidFill>
              </a:rPr>
              <a:t>✓ Correct notation  ✓ Sensible attributes  ✓ Visibility symbols</a:t>
            </a:r>
            <a:endParaRPr lang="en-US" sz="1000" dirty="0"/>
          </a:p>
        </p:txBody>
      </p:sp>
      <p:sp>
        <p:nvSpPr>
          <p:cNvPr id="11" name="Shape 9"/>
          <p:cNvSpPr/>
          <p:nvPr/>
        </p:nvSpPr>
        <p:spPr>
          <a:xfrm>
            <a:off x="274320" y="2194560"/>
            <a:ext cx="8595360" cy="1298448"/>
          </a:xfrm>
          <a:prstGeom prst="rect">
            <a:avLst/>
          </a:prstGeom>
          <a:solidFill>
            <a:srgbClr val="FFFBEB"/>
          </a:solidFill>
          <a:ln w="25400">
            <a:solidFill>
              <a:srgbClr val="F59E0B"/>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274320" y="2194560"/>
            <a:ext cx="822960" cy="1298448"/>
          </a:xfrm>
          <a:prstGeom prst="rect">
            <a:avLst/>
          </a:prstGeom>
          <a:solidFill>
            <a:srgbClr val="F59E0B"/>
          </a:solidFill>
          <a:ln w="12700">
            <a:solidFill>
              <a:srgbClr val="F59E0B"/>
            </a:solidFill>
            <a:prstDash val="solid"/>
          </a:ln>
        </p:spPr>
      </p:sp>
      <p:sp>
        <p:nvSpPr>
          <p:cNvPr id="13" name="Text 11"/>
          <p:cNvSpPr/>
          <p:nvPr/>
        </p:nvSpPr>
        <p:spPr>
          <a:xfrm>
            <a:off x="274320" y="2194560"/>
            <a:ext cx="82296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onsolas" pitchFamily="34" charset="0"/>
                <a:ea typeface="Consolas" pitchFamily="34" charset="-122"/>
                <a:cs typeface="Consolas" pitchFamily="34" charset="-120"/>
              </a:rPr>
              <a:t>C2</a:t>
            </a:r>
            <a:endParaRPr lang="en-US" sz="2000" dirty="0"/>
          </a:p>
        </p:txBody>
      </p:sp>
      <p:sp>
        <p:nvSpPr>
          <p:cNvPr id="14" name="Text 12"/>
          <p:cNvSpPr/>
          <p:nvPr/>
        </p:nvSpPr>
        <p:spPr>
          <a:xfrm>
            <a:off x="274320" y="2852928"/>
            <a:ext cx="822960" cy="640080"/>
          </a:xfrm>
          <a:prstGeom prst="rect">
            <a:avLst/>
          </a:prstGeom>
          <a:noFill/>
          <a:ln/>
        </p:spPr>
        <p:txBody>
          <a:bodyPr wrap="square" lIns="0" tIns="0" rIns="0" bIns="0" rtlCol="0" anchor="t"/>
          <a:lstStyle/>
          <a:p>
            <a:pPr algn="ctr" indent="0" marL="0">
              <a:buNone/>
            </a:pPr>
            <a:r>
              <a:rPr lang="en-US" sz="1000" dirty="0">
                <a:solidFill>
                  <a:srgbClr val="FFFFFF"/>
                </a:solidFill>
              </a:rPr>
              <a:t>Extension</a:t>
            </a:r>
            <a:endParaRPr lang="en-US" sz="1000" dirty="0"/>
          </a:p>
        </p:txBody>
      </p:sp>
      <p:sp>
        <p:nvSpPr>
          <p:cNvPr id="15" name="Text 13"/>
          <p:cNvSpPr/>
          <p:nvPr/>
        </p:nvSpPr>
        <p:spPr>
          <a:xfrm>
            <a:off x="1188720" y="2267712"/>
            <a:ext cx="7543800" cy="347472"/>
          </a:xfrm>
          <a:prstGeom prst="rect">
            <a:avLst/>
          </a:prstGeom>
          <a:noFill/>
          <a:ln/>
        </p:spPr>
        <p:txBody>
          <a:bodyPr wrap="square" lIns="0" tIns="0" rIns="0" bIns="0" rtlCol="0" anchor="ctr"/>
          <a:lstStyle/>
          <a:p>
            <a:pPr indent="0" marL="0">
              <a:buNone/>
            </a:pPr>
            <a:r>
              <a:rPr lang="en-US" sz="1400" b="1" dirty="0">
                <a:solidFill>
                  <a:srgbClr val="F59E0B"/>
                </a:solidFill>
              </a:rPr>
              <a:t>Add a Loan Class &amp; Relationships</a:t>
            </a:r>
            <a:endParaRPr lang="en-US" sz="1400" dirty="0"/>
          </a:p>
        </p:txBody>
      </p:sp>
      <p:sp>
        <p:nvSpPr>
          <p:cNvPr id="16" name="Text 14"/>
          <p:cNvSpPr/>
          <p:nvPr/>
        </p:nvSpPr>
        <p:spPr>
          <a:xfrm>
            <a:off x="1188720" y="2633472"/>
            <a:ext cx="7543800" cy="594360"/>
          </a:xfrm>
          <a:prstGeom prst="rect">
            <a:avLst/>
          </a:prstGeom>
          <a:noFill/>
          <a:ln/>
        </p:spPr>
        <p:txBody>
          <a:bodyPr wrap="square" lIns="0" tIns="0" rIns="0" bIns="0" rtlCol="0" anchor="ctr"/>
          <a:lstStyle/>
          <a:p>
            <a:pPr indent="0" marL="0">
              <a:buNone/>
            </a:pPr>
            <a:r>
              <a:rPr lang="en-US" sz="1100" dirty="0">
                <a:solidFill>
                  <a:srgbClr val="1E293B"/>
                </a:solidFill>
              </a:rPr>
              <a:t>Extend your diagram to include a Loan class that records borrowing history. Draw the relationships between Book, User, and Loan using correct UML notation. Justify whether the relationship between Loan and Book is composition or aggregation.</a:t>
            </a:r>
            <a:endParaRPr lang="en-US" sz="1100" dirty="0"/>
          </a:p>
        </p:txBody>
      </p:sp>
      <p:sp>
        <p:nvSpPr>
          <p:cNvPr id="17" name="Text 15"/>
          <p:cNvSpPr/>
          <p:nvPr/>
        </p:nvSpPr>
        <p:spPr>
          <a:xfrm>
            <a:off x="1188720" y="3255264"/>
            <a:ext cx="7543800" cy="201168"/>
          </a:xfrm>
          <a:prstGeom prst="rect">
            <a:avLst/>
          </a:prstGeom>
          <a:noFill/>
          <a:ln/>
        </p:spPr>
        <p:txBody>
          <a:bodyPr wrap="square" lIns="0" tIns="0" rIns="0" bIns="0" rtlCol="0" anchor="ctr"/>
          <a:lstStyle/>
          <a:p>
            <a:pPr indent="0" marL="0">
              <a:buNone/>
            </a:pPr>
            <a:r>
              <a:rPr lang="en-US" sz="1000" i="1" dirty="0">
                <a:solidFill>
                  <a:srgbClr val="F59E0B"/>
                </a:solidFill>
              </a:rPr>
              <a:t>✓ Loan class design  ✓ Correct relationship type  ✓ Justified reasoning</a:t>
            </a:r>
            <a:endParaRPr lang="en-US" sz="1000" dirty="0"/>
          </a:p>
        </p:txBody>
      </p:sp>
      <p:sp>
        <p:nvSpPr>
          <p:cNvPr id="18" name="Shape 16"/>
          <p:cNvSpPr/>
          <p:nvPr/>
        </p:nvSpPr>
        <p:spPr>
          <a:xfrm>
            <a:off x="274320" y="3611880"/>
            <a:ext cx="8595360" cy="1298448"/>
          </a:xfrm>
          <a:prstGeom prst="rect">
            <a:avLst/>
          </a:prstGeom>
          <a:solidFill>
            <a:srgbClr val="FFF1F2"/>
          </a:solidFill>
          <a:ln w="25400">
            <a:solidFill>
              <a:srgbClr val="DC2626"/>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274320" y="3611880"/>
            <a:ext cx="822960" cy="1298448"/>
          </a:xfrm>
          <a:prstGeom prst="rect">
            <a:avLst/>
          </a:prstGeom>
          <a:solidFill>
            <a:srgbClr val="DC2626"/>
          </a:solidFill>
          <a:ln w="12700">
            <a:solidFill>
              <a:srgbClr val="DC2626"/>
            </a:solidFill>
            <a:prstDash val="solid"/>
          </a:ln>
        </p:spPr>
      </p:sp>
      <p:sp>
        <p:nvSpPr>
          <p:cNvPr id="20" name="Text 18"/>
          <p:cNvSpPr/>
          <p:nvPr/>
        </p:nvSpPr>
        <p:spPr>
          <a:xfrm>
            <a:off x="274320" y="3611880"/>
            <a:ext cx="82296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onsolas" pitchFamily="34" charset="0"/>
                <a:ea typeface="Consolas" pitchFamily="34" charset="-122"/>
                <a:cs typeface="Consolas" pitchFamily="34" charset="-120"/>
              </a:rPr>
              <a:t>C3</a:t>
            </a:r>
            <a:endParaRPr lang="en-US" sz="2000" dirty="0"/>
          </a:p>
        </p:txBody>
      </p:sp>
      <p:sp>
        <p:nvSpPr>
          <p:cNvPr id="21" name="Text 19"/>
          <p:cNvSpPr/>
          <p:nvPr/>
        </p:nvSpPr>
        <p:spPr>
          <a:xfrm>
            <a:off x="274320" y="4270248"/>
            <a:ext cx="822960" cy="640080"/>
          </a:xfrm>
          <a:prstGeom prst="rect">
            <a:avLst/>
          </a:prstGeom>
          <a:noFill/>
          <a:ln/>
        </p:spPr>
        <p:txBody>
          <a:bodyPr wrap="square" lIns="0" tIns="0" rIns="0" bIns="0" rtlCol="0" anchor="t"/>
          <a:lstStyle/>
          <a:p>
            <a:pPr algn="ctr" indent="0" marL="0">
              <a:buNone/>
            </a:pPr>
            <a:r>
              <a:rPr lang="en-US" sz="1000" dirty="0">
                <a:solidFill>
                  <a:srgbClr val="FFFFFF"/>
                </a:solidFill>
              </a:rPr>
              <a:t>Mastery</a:t>
            </a:r>
            <a:endParaRPr lang="en-US" sz="1000" dirty="0"/>
          </a:p>
        </p:txBody>
      </p:sp>
      <p:sp>
        <p:nvSpPr>
          <p:cNvPr id="22" name="Text 20"/>
          <p:cNvSpPr/>
          <p:nvPr/>
        </p:nvSpPr>
        <p:spPr>
          <a:xfrm>
            <a:off x="1188720" y="3685032"/>
            <a:ext cx="7543800" cy="347472"/>
          </a:xfrm>
          <a:prstGeom prst="rect">
            <a:avLst/>
          </a:prstGeom>
          <a:noFill/>
          <a:ln/>
        </p:spPr>
        <p:txBody>
          <a:bodyPr wrap="square" lIns="0" tIns="0" rIns="0" bIns="0" rtlCol="0" anchor="ctr"/>
          <a:lstStyle/>
          <a:p>
            <a:pPr indent="0" marL="0">
              <a:buNone/>
            </a:pPr>
            <a:r>
              <a:rPr lang="en-US" sz="1400" b="1" dirty="0">
                <a:solidFill>
                  <a:srgbClr val="DC2626"/>
                </a:solidFill>
              </a:rPr>
              <a:t>New Scenario: Hospital System</a:t>
            </a:r>
            <a:endParaRPr lang="en-US" sz="1400" dirty="0"/>
          </a:p>
        </p:txBody>
      </p:sp>
      <p:sp>
        <p:nvSpPr>
          <p:cNvPr id="23" name="Text 21"/>
          <p:cNvSpPr/>
          <p:nvPr/>
        </p:nvSpPr>
        <p:spPr>
          <a:xfrm>
            <a:off x="1188720" y="4050792"/>
            <a:ext cx="7543800" cy="594360"/>
          </a:xfrm>
          <a:prstGeom prst="rect">
            <a:avLst/>
          </a:prstGeom>
          <a:noFill/>
          <a:ln/>
        </p:spPr>
        <p:txBody>
          <a:bodyPr wrap="square" lIns="0" tIns="0" rIns="0" bIns="0" rtlCol="0" anchor="ctr"/>
          <a:lstStyle/>
          <a:p>
            <a:pPr indent="0" marL="0">
              <a:buNone/>
            </a:pPr>
            <a:r>
              <a:rPr lang="en-US" sz="1100" dirty="0">
                <a:solidFill>
                  <a:srgbClr val="1E293B"/>
                </a:solidFill>
              </a:rPr>
              <a:t>A hospital needs a system to manage patients, doctors, and appointments. Design a full UML class diagram from scratch. Include: 3+ classes, appropriate attributes and methods, visibility notation, and at least 2 different relationship types.</a:t>
            </a:r>
            <a:endParaRPr lang="en-US" sz="1100" dirty="0"/>
          </a:p>
        </p:txBody>
      </p:sp>
      <p:sp>
        <p:nvSpPr>
          <p:cNvPr id="24" name="Text 22"/>
          <p:cNvSpPr/>
          <p:nvPr/>
        </p:nvSpPr>
        <p:spPr>
          <a:xfrm>
            <a:off x="1188720" y="4672584"/>
            <a:ext cx="7543800" cy="201168"/>
          </a:xfrm>
          <a:prstGeom prst="rect">
            <a:avLst/>
          </a:prstGeom>
          <a:noFill/>
          <a:ln/>
        </p:spPr>
        <p:txBody>
          <a:bodyPr wrap="square" lIns="0" tIns="0" rIns="0" bIns="0" rtlCol="0" anchor="ctr"/>
          <a:lstStyle/>
          <a:p>
            <a:pPr indent="0" marL="0">
              <a:buNone/>
            </a:pPr>
            <a:r>
              <a:rPr lang="en-US" sz="1000" i="1" dirty="0">
                <a:solidFill>
                  <a:srgbClr val="DC2626"/>
                </a:solidFill>
              </a:rPr>
              <a:t>✓ Independent design  ✓ Multiple relationships  ✓ Justified all decisions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6858000" y="0"/>
            <a:ext cx="2286000" cy="5143500"/>
          </a:xfrm>
          <a:prstGeom prst="rect">
            <a:avLst/>
          </a:prstGeom>
          <a:solidFill>
            <a:srgbClr val="162035"/>
          </a:solidFill>
          <a:ln w="12700">
            <a:solidFill>
              <a:srgbClr val="162035"/>
            </a:solidFill>
            <a:prstDash val="solid"/>
          </a:ln>
        </p:spPr>
      </p:sp>
      <p:sp>
        <p:nvSpPr>
          <p:cNvPr id="3" name="Text 1"/>
          <p:cNvSpPr/>
          <p:nvPr/>
        </p:nvSpPr>
        <p:spPr>
          <a:xfrm>
            <a:off x="6949440" y="1920240"/>
            <a:ext cx="2011680" cy="1097280"/>
          </a:xfrm>
          <a:prstGeom prst="rect">
            <a:avLst/>
          </a:prstGeom>
          <a:noFill/>
          <a:ln/>
        </p:spPr>
        <p:txBody>
          <a:bodyPr wrap="square" rtlCol="0" anchor="ctr"/>
          <a:lstStyle/>
          <a:p>
            <a:pPr algn="ctr" indent="0" marL="0">
              <a:buNone/>
            </a:pPr>
            <a:r>
              <a:rPr lang="en-US" sz="5800" b="1" dirty="0">
                <a:solidFill>
                  <a:srgbClr val="243050"/>
                </a:solidFill>
                <a:latin typeface="Consolas" pitchFamily="34" charset="0"/>
                <a:ea typeface="Consolas" pitchFamily="34" charset="-122"/>
                <a:cs typeface="Consolas" pitchFamily="34" charset="-120"/>
              </a:rPr>
              <a:t>{ }</a:t>
            </a:r>
            <a:endParaRPr lang="en-US" sz="5800" dirty="0"/>
          </a:p>
        </p:txBody>
      </p:sp>
      <p:sp>
        <p:nvSpPr>
          <p:cNvPr id="4" name="Shape 2"/>
          <p:cNvSpPr/>
          <p:nvPr/>
        </p:nvSpPr>
        <p:spPr>
          <a:xfrm>
            <a:off x="0" y="0"/>
            <a:ext cx="182880" cy="5143500"/>
          </a:xfrm>
          <a:prstGeom prst="rect">
            <a:avLst/>
          </a:prstGeom>
          <a:solidFill>
            <a:srgbClr val="0D9488"/>
          </a:solidFill>
          <a:ln w="12700">
            <a:solidFill>
              <a:srgbClr val="0D9488"/>
            </a:solidFill>
            <a:prstDash val="solid"/>
          </a:ln>
        </p:spPr>
      </p:sp>
      <p:sp>
        <p:nvSpPr>
          <p:cNvPr id="5" name="Text 3"/>
          <p:cNvSpPr/>
          <p:nvPr/>
        </p:nvSpPr>
        <p:spPr>
          <a:xfrm>
            <a:off x="365760" y="274320"/>
            <a:ext cx="6400800" cy="594360"/>
          </a:xfrm>
          <a:prstGeom prst="rect">
            <a:avLst/>
          </a:prstGeom>
          <a:noFill/>
          <a:ln/>
        </p:spPr>
        <p:txBody>
          <a:bodyPr wrap="square" lIns="0" tIns="0" rIns="0" bIns="0" rtlCol="0" anchor="ctr"/>
          <a:lstStyle/>
          <a:p>
            <a:pPr indent="0" marL="0">
              <a:buNone/>
            </a:pPr>
            <a:r>
              <a:rPr lang="en-US" sz="3200" b="1" dirty="0">
                <a:solidFill>
                  <a:srgbClr val="FFFFFF"/>
                </a:solidFill>
              </a:rPr>
              <a:t>Exit Ticket</a:t>
            </a:r>
            <a:endParaRPr lang="en-US" sz="3200" dirty="0"/>
          </a:p>
        </p:txBody>
      </p:sp>
      <p:sp>
        <p:nvSpPr>
          <p:cNvPr id="6" name="Text 4"/>
          <p:cNvSpPr/>
          <p:nvPr/>
        </p:nvSpPr>
        <p:spPr>
          <a:xfrm>
            <a:off x="365760" y="914400"/>
            <a:ext cx="6217920" cy="365760"/>
          </a:xfrm>
          <a:prstGeom prst="rect">
            <a:avLst/>
          </a:prstGeom>
          <a:noFill/>
          <a:ln/>
        </p:spPr>
        <p:txBody>
          <a:bodyPr wrap="square" lIns="0" tIns="0" rIns="0" bIns="0" rtlCol="0" anchor="ctr"/>
          <a:lstStyle/>
          <a:p>
            <a:pPr indent="0" marL="0">
              <a:buNone/>
            </a:pPr>
            <a:r>
              <a:rPr lang="en-US" sz="1400" i="1" dirty="0">
                <a:solidFill>
                  <a:srgbClr val="0D9488"/>
                </a:solidFill>
              </a:rPr>
              <a:t>Answer these before you leave:</a:t>
            </a:r>
            <a:endParaRPr lang="en-US" sz="1400" dirty="0"/>
          </a:p>
        </p:txBody>
      </p:sp>
      <p:sp>
        <p:nvSpPr>
          <p:cNvPr id="7" name="Shape 5"/>
          <p:cNvSpPr/>
          <p:nvPr/>
        </p:nvSpPr>
        <p:spPr>
          <a:xfrm>
            <a:off x="365760" y="1417320"/>
            <a:ext cx="365760" cy="365760"/>
          </a:xfrm>
          <a:prstGeom prst="ellipse">
            <a:avLst/>
          </a:prstGeom>
          <a:solidFill>
            <a:srgbClr val="0D9488"/>
          </a:solidFill>
          <a:ln w="12700">
            <a:solidFill>
              <a:srgbClr val="0D9488"/>
            </a:solidFill>
            <a:prstDash val="solid"/>
          </a:ln>
        </p:spPr>
      </p:sp>
      <p:sp>
        <p:nvSpPr>
          <p:cNvPr id="8" name="Text 6"/>
          <p:cNvSpPr/>
          <p:nvPr/>
        </p:nvSpPr>
        <p:spPr>
          <a:xfrm>
            <a:off x="365760" y="14173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7"/>
          <p:cNvSpPr/>
          <p:nvPr/>
        </p:nvSpPr>
        <p:spPr>
          <a:xfrm>
            <a:off x="868680" y="1435608"/>
            <a:ext cx="5852160" cy="347472"/>
          </a:xfrm>
          <a:prstGeom prst="rect">
            <a:avLst/>
          </a:prstGeom>
          <a:noFill/>
          <a:ln/>
        </p:spPr>
        <p:txBody>
          <a:bodyPr wrap="square" lIns="0" tIns="0" rIns="0" bIns="0" rtlCol="0" anchor="ctr"/>
          <a:lstStyle/>
          <a:p>
            <a:pPr indent="0" marL="0">
              <a:buNone/>
            </a:pPr>
            <a:r>
              <a:rPr lang="en-US" sz="1300" dirty="0">
                <a:solidFill>
                  <a:srgbClr val="FFFFFF"/>
                </a:solidFill>
              </a:rPr>
              <a:t>Name the THREE compartments of a UML class diagram.</a:t>
            </a:r>
            <a:endParaRPr lang="en-US" sz="1300" dirty="0"/>
          </a:p>
        </p:txBody>
      </p:sp>
      <p:sp>
        <p:nvSpPr>
          <p:cNvPr id="10" name="Shape 8"/>
          <p:cNvSpPr/>
          <p:nvPr/>
        </p:nvSpPr>
        <p:spPr>
          <a:xfrm>
            <a:off x="868680" y="1801368"/>
            <a:ext cx="5760720" cy="0"/>
          </a:xfrm>
          <a:prstGeom prst="line">
            <a:avLst/>
          </a:prstGeom>
          <a:noFill/>
          <a:ln w="12700">
            <a:solidFill>
              <a:srgbClr val="2A4060"/>
            </a:solidFill>
            <a:prstDash val="dash"/>
          </a:ln>
        </p:spPr>
      </p:sp>
      <p:sp>
        <p:nvSpPr>
          <p:cNvPr id="11" name="Shape 9"/>
          <p:cNvSpPr/>
          <p:nvPr/>
        </p:nvSpPr>
        <p:spPr>
          <a:xfrm>
            <a:off x="365760" y="2167128"/>
            <a:ext cx="365760" cy="365760"/>
          </a:xfrm>
          <a:prstGeom prst="ellipse">
            <a:avLst/>
          </a:prstGeom>
          <a:solidFill>
            <a:srgbClr val="0D9488"/>
          </a:solidFill>
          <a:ln w="12700">
            <a:solidFill>
              <a:srgbClr val="0D9488"/>
            </a:solidFill>
            <a:prstDash val="solid"/>
          </a:ln>
        </p:spPr>
      </p:sp>
      <p:sp>
        <p:nvSpPr>
          <p:cNvPr id="12" name="Text 10"/>
          <p:cNvSpPr/>
          <p:nvPr/>
        </p:nvSpPr>
        <p:spPr>
          <a:xfrm>
            <a:off x="365760" y="21671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1"/>
          <p:cNvSpPr/>
          <p:nvPr/>
        </p:nvSpPr>
        <p:spPr>
          <a:xfrm>
            <a:off x="868680" y="2185416"/>
            <a:ext cx="5852160" cy="347472"/>
          </a:xfrm>
          <a:prstGeom prst="rect">
            <a:avLst/>
          </a:prstGeom>
          <a:noFill/>
          <a:ln/>
        </p:spPr>
        <p:txBody>
          <a:bodyPr wrap="square" lIns="0" tIns="0" rIns="0" bIns="0" rtlCol="0" anchor="ctr"/>
          <a:lstStyle/>
          <a:p>
            <a:pPr indent="0" marL="0">
              <a:buNone/>
            </a:pPr>
            <a:r>
              <a:rPr lang="en-US" sz="1300" dirty="0">
                <a:solidFill>
                  <a:srgbClr val="FFFFFF"/>
                </a:solidFill>
              </a:rPr>
              <a:t>What does the – symbol mean in UML? Give an example of when you'd use it.</a:t>
            </a:r>
            <a:endParaRPr lang="en-US" sz="1300" dirty="0"/>
          </a:p>
        </p:txBody>
      </p:sp>
      <p:sp>
        <p:nvSpPr>
          <p:cNvPr id="14" name="Shape 12"/>
          <p:cNvSpPr/>
          <p:nvPr/>
        </p:nvSpPr>
        <p:spPr>
          <a:xfrm>
            <a:off x="868680" y="2551176"/>
            <a:ext cx="5760720" cy="0"/>
          </a:xfrm>
          <a:prstGeom prst="line">
            <a:avLst/>
          </a:prstGeom>
          <a:noFill/>
          <a:ln w="12700">
            <a:solidFill>
              <a:srgbClr val="2A4060"/>
            </a:solidFill>
            <a:prstDash val="dash"/>
          </a:ln>
        </p:spPr>
      </p:sp>
      <p:sp>
        <p:nvSpPr>
          <p:cNvPr id="15" name="Shape 13"/>
          <p:cNvSpPr/>
          <p:nvPr/>
        </p:nvSpPr>
        <p:spPr>
          <a:xfrm>
            <a:off x="365760" y="2916936"/>
            <a:ext cx="365760" cy="365760"/>
          </a:xfrm>
          <a:prstGeom prst="ellipse">
            <a:avLst/>
          </a:prstGeom>
          <a:solidFill>
            <a:srgbClr val="0D9488"/>
          </a:solidFill>
          <a:ln w="12700">
            <a:solidFill>
              <a:srgbClr val="0D9488"/>
            </a:solidFill>
            <a:prstDash val="solid"/>
          </a:ln>
        </p:spPr>
      </p:sp>
      <p:sp>
        <p:nvSpPr>
          <p:cNvPr id="16" name="Text 14"/>
          <p:cNvSpPr/>
          <p:nvPr/>
        </p:nvSpPr>
        <p:spPr>
          <a:xfrm>
            <a:off x="365760" y="291693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7" name="Text 15"/>
          <p:cNvSpPr/>
          <p:nvPr/>
        </p:nvSpPr>
        <p:spPr>
          <a:xfrm>
            <a:off x="868680" y="2935224"/>
            <a:ext cx="5852160" cy="347472"/>
          </a:xfrm>
          <a:prstGeom prst="rect">
            <a:avLst/>
          </a:prstGeom>
          <a:noFill/>
          <a:ln/>
        </p:spPr>
        <p:txBody>
          <a:bodyPr wrap="square" lIns="0" tIns="0" rIns="0" bIns="0" rtlCol="0" anchor="ctr"/>
          <a:lstStyle/>
          <a:p>
            <a:pPr indent="0" marL="0">
              <a:buNone/>
            </a:pPr>
            <a:r>
              <a:rPr lang="en-US" sz="1300" dirty="0">
                <a:solidFill>
                  <a:srgbClr val="FFFFFF"/>
                </a:solidFill>
              </a:rPr>
              <a:t>What is the difference between aggregation and composition? Give an example of each.</a:t>
            </a:r>
            <a:endParaRPr lang="en-US" sz="1300" dirty="0"/>
          </a:p>
        </p:txBody>
      </p:sp>
      <p:sp>
        <p:nvSpPr>
          <p:cNvPr id="18" name="Shape 16"/>
          <p:cNvSpPr/>
          <p:nvPr/>
        </p:nvSpPr>
        <p:spPr>
          <a:xfrm>
            <a:off x="868680" y="3300984"/>
            <a:ext cx="5760720" cy="0"/>
          </a:xfrm>
          <a:prstGeom prst="line">
            <a:avLst/>
          </a:prstGeom>
          <a:noFill/>
          <a:ln w="12700">
            <a:solidFill>
              <a:srgbClr val="2A4060"/>
            </a:solidFill>
            <a:prstDash val="dash"/>
          </a:ln>
        </p:spPr>
      </p:sp>
      <p:sp>
        <p:nvSpPr>
          <p:cNvPr id="19" name="Shape 17"/>
          <p:cNvSpPr/>
          <p:nvPr/>
        </p:nvSpPr>
        <p:spPr>
          <a:xfrm>
            <a:off x="365760" y="3666744"/>
            <a:ext cx="365760" cy="365760"/>
          </a:xfrm>
          <a:prstGeom prst="ellipse">
            <a:avLst/>
          </a:prstGeom>
          <a:solidFill>
            <a:srgbClr val="0D9488"/>
          </a:solidFill>
          <a:ln w="12700">
            <a:solidFill>
              <a:srgbClr val="0D9488"/>
            </a:solidFill>
            <a:prstDash val="solid"/>
          </a:ln>
        </p:spPr>
      </p:sp>
      <p:sp>
        <p:nvSpPr>
          <p:cNvPr id="20" name="Text 18"/>
          <p:cNvSpPr/>
          <p:nvPr/>
        </p:nvSpPr>
        <p:spPr>
          <a:xfrm>
            <a:off x="365760" y="366674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1" name="Text 19"/>
          <p:cNvSpPr/>
          <p:nvPr/>
        </p:nvSpPr>
        <p:spPr>
          <a:xfrm>
            <a:off x="868680" y="3685032"/>
            <a:ext cx="5852160" cy="347472"/>
          </a:xfrm>
          <a:prstGeom prst="rect">
            <a:avLst/>
          </a:prstGeom>
          <a:noFill/>
          <a:ln/>
        </p:spPr>
        <p:txBody>
          <a:bodyPr wrap="square" lIns="0" tIns="0" rIns="0" bIns="0" rtlCol="0" anchor="ctr"/>
          <a:lstStyle/>
          <a:p>
            <a:pPr indent="0" marL="0">
              <a:buNone/>
            </a:pPr>
            <a:r>
              <a:rPr lang="en-US" sz="1300" dirty="0">
                <a:solidFill>
                  <a:srgbClr val="FFFFFF"/>
                </a:solidFill>
              </a:rPr>
              <a:t>Write the UML attribute notation for a private integer called 'score'.</a:t>
            </a:r>
            <a:endParaRPr lang="en-US" sz="1300" dirty="0"/>
          </a:p>
        </p:txBody>
      </p:sp>
      <p:sp>
        <p:nvSpPr>
          <p:cNvPr id="22" name="Shape 20"/>
          <p:cNvSpPr/>
          <p:nvPr/>
        </p:nvSpPr>
        <p:spPr>
          <a:xfrm>
            <a:off x="868680" y="4050792"/>
            <a:ext cx="5760720" cy="0"/>
          </a:xfrm>
          <a:prstGeom prst="line">
            <a:avLst/>
          </a:prstGeom>
          <a:noFill/>
          <a:ln w="12700">
            <a:solidFill>
              <a:srgbClr val="2A4060"/>
            </a:solidFill>
            <a:prstDash val="dash"/>
          </a:ln>
        </p:spPr>
      </p:sp>
      <p:sp>
        <p:nvSpPr>
          <p:cNvPr id="23" name="Shape 21"/>
          <p:cNvSpPr/>
          <p:nvPr/>
        </p:nvSpPr>
        <p:spPr>
          <a:xfrm>
            <a:off x="365760" y="4434840"/>
            <a:ext cx="6400800" cy="502920"/>
          </a:xfrm>
          <a:prstGeom prst="rect">
            <a:avLst/>
          </a:prstGeom>
          <a:solidFill>
            <a:srgbClr val="162035"/>
          </a:solidFill>
          <a:ln w="12700">
            <a:solidFill>
              <a:srgbClr val="0D9488"/>
            </a:solidFill>
            <a:prstDash val="solid"/>
          </a:ln>
        </p:spPr>
      </p:sp>
      <p:sp>
        <p:nvSpPr>
          <p:cNvPr id="24" name="Text 22"/>
          <p:cNvSpPr/>
          <p:nvPr/>
        </p:nvSpPr>
        <p:spPr>
          <a:xfrm>
            <a:off x="502920" y="4453128"/>
            <a:ext cx="6126480" cy="457200"/>
          </a:xfrm>
          <a:prstGeom prst="rect">
            <a:avLst/>
          </a:prstGeom>
          <a:noFill/>
          <a:ln/>
        </p:spPr>
        <p:txBody>
          <a:bodyPr wrap="square" rtlCol="0" anchor="ctr"/>
          <a:lstStyle/>
          <a:p>
            <a:pPr indent="0" marL="0">
              <a:buNone/>
            </a:pPr>
            <a:r>
              <a:rPr lang="en-US" sz="1100" b="1" dirty="0">
                <a:solidFill>
                  <a:srgbClr val="0D9488"/>
                </a:solidFill>
              </a:rPr>
              <a:t>Key vocab: </a:t>
            </a:r>
            <a:pPr indent="0" marL="0">
              <a:buNone/>
            </a:pPr>
            <a:r>
              <a:rPr lang="en-US" sz="1100" dirty="0">
                <a:solidFill>
                  <a:srgbClr val="94A3B8"/>
                </a:solidFill>
              </a:rPr>
              <a:t>class · attribute · method · visibility · encapsulation · UML · association · aggregation · composition · inheritance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7C3AED"/>
          </a:solidFill>
          <a:ln w="12700">
            <a:solidFill>
              <a:srgbClr val="7C3AED"/>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indent="0" marL="0">
              <a:buNone/>
            </a:pPr>
            <a:r>
              <a:rPr lang="en-US" sz="2200" b="1" dirty="0">
                <a:solidFill>
                  <a:srgbClr val="FFFFFF"/>
                </a:solidFill>
              </a:rPr>
              <a:t>⚡  Starter Activity — Answer Reveal</a:t>
            </a:r>
            <a:endParaRPr lang="en-US" sz="2200" dirty="0"/>
          </a:p>
        </p:txBody>
      </p:sp>
      <p:sp>
        <p:nvSpPr>
          <p:cNvPr id="4" name="Text 2"/>
          <p:cNvSpPr/>
          <p:nvPr/>
        </p:nvSpPr>
        <p:spPr>
          <a:xfrm>
            <a:off x="365760" y="749808"/>
            <a:ext cx="8229600" cy="347472"/>
          </a:xfrm>
          <a:prstGeom prst="rect">
            <a:avLst/>
          </a:prstGeom>
          <a:noFill/>
          <a:ln/>
        </p:spPr>
        <p:txBody>
          <a:bodyPr wrap="square" lIns="0" tIns="0" rIns="0" bIns="0" rtlCol="0" anchor="ctr"/>
          <a:lstStyle/>
          <a:p>
            <a:pPr indent="0" marL="0">
              <a:buNone/>
            </a:pPr>
            <a:r>
              <a:rPr lang="en-US" sz="1400" b="1" dirty="0">
                <a:solidFill>
                  <a:srgbClr val="1E293B"/>
                </a:solidFill>
              </a:rPr>
              <a:t>School Clubs System — suggested classes:</a:t>
            </a:r>
            <a:endParaRPr lang="en-US" sz="1400" dirty="0"/>
          </a:p>
        </p:txBody>
      </p:sp>
      <p:sp>
        <p:nvSpPr>
          <p:cNvPr id="5" name="Shape 3"/>
          <p:cNvSpPr/>
          <p:nvPr/>
        </p:nvSpPr>
        <p:spPr>
          <a:xfrm>
            <a:off x="228600" y="1170432"/>
            <a:ext cx="2057400" cy="2450592"/>
          </a:xfrm>
          <a:prstGeom prst="rect">
            <a:avLst/>
          </a:prstGeom>
          <a:solidFill>
            <a:srgbClr val="FFFFFF"/>
          </a:solidFill>
          <a:ln w="19050">
            <a:solidFill>
              <a:srgbClr val="1A2744"/>
            </a:solidFill>
            <a:prstDash val="solid"/>
          </a:ln>
        </p:spPr>
      </p:sp>
      <p:sp>
        <p:nvSpPr>
          <p:cNvPr id="6" name="Shape 4"/>
          <p:cNvSpPr/>
          <p:nvPr/>
        </p:nvSpPr>
        <p:spPr>
          <a:xfrm>
            <a:off x="228600" y="1170432"/>
            <a:ext cx="2057400" cy="402336"/>
          </a:xfrm>
          <a:prstGeom prst="rect">
            <a:avLst/>
          </a:prstGeom>
          <a:solidFill>
            <a:srgbClr val="0D9488"/>
          </a:solidFill>
          <a:ln w="12700">
            <a:solidFill>
              <a:srgbClr val="0D9488"/>
            </a:solidFill>
            <a:prstDash val="solid"/>
          </a:ln>
        </p:spPr>
      </p:sp>
      <p:sp>
        <p:nvSpPr>
          <p:cNvPr id="7" name="Text 5"/>
          <p:cNvSpPr/>
          <p:nvPr/>
        </p:nvSpPr>
        <p:spPr>
          <a:xfrm>
            <a:off x="228600" y="1170432"/>
            <a:ext cx="2057400" cy="402336"/>
          </a:xfrm>
          <a:prstGeom prst="rect">
            <a:avLst/>
          </a:prstGeom>
          <a:noFill/>
          <a:ln/>
        </p:spPr>
        <p:txBody>
          <a:bodyPr wrap="square" lIns="0" tIns="0" rIns="0" bIns="0" rtlCol="0" anchor="ctr"/>
          <a:lstStyle/>
          <a:p>
            <a:pPr algn="ctr" indent="0" marL="0">
              <a:buNone/>
            </a:pPr>
            <a:r>
              <a:rPr lang="en-US" sz="1200" b="1" dirty="0">
                <a:solidFill>
                  <a:srgbClr val="FFFFFF"/>
                </a:solidFill>
              </a:rPr>
              <a:t>Student</a:t>
            </a:r>
            <a:endParaRPr lang="en-US" sz="1200" dirty="0"/>
          </a:p>
        </p:txBody>
      </p:sp>
      <p:sp>
        <p:nvSpPr>
          <p:cNvPr id="8" name="Shape 6"/>
          <p:cNvSpPr/>
          <p:nvPr/>
        </p:nvSpPr>
        <p:spPr>
          <a:xfrm>
            <a:off x="228600" y="2596896"/>
            <a:ext cx="2057400" cy="0"/>
          </a:xfrm>
          <a:prstGeom prst="line">
            <a:avLst/>
          </a:prstGeom>
          <a:noFill/>
          <a:ln w="12700">
            <a:solidFill>
              <a:srgbClr val="1A2744"/>
            </a:solidFill>
            <a:prstDash val="solid"/>
          </a:ln>
        </p:spPr>
      </p:sp>
      <p:sp>
        <p:nvSpPr>
          <p:cNvPr id="9" name="Text 7"/>
          <p:cNvSpPr/>
          <p:nvPr/>
        </p:nvSpPr>
        <p:spPr>
          <a:xfrm>
            <a:off x="320040" y="1645920"/>
            <a:ext cx="1920240" cy="292608"/>
          </a:xfrm>
          <a:prstGeom prst="rect">
            <a:avLst/>
          </a:prstGeom>
          <a:noFill/>
          <a:ln/>
        </p:spPr>
        <p:txBody>
          <a:bodyPr wrap="square" lIns="0" tIns="0" rIns="0" bIns="0" rtlCol="0" anchor="ctr"/>
          <a:lstStyle/>
          <a:p>
            <a:pPr indent="0" marL="0">
              <a:buNone/>
            </a:pPr>
            <a:r>
              <a:rPr lang="en-US" sz="1000" dirty="0">
                <a:solidFill>
                  <a:srgbClr val="0D9488"/>
                </a:solidFill>
                <a:latin typeface="Consolas" pitchFamily="34" charset="0"/>
                <a:ea typeface="Consolas" pitchFamily="34" charset="-122"/>
                <a:cs typeface="Consolas" pitchFamily="34" charset="-120"/>
              </a:rPr>
              <a:t>+ studentID: String</a:t>
            </a:r>
            <a:endParaRPr lang="en-US" sz="1000" dirty="0"/>
          </a:p>
        </p:txBody>
      </p:sp>
      <p:sp>
        <p:nvSpPr>
          <p:cNvPr id="10" name="Text 8"/>
          <p:cNvSpPr/>
          <p:nvPr/>
        </p:nvSpPr>
        <p:spPr>
          <a:xfrm>
            <a:off x="320040" y="1938528"/>
            <a:ext cx="1920240" cy="292608"/>
          </a:xfrm>
          <a:prstGeom prst="rect">
            <a:avLst/>
          </a:prstGeom>
          <a:noFill/>
          <a:ln/>
        </p:spPr>
        <p:txBody>
          <a:bodyPr wrap="square" lIns="0" tIns="0" rIns="0" bIns="0" rtlCol="0" anchor="ctr"/>
          <a:lstStyle/>
          <a:p>
            <a:pPr indent="0" marL="0">
              <a:buNone/>
            </a:pPr>
            <a:r>
              <a:rPr lang="en-US" sz="1000" dirty="0">
                <a:solidFill>
                  <a:srgbClr val="0D9488"/>
                </a:solidFill>
                <a:latin typeface="Consolas" pitchFamily="34" charset="0"/>
                <a:ea typeface="Consolas" pitchFamily="34" charset="-122"/>
                <a:cs typeface="Consolas" pitchFamily="34" charset="-120"/>
              </a:rPr>
              <a:t>+ name: String</a:t>
            </a:r>
            <a:endParaRPr lang="en-US" sz="1000" dirty="0"/>
          </a:p>
        </p:txBody>
      </p:sp>
      <p:sp>
        <p:nvSpPr>
          <p:cNvPr id="11" name="Text 9"/>
          <p:cNvSpPr/>
          <p:nvPr/>
        </p:nvSpPr>
        <p:spPr>
          <a:xfrm>
            <a:off x="320040" y="2231136"/>
            <a:ext cx="1920240" cy="292608"/>
          </a:xfrm>
          <a:prstGeom prst="rect">
            <a:avLst/>
          </a:prstGeom>
          <a:noFill/>
          <a:ln/>
        </p:spPr>
        <p:txBody>
          <a:bodyPr wrap="square" lIns="0" tIns="0" rIns="0" bIns="0" rtlCol="0" anchor="ctr"/>
          <a:lstStyle/>
          <a:p>
            <a:pPr indent="0" marL="0">
              <a:buNone/>
            </a:pPr>
            <a:r>
              <a:rPr lang="en-US" sz="1000" dirty="0">
                <a:solidFill>
                  <a:srgbClr val="0D9488"/>
                </a:solidFill>
                <a:latin typeface="Consolas" pitchFamily="34" charset="0"/>
                <a:ea typeface="Consolas" pitchFamily="34" charset="-122"/>
                <a:cs typeface="Consolas" pitchFamily="34" charset="-120"/>
              </a:rPr>
              <a:t>+ yearGroup: Int</a:t>
            </a:r>
            <a:endParaRPr lang="en-US" sz="1000" dirty="0"/>
          </a:p>
        </p:txBody>
      </p:sp>
      <p:sp>
        <p:nvSpPr>
          <p:cNvPr id="12" name="Text 10"/>
          <p:cNvSpPr/>
          <p:nvPr/>
        </p:nvSpPr>
        <p:spPr>
          <a:xfrm>
            <a:off x="320040" y="2670048"/>
            <a:ext cx="1920240" cy="292608"/>
          </a:xfrm>
          <a:prstGeom prst="rect">
            <a:avLst/>
          </a:prstGeom>
          <a:noFill/>
          <a:ln/>
        </p:spPr>
        <p:txBody>
          <a:bodyPr wrap="square" lIns="0" tIns="0" rIns="0" bIns="0" rtlCol="0" anchor="ctr"/>
          <a:lstStyle/>
          <a:p>
            <a:pPr indent="0" marL="0">
              <a:buNone/>
            </a:pPr>
            <a:r>
              <a:rPr lang="en-US" sz="1000" dirty="0">
                <a:solidFill>
                  <a:srgbClr val="1A2744"/>
                </a:solidFill>
                <a:latin typeface="Consolas" pitchFamily="34" charset="0"/>
                <a:ea typeface="Consolas" pitchFamily="34" charset="-122"/>
                <a:cs typeface="Consolas" pitchFamily="34" charset="-120"/>
              </a:rPr>
              <a:t>+ joinClub(c: Club)</a:t>
            </a:r>
            <a:endParaRPr lang="en-US" sz="1000" dirty="0"/>
          </a:p>
        </p:txBody>
      </p:sp>
      <p:sp>
        <p:nvSpPr>
          <p:cNvPr id="13" name="Text 11"/>
          <p:cNvSpPr/>
          <p:nvPr/>
        </p:nvSpPr>
        <p:spPr>
          <a:xfrm>
            <a:off x="320040" y="2962656"/>
            <a:ext cx="1920240" cy="292608"/>
          </a:xfrm>
          <a:prstGeom prst="rect">
            <a:avLst/>
          </a:prstGeom>
          <a:noFill/>
          <a:ln/>
        </p:spPr>
        <p:txBody>
          <a:bodyPr wrap="square" lIns="0" tIns="0" rIns="0" bIns="0" rtlCol="0" anchor="ctr"/>
          <a:lstStyle/>
          <a:p>
            <a:pPr indent="0" marL="0">
              <a:buNone/>
            </a:pPr>
            <a:r>
              <a:rPr lang="en-US" sz="1000" dirty="0">
                <a:solidFill>
                  <a:srgbClr val="1A2744"/>
                </a:solidFill>
                <a:latin typeface="Consolas" pitchFamily="34" charset="0"/>
                <a:ea typeface="Consolas" pitchFamily="34" charset="-122"/>
                <a:cs typeface="Consolas" pitchFamily="34" charset="-120"/>
              </a:rPr>
              <a:t>+ leaveClub(c: Club)</a:t>
            </a:r>
            <a:endParaRPr lang="en-US" sz="1000" dirty="0"/>
          </a:p>
        </p:txBody>
      </p:sp>
      <p:sp>
        <p:nvSpPr>
          <p:cNvPr id="14" name="Text 12"/>
          <p:cNvSpPr/>
          <p:nvPr/>
        </p:nvSpPr>
        <p:spPr>
          <a:xfrm>
            <a:off x="320040" y="3255264"/>
            <a:ext cx="1920240" cy="292608"/>
          </a:xfrm>
          <a:prstGeom prst="rect">
            <a:avLst/>
          </a:prstGeom>
          <a:noFill/>
          <a:ln/>
        </p:spPr>
        <p:txBody>
          <a:bodyPr wrap="square" lIns="0" tIns="0" rIns="0" bIns="0" rtlCol="0" anchor="ctr"/>
          <a:lstStyle/>
          <a:p>
            <a:pPr indent="0" marL="0">
              <a:buNone/>
            </a:pPr>
            <a:r>
              <a:rPr lang="en-US" sz="1000" dirty="0">
                <a:solidFill>
                  <a:srgbClr val="1A2744"/>
                </a:solidFill>
                <a:latin typeface="Consolas" pitchFamily="34" charset="0"/>
                <a:ea typeface="Consolas" pitchFamily="34" charset="-122"/>
                <a:cs typeface="Consolas" pitchFamily="34" charset="-120"/>
              </a:rPr>
              <a:t>+ getClubs(): List</a:t>
            </a:r>
            <a:endParaRPr lang="en-US" sz="1000" dirty="0"/>
          </a:p>
        </p:txBody>
      </p:sp>
      <p:sp>
        <p:nvSpPr>
          <p:cNvPr id="15" name="Shape 13"/>
          <p:cNvSpPr/>
          <p:nvPr/>
        </p:nvSpPr>
        <p:spPr>
          <a:xfrm>
            <a:off x="2423160" y="1170432"/>
            <a:ext cx="2057400" cy="2157984"/>
          </a:xfrm>
          <a:prstGeom prst="rect">
            <a:avLst/>
          </a:prstGeom>
          <a:solidFill>
            <a:srgbClr val="FFFFFF"/>
          </a:solidFill>
          <a:ln w="19050">
            <a:solidFill>
              <a:srgbClr val="1A2744"/>
            </a:solidFill>
            <a:prstDash val="solid"/>
          </a:ln>
        </p:spPr>
      </p:sp>
      <p:sp>
        <p:nvSpPr>
          <p:cNvPr id="16" name="Shape 14"/>
          <p:cNvSpPr/>
          <p:nvPr/>
        </p:nvSpPr>
        <p:spPr>
          <a:xfrm>
            <a:off x="2423160" y="1170432"/>
            <a:ext cx="2057400" cy="402336"/>
          </a:xfrm>
          <a:prstGeom prst="rect">
            <a:avLst/>
          </a:prstGeom>
          <a:solidFill>
            <a:srgbClr val="1A2744"/>
          </a:solidFill>
          <a:ln w="12700">
            <a:solidFill>
              <a:srgbClr val="1A2744"/>
            </a:solidFill>
            <a:prstDash val="solid"/>
          </a:ln>
        </p:spPr>
      </p:sp>
      <p:sp>
        <p:nvSpPr>
          <p:cNvPr id="17" name="Text 15"/>
          <p:cNvSpPr/>
          <p:nvPr/>
        </p:nvSpPr>
        <p:spPr>
          <a:xfrm>
            <a:off x="2423160" y="1170432"/>
            <a:ext cx="2057400" cy="402336"/>
          </a:xfrm>
          <a:prstGeom prst="rect">
            <a:avLst/>
          </a:prstGeom>
          <a:noFill/>
          <a:ln/>
        </p:spPr>
        <p:txBody>
          <a:bodyPr wrap="square" lIns="0" tIns="0" rIns="0" bIns="0" rtlCol="0" anchor="ctr"/>
          <a:lstStyle/>
          <a:p>
            <a:pPr algn="ctr" indent="0" marL="0">
              <a:buNone/>
            </a:pPr>
            <a:r>
              <a:rPr lang="en-US" sz="1200" b="1" dirty="0">
                <a:solidFill>
                  <a:srgbClr val="FFFFFF"/>
                </a:solidFill>
              </a:rPr>
              <a:t>Club</a:t>
            </a:r>
            <a:endParaRPr lang="en-US" sz="1200" dirty="0"/>
          </a:p>
        </p:txBody>
      </p:sp>
      <p:sp>
        <p:nvSpPr>
          <p:cNvPr id="18" name="Shape 16"/>
          <p:cNvSpPr/>
          <p:nvPr/>
        </p:nvSpPr>
        <p:spPr>
          <a:xfrm>
            <a:off x="2423160" y="2304288"/>
            <a:ext cx="2057400" cy="0"/>
          </a:xfrm>
          <a:prstGeom prst="line">
            <a:avLst/>
          </a:prstGeom>
          <a:noFill/>
          <a:ln w="12700">
            <a:solidFill>
              <a:srgbClr val="1A2744"/>
            </a:solidFill>
            <a:prstDash val="solid"/>
          </a:ln>
        </p:spPr>
      </p:sp>
      <p:sp>
        <p:nvSpPr>
          <p:cNvPr id="19" name="Text 17"/>
          <p:cNvSpPr/>
          <p:nvPr/>
        </p:nvSpPr>
        <p:spPr>
          <a:xfrm>
            <a:off x="2514600" y="1645920"/>
            <a:ext cx="1920240" cy="292608"/>
          </a:xfrm>
          <a:prstGeom prst="rect">
            <a:avLst/>
          </a:prstGeom>
          <a:noFill/>
          <a:ln/>
        </p:spPr>
        <p:txBody>
          <a:bodyPr wrap="square" lIns="0" tIns="0" rIns="0" bIns="0" rtlCol="0" anchor="ctr"/>
          <a:lstStyle/>
          <a:p>
            <a:pPr indent="0" marL="0">
              <a:buNone/>
            </a:pPr>
            <a:r>
              <a:rPr lang="en-US" sz="1000" dirty="0">
                <a:solidFill>
                  <a:srgbClr val="0D9488"/>
                </a:solidFill>
                <a:latin typeface="Consolas" pitchFamily="34" charset="0"/>
                <a:ea typeface="Consolas" pitchFamily="34" charset="-122"/>
                <a:cs typeface="Consolas" pitchFamily="34" charset="-120"/>
              </a:rPr>
              <a:t>+ clubName: String</a:t>
            </a:r>
            <a:endParaRPr lang="en-US" sz="1000" dirty="0"/>
          </a:p>
        </p:txBody>
      </p:sp>
      <p:sp>
        <p:nvSpPr>
          <p:cNvPr id="20" name="Text 18"/>
          <p:cNvSpPr/>
          <p:nvPr/>
        </p:nvSpPr>
        <p:spPr>
          <a:xfrm>
            <a:off x="2514600" y="1938528"/>
            <a:ext cx="1920240" cy="292608"/>
          </a:xfrm>
          <a:prstGeom prst="rect">
            <a:avLst/>
          </a:prstGeom>
          <a:noFill/>
          <a:ln/>
        </p:spPr>
        <p:txBody>
          <a:bodyPr wrap="square" lIns="0" tIns="0" rIns="0" bIns="0" rtlCol="0" anchor="ctr"/>
          <a:lstStyle/>
          <a:p>
            <a:pPr indent="0" marL="0">
              <a:buNone/>
            </a:pPr>
            <a:r>
              <a:rPr lang="en-US" sz="1000" dirty="0">
                <a:solidFill>
                  <a:srgbClr val="0D9488"/>
                </a:solidFill>
                <a:latin typeface="Consolas" pitchFamily="34" charset="0"/>
                <a:ea typeface="Consolas" pitchFamily="34" charset="-122"/>
                <a:cs typeface="Consolas" pitchFamily="34" charset="-120"/>
              </a:rPr>
              <a:t>+ meetingDay: String</a:t>
            </a:r>
            <a:endParaRPr lang="en-US" sz="1000" dirty="0"/>
          </a:p>
        </p:txBody>
      </p:sp>
      <p:sp>
        <p:nvSpPr>
          <p:cNvPr id="21" name="Text 19"/>
          <p:cNvSpPr/>
          <p:nvPr/>
        </p:nvSpPr>
        <p:spPr>
          <a:xfrm>
            <a:off x="2514600" y="2377440"/>
            <a:ext cx="1920240" cy="292608"/>
          </a:xfrm>
          <a:prstGeom prst="rect">
            <a:avLst/>
          </a:prstGeom>
          <a:noFill/>
          <a:ln/>
        </p:spPr>
        <p:txBody>
          <a:bodyPr wrap="square" lIns="0" tIns="0" rIns="0" bIns="0" rtlCol="0" anchor="ctr"/>
          <a:lstStyle/>
          <a:p>
            <a:pPr indent="0" marL="0">
              <a:buNone/>
            </a:pPr>
            <a:r>
              <a:rPr lang="en-US" sz="1000" dirty="0">
                <a:solidFill>
                  <a:srgbClr val="1A2744"/>
                </a:solidFill>
                <a:latin typeface="Consolas" pitchFamily="34" charset="0"/>
                <a:ea typeface="Consolas" pitchFamily="34" charset="-122"/>
                <a:cs typeface="Consolas" pitchFamily="34" charset="-120"/>
              </a:rPr>
              <a:t>+ addMember(s: Student)</a:t>
            </a:r>
            <a:endParaRPr lang="en-US" sz="1000" dirty="0"/>
          </a:p>
        </p:txBody>
      </p:sp>
      <p:sp>
        <p:nvSpPr>
          <p:cNvPr id="22" name="Text 20"/>
          <p:cNvSpPr/>
          <p:nvPr/>
        </p:nvSpPr>
        <p:spPr>
          <a:xfrm>
            <a:off x="2514600" y="2670048"/>
            <a:ext cx="1920240" cy="292608"/>
          </a:xfrm>
          <a:prstGeom prst="rect">
            <a:avLst/>
          </a:prstGeom>
          <a:noFill/>
          <a:ln/>
        </p:spPr>
        <p:txBody>
          <a:bodyPr wrap="square" lIns="0" tIns="0" rIns="0" bIns="0" rtlCol="0" anchor="ctr"/>
          <a:lstStyle/>
          <a:p>
            <a:pPr indent="0" marL="0">
              <a:buNone/>
            </a:pPr>
            <a:r>
              <a:rPr lang="en-US" sz="1000" dirty="0">
                <a:solidFill>
                  <a:srgbClr val="1A2744"/>
                </a:solidFill>
                <a:latin typeface="Consolas" pitchFamily="34" charset="0"/>
                <a:ea typeface="Consolas" pitchFamily="34" charset="-122"/>
                <a:cs typeface="Consolas" pitchFamily="34" charset="-120"/>
              </a:rPr>
              <a:t>+ scheduleMeeting(d: Date)</a:t>
            </a:r>
            <a:endParaRPr lang="en-US" sz="1000" dirty="0"/>
          </a:p>
        </p:txBody>
      </p:sp>
      <p:sp>
        <p:nvSpPr>
          <p:cNvPr id="23" name="Text 21"/>
          <p:cNvSpPr/>
          <p:nvPr/>
        </p:nvSpPr>
        <p:spPr>
          <a:xfrm>
            <a:off x="2514600" y="2962656"/>
            <a:ext cx="1920240" cy="292608"/>
          </a:xfrm>
          <a:prstGeom prst="rect">
            <a:avLst/>
          </a:prstGeom>
          <a:noFill/>
          <a:ln/>
        </p:spPr>
        <p:txBody>
          <a:bodyPr wrap="square" lIns="0" tIns="0" rIns="0" bIns="0" rtlCol="0" anchor="ctr"/>
          <a:lstStyle/>
          <a:p>
            <a:pPr indent="0" marL="0">
              <a:buNone/>
            </a:pPr>
            <a:r>
              <a:rPr lang="en-US" sz="1000" dirty="0">
                <a:solidFill>
                  <a:srgbClr val="1A2744"/>
                </a:solidFill>
                <a:latin typeface="Consolas" pitchFamily="34" charset="0"/>
                <a:ea typeface="Consolas" pitchFamily="34" charset="-122"/>
                <a:cs typeface="Consolas" pitchFamily="34" charset="-120"/>
              </a:rPr>
              <a:t>+ getMembers(): List</a:t>
            </a:r>
            <a:endParaRPr lang="en-US" sz="1000" dirty="0"/>
          </a:p>
        </p:txBody>
      </p:sp>
      <p:sp>
        <p:nvSpPr>
          <p:cNvPr id="24" name="Shape 22"/>
          <p:cNvSpPr/>
          <p:nvPr/>
        </p:nvSpPr>
        <p:spPr>
          <a:xfrm>
            <a:off x="4617720" y="1170432"/>
            <a:ext cx="2057400" cy="1865376"/>
          </a:xfrm>
          <a:prstGeom prst="rect">
            <a:avLst/>
          </a:prstGeom>
          <a:solidFill>
            <a:srgbClr val="FFFFFF"/>
          </a:solidFill>
          <a:ln w="19050">
            <a:solidFill>
              <a:srgbClr val="1A2744"/>
            </a:solidFill>
            <a:prstDash val="solid"/>
          </a:ln>
        </p:spPr>
      </p:sp>
      <p:sp>
        <p:nvSpPr>
          <p:cNvPr id="25" name="Shape 23"/>
          <p:cNvSpPr/>
          <p:nvPr/>
        </p:nvSpPr>
        <p:spPr>
          <a:xfrm>
            <a:off x="4617720" y="1170432"/>
            <a:ext cx="2057400" cy="402336"/>
          </a:xfrm>
          <a:prstGeom prst="rect">
            <a:avLst/>
          </a:prstGeom>
          <a:solidFill>
            <a:srgbClr val="0284C7"/>
          </a:solidFill>
          <a:ln w="12700">
            <a:solidFill>
              <a:srgbClr val="0284C7"/>
            </a:solidFill>
            <a:prstDash val="solid"/>
          </a:ln>
        </p:spPr>
      </p:sp>
      <p:sp>
        <p:nvSpPr>
          <p:cNvPr id="26" name="Text 24"/>
          <p:cNvSpPr/>
          <p:nvPr/>
        </p:nvSpPr>
        <p:spPr>
          <a:xfrm>
            <a:off x="4617720" y="1170432"/>
            <a:ext cx="2057400" cy="402336"/>
          </a:xfrm>
          <a:prstGeom prst="rect">
            <a:avLst/>
          </a:prstGeom>
          <a:noFill/>
          <a:ln/>
        </p:spPr>
        <p:txBody>
          <a:bodyPr wrap="square" lIns="0" tIns="0" rIns="0" bIns="0" rtlCol="0" anchor="ctr"/>
          <a:lstStyle/>
          <a:p>
            <a:pPr algn="ctr" indent="0" marL="0">
              <a:buNone/>
            </a:pPr>
            <a:r>
              <a:rPr lang="en-US" sz="1200" b="1" dirty="0">
                <a:solidFill>
                  <a:srgbClr val="FFFFFF"/>
                </a:solidFill>
              </a:rPr>
              <a:t>Teacher</a:t>
            </a:r>
            <a:endParaRPr lang="en-US" sz="1200" dirty="0"/>
          </a:p>
        </p:txBody>
      </p:sp>
      <p:sp>
        <p:nvSpPr>
          <p:cNvPr id="27" name="Shape 25"/>
          <p:cNvSpPr/>
          <p:nvPr/>
        </p:nvSpPr>
        <p:spPr>
          <a:xfrm>
            <a:off x="4617720" y="2304288"/>
            <a:ext cx="2057400" cy="0"/>
          </a:xfrm>
          <a:prstGeom prst="line">
            <a:avLst/>
          </a:prstGeom>
          <a:noFill/>
          <a:ln w="12700">
            <a:solidFill>
              <a:srgbClr val="1A2744"/>
            </a:solidFill>
            <a:prstDash val="solid"/>
          </a:ln>
        </p:spPr>
      </p:sp>
      <p:sp>
        <p:nvSpPr>
          <p:cNvPr id="28" name="Text 26"/>
          <p:cNvSpPr/>
          <p:nvPr/>
        </p:nvSpPr>
        <p:spPr>
          <a:xfrm>
            <a:off x="4709160" y="1645920"/>
            <a:ext cx="1920240" cy="292608"/>
          </a:xfrm>
          <a:prstGeom prst="rect">
            <a:avLst/>
          </a:prstGeom>
          <a:noFill/>
          <a:ln/>
        </p:spPr>
        <p:txBody>
          <a:bodyPr wrap="square" lIns="0" tIns="0" rIns="0" bIns="0" rtlCol="0" anchor="ctr"/>
          <a:lstStyle/>
          <a:p>
            <a:pPr indent="0" marL="0">
              <a:buNone/>
            </a:pPr>
            <a:r>
              <a:rPr lang="en-US" sz="1000" dirty="0">
                <a:solidFill>
                  <a:srgbClr val="0D9488"/>
                </a:solidFill>
                <a:latin typeface="Consolas" pitchFamily="34" charset="0"/>
                <a:ea typeface="Consolas" pitchFamily="34" charset="-122"/>
                <a:cs typeface="Consolas" pitchFamily="34" charset="-120"/>
              </a:rPr>
              <a:t>+ staffID: String</a:t>
            </a:r>
            <a:endParaRPr lang="en-US" sz="1000" dirty="0"/>
          </a:p>
        </p:txBody>
      </p:sp>
      <p:sp>
        <p:nvSpPr>
          <p:cNvPr id="29" name="Text 27"/>
          <p:cNvSpPr/>
          <p:nvPr/>
        </p:nvSpPr>
        <p:spPr>
          <a:xfrm>
            <a:off x="4709160" y="1938528"/>
            <a:ext cx="1920240" cy="292608"/>
          </a:xfrm>
          <a:prstGeom prst="rect">
            <a:avLst/>
          </a:prstGeom>
          <a:noFill/>
          <a:ln/>
        </p:spPr>
        <p:txBody>
          <a:bodyPr wrap="square" lIns="0" tIns="0" rIns="0" bIns="0" rtlCol="0" anchor="ctr"/>
          <a:lstStyle/>
          <a:p>
            <a:pPr indent="0" marL="0">
              <a:buNone/>
            </a:pPr>
            <a:r>
              <a:rPr lang="en-US" sz="1000" dirty="0">
                <a:solidFill>
                  <a:srgbClr val="0D9488"/>
                </a:solidFill>
                <a:latin typeface="Consolas" pitchFamily="34" charset="0"/>
                <a:ea typeface="Consolas" pitchFamily="34" charset="-122"/>
                <a:cs typeface="Consolas" pitchFamily="34" charset="-120"/>
              </a:rPr>
              <a:t>+ name: String</a:t>
            </a:r>
            <a:endParaRPr lang="en-US" sz="1000" dirty="0"/>
          </a:p>
        </p:txBody>
      </p:sp>
      <p:sp>
        <p:nvSpPr>
          <p:cNvPr id="30" name="Text 28"/>
          <p:cNvSpPr/>
          <p:nvPr/>
        </p:nvSpPr>
        <p:spPr>
          <a:xfrm>
            <a:off x="4709160" y="2377440"/>
            <a:ext cx="1920240" cy="292608"/>
          </a:xfrm>
          <a:prstGeom prst="rect">
            <a:avLst/>
          </a:prstGeom>
          <a:noFill/>
          <a:ln/>
        </p:spPr>
        <p:txBody>
          <a:bodyPr wrap="square" lIns="0" tIns="0" rIns="0" bIns="0" rtlCol="0" anchor="ctr"/>
          <a:lstStyle/>
          <a:p>
            <a:pPr indent="0" marL="0">
              <a:buNone/>
            </a:pPr>
            <a:r>
              <a:rPr lang="en-US" sz="1000" dirty="0">
                <a:solidFill>
                  <a:srgbClr val="1A2744"/>
                </a:solidFill>
                <a:latin typeface="Consolas" pitchFamily="34" charset="0"/>
                <a:ea typeface="Consolas" pitchFamily="34" charset="-122"/>
                <a:cs typeface="Consolas" pitchFamily="34" charset="-120"/>
              </a:rPr>
              <a:t>+ supervise(c: Club)</a:t>
            </a:r>
            <a:endParaRPr lang="en-US" sz="1000" dirty="0"/>
          </a:p>
        </p:txBody>
      </p:sp>
      <p:sp>
        <p:nvSpPr>
          <p:cNvPr id="31" name="Text 29"/>
          <p:cNvSpPr/>
          <p:nvPr/>
        </p:nvSpPr>
        <p:spPr>
          <a:xfrm>
            <a:off x="4709160" y="2670048"/>
            <a:ext cx="1920240" cy="292608"/>
          </a:xfrm>
          <a:prstGeom prst="rect">
            <a:avLst/>
          </a:prstGeom>
          <a:noFill/>
          <a:ln/>
        </p:spPr>
        <p:txBody>
          <a:bodyPr wrap="square" lIns="0" tIns="0" rIns="0" bIns="0" rtlCol="0" anchor="ctr"/>
          <a:lstStyle/>
          <a:p>
            <a:pPr indent="0" marL="0">
              <a:buNone/>
            </a:pPr>
            <a:r>
              <a:rPr lang="en-US" sz="1000" dirty="0">
                <a:solidFill>
                  <a:srgbClr val="1A2744"/>
                </a:solidFill>
                <a:latin typeface="Consolas" pitchFamily="34" charset="0"/>
                <a:ea typeface="Consolas" pitchFamily="34" charset="-122"/>
                <a:cs typeface="Consolas" pitchFamily="34" charset="-120"/>
              </a:rPr>
              <a:t>+ getClubs(): List</a:t>
            </a:r>
            <a:endParaRPr lang="en-US" sz="1000" dirty="0"/>
          </a:p>
        </p:txBody>
      </p:sp>
      <p:sp>
        <p:nvSpPr>
          <p:cNvPr id="32" name="Shape 30"/>
          <p:cNvSpPr/>
          <p:nvPr/>
        </p:nvSpPr>
        <p:spPr>
          <a:xfrm>
            <a:off x="6812280" y="1170432"/>
            <a:ext cx="2057400" cy="2157984"/>
          </a:xfrm>
          <a:prstGeom prst="rect">
            <a:avLst/>
          </a:prstGeom>
          <a:solidFill>
            <a:srgbClr val="FFFFFF"/>
          </a:solidFill>
          <a:ln w="19050">
            <a:solidFill>
              <a:srgbClr val="1A2744"/>
            </a:solidFill>
            <a:prstDash val="solid"/>
          </a:ln>
        </p:spPr>
      </p:sp>
      <p:sp>
        <p:nvSpPr>
          <p:cNvPr id="33" name="Shape 31"/>
          <p:cNvSpPr/>
          <p:nvPr/>
        </p:nvSpPr>
        <p:spPr>
          <a:xfrm>
            <a:off x="6812280" y="1170432"/>
            <a:ext cx="2057400" cy="402336"/>
          </a:xfrm>
          <a:prstGeom prst="rect">
            <a:avLst/>
          </a:prstGeom>
          <a:solidFill>
            <a:srgbClr val="F59E0B"/>
          </a:solidFill>
          <a:ln w="12700">
            <a:solidFill>
              <a:srgbClr val="F59E0B"/>
            </a:solidFill>
            <a:prstDash val="solid"/>
          </a:ln>
        </p:spPr>
      </p:sp>
      <p:sp>
        <p:nvSpPr>
          <p:cNvPr id="34" name="Text 32"/>
          <p:cNvSpPr/>
          <p:nvPr/>
        </p:nvSpPr>
        <p:spPr>
          <a:xfrm>
            <a:off x="6812280" y="1170432"/>
            <a:ext cx="2057400" cy="402336"/>
          </a:xfrm>
          <a:prstGeom prst="rect">
            <a:avLst/>
          </a:prstGeom>
          <a:noFill/>
          <a:ln/>
        </p:spPr>
        <p:txBody>
          <a:bodyPr wrap="square" lIns="0" tIns="0" rIns="0" bIns="0" rtlCol="0" anchor="ctr"/>
          <a:lstStyle/>
          <a:p>
            <a:pPr algn="ctr" indent="0" marL="0">
              <a:buNone/>
            </a:pPr>
            <a:r>
              <a:rPr lang="en-US" sz="1200" b="1" dirty="0">
                <a:solidFill>
                  <a:srgbClr val="FFFFFF"/>
                </a:solidFill>
              </a:rPr>
              <a:t>Meeting</a:t>
            </a:r>
            <a:endParaRPr lang="en-US" sz="1200" dirty="0"/>
          </a:p>
        </p:txBody>
      </p:sp>
      <p:sp>
        <p:nvSpPr>
          <p:cNvPr id="35" name="Shape 33"/>
          <p:cNvSpPr/>
          <p:nvPr/>
        </p:nvSpPr>
        <p:spPr>
          <a:xfrm>
            <a:off x="6812280" y="2596896"/>
            <a:ext cx="2057400" cy="0"/>
          </a:xfrm>
          <a:prstGeom prst="line">
            <a:avLst/>
          </a:prstGeom>
          <a:noFill/>
          <a:ln w="12700">
            <a:solidFill>
              <a:srgbClr val="1A2744"/>
            </a:solidFill>
            <a:prstDash val="solid"/>
          </a:ln>
        </p:spPr>
      </p:sp>
      <p:sp>
        <p:nvSpPr>
          <p:cNvPr id="36" name="Text 34"/>
          <p:cNvSpPr/>
          <p:nvPr/>
        </p:nvSpPr>
        <p:spPr>
          <a:xfrm>
            <a:off x="6903720" y="1645920"/>
            <a:ext cx="1920240" cy="292608"/>
          </a:xfrm>
          <a:prstGeom prst="rect">
            <a:avLst/>
          </a:prstGeom>
          <a:noFill/>
          <a:ln/>
        </p:spPr>
        <p:txBody>
          <a:bodyPr wrap="square" lIns="0" tIns="0" rIns="0" bIns="0" rtlCol="0" anchor="ctr"/>
          <a:lstStyle/>
          <a:p>
            <a:pPr indent="0" marL="0">
              <a:buNone/>
            </a:pPr>
            <a:r>
              <a:rPr lang="en-US" sz="1000" dirty="0">
                <a:solidFill>
                  <a:srgbClr val="0D9488"/>
                </a:solidFill>
                <a:latin typeface="Consolas" pitchFamily="34" charset="0"/>
                <a:ea typeface="Consolas" pitchFamily="34" charset="-122"/>
                <a:cs typeface="Consolas" pitchFamily="34" charset="-120"/>
              </a:rPr>
              <a:t>+ date: Date</a:t>
            </a:r>
            <a:endParaRPr lang="en-US" sz="1000" dirty="0"/>
          </a:p>
        </p:txBody>
      </p:sp>
      <p:sp>
        <p:nvSpPr>
          <p:cNvPr id="37" name="Text 35"/>
          <p:cNvSpPr/>
          <p:nvPr/>
        </p:nvSpPr>
        <p:spPr>
          <a:xfrm>
            <a:off x="6903720" y="1938528"/>
            <a:ext cx="1920240" cy="292608"/>
          </a:xfrm>
          <a:prstGeom prst="rect">
            <a:avLst/>
          </a:prstGeom>
          <a:noFill/>
          <a:ln/>
        </p:spPr>
        <p:txBody>
          <a:bodyPr wrap="square" lIns="0" tIns="0" rIns="0" bIns="0" rtlCol="0" anchor="ctr"/>
          <a:lstStyle/>
          <a:p>
            <a:pPr indent="0" marL="0">
              <a:buNone/>
            </a:pPr>
            <a:r>
              <a:rPr lang="en-US" sz="1000" dirty="0">
                <a:solidFill>
                  <a:srgbClr val="0D9488"/>
                </a:solidFill>
                <a:latin typeface="Consolas" pitchFamily="34" charset="0"/>
                <a:ea typeface="Consolas" pitchFamily="34" charset="-122"/>
                <a:cs typeface="Consolas" pitchFamily="34" charset="-120"/>
              </a:rPr>
              <a:t>+ location: String</a:t>
            </a:r>
            <a:endParaRPr lang="en-US" sz="1000" dirty="0"/>
          </a:p>
        </p:txBody>
      </p:sp>
      <p:sp>
        <p:nvSpPr>
          <p:cNvPr id="38" name="Text 36"/>
          <p:cNvSpPr/>
          <p:nvPr/>
        </p:nvSpPr>
        <p:spPr>
          <a:xfrm>
            <a:off x="6903720" y="2231136"/>
            <a:ext cx="1920240" cy="292608"/>
          </a:xfrm>
          <a:prstGeom prst="rect">
            <a:avLst/>
          </a:prstGeom>
          <a:noFill/>
          <a:ln/>
        </p:spPr>
        <p:txBody>
          <a:bodyPr wrap="square" lIns="0" tIns="0" rIns="0" bIns="0" rtlCol="0" anchor="ctr"/>
          <a:lstStyle/>
          <a:p>
            <a:pPr indent="0" marL="0">
              <a:buNone/>
            </a:pPr>
            <a:r>
              <a:rPr lang="en-US" sz="1000" dirty="0">
                <a:solidFill>
                  <a:srgbClr val="DC2626"/>
                </a:solidFill>
                <a:latin typeface="Consolas" pitchFamily="34" charset="0"/>
                <a:ea typeface="Consolas" pitchFamily="34" charset="-122"/>
                <a:cs typeface="Consolas" pitchFamily="34" charset="-120"/>
              </a:rPr>
              <a:t>– notes: String</a:t>
            </a:r>
            <a:endParaRPr lang="en-US" sz="1000" dirty="0"/>
          </a:p>
        </p:txBody>
      </p:sp>
      <p:sp>
        <p:nvSpPr>
          <p:cNvPr id="39" name="Text 37"/>
          <p:cNvSpPr/>
          <p:nvPr/>
        </p:nvSpPr>
        <p:spPr>
          <a:xfrm>
            <a:off x="6903720" y="2670048"/>
            <a:ext cx="1920240" cy="292608"/>
          </a:xfrm>
          <a:prstGeom prst="rect">
            <a:avLst/>
          </a:prstGeom>
          <a:noFill/>
          <a:ln/>
        </p:spPr>
        <p:txBody>
          <a:bodyPr wrap="square" lIns="0" tIns="0" rIns="0" bIns="0" rtlCol="0" anchor="ctr"/>
          <a:lstStyle/>
          <a:p>
            <a:pPr indent="0" marL="0">
              <a:buNone/>
            </a:pPr>
            <a:r>
              <a:rPr lang="en-US" sz="1000" dirty="0">
                <a:solidFill>
                  <a:srgbClr val="1A2744"/>
                </a:solidFill>
                <a:latin typeface="Consolas" pitchFamily="34" charset="0"/>
                <a:ea typeface="Consolas" pitchFamily="34" charset="-122"/>
                <a:cs typeface="Consolas" pitchFamily="34" charset="-120"/>
              </a:rPr>
              <a:t>+ getDetails(): String</a:t>
            </a:r>
            <a:endParaRPr lang="en-US" sz="1000" dirty="0"/>
          </a:p>
        </p:txBody>
      </p:sp>
      <p:sp>
        <p:nvSpPr>
          <p:cNvPr id="40" name="Text 38"/>
          <p:cNvSpPr/>
          <p:nvPr/>
        </p:nvSpPr>
        <p:spPr>
          <a:xfrm>
            <a:off x="6903720" y="2962656"/>
            <a:ext cx="1920240" cy="292608"/>
          </a:xfrm>
          <a:prstGeom prst="rect">
            <a:avLst/>
          </a:prstGeom>
          <a:noFill/>
          <a:ln/>
        </p:spPr>
        <p:txBody>
          <a:bodyPr wrap="square" lIns="0" tIns="0" rIns="0" bIns="0" rtlCol="0" anchor="ctr"/>
          <a:lstStyle/>
          <a:p>
            <a:pPr indent="0" marL="0">
              <a:buNone/>
            </a:pPr>
            <a:r>
              <a:rPr lang="en-US" sz="1000" dirty="0">
                <a:solidFill>
                  <a:srgbClr val="1A2744"/>
                </a:solidFill>
                <a:latin typeface="Consolas" pitchFamily="34" charset="0"/>
                <a:ea typeface="Consolas" pitchFamily="34" charset="-122"/>
                <a:cs typeface="Consolas" pitchFamily="34" charset="-120"/>
              </a:rPr>
              <a:t>+ cancel(): void</a:t>
            </a:r>
            <a:endParaRPr lang="en-US" sz="1000" dirty="0"/>
          </a:p>
        </p:txBody>
      </p:sp>
      <p:sp>
        <p:nvSpPr>
          <p:cNvPr id="41" name="Shape 39"/>
          <p:cNvSpPr/>
          <p:nvPr/>
        </p:nvSpPr>
        <p:spPr>
          <a:xfrm>
            <a:off x="228600" y="4206240"/>
            <a:ext cx="8686800" cy="749808"/>
          </a:xfrm>
          <a:prstGeom prst="rect">
            <a:avLst/>
          </a:prstGeom>
          <a:solidFill>
            <a:srgbClr val="EDE9FE"/>
          </a:solidFill>
          <a:ln w="12700">
            <a:solidFill>
              <a:srgbClr val="7C3AED"/>
            </a:solidFill>
            <a:prstDash val="solid"/>
          </a:ln>
          <a:effectLst>
            <a:outerShdw sx="100000" sy="100000" kx="0" ky="0" algn="bl" rotWithShape="0" blurRad="101600" dist="38100" dir="8100000">
              <a:srgbClr val="000000">
                <a:alpha val="12000"/>
              </a:srgbClr>
            </a:outerShdw>
          </a:effectLst>
        </p:spPr>
      </p:sp>
      <p:sp>
        <p:nvSpPr>
          <p:cNvPr id="42" name="Text 40"/>
          <p:cNvSpPr/>
          <p:nvPr/>
        </p:nvSpPr>
        <p:spPr>
          <a:xfrm>
            <a:off x="365760" y="4233672"/>
            <a:ext cx="8458200" cy="667512"/>
          </a:xfrm>
          <a:prstGeom prst="rect">
            <a:avLst/>
          </a:prstGeom>
          <a:noFill/>
          <a:ln/>
        </p:spPr>
        <p:txBody>
          <a:bodyPr wrap="square" rtlCol="0" anchor="ctr"/>
          <a:lstStyle/>
          <a:p>
            <a:pPr indent="0" marL="0">
              <a:buNone/>
            </a:pPr>
            <a:r>
              <a:rPr lang="en-US" sz="1200" b="1" dirty="0">
                <a:solidFill>
                  <a:srgbClr val="7C3AED"/>
                </a:solidFill>
              </a:rPr>
              <a:t>Key Relationships:  </a:t>
            </a:r>
            <a:pPr indent="0" marL="0">
              <a:buNone/>
            </a:pPr>
            <a:r>
              <a:rPr lang="en-US" sz="1200" b="1" dirty="0">
                <a:solidFill>
                  <a:srgbClr val="1E293B"/>
                </a:solidFill>
              </a:rPr>
              <a:t>Student </a:t>
            </a:r>
            <a:pPr indent="0" marL="0">
              <a:buNone/>
            </a:pPr>
            <a:r>
              <a:rPr lang="en-US" sz="1200" i="1" dirty="0">
                <a:solidFill>
                  <a:srgbClr val="0D9488"/>
                </a:solidFill>
              </a:rPr>
              <a:t>association</a:t>
            </a:r>
            <a:pPr indent="0" marL="0">
              <a:buNone/>
            </a:pPr>
            <a:r>
              <a:rPr lang="en-US" sz="1200" dirty="0">
                <a:solidFill>
                  <a:srgbClr val="1E293B"/>
                </a:solidFill>
              </a:rPr>
              <a:t>→ Club (many-to-many)  |  </a:t>
            </a:r>
            <a:pPr indent="0" marL="0">
              <a:buNone/>
            </a:pPr>
            <a:r>
              <a:rPr lang="en-US" sz="1200" b="1" dirty="0">
                <a:solidFill>
                  <a:srgbClr val="1E293B"/>
                </a:solidFill>
              </a:rPr>
              <a:t>Teacher </a:t>
            </a:r>
            <a:pPr indent="0" marL="0">
              <a:buNone/>
            </a:pPr>
            <a:r>
              <a:rPr lang="en-US" sz="1200" i="1" dirty="0">
                <a:solidFill>
                  <a:srgbClr val="0D9488"/>
                </a:solidFill>
              </a:rPr>
              <a:t>association</a:t>
            </a:r>
            <a:pPr indent="0" marL="0">
              <a:buNone/>
            </a:pPr>
            <a:r>
              <a:rPr lang="en-US" sz="1200" dirty="0">
                <a:solidFill>
                  <a:srgbClr val="1E293B"/>
                </a:solidFill>
              </a:rPr>
              <a:t>→ Club  |  </a:t>
            </a:r>
            <a:pPr indent="0" marL="0">
              <a:buNone/>
            </a:pPr>
            <a:r>
              <a:rPr lang="en-US" sz="1200" b="1" dirty="0">
                <a:solidFill>
                  <a:srgbClr val="1E293B"/>
                </a:solidFill>
              </a:rPr>
              <a:t>Club </a:t>
            </a:r>
            <a:pPr indent="0" marL="0">
              <a:buNone/>
            </a:pPr>
            <a:r>
              <a:rPr lang="en-US" sz="1200" i="1" dirty="0">
                <a:solidFill>
                  <a:srgbClr val="DC2626"/>
                </a:solidFill>
              </a:rPr>
              <a:t>composition</a:t>
            </a:r>
            <a:pPr indent="0" marL="0">
              <a:buNone/>
            </a:pPr>
            <a:r>
              <a:rPr lang="en-US" sz="1200" dirty="0">
                <a:solidFill>
                  <a:srgbClr val="1E293B"/>
                </a:solidFill>
              </a:rPr>
              <a:t>◆→ Meeting (Meeting cannot exist without a Club)</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9488"/>
          </a:solidFill>
          <a:ln w="12700">
            <a:solidFill>
              <a:srgbClr val="0D9488"/>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indent="0" marL="0">
              <a:buNone/>
            </a:pPr>
            <a:r>
              <a:rPr lang="en-US" sz="2200" b="1" dirty="0">
                <a:solidFill>
                  <a:srgbClr val="FFFFFF"/>
                </a:solidFill>
              </a:rPr>
              <a:t>🛒  Worked Example — Online Shop System</a:t>
            </a:r>
            <a:endParaRPr lang="en-US" sz="2200" dirty="0"/>
          </a:p>
        </p:txBody>
      </p:sp>
      <p:sp>
        <p:nvSpPr>
          <p:cNvPr id="4" name="Shape 2"/>
          <p:cNvSpPr/>
          <p:nvPr/>
        </p:nvSpPr>
        <p:spPr>
          <a:xfrm>
            <a:off x="274320" y="777240"/>
            <a:ext cx="8595360" cy="658368"/>
          </a:xfrm>
          <a:prstGeom prst="rect">
            <a:avLst/>
          </a:prstGeom>
          <a:solidFill>
            <a:srgbClr val="CCFBF1"/>
          </a:solidFill>
          <a:ln w="12700">
            <a:solidFill>
              <a:srgbClr val="0D9488"/>
            </a:solidFill>
            <a:prstDash val="solid"/>
          </a:ln>
        </p:spPr>
      </p:sp>
      <p:sp>
        <p:nvSpPr>
          <p:cNvPr id="5" name="Text 3"/>
          <p:cNvSpPr/>
          <p:nvPr/>
        </p:nvSpPr>
        <p:spPr>
          <a:xfrm>
            <a:off x="411480" y="795528"/>
            <a:ext cx="8321040" cy="603504"/>
          </a:xfrm>
          <a:prstGeom prst="rect">
            <a:avLst/>
          </a:prstGeom>
          <a:noFill/>
          <a:ln/>
        </p:spPr>
        <p:txBody>
          <a:bodyPr wrap="square" rtlCol="0" anchor="ctr"/>
          <a:lstStyle/>
          <a:p>
            <a:pPr indent="0" marL="0">
              <a:buNone/>
            </a:pPr>
            <a:r>
              <a:rPr lang="en-US" sz="1200" b="1" dirty="0">
                <a:solidFill>
                  <a:srgbClr val="0D9488"/>
                </a:solidFill>
              </a:rPr>
              <a:t>Scenario: </a:t>
            </a:r>
            <a:pPr indent="0" marL="0">
              <a:buNone/>
            </a:pPr>
            <a:r>
              <a:rPr lang="en-US" sz="1200" dirty="0">
                <a:solidFill>
                  <a:srgbClr val="1E293B"/>
                </a:solidFill>
              </a:rPr>
              <a:t>An online shop needs to manage customers, products, and orders. Customers can place orders containing one or more products. Each order must track its status and the delivery address.</a:t>
            </a:r>
            <a:endParaRPr lang="en-US" sz="1200" dirty="0"/>
          </a:p>
        </p:txBody>
      </p:sp>
      <p:sp>
        <p:nvSpPr>
          <p:cNvPr id="6" name="Shape 4"/>
          <p:cNvSpPr/>
          <p:nvPr/>
        </p:nvSpPr>
        <p:spPr>
          <a:xfrm>
            <a:off x="274320" y="1481328"/>
            <a:ext cx="2057400" cy="292608"/>
          </a:xfrm>
          <a:prstGeom prst="rect">
            <a:avLst/>
          </a:prstGeom>
          <a:solidFill>
            <a:srgbClr val="0D9488"/>
          </a:solidFill>
          <a:ln w="12700">
            <a:solidFill>
              <a:srgbClr val="0D9488"/>
            </a:solidFill>
            <a:prstDash val="solid"/>
          </a:ln>
        </p:spPr>
      </p:sp>
      <p:sp>
        <p:nvSpPr>
          <p:cNvPr id="7" name="Text 5"/>
          <p:cNvSpPr/>
          <p:nvPr/>
        </p:nvSpPr>
        <p:spPr>
          <a:xfrm>
            <a:off x="274320" y="1481328"/>
            <a:ext cx="2057400" cy="292608"/>
          </a:xfrm>
          <a:prstGeom prst="rect">
            <a:avLst/>
          </a:prstGeom>
          <a:noFill/>
          <a:ln/>
        </p:spPr>
        <p:txBody>
          <a:bodyPr wrap="square" lIns="0" tIns="0" rIns="0" bIns="0" rtlCol="0" anchor="ctr"/>
          <a:lstStyle/>
          <a:p>
            <a:pPr algn="ctr" indent="0" marL="0">
              <a:buNone/>
            </a:pPr>
            <a:r>
              <a:rPr lang="en-US" sz="900" dirty="0">
                <a:solidFill>
                  <a:srgbClr val="FFFFFF"/>
                </a:solidFill>
              </a:rPr>
              <a:t>Step 1: Find nouns → Classes</a:t>
            </a:r>
            <a:endParaRPr lang="en-US" sz="900" dirty="0"/>
          </a:p>
        </p:txBody>
      </p:sp>
      <p:sp>
        <p:nvSpPr>
          <p:cNvPr id="8" name="Shape 6"/>
          <p:cNvSpPr/>
          <p:nvPr/>
        </p:nvSpPr>
        <p:spPr>
          <a:xfrm>
            <a:off x="2487168" y="1481328"/>
            <a:ext cx="2057400" cy="292608"/>
          </a:xfrm>
          <a:prstGeom prst="rect">
            <a:avLst/>
          </a:prstGeom>
          <a:solidFill>
            <a:srgbClr val="0D9488"/>
          </a:solidFill>
          <a:ln w="12700">
            <a:solidFill>
              <a:srgbClr val="0D9488"/>
            </a:solidFill>
            <a:prstDash val="solid"/>
          </a:ln>
        </p:spPr>
      </p:sp>
      <p:sp>
        <p:nvSpPr>
          <p:cNvPr id="9" name="Text 7"/>
          <p:cNvSpPr/>
          <p:nvPr/>
        </p:nvSpPr>
        <p:spPr>
          <a:xfrm>
            <a:off x="2487168" y="1481328"/>
            <a:ext cx="2057400" cy="292608"/>
          </a:xfrm>
          <a:prstGeom prst="rect">
            <a:avLst/>
          </a:prstGeom>
          <a:noFill/>
          <a:ln/>
        </p:spPr>
        <p:txBody>
          <a:bodyPr wrap="square" lIns="0" tIns="0" rIns="0" bIns="0" rtlCol="0" anchor="ctr"/>
          <a:lstStyle/>
          <a:p>
            <a:pPr algn="ctr" indent="0" marL="0">
              <a:buNone/>
            </a:pPr>
            <a:r>
              <a:rPr lang="en-US" sz="900" dirty="0">
                <a:solidFill>
                  <a:srgbClr val="FFFFFF"/>
                </a:solidFill>
              </a:rPr>
              <a:t>Step 2: Find verbs → Methods</a:t>
            </a:r>
            <a:endParaRPr lang="en-US" sz="900" dirty="0"/>
          </a:p>
        </p:txBody>
      </p:sp>
      <p:sp>
        <p:nvSpPr>
          <p:cNvPr id="10" name="Shape 8"/>
          <p:cNvSpPr/>
          <p:nvPr/>
        </p:nvSpPr>
        <p:spPr>
          <a:xfrm>
            <a:off x="4700016" y="1481328"/>
            <a:ext cx="2057400" cy="292608"/>
          </a:xfrm>
          <a:prstGeom prst="rect">
            <a:avLst/>
          </a:prstGeom>
          <a:solidFill>
            <a:srgbClr val="1A2744"/>
          </a:solidFill>
          <a:ln w="12700">
            <a:solidFill>
              <a:srgbClr val="1A2744"/>
            </a:solidFill>
            <a:prstDash val="solid"/>
          </a:ln>
        </p:spPr>
      </p:sp>
      <p:sp>
        <p:nvSpPr>
          <p:cNvPr id="11" name="Text 9"/>
          <p:cNvSpPr/>
          <p:nvPr/>
        </p:nvSpPr>
        <p:spPr>
          <a:xfrm>
            <a:off x="4700016" y="1481328"/>
            <a:ext cx="2057400" cy="292608"/>
          </a:xfrm>
          <a:prstGeom prst="rect">
            <a:avLst/>
          </a:prstGeom>
          <a:noFill/>
          <a:ln/>
        </p:spPr>
        <p:txBody>
          <a:bodyPr wrap="square" lIns="0" tIns="0" rIns="0" bIns="0" rtlCol="0" anchor="ctr"/>
          <a:lstStyle/>
          <a:p>
            <a:pPr algn="ctr" indent="0" marL="0">
              <a:buNone/>
            </a:pPr>
            <a:r>
              <a:rPr lang="en-US" sz="900" dirty="0">
                <a:solidFill>
                  <a:srgbClr val="FFFFFF"/>
                </a:solidFill>
              </a:rPr>
              <a:t>Step 3: Add visibility &amp; types</a:t>
            </a:r>
            <a:endParaRPr lang="en-US" sz="900" dirty="0"/>
          </a:p>
        </p:txBody>
      </p:sp>
      <p:sp>
        <p:nvSpPr>
          <p:cNvPr id="12" name="Shape 10"/>
          <p:cNvSpPr/>
          <p:nvPr/>
        </p:nvSpPr>
        <p:spPr>
          <a:xfrm>
            <a:off x="6912864" y="1481328"/>
            <a:ext cx="2057400" cy="292608"/>
          </a:xfrm>
          <a:prstGeom prst="rect">
            <a:avLst/>
          </a:prstGeom>
          <a:solidFill>
            <a:srgbClr val="1A2744"/>
          </a:solidFill>
          <a:ln w="12700">
            <a:solidFill>
              <a:srgbClr val="1A2744"/>
            </a:solidFill>
            <a:prstDash val="solid"/>
          </a:ln>
        </p:spPr>
      </p:sp>
      <p:sp>
        <p:nvSpPr>
          <p:cNvPr id="13" name="Text 11"/>
          <p:cNvSpPr/>
          <p:nvPr/>
        </p:nvSpPr>
        <p:spPr>
          <a:xfrm>
            <a:off x="6912864" y="1481328"/>
            <a:ext cx="2057400" cy="292608"/>
          </a:xfrm>
          <a:prstGeom prst="rect">
            <a:avLst/>
          </a:prstGeom>
          <a:noFill/>
          <a:ln/>
        </p:spPr>
        <p:txBody>
          <a:bodyPr wrap="square" lIns="0" tIns="0" rIns="0" bIns="0" rtlCol="0" anchor="ctr"/>
          <a:lstStyle/>
          <a:p>
            <a:pPr algn="ctr" indent="0" marL="0">
              <a:buNone/>
            </a:pPr>
            <a:r>
              <a:rPr lang="en-US" sz="900" dirty="0">
                <a:solidFill>
                  <a:srgbClr val="FFFFFF"/>
                </a:solidFill>
              </a:rPr>
              <a:t>Step 4: Draw relationships</a:t>
            </a:r>
            <a:endParaRPr lang="en-US" sz="900" dirty="0"/>
          </a:p>
        </p:txBody>
      </p:sp>
      <p:sp>
        <p:nvSpPr>
          <p:cNvPr id="14" name="Shape 12"/>
          <p:cNvSpPr/>
          <p:nvPr/>
        </p:nvSpPr>
        <p:spPr>
          <a:xfrm>
            <a:off x="274320" y="1847088"/>
            <a:ext cx="2651760" cy="2743200"/>
          </a:xfrm>
          <a:prstGeom prst="rect">
            <a:avLst/>
          </a:prstGeom>
          <a:solidFill>
            <a:srgbClr val="FFFFFF"/>
          </a:solidFill>
          <a:ln w="19050">
            <a:solidFill>
              <a:srgbClr val="1A2744"/>
            </a:solidFill>
            <a:prstDash val="solid"/>
          </a:ln>
        </p:spPr>
      </p:sp>
      <p:sp>
        <p:nvSpPr>
          <p:cNvPr id="15" name="Shape 13"/>
          <p:cNvSpPr/>
          <p:nvPr/>
        </p:nvSpPr>
        <p:spPr>
          <a:xfrm>
            <a:off x="274320" y="1847088"/>
            <a:ext cx="2651760" cy="402336"/>
          </a:xfrm>
          <a:prstGeom prst="rect">
            <a:avLst/>
          </a:prstGeom>
          <a:solidFill>
            <a:srgbClr val="0D9488"/>
          </a:solidFill>
          <a:ln w="12700">
            <a:solidFill>
              <a:srgbClr val="0D9488"/>
            </a:solidFill>
            <a:prstDash val="solid"/>
          </a:ln>
        </p:spPr>
      </p:sp>
      <p:sp>
        <p:nvSpPr>
          <p:cNvPr id="16" name="Text 14"/>
          <p:cNvSpPr/>
          <p:nvPr/>
        </p:nvSpPr>
        <p:spPr>
          <a:xfrm>
            <a:off x="274320" y="1847088"/>
            <a:ext cx="2651760" cy="402336"/>
          </a:xfrm>
          <a:prstGeom prst="rect">
            <a:avLst/>
          </a:prstGeom>
          <a:noFill/>
          <a:ln/>
        </p:spPr>
        <p:txBody>
          <a:bodyPr wrap="square" lIns="0" tIns="0" rIns="0" bIns="0" rtlCol="0" anchor="ctr"/>
          <a:lstStyle/>
          <a:p>
            <a:pPr algn="ctr" indent="0" marL="0">
              <a:buNone/>
            </a:pPr>
            <a:r>
              <a:rPr lang="en-US" sz="1200" b="1" dirty="0">
                <a:solidFill>
                  <a:srgbClr val="FFFFFF"/>
                </a:solidFill>
              </a:rPr>
              <a:t>Customer</a:t>
            </a:r>
            <a:endParaRPr lang="en-US" sz="1200" dirty="0"/>
          </a:p>
        </p:txBody>
      </p:sp>
      <p:sp>
        <p:nvSpPr>
          <p:cNvPr id="17" name="Shape 15"/>
          <p:cNvSpPr/>
          <p:nvPr/>
        </p:nvSpPr>
        <p:spPr>
          <a:xfrm>
            <a:off x="274320" y="3566160"/>
            <a:ext cx="2651760" cy="0"/>
          </a:xfrm>
          <a:prstGeom prst="line">
            <a:avLst/>
          </a:prstGeom>
          <a:noFill/>
          <a:ln w="12700">
            <a:solidFill>
              <a:srgbClr val="1A2744"/>
            </a:solidFill>
            <a:prstDash val="solid"/>
          </a:ln>
        </p:spPr>
      </p:sp>
      <p:sp>
        <p:nvSpPr>
          <p:cNvPr id="18" name="Text 16"/>
          <p:cNvSpPr/>
          <p:nvPr/>
        </p:nvSpPr>
        <p:spPr>
          <a:xfrm>
            <a:off x="365760" y="2322576"/>
            <a:ext cx="2514600" cy="292608"/>
          </a:xfrm>
          <a:prstGeom prst="rect">
            <a:avLst/>
          </a:prstGeom>
          <a:noFill/>
          <a:ln/>
        </p:spPr>
        <p:txBody>
          <a:bodyPr wrap="square" lIns="0" tIns="0" rIns="0" bIns="0" rtlCol="0" anchor="ctr"/>
          <a:lstStyle/>
          <a:p>
            <a:pPr indent="0" marL="0">
              <a:buNone/>
            </a:pPr>
            <a:r>
              <a:rPr lang="en-US" sz="1000" dirty="0">
                <a:solidFill>
                  <a:srgbClr val="0D9488"/>
                </a:solidFill>
                <a:latin typeface="Consolas" pitchFamily="34" charset="0"/>
                <a:ea typeface="Consolas" pitchFamily="34" charset="-122"/>
                <a:cs typeface="Consolas" pitchFamily="34" charset="-120"/>
              </a:rPr>
              <a:t>+ customerID: String</a:t>
            </a:r>
            <a:endParaRPr lang="en-US" sz="1000" dirty="0"/>
          </a:p>
        </p:txBody>
      </p:sp>
      <p:sp>
        <p:nvSpPr>
          <p:cNvPr id="19" name="Text 17"/>
          <p:cNvSpPr/>
          <p:nvPr/>
        </p:nvSpPr>
        <p:spPr>
          <a:xfrm>
            <a:off x="365760" y="2615184"/>
            <a:ext cx="2514600" cy="292608"/>
          </a:xfrm>
          <a:prstGeom prst="rect">
            <a:avLst/>
          </a:prstGeom>
          <a:noFill/>
          <a:ln/>
        </p:spPr>
        <p:txBody>
          <a:bodyPr wrap="square" lIns="0" tIns="0" rIns="0" bIns="0" rtlCol="0" anchor="ctr"/>
          <a:lstStyle/>
          <a:p>
            <a:pPr indent="0" marL="0">
              <a:buNone/>
            </a:pPr>
            <a:r>
              <a:rPr lang="en-US" sz="1000" dirty="0">
                <a:solidFill>
                  <a:srgbClr val="0D9488"/>
                </a:solidFill>
                <a:latin typeface="Consolas" pitchFamily="34" charset="0"/>
                <a:ea typeface="Consolas" pitchFamily="34" charset="-122"/>
                <a:cs typeface="Consolas" pitchFamily="34" charset="-120"/>
              </a:rPr>
              <a:t>+ name: String</a:t>
            </a:r>
            <a:endParaRPr lang="en-US" sz="1000" dirty="0"/>
          </a:p>
        </p:txBody>
      </p:sp>
      <p:sp>
        <p:nvSpPr>
          <p:cNvPr id="20" name="Text 18"/>
          <p:cNvSpPr/>
          <p:nvPr/>
        </p:nvSpPr>
        <p:spPr>
          <a:xfrm>
            <a:off x="365760" y="2907792"/>
            <a:ext cx="2514600" cy="292608"/>
          </a:xfrm>
          <a:prstGeom prst="rect">
            <a:avLst/>
          </a:prstGeom>
          <a:noFill/>
          <a:ln/>
        </p:spPr>
        <p:txBody>
          <a:bodyPr wrap="square" lIns="0" tIns="0" rIns="0" bIns="0" rtlCol="0" anchor="ctr"/>
          <a:lstStyle/>
          <a:p>
            <a:pPr indent="0" marL="0">
              <a:buNone/>
            </a:pPr>
            <a:r>
              <a:rPr lang="en-US" sz="1000" dirty="0">
                <a:solidFill>
                  <a:srgbClr val="0D9488"/>
                </a:solidFill>
                <a:latin typeface="Consolas" pitchFamily="34" charset="0"/>
                <a:ea typeface="Consolas" pitchFamily="34" charset="-122"/>
                <a:cs typeface="Consolas" pitchFamily="34" charset="-120"/>
              </a:rPr>
              <a:t>+ email: String</a:t>
            </a:r>
            <a:endParaRPr lang="en-US" sz="1000" dirty="0"/>
          </a:p>
        </p:txBody>
      </p:sp>
      <p:sp>
        <p:nvSpPr>
          <p:cNvPr id="21" name="Text 19"/>
          <p:cNvSpPr/>
          <p:nvPr/>
        </p:nvSpPr>
        <p:spPr>
          <a:xfrm>
            <a:off x="365760" y="3200400"/>
            <a:ext cx="2514600" cy="292608"/>
          </a:xfrm>
          <a:prstGeom prst="rect">
            <a:avLst/>
          </a:prstGeom>
          <a:noFill/>
          <a:ln/>
        </p:spPr>
        <p:txBody>
          <a:bodyPr wrap="square" lIns="0" tIns="0" rIns="0" bIns="0" rtlCol="0" anchor="ctr"/>
          <a:lstStyle/>
          <a:p>
            <a:pPr indent="0" marL="0">
              <a:buNone/>
            </a:pPr>
            <a:r>
              <a:rPr lang="en-US" sz="1000" dirty="0">
                <a:solidFill>
                  <a:srgbClr val="DC2626"/>
                </a:solidFill>
                <a:latin typeface="Consolas" pitchFamily="34" charset="0"/>
                <a:ea typeface="Consolas" pitchFamily="34" charset="-122"/>
                <a:cs typeface="Consolas" pitchFamily="34" charset="-120"/>
              </a:rPr>
              <a:t>– password: String</a:t>
            </a:r>
            <a:endParaRPr lang="en-US" sz="1000" dirty="0"/>
          </a:p>
        </p:txBody>
      </p:sp>
      <p:sp>
        <p:nvSpPr>
          <p:cNvPr id="22" name="Text 20"/>
          <p:cNvSpPr/>
          <p:nvPr/>
        </p:nvSpPr>
        <p:spPr>
          <a:xfrm>
            <a:off x="365760" y="3639312"/>
            <a:ext cx="2514600" cy="292608"/>
          </a:xfrm>
          <a:prstGeom prst="rect">
            <a:avLst/>
          </a:prstGeom>
          <a:noFill/>
          <a:ln/>
        </p:spPr>
        <p:txBody>
          <a:bodyPr wrap="square" lIns="0" tIns="0" rIns="0" bIns="0" rtlCol="0" anchor="ctr"/>
          <a:lstStyle/>
          <a:p>
            <a:pPr indent="0" marL="0">
              <a:buNone/>
            </a:pPr>
            <a:r>
              <a:rPr lang="en-US" sz="1000" dirty="0">
                <a:solidFill>
                  <a:srgbClr val="1A2744"/>
                </a:solidFill>
                <a:latin typeface="Consolas" pitchFamily="34" charset="0"/>
                <a:ea typeface="Consolas" pitchFamily="34" charset="-122"/>
                <a:cs typeface="Consolas" pitchFamily="34" charset="-120"/>
              </a:rPr>
              <a:t>+ placeOrder(o: Order)</a:t>
            </a:r>
            <a:endParaRPr lang="en-US" sz="1000" dirty="0"/>
          </a:p>
        </p:txBody>
      </p:sp>
      <p:sp>
        <p:nvSpPr>
          <p:cNvPr id="23" name="Text 21"/>
          <p:cNvSpPr/>
          <p:nvPr/>
        </p:nvSpPr>
        <p:spPr>
          <a:xfrm>
            <a:off x="365760" y="3931920"/>
            <a:ext cx="2514600" cy="292608"/>
          </a:xfrm>
          <a:prstGeom prst="rect">
            <a:avLst/>
          </a:prstGeom>
          <a:noFill/>
          <a:ln/>
        </p:spPr>
        <p:txBody>
          <a:bodyPr wrap="square" lIns="0" tIns="0" rIns="0" bIns="0" rtlCol="0" anchor="ctr"/>
          <a:lstStyle/>
          <a:p>
            <a:pPr indent="0" marL="0">
              <a:buNone/>
            </a:pPr>
            <a:r>
              <a:rPr lang="en-US" sz="1000" dirty="0">
                <a:solidFill>
                  <a:srgbClr val="1A2744"/>
                </a:solidFill>
                <a:latin typeface="Consolas" pitchFamily="34" charset="0"/>
                <a:ea typeface="Consolas" pitchFamily="34" charset="-122"/>
                <a:cs typeface="Consolas" pitchFamily="34" charset="-120"/>
              </a:rPr>
              <a:t>+ getOrderHistory(): List</a:t>
            </a:r>
            <a:endParaRPr lang="en-US" sz="1000" dirty="0"/>
          </a:p>
        </p:txBody>
      </p:sp>
      <p:sp>
        <p:nvSpPr>
          <p:cNvPr id="24" name="Text 22"/>
          <p:cNvSpPr/>
          <p:nvPr/>
        </p:nvSpPr>
        <p:spPr>
          <a:xfrm>
            <a:off x="365760" y="4224528"/>
            <a:ext cx="2514600" cy="292608"/>
          </a:xfrm>
          <a:prstGeom prst="rect">
            <a:avLst/>
          </a:prstGeom>
          <a:noFill/>
          <a:ln/>
        </p:spPr>
        <p:txBody>
          <a:bodyPr wrap="square" lIns="0" tIns="0" rIns="0" bIns="0" rtlCol="0" anchor="ctr"/>
          <a:lstStyle/>
          <a:p>
            <a:pPr indent="0" marL="0">
              <a:buNone/>
            </a:pPr>
            <a:r>
              <a:rPr lang="en-US" sz="1000" dirty="0">
                <a:solidFill>
                  <a:srgbClr val="1A2744"/>
                </a:solidFill>
                <a:latin typeface="Consolas" pitchFamily="34" charset="0"/>
                <a:ea typeface="Consolas" pitchFamily="34" charset="-122"/>
                <a:cs typeface="Consolas" pitchFamily="34" charset="-120"/>
              </a:rPr>
              <a:t>+ updateEmail(e: String)</a:t>
            </a:r>
            <a:endParaRPr lang="en-US" sz="1000" dirty="0"/>
          </a:p>
        </p:txBody>
      </p:sp>
      <p:sp>
        <p:nvSpPr>
          <p:cNvPr id="25" name="Shape 23"/>
          <p:cNvSpPr/>
          <p:nvPr/>
        </p:nvSpPr>
        <p:spPr>
          <a:xfrm>
            <a:off x="3246120" y="1847088"/>
            <a:ext cx="2651760" cy="2743200"/>
          </a:xfrm>
          <a:prstGeom prst="rect">
            <a:avLst/>
          </a:prstGeom>
          <a:solidFill>
            <a:srgbClr val="FFFFFF"/>
          </a:solidFill>
          <a:ln w="19050">
            <a:solidFill>
              <a:srgbClr val="1A2744"/>
            </a:solidFill>
            <a:prstDash val="solid"/>
          </a:ln>
        </p:spPr>
      </p:sp>
      <p:sp>
        <p:nvSpPr>
          <p:cNvPr id="26" name="Shape 24"/>
          <p:cNvSpPr/>
          <p:nvPr/>
        </p:nvSpPr>
        <p:spPr>
          <a:xfrm>
            <a:off x="3246120" y="1847088"/>
            <a:ext cx="2651760" cy="402336"/>
          </a:xfrm>
          <a:prstGeom prst="rect">
            <a:avLst/>
          </a:prstGeom>
          <a:solidFill>
            <a:srgbClr val="1A2744"/>
          </a:solidFill>
          <a:ln w="12700">
            <a:solidFill>
              <a:srgbClr val="1A2744"/>
            </a:solidFill>
            <a:prstDash val="solid"/>
          </a:ln>
        </p:spPr>
      </p:sp>
      <p:sp>
        <p:nvSpPr>
          <p:cNvPr id="27" name="Text 25"/>
          <p:cNvSpPr/>
          <p:nvPr/>
        </p:nvSpPr>
        <p:spPr>
          <a:xfrm>
            <a:off x="3246120" y="1847088"/>
            <a:ext cx="2651760" cy="402336"/>
          </a:xfrm>
          <a:prstGeom prst="rect">
            <a:avLst/>
          </a:prstGeom>
          <a:noFill/>
          <a:ln/>
        </p:spPr>
        <p:txBody>
          <a:bodyPr wrap="square" lIns="0" tIns="0" rIns="0" bIns="0" rtlCol="0" anchor="ctr"/>
          <a:lstStyle/>
          <a:p>
            <a:pPr algn="ctr" indent="0" marL="0">
              <a:buNone/>
            </a:pPr>
            <a:r>
              <a:rPr lang="en-US" sz="1200" b="1" dirty="0">
                <a:solidFill>
                  <a:srgbClr val="FFFFFF"/>
                </a:solidFill>
              </a:rPr>
              <a:t>Order</a:t>
            </a:r>
            <a:endParaRPr lang="en-US" sz="1200" dirty="0"/>
          </a:p>
        </p:txBody>
      </p:sp>
      <p:sp>
        <p:nvSpPr>
          <p:cNvPr id="28" name="Shape 26"/>
          <p:cNvSpPr/>
          <p:nvPr/>
        </p:nvSpPr>
        <p:spPr>
          <a:xfrm>
            <a:off x="3246120" y="3566160"/>
            <a:ext cx="2651760" cy="0"/>
          </a:xfrm>
          <a:prstGeom prst="line">
            <a:avLst/>
          </a:prstGeom>
          <a:noFill/>
          <a:ln w="12700">
            <a:solidFill>
              <a:srgbClr val="1A2744"/>
            </a:solidFill>
            <a:prstDash val="solid"/>
          </a:ln>
        </p:spPr>
      </p:sp>
      <p:sp>
        <p:nvSpPr>
          <p:cNvPr id="29" name="Text 27"/>
          <p:cNvSpPr/>
          <p:nvPr/>
        </p:nvSpPr>
        <p:spPr>
          <a:xfrm>
            <a:off x="3337560" y="2322576"/>
            <a:ext cx="2514600" cy="292608"/>
          </a:xfrm>
          <a:prstGeom prst="rect">
            <a:avLst/>
          </a:prstGeom>
          <a:noFill/>
          <a:ln/>
        </p:spPr>
        <p:txBody>
          <a:bodyPr wrap="square" lIns="0" tIns="0" rIns="0" bIns="0" rtlCol="0" anchor="ctr"/>
          <a:lstStyle/>
          <a:p>
            <a:pPr indent="0" marL="0">
              <a:buNone/>
            </a:pPr>
            <a:r>
              <a:rPr lang="en-US" sz="1000" dirty="0">
                <a:solidFill>
                  <a:srgbClr val="0D9488"/>
                </a:solidFill>
                <a:latin typeface="Consolas" pitchFamily="34" charset="0"/>
                <a:ea typeface="Consolas" pitchFamily="34" charset="-122"/>
                <a:cs typeface="Consolas" pitchFamily="34" charset="-120"/>
              </a:rPr>
              <a:t>+ orderID: String</a:t>
            </a:r>
            <a:endParaRPr lang="en-US" sz="1000" dirty="0"/>
          </a:p>
        </p:txBody>
      </p:sp>
      <p:sp>
        <p:nvSpPr>
          <p:cNvPr id="30" name="Text 28"/>
          <p:cNvSpPr/>
          <p:nvPr/>
        </p:nvSpPr>
        <p:spPr>
          <a:xfrm>
            <a:off x="3337560" y="2615184"/>
            <a:ext cx="2514600" cy="292608"/>
          </a:xfrm>
          <a:prstGeom prst="rect">
            <a:avLst/>
          </a:prstGeom>
          <a:noFill/>
          <a:ln/>
        </p:spPr>
        <p:txBody>
          <a:bodyPr wrap="square" lIns="0" tIns="0" rIns="0" bIns="0" rtlCol="0" anchor="ctr"/>
          <a:lstStyle/>
          <a:p>
            <a:pPr indent="0" marL="0">
              <a:buNone/>
            </a:pPr>
            <a:r>
              <a:rPr lang="en-US" sz="1000" dirty="0">
                <a:solidFill>
                  <a:srgbClr val="0D9488"/>
                </a:solidFill>
                <a:latin typeface="Consolas" pitchFamily="34" charset="0"/>
                <a:ea typeface="Consolas" pitchFamily="34" charset="-122"/>
                <a:cs typeface="Consolas" pitchFamily="34" charset="-120"/>
              </a:rPr>
              <a:t>+ orderDate: Date</a:t>
            </a:r>
            <a:endParaRPr lang="en-US" sz="1000" dirty="0"/>
          </a:p>
        </p:txBody>
      </p:sp>
      <p:sp>
        <p:nvSpPr>
          <p:cNvPr id="31" name="Text 29"/>
          <p:cNvSpPr/>
          <p:nvPr/>
        </p:nvSpPr>
        <p:spPr>
          <a:xfrm>
            <a:off x="3337560" y="2907792"/>
            <a:ext cx="2514600" cy="292608"/>
          </a:xfrm>
          <a:prstGeom prst="rect">
            <a:avLst/>
          </a:prstGeom>
          <a:noFill/>
          <a:ln/>
        </p:spPr>
        <p:txBody>
          <a:bodyPr wrap="square" lIns="0" tIns="0" rIns="0" bIns="0" rtlCol="0" anchor="ctr"/>
          <a:lstStyle/>
          <a:p>
            <a:pPr indent="0" marL="0">
              <a:buNone/>
            </a:pPr>
            <a:r>
              <a:rPr lang="en-US" sz="1000" dirty="0">
                <a:solidFill>
                  <a:srgbClr val="0D9488"/>
                </a:solidFill>
                <a:latin typeface="Consolas" pitchFamily="34" charset="0"/>
                <a:ea typeface="Consolas" pitchFamily="34" charset="-122"/>
                <a:cs typeface="Consolas" pitchFamily="34" charset="-120"/>
              </a:rPr>
              <a:t>+ status: String</a:t>
            </a:r>
            <a:endParaRPr lang="en-US" sz="1000" dirty="0"/>
          </a:p>
        </p:txBody>
      </p:sp>
      <p:sp>
        <p:nvSpPr>
          <p:cNvPr id="32" name="Text 30"/>
          <p:cNvSpPr/>
          <p:nvPr/>
        </p:nvSpPr>
        <p:spPr>
          <a:xfrm>
            <a:off x="3337560" y="3200400"/>
            <a:ext cx="2514600" cy="292608"/>
          </a:xfrm>
          <a:prstGeom prst="rect">
            <a:avLst/>
          </a:prstGeom>
          <a:noFill/>
          <a:ln/>
        </p:spPr>
        <p:txBody>
          <a:bodyPr wrap="square" lIns="0" tIns="0" rIns="0" bIns="0" rtlCol="0" anchor="ctr"/>
          <a:lstStyle/>
          <a:p>
            <a:pPr indent="0" marL="0">
              <a:buNone/>
            </a:pPr>
            <a:r>
              <a:rPr lang="en-US" sz="1000" dirty="0">
                <a:solidFill>
                  <a:srgbClr val="0D9488"/>
                </a:solidFill>
                <a:latin typeface="Consolas" pitchFamily="34" charset="0"/>
                <a:ea typeface="Consolas" pitchFamily="34" charset="-122"/>
                <a:cs typeface="Consolas" pitchFamily="34" charset="-120"/>
              </a:rPr>
              <a:t>+ deliveryAddress: String</a:t>
            </a:r>
            <a:endParaRPr lang="en-US" sz="1000" dirty="0"/>
          </a:p>
        </p:txBody>
      </p:sp>
      <p:sp>
        <p:nvSpPr>
          <p:cNvPr id="33" name="Text 31"/>
          <p:cNvSpPr/>
          <p:nvPr/>
        </p:nvSpPr>
        <p:spPr>
          <a:xfrm>
            <a:off x="3337560" y="3639312"/>
            <a:ext cx="2514600" cy="292608"/>
          </a:xfrm>
          <a:prstGeom prst="rect">
            <a:avLst/>
          </a:prstGeom>
          <a:noFill/>
          <a:ln/>
        </p:spPr>
        <p:txBody>
          <a:bodyPr wrap="square" lIns="0" tIns="0" rIns="0" bIns="0" rtlCol="0" anchor="ctr"/>
          <a:lstStyle/>
          <a:p>
            <a:pPr indent="0" marL="0">
              <a:buNone/>
            </a:pPr>
            <a:r>
              <a:rPr lang="en-US" sz="1000" dirty="0">
                <a:solidFill>
                  <a:srgbClr val="1A2744"/>
                </a:solidFill>
                <a:latin typeface="Consolas" pitchFamily="34" charset="0"/>
                <a:ea typeface="Consolas" pitchFamily="34" charset="-122"/>
                <a:cs typeface="Consolas" pitchFamily="34" charset="-120"/>
              </a:rPr>
              <a:t>+ addProduct(p: Product)</a:t>
            </a:r>
            <a:endParaRPr lang="en-US" sz="1000" dirty="0"/>
          </a:p>
        </p:txBody>
      </p:sp>
      <p:sp>
        <p:nvSpPr>
          <p:cNvPr id="34" name="Text 32"/>
          <p:cNvSpPr/>
          <p:nvPr/>
        </p:nvSpPr>
        <p:spPr>
          <a:xfrm>
            <a:off x="3337560" y="3931920"/>
            <a:ext cx="2514600" cy="292608"/>
          </a:xfrm>
          <a:prstGeom prst="rect">
            <a:avLst/>
          </a:prstGeom>
          <a:noFill/>
          <a:ln/>
        </p:spPr>
        <p:txBody>
          <a:bodyPr wrap="square" lIns="0" tIns="0" rIns="0" bIns="0" rtlCol="0" anchor="ctr"/>
          <a:lstStyle/>
          <a:p>
            <a:pPr indent="0" marL="0">
              <a:buNone/>
            </a:pPr>
            <a:r>
              <a:rPr lang="en-US" sz="1000" dirty="0">
                <a:solidFill>
                  <a:srgbClr val="1A2744"/>
                </a:solidFill>
                <a:latin typeface="Consolas" pitchFamily="34" charset="0"/>
                <a:ea typeface="Consolas" pitchFamily="34" charset="-122"/>
                <a:cs typeface="Consolas" pitchFamily="34" charset="-120"/>
              </a:rPr>
              <a:t>+ calculateTotal(): Float</a:t>
            </a:r>
            <a:endParaRPr lang="en-US" sz="1000" dirty="0"/>
          </a:p>
        </p:txBody>
      </p:sp>
      <p:sp>
        <p:nvSpPr>
          <p:cNvPr id="35" name="Text 33"/>
          <p:cNvSpPr/>
          <p:nvPr/>
        </p:nvSpPr>
        <p:spPr>
          <a:xfrm>
            <a:off x="3337560" y="4224528"/>
            <a:ext cx="2514600" cy="292608"/>
          </a:xfrm>
          <a:prstGeom prst="rect">
            <a:avLst/>
          </a:prstGeom>
          <a:noFill/>
          <a:ln/>
        </p:spPr>
        <p:txBody>
          <a:bodyPr wrap="square" lIns="0" tIns="0" rIns="0" bIns="0" rtlCol="0" anchor="ctr"/>
          <a:lstStyle/>
          <a:p>
            <a:pPr indent="0" marL="0">
              <a:buNone/>
            </a:pPr>
            <a:r>
              <a:rPr lang="en-US" sz="1000" dirty="0">
                <a:solidFill>
                  <a:srgbClr val="1A2744"/>
                </a:solidFill>
                <a:latin typeface="Consolas" pitchFamily="34" charset="0"/>
                <a:ea typeface="Consolas" pitchFamily="34" charset="-122"/>
                <a:cs typeface="Consolas" pitchFamily="34" charset="-120"/>
              </a:rPr>
              <a:t>+ updateStatus(s: String)</a:t>
            </a:r>
            <a:endParaRPr lang="en-US" sz="1000" dirty="0"/>
          </a:p>
        </p:txBody>
      </p:sp>
      <p:sp>
        <p:nvSpPr>
          <p:cNvPr id="36" name="Shape 34"/>
          <p:cNvSpPr/>
          <p:nvPr/>
        </p:nvSpPr>
        <p:spPr>
          <a:xfrm>
            <a:off x="6217920" y="1847088"/>
            <a:ext cx="2651760" cy="2743200"/>
          </a:xfrm>
          <a:prstGeom prst="rect">
            <a:avLst/>
          </a:prstGeom>
          <a:solidFill>
            <a:srgbClr val="FFFFFF"/>
          </a:solidFill>
          <a:ln w="19050">
            <a:solidFill>
              <a:srgbClr val="1A2744"/>
            </a:solidFill>
            <a:prstDash val="solid"/>
          </a:ln>
        </p:spPr>
      </p:sp>
      <p:sp>
        <p:nvSpPr>
          <p:cNvPr id="37" name="Shape 35"/>
          <p:cNvSpPr/>
          <p:nvPr/>
        </p:nvSpPr>
        <p:spPr>
          <a:xfrm>
            <a:off x="6217920" y="1847088"/>
            <a:ext cx="2651760" cy="402336"/>
          </a:xfrm>
          <a:prstGeom prst="rect">
            <a:avLst/>
          </a:prstGeom>
          <a:solidFill>
            <a:srgbClr val="F59E0B"/>
          </a:solidFill>
          <a:ln w="12700">
            <a:solidFill>
              <a:srgbClr val="F59E0B"/>
            </a:solidFill>
            <a:prstDash val="solid"/>
          </a:ln>
        </p:spPr>
      </p:sp>
      <p:sp>
        <p:nvSpPr>
          <p:cNvPr id="38" name="Text 36"/>
          <p:cNvSpPr/>
          <p:nvPr/>
        </p:nvSpPr>
        <p:spPr>
          <a:xfrm>
            <a:off x="6217920" y="1847088"/>
            <a:ext cx="2651760" cy="402336"/>
          </a:xfrm>
          <a:prstGeom prst="rect">
            <a:avLst/>
          </a:prstGeom>
          <a:noFill/>
          <a:ln/>
        </p:spPr>
        <p:txBody>
          <a:bodyPr wrap="square" lIns="0" tIns="0" rIns="0" bIns="0" rtlCol="0" anchor="ctr"/>
          <a:lstStyle/>
          <a:p>
            <a:pPr algn="ctr" indent="0" marL="0">
              <a:buNone/>
            </a:pPr>
            <a:r>
              <a:rPr lang="en-US" sz="1200" b="1" dirty="0">
                <a:solidFill>
                  <a:srgbClr val="FFFFFF"/>
                </a:solidFill>
              </a:rPr>
              <a:t>Product</a:t>
            </a:r>
            <a:endParaRPr lang="en-US" sz="1200" dirty="0"/>
          </a:p>
        </p:txBody>
      </p:sp>
      <p:sp>
        <p:nvSpPr>
          <p:cNvPr id="39" name="Shape 37"/>
          <p:cNvSpPr/>
          <p:nvPr/>
        </p:nvSpPr>
        <p:spPr>
          <a:xfrm>
            <a:off x="6217920" y="3566160"/>
            <a:ext cx="2651760" cy="0"/>
          </a:xfrm>
          <a:prstGeom prst="line">
            <a:avLst/>
          </a:prstGeom>
          <a:noFill/>
          <a:ln w="12700">
            <a:solidFill>
              <a:srgbClr val="1A2744"/>
            </a:solidFill>
            <a:prstDash val="solid"/>
          </a:ln>
        </p:spPr>
      </p:sp>
      <p:sp>
        <p:nvSpPr>
          <p:cNvPr id="40" name="Text 38"/>
          <p:cNvSpPr/>
          <p:nvPr/>
        </p:nvSpPr>
        <p:spPr>
          <a:xfrm>
            <a:off x="6309360" y="2322576"/>
            <a:ext cx="2514600" cy="292608"/>
          </a:xfrm>
          <a:prstGeom prst="rect">
            <a:avLst/>
          </a:prstGeom>
          <a:noFill/>
          <a:ln/>
        </p:spPr>
        <p:txBody>
          <a:bodyPr wrap="square" lIns="0" tIns="0" rIns="0" bIns="0" rtlCol="0" anchor="ctr"/>
          <a:lstStyle/>
          <a:p>
            <a:pPr indent="0" marL="0">
              <a:buNone/>
            </a:pPr>
            <a:r>
              <a:rPr lang="en-US" sz="1000" dirty="0">
                <a:solidFill>
                  <a:srgbClr val="0D9488"/>
                </a:solidFill>
                <a:latin typeface="Consolas" pitchFamily="34" charset="0"/>
                <a:ea typeface="Consolas" pitchFamily="34" charset="-122"/>
                <a:cs typeface="Consolas" pitchFamily="34" charset="-120"/>
              </a:rPr>
              <a:t>+ productID: String</a:t>
            </a:r>
            <a:endParaRPr lang="en-US" sz="1000" dirty="0"/>
          </a:p>
        </p:txBody>
      </p:sp>
      <p:sp>
        <p:nvSpPr>
          <p:cNvPr id="41" name="Text 39"/>
          <p:cNvSpPr/>
          <p:nvPr/>
        </p:nvSpPr>
        <p:spPr>
          <a:xfrm>
            <a:off x="6309360" y="2615184"/>
            <a:ext cx="2514600" cy="292608"/>
          </a:xfrm>
          <a:prstGeom prst="rect">
            <a:avLst/>
          </a:prstGeom>
          <a:noFill/>
          <a:ln/>
        </p:spPr>
        <p:txBody>
          <a:bodyPr wrap="square" lIns="0" tIns="0" rIns="0" bIns="0" rtlCol="0" anchor="ctr"/>
          <a:lstStyle/>
          <a:p>
            <a:pPr indent="0" marL="0">
              <a:buNone/>
            </a:pPr>
            <a:r>
              <a:rPr lang="en-US" sz="1000" dirty="0">
                <a:solidFill>
                  <a:srgbClr val="0D9488"/>
                </a:solidFill>
                <a:latin typeface="Consolas" pitchFamily="34" charset="0"/>
                <a:ea typeface="Consolas" pitchFamily="34" charset="-122"/>
                <a:cs typeface="Consolas" pitchFamily="34" charset="-120"/>
              </a:rPr>
              <a:t>+ name: String</a:t>
            </a:r>
            <a:endParaRPr lang="en-US" sz="1000" dirty="0"/>
          </a:p>
        </p:txBody>
      </p:sp>
      <p:sp>
        <p:nvSpPr>
          <p:cNvPr id="42" name="Text 40"/>
          <p:cNvSpPr/>
          <p:nvPr/>
        </p:nvSpPr>
        <p:spPr>
          <a:xfrm>
            <a:off x="6309360" y="2907792"/>
            <a:ext cx="2514600" cy="292608"/>
          </a:xfrm>
          <a:prstGeom prst="rect">
            <a:avLst/>
          </a:prstGeom>
          <a:noFill/>
          <a:ln/>
        </p:spPr>
        <p:txBody>
          <a:bodyPr wrap="square" lIns="0" tIns="0" rIns="0" bIns="0" rtlCol="0" anchor="ctr"/>
          <a:lstStyle/>
          <a:p>
            <a:pPr indent="0" marL="0">
              <a:buNone/>
            </a:pPr>
            <a:r>
              <a:rPr lang="en-US" sz="1000" dirty="0">
                <a:solidFill>
                  <a:srgbClr val="0D9488"/>
                </a:solidFill>
                <a:latin typeface="Consolas" pitchFamily="34" charset="0"/>
                <a:ea typeface="Consolas" pitchFamily="34" charset="-122"/>
                <a:cs typeface="Consolas" pitchFamily="34" charset="-120"/>
              </a:rPr>
              <a:t>+ price: Float</a:t>
            </a:r>
            <a:endParaRPr lang="en-US" sz="1000" dirty="0"/>
          </a:p>
        </p:txBody>
      </p:sp>
      <p:sp>
        <p:nvSpPr>
          <p:cNvPr id="43" name="Text 41"/>
          <p:cNvSpPr/>
          <p:nvPr/>
        </p:nvSpPr>
        <p:spPr>
          <a:xfrm>
            <a:off x="6309360" y="3200400"/>
            <a:ext cx="2514600" cy="292608"/>
          </a:xfrm>
          <a:prstGeom prst="rect">
            <a:avLst/>
          </a:prstGeom>
          <a:noFill/>
          <a:ln/>
        </p:spPr>
        <p:txBody>
          <a:bodyPr wrap="square" lIns="0" tIns="0" rIns="0" bIns="0" rtlCol="0" anchor="ctr"/>
          <a:lstStyle/>
          <a:p>
            <a:pPr indent="0" marL="0">
              <a:buNone/>
            </a:pPr>
            <a:r>
              <a:rPr lang="en-US" sz="1000" dirty="0">
                <a:solidFill>
                  <a:srgbClr val="DC2626"/>
                </a:solidFill>
                <a:latin typeface="Consolas" pitchFamily="34" charset="0"/>
                <a:ea typeface="Consolas" pitchFamily="34" charset="-122"/>
                <a:cs typeface="Consolas" pitchFamily="34" charset="-120"/>
              </a:rPr>
              <a:t>– stockLevel: Int</a:t>
            </a:r>
            <a:endParaRPr lang="en-US" sz="1000" dirty="0"/>
          </a:p>
        </p:txBody>
      </p:sp>
      <p:sp>
        <p:nvSpPr>
          <p:cNvPr id="44" name="Text 42"/>
          <p:cNvSpPr/>
          <p:nvPr/>
        </p:nvSpPr>
        <p:spPr>
          <a:xfrm>
            <a:off x="6309360" y="3639312"/>
            <a:ext cx="2514600" cy="292608"/>
          </a:xfrm>
          <a:prstGeom prst="rect">
            <a:avLst/>
          </a:prstGeom>
          <a:noFill/>
          <a:ln/>
        </p:spPr>
        <p:txBody>
          <a:bodyPr wrap="square" lIns="0" tIns="0" rIns="0" bIns="0" rtlCol="0" anchor="ctr"/>
          <a:lstStyle/>
          <a:p>
            <a:pPr indent="0" marL="0">
              <a:buNone/>
            </a:pPr>
            <a:r>
              <a:rPr lang="en-US" sz="1000" dirty="0">
                <a:solidFill>
                  <a:srgbClr val="1A2744"/>
                </a:solidFill>
                <a:latin typeface="Consolas" pitchFamily="34" charset="0"/>
                <a:ea typeface="Consolas" pitchFamily="34" charset="-122"/>
                <a:cs typeface="Consolas" pitchFamily="34" charset="-120"/>
              </a:rPr>
              <a:t>+ checkStock(): Boolean</a:t>
            </a:r>
            <a:endParaRPr lang="en-US" sz="1000" dirty="0"/>
          </a:p>
        </p:txBody>
      </p:sp>
      <p:sp>
        <p:nvSpPr>
          <p:cNvPr id="45" name="Text 43"/>
          <p:cNvSpPr/>
          <p:nvPr/>
        </p:nvSpPr>
        <p:spPr>
          <a:xfrm>
            <a:off x="6309360" y="3931920"/>
            <a:ext cx="2514600" cy="292608"/>
          </a:xfrm>
          <a:prstGeom prst="rect">
            <a:avLst/>
          </a:prstGeom>
          <a:noFill/>
          <a:ln/>
        </p:spPr>
        <p:txBody>
          <a:bodyPr wrap="square" lIns="0" tIns="0" rIns="0" bIns="0" rtlCol="0" anchor="ctr"/>
          <a:lstStyle/>
          <a:p>
            <a:pPr indent="0" marL="0">
              <a:buNone/>
            </a:pPr>
            <a:r>
              <a:rPr lang="en-US" sz="1000" dirty="0">
                <a:solidFill>
                  <a:srgbClr val="1A2744"/>
                </a:solidFill>
                <a:latin typeface="Consolas" pitchFamily="34" charset="0"/>
                <a:ea typeface="Consolas" pitchFamily="34" charset="-122"/>
                <a:cs typeface="Consolas" pitchFamily="34" charset="-120"/>
              </a:rPr>
              <a:t>+ updateStock(qty: Int)</a:t>
            </a:r>
            <a:endParaRPr lang="en-US" sz="1000" dirty="0"/>
          </a:p>
        </p:txBody>
      </p:sp>
      <p:sp>
        <p:nvSpPr>
          <p:cNvPr id="46" name="Text 44"/>
          <p:cNvSpPr/>
          <p:nvPr/>
        </p:nvSpPr>
        <p:spPr>
          <a:xfrm>
            <a:off x="6309360" y="4224528"/>
            <a:ext cx="2514600" cy="292608"/>
          </a:xfrm>
          <a:prstGeom prst="rect">
            <a:avLst/>
          </a:prstGeom>
          <a:noFill/>
          <a:ln/>
        </p:spPr>
        <p:txBody>
          <a:bodyPr wrap="square" lIns="0" tIns="0" rIns="0" bIns="0" rtlCol="0" anchor="ctr"/>
          <a:lstStyle/>
          <a:p>
            <a:pPr indent="0" marL="0">
              <a:buNone/>
            </a:pPr>
            <a:r>
              <a:rPr lang="en-US" sz="1000" dirty="0">
                <a:solidFill>
                  <a:srgbClr val="1A2744"/>
                </a:solidFill>
                <a:latin typeface="Consolas" pitchFamily="34" charset="0"/>
                <a:ea typeface="Consolas" pitchFamily="34" charset="-122"/>
                <a:cs typeface="Consolas" pitchFamily="34" charset="-120"/>
              </a:rPr>
              <a:t>+ getDetails(): String</a:t>
            </a:r>
            <a:endParaRPr lang="en-US" sz="1000" dirty="0"/>
          </a:p>
        </p:txBody>
      </p:sp>
      <p:sp>
        <p:nvSpPr>
          <p:cNvPr id="47" name="Shape 45"/>
          <p:cNvSpPr/>
          <p:nvPr/>
        </p:nvSpPr>
        <p:spPr>
          <a:xfrm>
            <a:off x="2926080" y="2523744"/>
            <a:ext cx="320040" cy="0"/>
          </a:xfrm>
          <a:prstGeom prst="line">
            <a:avLst/>
          </a:prstGeom>
          <a:noFill/>
          <a:ln w="19050">
            <a:solidFill>
              <a:srgbClr val="94A3B8"/>
            </a:solidFill>
            <a:prstDash val="solid"/>
          </a:ln>
        </p:spPr>
      </p:sp>
      <p:sp>
        <p:nvSpPr>
          <p:cNvPr id="48" name="Text 46"/>
          <p:cNvSpPr/>
          <p:nvPr/>
        </p:nvSpPr>
        <p:spPr>
          <a:xfrm>
            <a:off x="2852928" y="2322576"/>
            <a:ext cx="502920" cy="201168"/>
          </a:xfrm>
          <a:prstGeom prst="rect">
            <a:avLst/>
          </a:prstGeom>
          <a:noFill/>
          <a:ln/>
        </p:spPr>
        <p:txBody>
          <a:bodyPr wrap="square" rtlCol="0" anchor="ctr"/>
          <a:lstStyle/>
          <a:p>
            <a:pPr algn="ctr" indent="0" marL="0">
              <a:buNone/>
            </a:pPr>
            <a:r>
              <a:rPr lang="en-US" sz="900" i="1" dirty="0">
                <a:solidFill>
                  <a:srgbClr val="94A3B8"/>
                </a:solidFill>
              </a:rPr>
              <a:t>places</a:t>
            </a:r>
            <a:endParaRPr lang="en-US" sz="900" dirty="0"/>
          </a:p>
        </p:txBody>
      </p:sp>
      <p:sp>
        <p:nvSpPr>
          <p:cNvPr id="49" name="Shape 47"/>
          <p:cNvSpPr/>
          <p:nvPr/>
        </p:nvSpPr>
        <p:spPr>
          <a:xfrm>
            <a:off x="5897880" y="2523744"/>
            <a:ext cx="320040" cy="0"/>
          </a:xfrm>
          <a:prstGeom prst="line">
            <a:avLst/>
          </a:prstGeom>
          <a:noFill/>
          <a:ln w="19050">
            <a:solidFill>
              <a:srgbClr val="94A3B8"/>
            </a:solidFill>
            <a:prstDash val="solid"/>
          </a:ln>
        </p:spPr>
      </p:sp>
      <p:sp>
        <p:nvSpPr>
          <p:cNvPr id="50" name="Text 48"/>
          <p:cNvSpPr/>
          <p:nvPr/>
        </p:nvSpPr>
        <p:spPr>
          <a:xfrm>
            <a:off x="5806440" y="2322576"/>
            <a:ext cx="594360" cy="201168"/>
          </a:xfrm>
          <a:prstGeom prst="rect">
            <a:avLst/>
          </a:prstGeom>
          <a:noFill/>
          <a:ln/>
        </p:spPr>
        <p:txBody>
          <a:bodyPr wrap="square" rtlCol="0" anchor="ctr"/>
          <a:lstStyle/>
          <a:p>
            <a:pPr algn="ctr" indent="0" marL="0">
              <a:buNone/>
            </a:pPr>
            <a:r>
              <a:rPr lang="en-US" sz="900" i="1" dirty="0">
                <a:solidFill>
                  <a:srgbClr val="94A3B8"/>
                </a:solidFill>
              </a:rPr>
              <a:t>contains</a:t>
            </a:r>
            <a:endParaRPr lang="en-US" sz="900" dirty="0"/>
          </a:p>
        </p:txBody>
      </p:sp>
      <p:sp>
        <p:nvSpPr>
          <p:cNvPr id="51" name="Shape 49"/>
          <p:cNvSpPr/>
          <p:nvPr/>
        </p:nvSpPr>
        <p:spPr>
          <a:xfrm>
            <a:off x="274320" y="4434840"/>
            <a:ext cx="8595360" cy="566928"/>
          </a:xfrm>
          <a:prstGeom prst="rect">
            <a:avLst/>
          </a:prstGeom>
          <a:solidFill>
            <a:srgbClr val="FFF7ED"/>
          </a:solidFill>
          <a:ln w="12700">
            <a:solidFill>
              <a:srgbClr val="F59E0B"/>
            </a:solidFill>
            <a:prstDash val="solid"/>
          </a:ln>
        </p:spPr>
      </p:sp>
      <p:sp>
        <p:nvSpPr>
          <p:cNvPr id="52" name="Text 50"/>
          <p:cNvSpPr/>
          <p:nvPr/>
        </p:nvSpPr>
        <p:spPr>
          <a:xfrm>
            <a:off x="411480" y="4453128"/>
            <a:ext cx="8321040" cy="521208"/>
          </a:xfrm>
          <a:prstGeom prst="rect">
            <a:avLst/>
          </a:prstGeom>
          <a:noFill/>
          <a:ln/>
        </p:spPr>
        <p:txBody>
          <a:bodyPr wrap="square" rtlCol="0" anchor="ctr"/>
          <a:lstStyle/>
          <a:p>
            <a:pPr indent="0" marL="0">
              <a:buNone/>
            </a:pPr>
            <a:r>
              <a:rPr lang="en-US" sz="1100" b="1" dirty="0">
                <a:solidFill>
                  <a:srgbClr val="F59E0B"/>
                </a:solidFill>
              </a:rPr>
              <a:t>💡 Design Decision: </a:t>
            </a:r>
            <a:pPr indent="0" marL="0">
              <a:buNone/>
            </a:pPr>
            <a:r>
              <a:rPr lang="en-US" sz="1100" dirty="0">
                <a:solidFill>
                  <a:srgbClr val="1E293B"/>
                </a:solidFill>
              </a:rPr>
              <a:t>password is private (–) — never expose credentials. stockLevel is private — use checkStock() so the logic lives in one place. Order has composition with its items — items can't exist without an Order.</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9488"/>
          </a:solidFill>
          <a:ln w="12700">
            <a:solidFill>
              <a:srgbClr val="0D9488"/>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indent="0" marL="0">
              <a:buNone/>
            </a:pPr>
            <a:r>
              <a:rPr lang="en-US" sz="2200" b="1" dirty="0">
                <a:solidFill>
                  <a:srgbClr val="FFFFFF"/>
                </a:solidFill>
              </a:rPr>
              <a:t>💻  PlantUML Code — Online Shop</a:t>
            </a:r>
            <a:endParaRPr lang="en-US" sz="2200" dirty="0"/>
          </a:p>
        </p:txBody>
      </p:sp>
      <p:sp>
        <p:nvSpPr>
          <p:cNvPr id="4" name="Shape 2"/>
          <p:cNvSpPr/>
          <p:nvPr/>
        </p:nvSpPr>
        <p:spPr>
          <a:xfrm>
            <a:off x="274320" y="822960"/>
            <a:ext cx="4160520" cy="4114800"/>
          </a:xfrm>
          <a:prstGeom prst="rect">
            <a:avLst/>
          </a:prstGeom>
          <a:solidFill>
            <a:srgbClr val="1E293B"/>
          </a:solidFill>
          <a:ln w="12700">
            <a:solidFill>
              <a:srgbClr val="334155"/>
            </a:solidFill>
            <a:prstDash val="solid"/>
          </a:ln>
        </p:spPr>
      </p:sp>
      <p:sp>
        <p:nvSpPr>
          <p:cNvPr id="5" name="Text 3"/>
          <p:cNvSpPr/>
          <p:nvPr/>
        </p:nvSpPr>
        <p:spPr>
          <a:xfrm>
            <a:off x="411480" y="868680"/>
            <a:ext cx="3931920" cy="3977640"/>
          </a:xfrm>
          <a:prstGeom prst="rect">
            <a:avLst/>
          </a:prstGeom>
          <a:noFill/>
          <a:ln/>
        </p:spPr>
        <p:txBody>
          <a:bodyPr wrap="square" lIns="0" tIns="0" rIns="0" bIns="0" rtlCol="0" anchor="t"/>
          <a:lstStyle/>
          <a:p>
            <a:pPr indent="0" marL="0">
              <a:buNone/>
            </a:pPr>
            <a:r>
              <a:rPr lang="en-US" sz="1050" dirty="0">
                <a:solidFill>
                  <a:srgbClr val="7DD3FC"/>
                </a:solidFill>
                <a:latin typeface="Consolas" pitchFamily="34" charset="0"/>
                <a:ea typeface="Consolas" pitchFamily="34" charset="-122"/>
                <a:cs typeface="Consolas" pitchFamily="34" charset="-120"/>
              </a:rPr>
              <a:t>@startuml</a:t>
            </a:r>
            <a:endParaRPr lang="en-US" sz="1050" dirty="0"/>
          </a:p>
          <a:p>
            <a:pPr indent="0" marL="0">
              <a:buNone/>
            </a:pPr>
            <a:endParaRPr lang="en-US" sz="1050" dirty="0"/>
          </a:p>
          <a:p>
            <a:pPr indent="0" marL="0">
              <a:buNone/>
            </a:pPr>
            <a:r>
              <a:rPr lang="en-US" sz="1050" dirty="0">
                <a:solidFill>
                  <a:srgbClr val="7DD3FC"/>
                </a:solidFill>
                <a:latin typeface="Consolas" pitchFamily="34" charset="0"/>
                <a:ea typeface="Consolas" pitchFamily="34" charset="-122"/>
                <a:cs typeface="Consolas" pitchFamily="34" charset="-120"/>
              </a:rPr>
              <a:t>class Customer {</a:t>
            </a:r>
            <a:endParaRPr lang="en-US" sz="1050" dirty="0"/>
          </a:p>
          <a:p>
            <a:pPr indent="0" marL="0">
              <a:buNone/>
            </a:pPr>
            <a:r>
              <a:rPr lang="en-US" sz="1050" dirty="0">
                <a:solidFill>
                  <a:srgbClr val="7DD3FC"/>
                </a:solidFill>
                <a:latin typeface="Consolas" pitchFamily="34" charset="0"/>
                <a:ea typeface="Consolas" pitchFamily="34" charset="-122"/>
                <a:cs typeface="Consolas" pitchFamily="34" charset="-120"/>
              </a:rPr>
              <a:t>  + customerID: String</a:t>
            </a:r>
            <a:endParaRPr lang="en-US" sz="1050" dirty="0"/>
          </a:p>
          <a:p>
            <a:pPr indent="0" marL="0">
              <a:buNone/>
            </a:pPr>
            <a:r>
              <a:rPr lang="en-US" sz="1050" dirty="0">
                <a:solidFill>
                  <a:srgbClr val="7DD3FC"/>
                </a:solidFill>
                <a:latin typeface="Consolas" pitchFamily="34" charset="0"/>
                <a:ea typeface="Consolas" pitchFamily="34" charset="-122"/>
                <a:cs typeface="Consolas" pitchFamily="34" charset="-120"/>
              </a:rPr>
              <a:t>  + name: String</a:t>
            </a:r>
            <a:endParaRPr lang="en-US" sz="1050" dirty="0"/>
          </a:p>
          <a:p>
            <a:pPr indent="0" marL="0">
              <a:buNone/>
            </a:pPr>
            <a:r>
              <a:rPr lang="en-US" sz="1050" dirty="0">
                <a:solidFill>
                  <a:srgbClr val="7DD3FC"/>
                </a:solidFill>
                <a:latin typeface="Consolas" pitchFamily="34" charset="0"/>
                <a:ea typeface="Consolas" pitchFamily="34" charset="-122"/>
                <a:cs typeface="Consolas" pitchFamily="34" charset="-120"/>
              </a:rPr>
              <a:t>  + email: String</a:t>
            </a:r>
            <a:endParaRPr lang="en-US" sz="1050" dirty="0"/>
          </a:p>
          <a:p>
            <a:pPr indent="0" marL="0">
              <a:buNone/>
            </a:pPr>
            <a:r>
              <a:rPr lang="en-US" sz="1050" dirty="0">
                <a:solidFill>
                  <a:srgbClr val="7DD3FC"/>
                </a:solidFill>
                <a:latin typeface="Consolas" pitchFamily="34" charset="0"/>
                <a:ea typeface="Consolas" pitchFamily="34" charset="-122"/>
                <a:cs typeface="Consolas" pitchFamily="34" charset="-120"/>
              </a:rPr>
              <a:t>  - password: String</a:t>
            </a:r>
            <a:endParaRPr lang="en-US" sz="1050" dirty="0"/>
          </a:p>
          <a:p>
            <a:pPr indent="0" marL="0">
              <a:buNone/>
            </a:pPr>
            <a:r>
              <a:rPr lang="en-US" sz="1050" dirty="0">
                <a:solidFill>
                  <a:srgbClr val="7DD3FC"/>
                </a:solidFill>
                <a:latin typeface="Consolas" pitchFamily="34" charset="0"/>
                <a:ea typeface="Consolas" pitchFamily="34" charset="-122"/>
                <a:cs typeface="Consolas" pitchFamily="34" charset="-120"/>
              </a:rPr>
              <a:t>  + placeOrder(o: Order)</a:t>
            </a:r>
            <a:endParaRPr lang="en-US" sz="1050" dirty="0"/>
          </a:p>
          <a:p>
            <a:pPr indent="0" marL="0">
              <a:buNone/>
            </a:pPr>
            <a:r>
              <a:rPr lang="en-US" sz="1050" dirty="0">
                <a:solidFill>
                  <a:srgbClr val="7DD3FC"/>
                </a:solidFill>
                <a:latin typeface="Consolas" pitchFamily="34" charset="0"/>
                <a:ea typeface="Consolas" pitchFamily="34" charset="-122"/>
                <a:cs typeface="Consolas" pitchFamily="34" charset="-120"/>
              </a:rPr>
              <a:t>  + getOrderHistory(): List</a:t>
            </a:r>
            <a:endParaRPr lang="en-US" sz="1050" dirty="0"/>
          </a:p>
          <a:p>
            <a:pPr indent="0" marL="0">
              <a:buNone/>
            </a:pPr>
            <a:r>
              <a:rPr lang="en-US" sz="1050" dirty="0">
                <a:solidFill>
                  <a:srgbClr val="7DD3FC"/>
                </a:solidFill>
                <a:latin typeface="Consolas" pitchFamily="34" charset="0"/>
                <a:ea typeface="Consolas" pitchFamily="34" charset="-122"/>
                <a:cs typeface="Consolas" pitchFamily="34" charset="-120"/>
              </a:rPr>
              <a:t>}</a:t>
            </a:r>
            <a:endParaRPr lang="en-US" sz="1050" dirty="0"/>
          </a:p>
          <a:p>
            <a:pPr indent="0" marL="0">
              <a:buNone/>
            </a:pPr>
            <a:endParaRPr lang="en-US" sz="1050" dirty="0"/>
          </a:p>
          <a:p>
            <a:pPr indent="0" marL="0">
              <a:buNone/>
            </a:pPr>
            <a:r>
              <a:rPr lang="en-US" sz="1050" dirty="0">
                <a:solidFill>
                  <a:srgbClr val="7DD3FC"/>
                </a:solidFill>
                <a:latin typeface="Consolas" pitchFamily="34" charset="0"/>
                <a:ea typeface="Consolas" pitchFamily="34" charset="-122"/>
                <a:cs typeface="Consolas" pitchFamily="34" charset="-120"/>
              </a:rPr>
              <a:t>class Order {</a:t>
            </a:r>
            <a:endParaRPr lang="en-US" sz="1050" dirty="0"/>
          </a:p>
          <a:p>
            <a:pPr indent="0" marL="0">
              <a:buNone/>
            </a:pPr>
            <a:r>
              <a:rPr lang="en-US" sz="1050" dirty="0">
                <a:solidFill>
                  <a:srgbClr val="7DD3FC"/>
                </a:solidFill>
                <a:latin typeface="Consolas" pitchFamily="34" charset="0"/>
                <a:ea typeface="Consolas" pitchFamily="34" charset="-122"/>
                <a:cs typeface="Consolas" pitchFamily="34" charset="-120"/>
              </a:rPr>
              <a:t>  + orderID: String</a:t>
            </a:r>
            <a:endParaRPr lang="en-US" sz="1050" dirty="0"/>
          </a:p>
          <a:p>
            <a:pPr indent="0" marL="0">
              <a:buNone/>
            </a:pPr>
            <a:r>
              <a:rPr lang="en-US" sz="1050" dirty="0">
                <a:solidFill>
                  <a:srgbClr val="7DD3FC"/>
                </a:solidFill>
                <a:latin typeface="Consolas" pitchFamily="34" charset="0"/>
                <a:ea typeface="Consolas" pitchFamily="34" charset="-122"/>
                <a:cs typeface="Consolas" pitchFamily="34" charset="-120"/>
              </a:rPr>
              <a:t>  + orderDate: Date</a:t>
            </a:r>
            <a:endParaRPr lang="en-US" sz="1050" dirty="0"/>
          </a:p>
          <a:p>
            <a:pPr indent="0" marL="0">
              <a:buNone/>
            </a:pPr>
            <a:r>
              <a:rPr lang="en-US" sz="1050" dirty="0">
                <a:solidFill>
                  <a:srgbClr val="7DD3FC"/>
                </a:solidFill>
                <a:latin typeface="Consolas" pitchFamily="34" charset="0"/>
                <a:ea typeface="Consolas" pitchFamily="34" charset="-122"/>
                <a:cs typeface="Consolas" pitchFamily="34" charset="-120"/>
              </a:rPr>
              <a:t>  + status: String</a:t>
            </a:r>
            <a:endParaRPr lang="en-US" sz="1050" dirty="0"/>
          </a:p>
          <a:p>
            <a:pPr indent="0" marL="0">
              <a:buNone/>
            </a:pPr>
            <a:r>
              <a:rPr lang="en-US" sz="1050" dirty="0">
                <a:solidFill>
                  <a:srgbClr val="7DD3FC"/>
                </a:solidFill>
                <a:latin typeface="Consolas" pitchFamily="34" charset="0"/>
                <a:ea typeface="Consolas" pitchFamily="34" charset="-122"/>
                <a:cs typeface="Consolas" pitchFamily="34" charset="-120"/>
              </a:rPr>
              <a:t>  + deliveryAddress: String</a:t>
            </a:r>
            <a:endParaRPr lang="en-US" sz="1050" dirty="0"/>
          </a:p>
          <a:p>
            <a:pPr indent="0" marL="0">
              <a:buNone/>
            </a:pPr>
            <a:r>
              <a:rPr lang="en-US" sz="1050" dirty="0">
                <a:solidFill>
                  <a:srgbClr val="7DD3FC"/>
                </a:solidFill>
                <a:latin typeface="Consolas" pitchFamily="34" charset="0"/>
                <a:ea typeface="Consolas" pitchFamily="34" charset="-122"/>
                <a:cs typeface="Consolas" pitchFamily="34" charset="-120"/>
              </a:rPr>
              <a:t>  + addProduct(p: Product)</a:t>
            </a:r>
            <a:endParaRPr lang="en-US" sz="1050" dirty="0"/>
          </a:p>
          <a:p>
            <a:pPr indent="0" marL="0">
              <a:buNone/>
            </a:pPr>
            <a:r>
              <a:rPr lang="en-US" sz="1050" dirty="0">
                <a:solidFill>
                  <a:srgbClr val="7DD3FC"/>
                </a:solidFill>
                <a:latin typeface="Consolas" pitchFamily="34" charset="0"/>
                <a:ea typeface="Consolas" pitchFamily="34" charset="-122"/>
                <a:cs typeface="Consolas" pitchFamily="34" charset="-120"/>
              </a:rPr>
              <a:t>  + calculateTotal(): Float</a:t>
            </a:r>
            <a:endParaRPr lang="en-US" sz="1050" dirty="0"/>
          </a:p>
          <a:p>
            <a:pPr indent="0" marL="0">
              <a:buNone/>
            </a:pPr>
            <a:r>
              <a:rPr lang="en-US" sz="1050" dirty="0">
                <a:solidFill>
                  <a:srgbClr val="7DD3FC"/>
                </a:solidFill>
                <a:latin typeface="Consolas" pitchFamily="34" charset="0"/>
                <a:ea typeface="Consolas" pitchFamily="34" charset="-122"/>
                <a:cs typeface="Consolas" pitchFamily="34" charset="-120"/>
              </a:rPr>
              <a:t>}</a:t>
            </a:r>
            <a:endParaRPr lang="en-US" sz="1050" dirty="0"/>
          </a:p>
        </p:txBody>
      </p:sp>
      <p:sp>
        <p:nvSpPr>
          <p:cNvPr id="6" name="Shape 4"/>
          <p:cNvSpPr/>
          <p:nvPr/>
        </p:nvSpPr>
        <p:spPr>
          <a:xfrm>
            <a:off x="4709160" y="822960"/>
            <a:ext cx="4160520" cy="4114800"/>
          </a:xfrm>
          <a:prstGeom prst="rect">
            <a:avLst/>
          </a:prstGeom>
          <a:solidFill>
            <a:srgbClr val="1E293B"/>
          </a:solidFill>
          <a:ln w="12700">
            <a:solidFill>
              <a:srgbClr val="334155"/>
            </a:solidFill>
            <a:prstDash val="solid"/>
          </a:ln>
        </p:spPr>
      </p:sp>
      <p:sp>
        <p:nvSpPr>
          <p:cNvPr id="7" name="Text 5"/>
          <p:cNvSpPr/>
          <p:nvPr/>
        </p:nvSpPr>
        <p:spPr>
          <a:xfrm>
            <a:off x="4846320" y="868680"/>
            <a:ext cx="3931920" cy="3977640"/>
          </a:xfrm>
          <a:prstGeom prst="rect">
            <a:avLst/>
          </a:prstGeom>
          <a:noFill/>
          <a:ln/>
        </p:spPr>
        <p:txBody>
          <a:bodyPr wrap="square" lIns="0" tIns="0" rIns="0" bIns="0" rtlCol="0" anchor="t"/>
          <a:lstStyle/>
          <a:p>
            <a:pPr indent="0" marL="0">
              <a:buNone/>
            </a:pPr>
            <a:r>
              <a:rPr lang="en-US" sz="1050" dirty="0">
                <a:solidFill>
                  <a:srgbClr val="7DD3FC"/>
                </a:solidFill>
                <a:latin typeface="Consolas" pitchFamily="34" charset="0"/>
                <a:ea typeface="Consolas" pitchFamily="34" charset="-122"/>
                <a:cs typeface="Consolas" pitchFamily="34" charset="-120"/>
              </a:rPr>
              <a:t>class Product {</a:t>
            </a:r>
            <a:endParaRPr lang="en-US" sz="1050" dirty="0"/>
          </a:p>
          <a:p>
            <a:pPr indent="0" marL="0">
              <a:buNone/>
            </a:pPr>
            <a:r>
              <a:rPr lang="en-US" sz="1050" dirty="0">
                <a:solidFill>
                  <a:srgbClr val="7DD3FC"/>
                </a:solidFill>
                <a:latin typeface="Consolas" pitchFamily="34" charset="0"/>
                <a:ea typeface="Consolas" pitchFamily="34" charset="-122"/>
                <a:cs typeface="Consolas" pitchFamily="34" charset="-120"/>
              </a:rPr>
              <a:t>  + productID: String</a:t>
            </a:r>
            <a:endParaRPr lang="en-US" sz="1050" dirty="0"/>
          </a:p>
          <a:p>
            <a:pPr indent="0" marL="0">
              <a:buNone/>
            </a:pPr>
            <a:r>
              <a:rPr lang="en-US" sz="1050" dirty="0">
                <a:solidFill>
                  <a:srgbClr val="7DD3FC"/>
                </a:solidFill>
                <a:latin typeface="Consolas" pitchFamily="34" charset="0"/>
                <a:ea typeface="Consolas" pitchFamily="34" charset="-122"/>
                <a:cs typeface="Consolas" pitchFamily="34" charset="-120"/>
              </a:rPr>
              <a:t>  + name: String</a:t>
            </a:r>
            <a:endParaRPr lang="en-US" sz="1050" dirty="0"/>
          </a:p>
          <a:p>
            <a:pPr indent="0" marL="0">
              <a:buNone/>
            </a:pPr>
            <a:r>
              <a:rPr lang="en-US" sz="1050" dirty="0">
                <a:solidFill>
                  <a:srgbClr val="7DD3FC"/>
                </a:solidFill>
                <a:latin typeface="Consolas" pitchFamily="34" charset="0"/>
                <a:ea typeface="Consolas" pitchFamily="34" charset="-122"/>
                <a:cs typeface="Consolas" pitchFamily="34" charset="-120"/>
              </a:rPr>
              <a:t>  + price: Float</a:t>
            </a:r>
            <a:endParaRPr lang="en-US" sz="1050" dirty="0"/>
          </a:p>
          <a:p>
            <a:pPr indent="0" marL="0">
              <a:buNone/>
            </a:pPr>
            <a:r>
              <a:rPr lang="en-US" sz="1050" dirty="0">
                <a:solidFill>
                  <a:srgbClr val="7DD3FC"/>
                </a:solidFill>
                <a:latin typeface="Consolas" pitchFamily="34" charset="0"/>
                <a:ea typeface="Consolas" pitchFamily="34" charset="-122"/>
                <a:cs typeface="Consolas" pitchFamily="34" charset="-120"/>
              </a:rPr>
              <a:t>  - stockLevel: Int</a:t>
            </a:r>
            <a:endParaRPr lang="en-US" sz="1050" dirty="0"/>
          </a:p>
          <a:p>
            <a:pPr indent="0" marL="0">
              <a:buNone/>
            </a:pPr>
            <a:r>
              <a:rPr lang="en-US" sz="1050" dirty="0">
                <a:solidFill>
                  <a:srgbClr val="7DD3FC"/>
                </a:solidFill>
                <a:latin typeface="Consolas" pitchFamily="34" charset="0"/>
                <a:ea typeface="Consolas" pitchFamily="34" charset="-122"/>
                <a:cs typeface="Consolas" pitchFamily="34" charset="-120"/>
              </a:rPr>
              <a:t>  + checkStock(): Boolean</a:t>
            </a:r>
            <a:endParaRPr lang="en-US" sz="1050" dirty="0"/>
          </a:p>
          <a:p>
            <a:pPr indent="0" marL="0">
              <a:buNone/>
            </a:pPr>
            <a:r>
              <a:rPr lang="en-US" sz="1050" dirty="0">
                <a:solidFill>
                  <a:srgbClr val="7DD3FC"/>
                </a:solidFill>
                <a:latin typeface="Consolas" pitchFamily="34" charset="0"/>
                <a:ea typeface="Consolas" pitchFamily="34" charset="-122"/>
                <a:cs typeface="Consolas" pitchFamily="34" charset="-120"/>
              </a:rPr>
              <a:t>  + updateStock(qty: Int)</a:t>
            </a:r>
            <a:endParaRPr lang="en-US" sz="1050" dirty="0"/>
          </a:p>
          <a:p>
            <a:pPr indent="0" marL="0">
              <a:buNone/>
            </a:pPr>
            <a:r>
              <a:rPr lang="en-US" sz="1050" dirty="0">
                <a:solidFill>
                  <a:srgbClr val="7DD3FC"/>
                </a:solidFill>
                <a:latin typeface="Consolas" pitchFamily="34" charset="0"/>
                <a:ea typeface="Consolas" pitchFamily="34" charset="-122"/>
                <a:cs typeface="Consolas" pitchFamily="34" charset="-120"/>
              </a:rPr>
              <a:t>}</a:t>
            </a:r>
            <a:endParaRPr lang="en-US" sz="1050" dirty="0"/>
          </a:p>
          <a:p>
            <a:pPr indent="0" marL="0">
              <a:buNone/>
            </a:pPr>
            <a:endParaRPr lang="en-US" sz="1050" dirty="0"/>
          </a:p>
          <a:p>
            <a:pPr indent="0" marL="0">
              <a:buNone/>
            </a:pPr>
            <a:r>
              <a:rPr lang="en-US" sz="1050" dirty="0">
                <a:solidFill>
                  <a:srgbClr val="7DD3FC"/>
                </a:solidFill>
                <a:latin typeface="Consolas" pitchFamily="34" charset="0"/>
                <a:ea typeface="Consolas" pitchFamily="34" charset="-122"/>
                <a:cs typeface="Consolas" pitchFamily="34" charset="-120"/>
              </a:rPr>
              <a:t>' Relationships</a:t>
            </a:r>
            <a:endParaRPr lang="en-US" sz="1050" dirty="0"/>
          </a:p>
          <a:p>
            <a:pPr indent="0" marL="0">
              <a:buNone/>
            </a:pPr>
            <a:r>
              <a:rPr lang="en-US" sz="1050" dirty="0">
                <a:solidFill>
                  <a:srgbClr val="7DD3FC"/>
                </a:solidFill>
                <a:latin typeface="Consolas" pitchFamily="34" charset="0"/>
                <a:ea typeface="Consolas" pitchFamily="34" charset="-122"/>
                <a:cs typeface="Consolas" pitchFamily="34" charset="-120"/>
              </a:rPr>
              <a:t>Customer --&gt; Order : places</a:t>
            </a:r>
            <a:endParaRPr lang="en-US" sz="1050" dirty="0"/>
          </a:p>
          <a:p>
            <a:pPr indent="0" marL="0">
              <a:buNone/>
            </a:pPr>
            <a:r>
              <a:rPr lang="en-US" sz="1050" dirty="0">
                <a:solidFill>
                  <a:srgbClr val="7DD3FC"/>
                </a:solidFill>
                <a:latin typeface="Consolas" pitchFamily="34" charset="0"/>
                <a:ea typeface="Consolas" pitchFamily="34" charset="-122"/>
                <a:cs typeface="Consolas" pitchFamily="34" charset="-120"/>
              </a:rPr>
              <a:t>Order *-- Product : contains</a:t>
            </a:r>
            <a:endParaRPr lang="en-US" sz="1050" dirty="0"/>
          </a:p>
          <a:p>
            <a:pPr indent="0" marL="0">
              <a:buNone/>
            </a:pPr>
            <a:endParaRPr lang="en-US" sz="1050" dirty="0"/>
          </a:p>
          <a:p>
            <a:pPr indent="0" marL="0">
              <a:buNone/>
            </a:pPr>
            <a:r>
              <a:rPr lang="en-US" sz="1050" dirty="0">
                <a:solidFill>
                  <a:srgbClr val="7DD3FC"/>
                </a:solidFill>
                <a:latin typeface="Consolas" pitchFamily="34" charset="0"/>
                <a:ea typeface="Consolas" pitchFamily="34" charset="-122"/>
                <a:cs typeface="Consolas" pitchFamily="34" charset="-120"/>
              </a:rPr>
              <a:t>@enduml</a:t>
            </a:r>
            <a:endParaRPr lang="en-US" sz="1050" dirty="0"/>
          </a:p>
        </p:txBody>
      </p:sp>
      <p:sp>
        <p:nvSpPr>
          <p:cNvPr id="8" name="Shape 6"/>
          <p:cNvSpPr/>
          <p:nvPr/>
        </p:nvSpPr>
        <p:spPr>
          <a:xfrm>
            <a:off x="274320" y="4617720"/>
            <a:ext cx="8595360" cy="347472"/>
          </a:xfrm>
          <a:prstGeom prst="rect">
            <a:avLst/>
          </a:prstGeom>
          <a:solidFill>
            <a:srgbClr val="1E293B"/>
          </a:solidFill>
          <a:ln w="12700">
            <a:solidFill>
              <a:srgbClr val="334155"/>
            </a:solidFill>
            <a:prstDash val="solid"/>
          </a:ln>
        </p:spPr>
      </p:sp>
      <p:sp>
        <p:nvSpPr>
          <p:cNvPr id="9" name="Text 7"/>
          <p:cNvSpPr/>
          <p:nvPr/>
        </p:nvSpPr>
        <p:spPr>
          <a:xfrm>
            <a:off x="365760" y="4636008"/>
            <a:ext cx="8412480" cy="292608"/>
          </a:xfrm>
          <a:prstGeom prst="rect">
            <a:avLst/>
          </a:prstGeom>
          <a:noFill/>
          <a:ln/>
        </p:spPr>
        <p:txBody>
          <a:bodyPr wrap="square" lIns="0" tIns="0" rIns="0" bIns="0" rtlCol="0" anchor="ctr"/>
          <a:lstStyle/>
          <a:p>
            <a:pPr algn="ctr" indent="0" marL="0">
              <a:buNone/>
            </a:pPr>
            <a:r>
              <a:rPr lang="en-US" sz="1000" dirty="0">
                <a:solidFill>
                  <a:srgbClr val="94A3B8"/>
                </a:solidFill>
                <a:latin typeface="Consolas" pitchFamily="34" charset="0"/>
                <a:ea typeface="Consolas" pitchFamily="34" charset="-122"/>
                <a:cs typeface="Consolas" pitchFamily="34" charset="-120"/>
              </a:rPr>
              <a:t>+  –  # = visibility prefix   |   --&gt; = association arrow   |   *-- = composition (filled ◆)   |   o-- = aggregation (open ◇)   |   --|&gt; = inheritance arrow</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DC2626"/>
          </a:solidFill>
          <a:ln w="12700">
            <a:solidFill>
              <a:srgbClr val="DC2626"/>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indent="0" marL="0">
              <a:buNone/>
            </a:pPr>
            <a:r>
              <a:rPr lang="en-US" sz="2200" b="1" dirty="0">
                <a:solidFill>
                  <a:srgbClr val="FFFFFF"/>
                </a:solidFill>
              </a:rPr>
              <a:t>✅  Challenge Answers — Library System</a:t>
            </a:r>
            <a:endParaRPr lang="en-US" sz="2200" dirty="0"/>
          </a:p>
        </p:txBody>
      </p:sp>
      <p:sp>
        <p:nvSpPr>
          <p:cNvPr id="4" name="Text 2"/>
          <p:cNvSpPr/>
          <p:nvPr/>
        </p:nvSpPr>
        <p:spPr>
          <a:xfrm>
            <a:off x="365760" y="758952"/>
            <a:ext cx="8229600" cy="320040"/>
          </a:xfrm>
          <a:prstGeom prst="rect">
            <a:avLst/>
          </a:prstGeom>
          <a:noFill/>
          <a:ln/>
        </p:spPr>
        <p:txBody>
          <a:bodyPr wrap="square" lIns="0" tIns="0" rIns="0" bIns="0" rtlCol="0" anchor="ctr"/>
          <a:lstStyle/>
          <a:p>
            <a:pPr indent="0" marL="0">
              <a:buNone/>
            </a:pPr>
            <a:r>
              <a:rPr lang="en-US" sz="1300" b="1" dirty="0">
                <a:solidFill>
                  <a:srgbClr val="1E293B"/>
                </a:solidFill>
              </a:rPr>
              <a:t>Model answer for C1 + C2 (User class + Loan relationships):</a:t>
            </a:r>
            <a:endParaRPr lang="en-US" sz="1300" dirty="0"/>
          </a:p>
        </p:txBody>
      </p:sp>
      <p:sp>
        <p:nvSpPr>
          <p:cNvPr id="5" name="Shape 3"/>
          <p:cNvSpPr/>
          <p:nvPr/>
        </p:nvSpPr>
        <p:spPr>
          <a:xfrm>
            <a:off x="274320" y="1143000"/>
            <a:ext cx="2606040" cy="3035808"/>
          </a:xfrm>
          <a:prstGeom prst="rect">
            <a:avLst/>
          </a:prstGeom>
          <a:solidFill>
            <a:srgbClr val="FFFFFF"/>
          </a:solidFill>
          <a:ln w="19050">
            <a:solidFill>
              <a:srgbClr val="1A2744"/>
            </a:solidFill>
            <a:prstDash val="solid"/>
          </a:ln>
        </p:spPr>
      </p:sp>
      <p:sp>
        <p:nvSpPr>
          <p:cNvPr id="6" name="Shape 4"/>
          <p:cNvSpPr/>
          <p:nvPr/>
        </p:nvSpPr>
        <p:spPr>
          <a:xfrm>
            <a:off x="274320" y="1143000"/>
            <a:ext cx="2606040" cy="402336"/>
          </a:xfrm>
          <a:prstGeom prst="rect">
            <a:avLst/>
          </a:prstGeom>
          <a:solidFill>
            <a:srgbClr val="0D9488"/>
          </a:solidFill>
          <a:ln w="12700">
            <a:solidFill>
              <a:srgbClr val="0D9488"/>
            </a:solidFill>
            <a:prstDash val="solid"/>
          </a:ln>
        </p:spPr>
      </p:sp>
      <p:sp>
        <p:nvSpPr>
          <p:cNvPr id="7" name="Text 5"/>
          <p:cNvSpPr/>
          <p:nvPr/>
        </p:nvSpPr>
        <p:spPr>
          <a:xfrm>
            <a:off x="274320" y="1143000"/>
            <a:ext cx="2606040" cy="402336"/>
          </a:xfrm>
          <a:prstGeom prst="rect">
            <a:avLst/>
          </a:prstGeom>
          <a:noFill/>
          <a:ln/>
        </p:spPr>
        <p:txBody>
          <a:bodyPr wrap="square" lIns="0" tIns="0" rIns="0" bIns="0" rtlCol="0" anchor="ctr"/>
          <a:lstStyle/>
          <a:p>
            <a:pPr algn="ctr" indent="0" marL="0">
              <a:buNone/>
            </a:pPr>
            <a:r>
              <a:rPr lang="en-US" sz="1200" b="1" dirty="0">
                <a:solidFill>
                  <a:srgbClr val="FFFFFF"/>
                </a:solidFill>
              </a:rPr>
              <a:t>Book</a:t>
            </a:r>
            <a:endParaRPr lang="en-US" sz="1200" dirty="0"/>
          </a:p>
        </p:txBody>
      </p:sp>
      <p:sp>
        <p:nvSpPr>
          <p:cNvPr id="8" name="Shape 6"/>
          <p:cNvSpPr/>
          <p:nvPr/>
        </p:nvSpPr>
        <p:spPr>
          <a:xfrm>
            <a:off x="274320" y="2862072"/>
            <a:ext cx="2606040" cy="0"/>
          </a:xfrm>
          <a:prstGeom prst="line">
            <a:avLst/>
          </a:prstGeom>
          <a:noFill/>
          <a:ln w="12700">
            <a:solidFill>
              <a:srgbClr val="1A2744"/>
            </a:solidFill>
            <a:prstDash val="solid"/>
          </a:ln>
        </p:spPr>
      </p:sp>
      <p:sp>
        <p:nvSpPr>
          <p:cNvPr id="9" name="Text 7"/>
          <p:cNvSpPr/>
          <p:nvPr/>
        </p:nvSpPr>
        <p:spPr>
          <a:xfrm>
            <a:off x="365760" y="1618488"/>
            <a:ext cx="2468880" cy="292608"/>
          </a:xfrm>
          <a:prstGeom prst="rect">
            <a:avLst/>
          </a:prstGeom>
          <a:noFill/>
          <a:ln/>
        </p:spPr>
        <p:txBody>
          <a:bodyPr wrap="square" lIns="0" tIns="0" rIns="0" bIns="0" rtlCol="0" anchor="ctr"/>
          <a:lstStyle/>
          <a:p>
            <a:pPr indent="0" marL="0">
              <a:buNone/>
            </a:pPr>
            <a:r>
              <a:rPr lang="en-US" sz="1000" dirty="0">
                <a:solidFill>
                  <a:srgbClr val="0D9488"/>
                </a:solidFill>
                <a:latin typeface="Consolas" pitchFamily="34" charset="0"/>
                <a:ea typeface="Consolas" pitchFamily="34" charset="-122"/>
                <a:cs typeface="Consolas" pitchFamily="34" charset="-120"/>
              </a:rPr>
              <a:t>+ title: String</a:t>
            </a:r>
            <a:endParaRPr lang="en-US" sz="1000" dirty="0"/>
          </a:p>
        </p:txBody>
      </p:sp>
      <p:sp>
        <p:nvSpPr>
          <p:cNvPr id="10" name="Text 8"/>
          <p:cNvSpPr/>
          <p:nvPr/>
        </p:nvSpPr>
        <p:spPr>
          <a:xfrm>
            <a:off x="365760" y="1911096"/>
            <a:ext cx="2468880" cy="292608"/>
          </a:xfrm>
          <a:prstGeom prst="rect">
            <a:avLst/>
          </a:prstGeom>
          <a:noFill/>
          <a:ln/>
        </p:spPr>
        <p:txBody>
          <a:bodyPr wrap="square" lIns="0" tIns="0" rIns="0" bIns="0" rtlCol="0" anchor="ctr"/>
          <a:lstStyle/>
          <a:p>
            <a:pPr indent="0" marL="0">
              <a:buNone/>
            </a:pPr>
            <a:r>
              <a:rPr lang="en-US" sz="1000" dirty="0">
                <a:solidFill>
                  <a:srgbClr val="0D9488"/>
                </a:solidFill>
                <a:latin typeface="Consolas" pitchFamily="34" charset="0"/>
                <a:ea typeface="Consolas" pitchFamily="34" charset="-122"/>
                <a:cs typeface="Consolas" pitchFamily="34" charset="-120"/>
              </a:rPr>
              <a:t>+ author: String</a:t>
            </a:r>
            <a:endParaRPr lang="en-US" sz="1000" dirty="0"/>
          </a:p>
        </p:txBody>
      </p:sp>
      <p:sp>
        <p:nvSpPr>
          <p:cNvPr id="11" name="Text 9"/>
          <p:cNvSpPr/>
          <p:nvPr/>
        </p:nvSpPr>
        <p:spPr>
          <a:xfrm>
            <a:off x="365760" y="2203704"/>
            <a:ext cx="2468880" cy="292608"/>
          </a:xfrm>
          <a:prstGeom prst="rect">
            <a:avLst/>
          </a:prstGeom>
          <a:noFill/>
          <a:ln/>
        </p:spPr>
        <p:txBody>
          <a:bodyPr wrap="square" lIns="0" tIns="0" rIns="0" bIns="0" rtlCol="0" anchor="ctr"/>
          <a:lstStyle/>
          <a:p>
            <a:pPr indent="0" marL="0">
              <a:buNone/>
            </a:pPr>
            <a:r>
              <a:rPr lang="en-US" sz="1000" dirty="0">
                <a:solidFill>
                  <a:srgbClr val="0D9488"/>
                </a:solidFill>
                <a:latin typeface="Consolas" pitchFamily="34" charset="0"/>
                <a:ea typeface="Consolas" pitchFamily="34" charset="-122"/>
                <a:cs typeface="Consolas" pitchFamily="34" charset="-120"/>
              </a:rPr>
              <a:t>+ isbn: String</a:t>
            </a:r>
            <a:endParaRPr lang="en-US" sz="1000" dirty="0"/>
          </a:p>
        </p:txBody>
      </p:sp>
      <p:sp>
        <p:nvSpPr>
          <p:cNvPr id="12" name="Text 10"/>
          <p:cNvSpPr/>
          <p:nvPr/>
        </p:nvSpPr>
        <p:spPr>
          <a:xfrm>
            <a:off x="365760" y="2496312"/>
            <a:ext cx="2468880" cy="292608"/>
          </a:xfrm>
          <a:prstGeom prst="rect">
            <a:avLst/>
          </a:prstGeom>
          <a:noFill/>
          <a:ln/>
        </p:spPr>
        <p:txBody>
          <a:bodyPr wrap="square" lIns="0" tIns="0" rIns="0" bIns="0" rtlCol="0" anchor="ctr"/>
          <a:lstStyle/>
          <a:p>
            <a:pPr indent="0" marL="0">
              <a:buNone/>
            </a:pPr>
            <a:r>
              <a:rPr lang="en-US" sz="1000" dirty="0">
                <a:solidFill>
                  <a:srgbClr val="DC2626"/>
                </a:solidFill>
                <a:latin typeface="Consolas" pitchFamily="34" charset="0"/>
                <a:ea typeface="Consolas" pitchFamily="34" charset="-122"/>
                <a:cs typeface="Consolas" pitchFamily="34" charset="-120"/>
              </a:rPr>
              <a:t>– isBorrowed: Boolean</a:t>
            </a:r>
            <a:endParaRPr lang="en-US" sz="1000" dirty="0"/>
          </a:p>
        </p:txBody>
      </p:sp>
      <p:sp>
        <p:nvSpPr>
          <p:cNvPr id="13" name="Text 11"/>
          <p:cNvSpPr/>
          <p:nvPr/>
        </p:nvSpPr>
        <p:spPr>
          <a:xfrm>
            <a:off x="365760" y="2935224"/>
            <a:ext cx="2468880" cy="292608"/>
          </a:xfrm>
          <a:prstGeom prst="rect">
            <a:avLst/>
          </a:prstGeom>
          <a:noFill/>
          <a:ln/>
        </p:spPr>
        <p:txBody>
          <a:bodyPr wrap="square" lIns="0" tIns="0" rIns="0" bIns="0" rtlCol="0" anchor="ctr"/>
          <a:lstStyle/>
          <a:p>
            <a:pPr indent="0" marL="0">
              <a:buNone/>
            </a:pPr>
            <a:r>
              <a:rPr lang="en-US" sz="1000" dirty="0">
                <a:solidFill>
                  <a:srgbClr val="1A2744"/>
                </a:solidFill>
                <a:latin typeface="Consolas" pitchFamily="34" charset="0"/>
                <a:ea typeface="Consolas" pitchFamily="34" charset="-122"/>
                <a:cs typeface="Consolas" pitchFamily="34" charset="-120"/>
              </a:rPr>
              <a:t>+ borrow(): void</a:t>
            </a:r>
            <a:endParaRPr lang="en-US" sz="1000" dirty="0"/>
          </a:p>
        </p:txBody>
      </p:sp>
      <p:sp>
        <p:nvSpPr>
          <p:cNvPr id="14" name="Text 12"/>
          <p:cNvSpPr/>
          <p:nvPr/>
        </p:nvSpPr>
        <p:spPr>
          <a:xfrm>
            <a:off x="365760" y="3227832"/>
            <a:ext cx="2468880" cy="292608"/>
          </a:xfrm>
          <a:prstGeom prst="rect">
            <a:avLst/>
          </a:prstGeom>
          <a:noFill/>
          <a:ln/>
        </p:spPr>
        <p:txBody>
          <a:bodyPr wrap="square" lIns="0" tIns="0" rIns="0" bIns="0" rtlCol="0" anchor="ctr"/>
          <a:lstStyle/>
          <a:p>
            <a:pPr indent="0" marL="0">
              <a:buNone/>
            </a:pPr>
            <a:r>
              <a:rPr lang="en-US" sz="1000" dirty="0">
                <a:solidFill>
                  <a:srgbClr val="1A2744"/>
                </a:solidFill>
                <a:latin typeface="Consolas" pitchFamily="34" charset="0"/>
                <a:ea typeface="Consolas" pitchFamily="34" charset="-122"/>
                <a:cs typeface="Consolas" pitchFamily="34" charset="-120"/>
              </a:rPr>
              <a:t>+ return(): void</a:t>
            </a:r>
            <a:endParaRPr lang="en-US" sz="1000" dirty="0"/>
          </a:p>
        </p:txBody>
      </p:sp>
      <p:sp>
        <p:nvSpPr>
          <p:cNvPr id="15" name="Text 13"/>
          <p:cNvSpPr/>
          <p:nvPr/>
        </p:nvSpPr>
        <p:spPr>
          <a:xfrm>
            <a:off x="365760" y="3520440"/>
            <a:ext cx="2468880" cy="292608"/>
          </a:xfrm>
          <a:prstGeom prst="rect">
            <a:avLst/>
          </a:prstGeom>
          <a:noFill/>
          <a:ln/>
        </p:spPr>
        <p:txBody>
          <a:bodyPr wrap="square" lIns="0" tIns="0" rIns="0" bIns="0" rtlCol="0" anchor="ctr"/>
          <a:lstStyle/>
          <a:p>
            <a:pPr indent="0" marL="0">
              <a:buNone/>
            </a:pPr>
            <a:r>
              <a:rPr lang="en-US" sz="1000" dirty="0">
                <a:solidFill>
                  <a:srgbClr val="1A2744"/>
                </a:solidFill>
                <a:latin typeface="Consolas" pitchFamily="34" charset="0"/>
                <a:ea typeface="Consolas" pitchFamily="34" charset="-122"/>
                <a:cs typeface="Consolas" pitchFamily="34" charset="-120"/>
              </a:rPr>
              <a:t>+ getTitle(): String</a:t>
            </a:r>
            <a:endParaRPr lang="en-US" sz="1000" dirty="0"/>
          </a:p>
        </p:txBody>
      </p:sp>
      <p:sp>
        <p:nvSpPr>
          <p:cNvPr id="16" name="Text 14"/>
          <p:cNvSpPr/>
          <p:nvPr/>
        </p:nvSpPr>
        <p:spPr>
          <a:xfrm>
            <a:off x="365760" y="3813048"/>
            <a:ext cx="2468880" cy="292608"/>
          </a:xfrm>
          <a:prstGeom prst="rect">
            <a:avLst/>
          </a:prstGeom>
          <a:noFill/>
          <a:ln/>
        </p:spPr>
        <p:txBody>
          <a:bodyPr wrap="square" lIns="0" tIns="0" rIns="0" bIns="0" rtlCol="0" anchor="ctr"/>
          <a:lstStyle/>
          <a:p>
            <a:pPr indent="0" marL="0">
              <a:buNone/>
            </a:pPr>
            <a:r>
              <a:rPr lang="en-US" sz="1000" dirty="0">
                <a:solidFill>
                  <a:srgbClr val="1A2744"/>
                </a:solidFill>
                <a:latin typeface="Consolas" pitchFamily="34" charset="0"/>
                <a:ea typeface="Consolas" pitchFamily="34" charset="-122"/>
                <a:cs typeface="Consolas" pitchFamily="34" charset="-120"/>
              </a:rPr>
              <a:t>+ getAuthor(): String</a:t>
            </a:r>
            <a:endParaRPr lang="en-US" sz="1000" dirty="0"/>
          </a:p>
        </p:txBody>
      </p:sp>
      <p:sp>
        <p:nvSpPr>
          <p:cNvPr id="17" name="Shape 15"/>
          <p:cNvSpPr/>
          <p:nvPr/>
        </p:nvSpPr>
        <p:spPr>
          <a:xfrm>
            <a:off x="3246120" y="1143000"/>
            <a:ext cx="2606040" cy="3035808"/>
          </a:xfrm>
          <a:prstGeom prst="rect">
            <a:avLst/>
          </a:prstGeom>
          <a:solidFill>
            <a:srgbClr val="FFFFFF"/>
          </a:solidFill>
          <a:ln w="19050">
            <a:solidFill>
              <a:srgbClr val="1A2744"/>
            </a:solidFill>
            <a:prstDash val="solid"/>
          </a:ln>
        </p:spPr>
      </p:sp>
      <p:sp>
        <p:nvSpPr>
          <p:cNvPr id="18" name="Shape 16"/>
          <p:cNvSpPr/>
          <p:nvPr/>
        </p:nvSpPr>
        <p:spPr>
          <a:xfrm>
            <a:off x="3246120" y="1143000"/>
            <a:ext cx="2606040" cy="402336"/>
          </a:xfrm>
          <a:prstGeom prst="rect">
            <a:avLst/>
          </a:prstGeom>
          <a:solidFill>
            <a:srgbClr val="1A2744"/>
          </a:solidFill>
          <a:ln w="12700">
            <a:solidFill>
              <a:srgbClr val="1A2744"/>
            </a:solidFill>
            <a:prstDash val="solid"/>
          </a:ln>
        </p:spPr>
      </p:sp>
      <p:sp>
        <p:nvSpPr>
          <p:cNvPr id="19" name="Text 17"/>
          <p:cNvSpPr/>
          <p:nvPr/>
        </p:nvSpPr>
        <p:spPr>
          <a:xfrm>
            <a:off x="3246120" y="1143000"/>
            <a:ext cx="2606040" cy="402336"/>
          </a:xfrm>
          <a:prstGeom prst="rect">
            <a:avLst/>
          </a:prstGeom>
          <a:noFill/>
          <a:ln/>
        </p:spPr>
        <p:txBody>
          <a:bodyPr wrap="square" lIns="0" tIns="0" rIns="0" bIns="0" rtlCol="0" anchor="ctr"/>
          <a:lstStyle/>
          <a:p>
            <a:pPr algn="ctr" indent="0" marL="0">
              <a:buNone/>
            </a:pPr>
            <a:r>
              <a:rPr lang="en-US" sz="1200" b="1" dirty="0">
                <a:solidFill>
                  <a:srgbClr val="FFFFFF"/>
                </a:solidFill>
              </a:rPr>
              <a:t>User</a:t>
            </a:r>
            <a:endParaRPr lang="en-US" sz="1200" dirty="0"/>
          </a:p>
        </p:txBody>
      </p:sp>
      <p:sp>
        <p:nvSpPr>
          <p:cNvPr id="20" name="Shape 18"/>
          <p:cNvSpPr/>
          <p:nvPr/>
        </p:nvSpPr>
        <p:spPr>
          <a:xfrm>
            <a:off x="3246120" y="2862072"/>
            <a:ext cx="2606040" cy="0"/>
          </a:xfrm>
          <a:prstGeom prst="line">
            <a:avLst/>
          </a:prstGeom>
          <a:noFill/>
          <a:ln w="12700">
            <a:solidFill>
              <a:srgbClr val="1A2744"/>
            </a:solidFill>
            <a:prstDash val="solid"/>
          </a:ln>
        </p:spPr>
      </p:sp>
      <p:sp>
        <p:nvSpPr>
          <p:cNvPr id="21" name="Text 19"/>
          <p:cNvSpPr/>
          <p:nvPr/>
        </p:nvSpPr>
        <p:spPr>
          <a:xfrm>
            <a:off x="3337560" y="1618488"/>
            <a:ext cx="2468880" cy="292608"/>
          </a:xfrm>
          <a:prstGeom prst="rect">
            <a:avLst/>
          </a:prstGeom>
          <a:noFill/>
          <a:ln/>
        </p:spPr>
        <p:txBody>
          <a:bodyPr wrap="square" lIns="0" tIns="0" rIns="0" bIns="0" rtlCol="0" anchor="ctr"/>
          <a:lstStyle/>
          <a:p>
            <a:pPr indent="0" marL="0">
              <a:buNone/>
            </a:pPr>
            <a:r>
              <a:rPr lang="en-US" sz="1000" dirty="0">
                <a:solidFill>
                  <a:srgbClr val="0D9488"/>
                </a:solidFill>
                <a:latin typeface="Consolas" pitchFamily="34" charset="0"/>
                <a:ea typeface="Consolas" pitchFamily="34" charset="-122"/>
                <a:cs typeface="Consolas" pitchFamily="34" charset="-120"/>
              </a:rPr>
              <a:t>+ userID: String</a:t>
            </a:r>
            <a:endParaRPr lang="en-US" sz="1000" dirty="0"/>
          </a:p>
        </p:txBody>
      </p:sp>
      <p:sp>
        <p:nvSpPr>
          <p:cNvPr id="22" name="Text 20"/>
          <p:cNvSpPr/>
          <p:nvPr/>
        </p:nvSpPr>
        <p:spPr>
          <a:xfrm>
            <a:off x="3337560" y="1911096"/>
            <a:ext cx="2468880" cy="292608"/>
          </a:xfrm>
          <a:prstGeom prst="rect">
            <a:avLst/>
          </a:prstGeom>
          <a:noFill/>
          <a:ln/>
        </p:spPr>
        <p:txBody>
          <a:bodyPr wrap="square" lIns="0" tIns="0" rIns="0" bIns="0" rtlCol="0" anchor="ctr"/>
          <a:lstStyle/>
          <a:p>
            <a:pPr indent="0" marL="0">
              <a:buNone/>
            </a:pPr>
            <a:r>
              <a:rPr lang="en-US" sz="1000" dirty="0">
                <a:solidFill>
                  <a:srgbClr val="0D9488"/>
                </a:solidFill>
                <a:latin typeface="Consolas" pitchFamily="34" charset="0"/>
                <a:ea typeface="Consolas" pitchFamily="34" charset="-122"/>
                <a:cs typeface="Consolas" pitchFamily="34" charset="-120"/>
              </a:rPr>
              <a:t>+ name: String</a:t>
            </a:r>
            <a:endParaRPr lang="en-US" sz="1000" dirty="0"/>
          </a:p>
        </p:txBody>
      </p:sp>
      <p:sp>
        <p:nvSpPr>
          <p:cNvPr id="23" name="Text 21"/>
          <p:cNvSpPr/>
          <p:nvPr/>
        </p:nvSpPr>
        <p:spPr>
          <a:xfrm>
            <a:off x="3337560" y="2203704"/>
            <a:ext cx="2468880" cy="292608"/>
          </a:xfrm>
          <a:prstGeom prst="rect">
            <a:avLst/>
          </a:prstGeom>
          <a:noFill/>
          <a:ln/>
        </p:spPr>
        <p:txBody>
          <a:bodyPr wrap="square" lIns="0" tIns="0" rIns="0" bIns="0" rtlCol="0" anchor="ctr"/>
          <a:lstStyle/>
          <a:p>
            <a:pPr indent="0" marL="0">
              <a:buNone/>
            </a:pPr>
            <a:r>
              <a:rPr lang="en-US" sz="1000" dirty="0">
                <a:solidFill>
                  <a:srgbClr val="0D9488"/>
                </a:solidFill>
                <a:latin typeface="Consolas" pitchFamily="34" charset="0"/>
                <a:ea typeface="Consolas" pitchFamily="34" charset="-122"/>
                <a:cs typeface="Consolas" pitchFamily="34" charset="-120"/>
              </a:rPr>
              <a:t>+ email: String</a:t>
            </a:r>
            <a:endParaRPr lang="en-US" sz="1000" dirty="0"/>
          </a:p>
        </p:txBody>
      </p:sp>
      <p:sp>
        <p:nvSpPr>
          <p:cNvPr id="24" name="Text 22"/>
          <p:cNvSpPr/>
          <p:nvPr/>
        </p:nvSpPr>
        <p:spPr>
          <a:xfrm>
            <a:off x="3337560" y="2496312"/>
            <a:ext cx="2468880" cy="292608"/>
          </a:xfrm>
          <a:prstGeom prst="rect">
            <a:avLst/>
          </a:prstGeom>
          <a:noFill/>
          <a:ln/>
        </p:spPr>
        <p:txBody>
          <a:bodyPr wrap="square" lIns="0" tIns="0" rIns="0" bIns="0" rtlCol="0" anchor="ctr"/>
          <a:lstStyle/>
          <a:p>
            <a:pPr indent="0" marL="0">
              <a:buNone/>
            </a:pPr>
            <a:r>
              <a:rPr lang="en-US" sz="1000" dirty="0">
                <a:solidFill>
                  <a:srgbClr val="DC2626"/>
                </a:solidFill>
                <a:latin typeface="Consolas" pitchFamily="34" charset="0"/>
                <a:ea typeface="Consolas" pitchFamily="34" charset="-122"/>
                <a:cs typeface="Consolas" pitchFamily="34" charset="-120"/>
              </a:rPr>
              <a:t>– borrowedCount: Int</a:t>
            </a:r>
            <a:endParaRPr lang="en-US" sz="1000" dirty="0"/>
          </a:p>
        </p:txBody>
      </p:sp>
      <p:sp>
        <p:nvSpPr>
          <p:cNvPr id="25" name="Text 23"/>
          <p:cNvSpPr/>
          <p:nvPr/>
        </p:nvSpPr>
        <p:spPr>
          <a:xfrm>
            <a:off x="3337560" y="2935224"/>
            <a:ext cx="2468880" cy="292608"/>
          </a:xfrm>
          <a:prstGeom prst="rect">
            <a:avLst/>
          </a:prstGeom>
          <a:noFill/>
          <a:ln/>
        </p:spPr>
        <p:txBody>
          <a:bodyPr wrap="square" lIns="0" tIns="0" rIns="0" bIns="0" rtlCol="0" anchor="ctr"/>
          <a:lstStyle/>
          <a:p>
            <a:pPr indent="0" marL="0">
              <a:buNone/>
            </a:pPr>
            <a:r>
              <a:rPr lang="en-US" sz="1000" dirty="0">
                <a:solidFill>
                  <a:srgbClr val="1A2744"/>
                </a:solidFill>
                <a:latin typeface="Consolas" pitchFamily="34" charset="0"/>
                <a:ea typeface="Consolas" pitchFamily="34" charset="-122"/>
                <a:cs typeface="Consolas" pitchFamily="34" charset="-120"/>
              </a:rPr>
              <a:t>+ borrowBook(b: Book)</a:t>
            </a:r>
            <a:endParaRPr lang="en-US" sz="1000" dirty="0"/>
          </a:p>
        </p:txBody>
      </p:sp>
      <p:sp>
        <p:nvSpPr>
          <p:cNvPr id="26" name="Text 24"/>
          <p:cNvSpPr/>
          <p:nvPr/>
        </p:nvSpPr>
        <p:spPr>
          <a:xfrm>
            <a:off x="3337560" y="3227832"/>
            <a:ext cx="2468880" cy="292608"/>
          </a:xfrm>
          <a:prstGeom prst="rect">
            <a:avLst/>
          </a:prstGeom>
          <a:noFill/>
          <a:ln/>
        </p:spPr>
        <p:txBody>
          <a:bodyPr wrap="square" lIns="0" tIns="0" rIns="0" bIns="0" rtlCol="0" anchor="ctr"/>
          <a:lstStyle/>
          <a:p>
            <a:pPr indent="0" marL="0">
              <a:buNone/>
            </a:pPr>
            <a:r>
              <a:rPr lang="en-US" sz="1000" dirty="0">
                <a:solidFill>
                  <a:srgbClr val="1A2744"/>
                </a:solidFill>
                <a:latin typeface="Consolas" pitchFamily="34" charset="0"/>
                <a:ea typeface="Consolas" pitchFamily="34" charset="-122"/>
                <a:cs typeface="Consolas" pitchFamily="34" charset="-120"/>
              </a:rPr>
              <a:t>+ returnBook(b: Book)</a:t>
            </a:r>
            <a:endParaRPr lang="en-US" sz="1000" dirty="0"/>
          </a:p>
        </p:txBody>
      </p:sp>
      <p:sp>
        <p:nvSpPr>
          <p:cNvPr id="27" name="Text 25"/>
          <p:cNvSpPr/>
          <p:nvPr/>
        </p:nvSpPr>
        <p:spPr>
          <a:xfrm>
            <a:off x="3337560" y="3520440"/>
            <a:ext cx="2468880" cy="292608"/>
          </a:xfrm>
          <a:prstGeom prst="rect">
            <a:avLst/>
          </a:prstGeom>
          <a:noFill/>
          <a:ln/>
        </p:spPr>
        <p:txBody>
          <a:bodyPr wrap="square" lIns="0" tIns="0" rIns="0" bIns="0" rtlCol="0" anchor="ctr"/>
          <a:lstStyle/>
          <a:p>
            <a:pPr indent="0" marL="0">
              <a:buNone/>
            </a:pPr>
            <a:r>
              <a:rPr lang="en-US" sz="1000" dirty="0">
                <a:solidFill>
                  <a:srgbClr val="1A2744"/>
                </a:solidFill>
                <a:latin typeface="Consolas" pitchFamily="34" charset="0"/>
                <a:ea typeface="Consolas" pitchFamily="34" charset="-122"/>
                <a:cs typeface="Consolas" pitchFamily="34" charset="-120"/>
              </a:rPr>
              <a:t>+ getBorrowedBooks(): List</a:t>
            </a:r>
            <a:endParaRPr lang="en-US" sz="1000" dirty="0"/>
          </a:p>
        </p:txBody>
      </p:sp>
      <p:sp>
        <p:nvSpPr>
          <p:cNvPr id="28" name="Text 26"/>
          <p:cNvSpPr/>
          <p:nvPr/>
        </p:nvSpPr>
        <p:spPr>
          <a:xfrm>
            <a:off x="3337560" y="3813048"/>
            <a:ext cx="2468880" cy="292608"/>
          </a:xfrm>
          <a:prstGeom prst="rect">
            <a:avLst/>
          </a:prstGeom>
          <a:noFill/>
          <a:ln/>
        </p:spPr>
        <p:txBody>
          <a:bodyPr wrap="square" lIns="0" tIns="0" rIns="0" bIns="0" rtlCol="0" anchor="ctr"/>
          <a:lstStyle/>
          <a:p>
            <a:pPr indent="0" marL="0">
              <a:buNone/>
            </a:pPr>
            <a:r>
              <a:rPr lang="en-US" sz="1000" dirty="0">
                <a:solidFill>
                  <a:srgbClr val="1A2744"/>
                </a:solidFill>
                <a:latin typeface="Consolas" pitchFamily="34" charset="0"/>
                <a:ea typeface="Consolas" pitchFamily="34" charset="-122"/>
                <a:cs typeface="Consolas" pitchFamily="34" charset="-120"/>
              </a:rPr>
              <a:t>+ canBorrow(): Boolean</a:t>
            </a:r>
            <a:endParaRPr lang="en-US" sz="1000" dirty="0"/>
          </a:p>
        </p:txBody>
      </p:sp>
      <p:sp>
        <p:nvSpPr>
          <p:cNvPr id="29" name="Shape 27"/>
          <p:cNvSpPr/>
          <p:nvPr/>
        </p:nvSpPr>
        <p:spPr>
          <a:xfrm>
            <a:off x="6217920" y="1143000"/>
            <a:ext cx="2606040" cy="2743200"/>
          </a:xfrm>
          <a:prstGeom prst="rect">
            <a:avLst/>
          </a:prstGeom>
          <a:solidFill>
            <a:srgbClr val="FFFFFF"/>
          </a:solidFill>
          <a:ln w="19050">
            <a:solidFill>
              <a:srgbClr val="1A2744"/>
            </a:solidFill>
            <a:prstDash val="solid"/>
          </a:ln>
        </p:spPr>
      </p:sp>
      <p:sp>
        <p:nvSpPr>
          <p:cNvPr id="30" name="Shape 28"/>
          <p:cNvSpPr/>
          <p:nvPr/>
        </p:nvSpPr>
        <p:spPr>
          <a:xfrm>
            <a:off x="6217920" y="1143000"/>
            <a:ext cx="2606040" cy="402336"/>
          </a:xfrm>
          <a:prstGeom prst="rect">
            <a:avLst/>
          </a:prstGeom>
          <a:solidFill>
            <a:srgbClr val="DC2626"/>
          </a:solidFill>
          <a:ln w="12700">
            <a:solidFill>
              <a:srgbClr val="DC2626"/>
            </a:solidFill>
            <a:prstDash val="solid"/>
          </a:ln>
        </p:spPr>
      </p:sp>
      <p:sp>
        <p:nvSpPr>
          <p:cNvPr id="31" name="Text 29"/>
          <p:cNvSpPr/>
          <p:nvPr/>
        </p:nvSpPr>
        <p:spPr>
          <a:xfrm>
            <a:off x="6217920" y="1143000"/>
            <a:ext cx="2606040" cy="402336"/>
          </a:xfrm>
          <a:prstGeom prst="rect">
            <a:avLst/>
          </a:prstGeom>
          <a:noFill/>
          <a:ln/>
        </p:spPr>
        <p:txBody>
          <a:bodyPr wrap="square" lIns="0" tIns="0" rIns="0" bIns="0" rtlCol="0" anchor="ctr"/>
          <a:lstStyle/>
          <a:p>
            <a:pPr algn="ctr" indent="0" marL="0">
              <a:buNone/>
            </a:pPr>
            <a:r>
              <a:rPr lang="en-US" sz="1200" b="1" dirty="0">
                <a:solidFill>
                  <a:srgbClr val="FFFFFF"/>
                </a:solidFill>
              </a:rPr>
              <a:t>Loan</a:t>
            </a:r>
            <a:endParaRPr lang="en-US" sz="1200" dirty="0"/>
          </a:p>
        </p:txBody>
      </p:sp>
      <p:sp>
        <p:nvSpPr>
          <p:cNvPr id="32" name="Shape 30"/>
          <p:cNvSpPr/>
          <p:nvPr/>
        </p:nvSpPr>
        <p:spPr>
          <a:xfrm>
            <a:off x="6217920" y="2862072"/>
            <a:ext cx="2606040" cy="0"/>
          </a:xfrm>
          <a:prstGeom prst="line">
            <a:avLst/>
          </a:prstGeom>
          <a:noFill/>
          <a:ln w="12700">
            <a:solidFill>
              <a:srgbClr val="1A2744"/>
            </a:solidFill>
            <a:prstDash val="solid"/>
          </a:ln>
        </p:spPr>
      </p:sp>
      <p:sp>
        <p:nvSpPr>
          <p:cNvPr id="33" name="Text 31"/>
          <p:cNvSpPr/>
          <p:nvPr/>
        </p:nvSpPr>
        <p:spPr>
          <a:xfrm>
            <a:off x="6309360" y="1618488"/>
            <a:ext cx="2468880" cy="292608"/>
          </a:xfrm>
          <a:prstGeom prst="rect">
            <a:avLst/>
          </a:prstGeom>
          <a:noFill/>
          <a:ln/>
        </p:spPr>
        <p:txBody>
          <a:bodyPr wrap="square" lIns="0" tIns="0" rIns="0" bIns="0" rtlCol="0" anchor="ctr"/>
          <a:lstStyle/>
          <a:p>
            <a:pPr indent="0" marL="0">
              <a:buNone/>
            </a:pPr>
            <a:r>
              <a:rPr lang="en-US" sz="1000" dirty="0">
                <a:solidFill>
                  <a:srgbClr val="0D9488"/>
                </a:solidFill>
                <a:latin typeface="Consolas" pitchFamily="34" charset="0"/>
                <a:ea typeface="Consolas" pitchFamily="34" charset="-122"/>
                <a:cs typeface="Consolas" pitchFamily="34" charset="-120"/>
              </a:rPr>
              <a:t>+ loanID: String</a:t>
            </a:r>
            <a:endParaRPr lang="en-US" sz="1000" dirty="0"/>
          </a:p>
        </p:txBody>
      </p:sp>
      <p:sp>
        <p:nvSpPr>
          <p:cNvPr id="34" name="Text 32"/>
          <p:cNvSpPr/>
          <p:nvPr/>
        </p:nvSpPr>
        <p:spPr>
          <a:xfrm>
            <a:off x="6309360" y="1911096"/>
            <a:ext cx="2468880" cy="292608"/>
          </a:xfrm>
          <a:prstGeom prst="rect">
            <a:avLst/>
          </a:prstGeom>
          <a:noFill/>
          <a:ln/>
        </p:spPr>
        <p:txBody>
          <a:bodyPr wrap="square" lIns="0" tIns="0" rIns="0" bIns="0" rtlCol="0" anchor="ctr"/>
          <a:lstStyle/>
          <a:p>
            <a:pPr indent="0" marL="0">
              <a:buNone/>
            </a:pPr>
            <a:r>
              <a:rPr lang="en-US" sz="1000" dirty="0">
                <a:solidFill>
                  <a:srgbClr val="0D9488"/>
                </a:solidFill>
                <a:latin typeface="Consolas" pitchFamily="34" charset="0"/>
                <a:ea typeface="Consolas" pitchFamily="34" charset="-122"/>
                <a:cs typeface="Consolas" pitchFamily="34" charset="-120"/>
              </a:rPr>
              <a:t>+ loanDate: Date</a:t>
            </a:r>
            <a:endParaRPr lang="en-US" sz="1000" dirty="0"/>
          </a:p>
        </p:txBody>
      </p:sp>
      <p:sp>
        <p:nvSpPr>
          <p:cNvPr id="35" name="Text 33"/>
          <p:cNvSpPr/>
          <p:nvPr/>
        </p:nvSpPr>
        <p:spPr>
          <a:xfrm>
            <a:off x="6309360" y="2203704"/>
            <a:ext cx="2468880" cy="292608"/>
          </a:xfrm>
          <a:prstGeom prst="rect">
            <a:avLst/>
          </a:prstGeom>
          <a:noFill/>
          <a:ln/>
        </p:spPr>
        <p:txBody>
          <a:bodyPr wrap="square" lIns="0" tIns="0" rIns="0" bIns="0" rtlCol="0" anchor="ctr"/>
          <a:lstStyle/>
          <a:p>
            <a:pPr indent="0" marL="0">
              <a:buNone/>
            </a:pPr>
            <a:r>
              <a:rPr lang="en-US" sz="1000" dirty="0">
                <a:solidFill>
                  <a:srgbClr val="0D9488"/>
                </a:solidFill>
                <a:latin typeface="Consolas" pitchFamily="34" charset="0"/>
                <a:ea typeface="Consolas" pitchFamily="34" charset="-122"/>
                <a:cs typeface="Consolas" pitchFamily="34" charset="-120"/>
              </a:rPr>
              <a:t>+ dueDate: Date</a:t>
            </a:r>
            <a:endParaRPr lang="en-US" sz="1000" dirty="0"/>
          </a:p>
        </p:txBody>
      </p:sp>
      <p:sp>
        <p:nvSpPr>
          <p:cNvPr id="36" name="Text 34"/>
          <p:cNvSpPr/>
          <p:nvPr/>
        </p:nvSpPr>
        <p:spPr>
          <a:xfrm>
            <a:off x="6309360" y="2496312"/>
            <a:ext cx="2468880" cy="292608"/>
          </a:xfrm>
          <a:prstGeom prst="rect">
            <a:avLst/>
          </a:prstGeom>
          <a:noFill/>
          <a:ln/>
        </p:spPr>
        <p:txBody>
          <a:bodyPr wrap="square" lIns="0" tIns="0" rIns="0" bIns="0" rtlCol="0" anchor="ctr"/>
          <a:lstStyle/>
          <a:p>
            <a:pPr indent="0" marL="0">
              <a:buNone/>
            </a:pPr>
            <a:r>
              <a:rPr lang="en-US" sz="1000" dirty="0">
                <a:solidFill>
                  <a:srgbClr val="DC2626"/>
                </a:solidFill>
                <a:latin typeface="Consolas" pitchFamily="34" charset="0"/>
                <a:ea typeface="Consolas" pitchFamily="34" charset="-122"/>
                <a:cs typeface="Consolas" pitchFamily="34" charset="-120"/>
              </a:rPr>
              <a:t>– returned: Boolean</a:t>
            </a:r>
            <a:endParaRPr lang="en-US" sz="1000" dirty="0"/>
          </a:p>
        </p:txBody>
      </p:sp>
      <p:sp>
        <p:nvSpPr>
          <p:cNvPr id="37" name="Text 35"/>
          <p:cNvSpPr/>
          <p:nvPr/>
        </p:nvSpPr>
        <p:spPr>
          <a:xfrm>
            <a:off x="6309360" y="2935224"/>
            <a:ext cx="2468880" cy="292608"/>
          </a:xfrm>
          <a:prstGeom prst="rect">
            <a:avLst/>
          </a:prstGeom>
          <a:noFill/>
          <a:ln/>
        </p:spPr>
        <p:txBody>
          <a:bodyPr wrap="square" lIns="0" tIns="0" rIns="0" bIns="0" rtlCol="0" anchor="ctr"/>
          <a:lstStyle/>
          <a:p>
            <a:pPr indent="0" marL="0">
              <a:buNone/>
            </a:pPr>
            <a:r>
              <a:rPr lang="en-US" sz="1000" dirty="0">
                <a:solidFill>
                  <a:srgbClr val="1A2744"/>
                </a:solidFill>
                <a:latin typeface="Consolas" pitchFamily="34" charset="0"/>
                <a:ea typeface="Consolas" pitchFamily="34" charset="-122"/>
                <a:cs typeface="Consolas" pitchFamily="34" charset="-120"/>
              </a:rPr>
              <a:t>+ markReturned(): void</a:t>
            </a:r>
            <a:endParaRPr lang="en-US" sz="1000" dirty="0"/>
          </a:p>
        </p:txBody>
      </p:sp>
      <p:sp>
        <p:nvSpPr>
          <p:cNvPr id="38" name="Text 36"/>
          <p:cNvSpPr/>
          <p:nvPr/>
        </p:nvSpPr>
        <p:spPr>
          <a:xfrm>
            <a:off x="6309360" y="3227832"/>
            <a:ext cx="2468880" cy="292608"/>
          </a:xfrm>
          <a:prstGeom prst="rect">
            <a:avLst/>
          </a:prstGeom>
          <a:noFill/>
          <a:ln/>
        </p:spPr>
        <p:txBody>
          <a:bodyPr wrap="square" lIns="0" tIns="0" rIns="0" bIns="0" rtlCol="0" anchor="ctr"/>
          <a:lstStyle/>
          <a:p>
            <a:pPr indent="0" marL="0">
              <a:buNone/>
            </a:pPr>
            <a:r>
              <a:rPr lang="en-US" sz="1000" dirty="0">
                <a:solidFill>
                  <a:srgbClr val="1A2744"/>
                </a:solidFill>
                <a:latin typeface="Consolas" pitchFamily="34" charset="0"/>
                <a:ea typeface="Consolas" pitchFamily="34" charset="-122"/>
                <a:cs typeface="Consolas" pitchFamily="34" charset="-120"/>
              </a:rPr>
              <a:t>+ isOverdue(): Boolean</a:t>
            </a:r>
            <a:endParaRPr lang="en-US" sz="1000" dirty="0"/>
          </a:p>
        </p:txBody>
      </p:sp>
      <p:sp>
        <p:nvSpPr>
          <p:cNvPr id="39" name="Text 37"/>
          <p:cNvSpPr/>
          <p:nvPr/>
        </p:nvSpPr>
        <p:spPr>
          <a:xfrm>
            <a:off x="6309360" y="3520440"/>
            <a:ext cx="2468880" cy="292608"/>
          </a:xfrm>
          <a:prstGeom prst="rect">
            <a:avLst/>
          </a:prstGeom>
          <a:noFill/>
          <a:ln/>
        </p:spPr>
        <p:txBody>
          <a:bodyPr wrap="square" lIns="0" tIns="0" rIns="0" bIns="0" rtlCol="0" anchor="ctr"/>
          <a:lstStyle/>
          <a:p>
            <a:pPr indent="0" marL="0">
              <a:buNone/>
            </a:pPr>
            <a:r>
              <a:rPr lang="en-US" sz="1000" dirty="0">
                <a:solidFill>
                  <a:srgbClr val="1A2744"/>
                </a:solidFill>
                <a:latin typeface="Consolas" pitchFamily="34" charset="0"/>
                <a:ea typeface="Consolas" pitchFamily="34" charset="-122"/>
                <a:cs typeface="Consolas" pitchFamily="34" charset="-120"/>
              </a:rPr>
              <a:t>+ getDaysRemaining(): Int</a:t>
            </a:r>
            <a:endParaRPr lang="en-US" sz="1000" dirty="0"/>
          </a:p>
        </p:txBody>
      </p:sp>
      <p:sp>
        <p:nvSpPr>
          <p:cNvPr id="40" name="Shape 38"/>
          <p:cNvSpPr/>
          <p:nvPr/>
        </p:nvSpPr>
        <p:spPr>
          <a:xfrm>
            <a:off x="274320" y="4224528"/>
            <a:ext cx="8595360" cy="777240"/>
          </a:xfrm>
          <a:prstGeom prst="rect">
            <a:avLst/>
          </a:prstGeom>
          <a:solidFill>
            <a:srgbClr val="FEE2E2"/>
          </a:solidFill>
          <a:ln w="12700">
            <a:solidFill>
              <a:srgbClr val="DC2626"/>
            </a:solidFill>
            <a:prstDash val="solid"/>
          </a:ln>
          <a:effectLst>
            <a:outerShdw sx="100000" sy="100000" kx="0" ky="0" algn="bl" rotWithShape="0" blurRad="101600" dist="38100" dir="8100000">
              <a:srgbClr val="000000">
                <a:alpha val="12000"/>
              </a:srgbClr>
            </a:outerShdw>
          </a:effectLst>
        </p:spPr>
      </p:sp>
      <p:sp>
        <p:nvSpPr>
          <p:cNvPr id="41" name="Text 39"/>
          <p:cNvSpPr/>
          <p:nvPr/>
        </p:nvSpPr>
        <p:spPr>
          <a:xfrm>
            <a:off x="411480" y="4279392"/>
            <a:ext cx="4114800" cy="292608"/>
          </a:xfrm>
          <a:prstGeom prst="rect">
            <a:avLst/>
          </a:prstGeom>
          <a:noFill/>
          <a:ln/>
        </p:spPr>
        <p:txBody>
          <a:bodyPr wrap="square" lIns="0" tIns="0" rIns="0" bIns="0" rtlCol="0" anchor="ctr"/>
          <a:lstStyle/>
          <a:p>
            <a:pPr indent="0" marL="0">
              <a:buNone/>
            </a:pPr>
            <a:r>
              <a:rPr lang="en-US" sz="1100" b="1" dirty="0">
                <a:solidFill>
                  <a:srgbClr val="0D9488"/>
                </a:solidFill>
              </a:rPr>
              <a:t>User → Book: </a:t>
            </a:r>
            <a:pPr indent="0" marL="0">
              <a:buNone/>
            </a:pPr>
            <a:r>
              <a:rPr lang="en-US" sz="1100" dirty="0">
                <a:solidFill>
                  <a:srgbClr val="1E293B"/>
                </a:solidFill>
              </a:rPr>
              <a:t>Association (many-to-many via Loan)</a:t>
            </a:r>
            <a:endParaRPr lang="en-US" sz="1100" dirty="0"/>
          </a:p>
        </p:txBody>
      </p:sp>
      <p:sp>
        <p:nvSpPr>
          <p:cNvPr id="42" name="Text 40"/>
          <p:cNvSpPr/>
          <p:nvPr/>
        </p:nvSpPr>
        <p:spPr>
          <a:xfrm>
            <a:off x="4709160" y="4279392"/>
            <a:ext cx="4114800" cy="292608"/>
          </a:xfrm>
          <a:prstGeom prst="rect">
            <a:avLst/>
          </a:prstGeom>
          <a:noFill/>
          <a:ln/>
        </p:spPr>
        <p:txBody>
          <a:bodyPr wrap="square" lIns="0" tIns="0" rIns="0" bIns="0" rtlCol="0" anchor="ctr"/>
          <a:lstStyle/>
          <a:p>
            <a:pPr indent="0" marL="0">
              <a:buNone/>
            </a:pPr>
            <a:r>
              <a:rPr lang="en-US" sz="1100" b="1" dirty="0">
                <a:solidFill>
                  <a:srgbClr val="1A2744"/>
                </a:solidFill>
              </a:rPr>
              <a:t>Loan → User: </a:t>
            </a:r>
            <a:pPr indent="0" marL="0">
              <a:buNone/>
            </a:pPr>
            <a:r>
              <a:rPr lang="en-US" sz="1100" dirty="0">
                <a:solidFill>
                  <a:srgbClr val="1E293B"/>
                </a:solidFill>
              </a:rPr>
              <a:t>Association — Loan records who borrowed</a:t>
            </a:r>
            <a:endParaRPr lang="en-US" sz="1100" dirty="0"/>
          </a:p>
        </p:txBody>
      </p:sp>
      <p:sp>
        <p:nvSpPr>
          <p:cNvPr id="43" name="Text 41"/>
          <p:cNvSpPr/>
          <p:nvPr/>
        </p:nvSpPr>
        <p:spPr>
          <a:xfrm>
            <a:off x="411480" y="4599432"/>
            <a:ext cx="4114800" cy="292608"/>
          </a:xfrm>
          <a:prstGeom prst="rect">
            <a:avLst/>
          </a:prstGeom>
          <a:noFill/>
          <a:ln/>
        </p:spPr>
        <p:txBody>
          <a:bodyPr wrap="square" lIns="0" tIns="0" rIns="0" bIns="0" rtlCol="0" anchor="ctr"/>
          <a:lstStyle/>
          <a:p>
            <a:pPr indent="0" marL="0">
              <a:buNone/>
            </a:pPr>
            <a:r>
              <a:rPr lang="en-US" sz="1100" b="1" dirty="0">
                <a:solidFill>
                  <a:srgbClr val="DC2626"/>
                </a:solidFill>
              </a:rPr>
              <a:t>Loan → Book: </a:t>
            </a:r>
            <a:pPr indent="0" marL="0">
              <a:buNone/>
            </a:pPr>
            <a:r>
              <a:rPr lang="en-US" sz="1100" dirty="0">
                <a:solidFill>
                  <a:srgbClr val="1E293B"/>
                </a:solidFill>
              </a:rPr>
              <a:t>Association — Loan records what was borrowed</a:t>
            </a:r>
            <a:endParaRPr lang="en-US" sz="1100" dirty="0"/>
          </a:p>
        </p:txBody>
      </p:sp>
      <p:sp>
        <p:nvSpPr>
          <p:cNvPr id="44" name="Text 42"/>
          <p:cNvSpPr/>
          <p:nvPr/>
        </p:nvSpPr>
        <p:spPr>
          <a:xfrm>
            <a:off x="4709160" y="4599432"/>
            <a:ext cx="4114800" cy="292608"/>
          </a:xfrm>
          <a:prstGeom prst="rect">
            <a:avLst/>
          </a:prstGeom>
          <a:noFill/>
          <a:ln/>
        </p:spPr>
        <p:txBody>
          <a:bodyPr wrap="square" lIns="0" tIns="0" rIns="0" bIns="0" rtlCol="0" anchor="ctr"/>
          <a:lstStyle/>
          <a:p>
            <a:pPr indent="0" marL="0">
              <a:buNone/>
            </a:pPr>
            <a:r>
              <a:rPr lang="en-US" sz="1100" b="1" dirty="0">
                <a:solidFill>
                  <a:srgbClr val="F59E0B"/>
                </a:solidFill>
              </a:rPr>
              <a:t>Composition?: </a:t>
            </a:r>
            <a:pPr indent="0" marL="0">
              <a:buNone/>
            </a:pPr>
            <a:r>
              <a:rPr lang="en-US" sz="1100" dirty="0">
                <a:solidFill>
                  <a:srgbClr val="1E293B"/>
                </a:solidFill>
              </a:rPr>
              <a:t>Loan could be composition with User (Loan ceases to exist if User deleted)</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2744"/>
          </a:solidFill>
          <a:ln w="12700">
            <a:solidFill>
              <a:srgbClr val="1A2744"/>
            </a:solidFill>
            <a:prstDash val="solid"/>
          </a:ln>
        </p:spPr>
      </p:sp>
      <p:sp>
        <p:nvSpPr>
          <p:cNvPr id="3" name="Text 1"/>
          <p:cNvSpPr/>
          <p:nvPr/>
        </p:nvSpPr>
        <p:spPr>
          <a:xfrm>
            <a:off x="365760" y="0"/>
            <a:ext cx="8229600" cy="685800"/>
          </a:xfrm>
          <a:prstGeom prst="rect">
            <a:avLst/>
          </a:prstGeom>
          <a:noFill/>
          <a:ln/>
        </p:spPr>
        <p:txBody>
          <a:bodyPr wrap="square" lIns="0" tIns="0" rIns="0" bIns="0" rtlCol="0" anchor="ctr"/>
          <a:lstStyle/>
          <a:p>
            <a:pPr indent="0" marL="0">
              <a:buNone/>
            </a:pPr>
            <a:r>
              <a:rPr lang="en-US" sz="2200" b="1" dirty="0">
                <a:solidFill>
                  <a:srgbClr val="FFFFFF"/>
                </a:solidFill>
              </a:rPr>
              <a:t>📚  Homework Task</a:t>
            </a:r>
            <a:endParaRPr lang="en-US" sz="2200" dirty="0"/>
          </a:p>
        </p:txBody>
      </p:sp>
      <p:sp>
        <p:nvSpPr>
          <p:cNvPr id="4" name="Shape 2"/>
          <p:cNvSpPr/>
          <p:nvPr/>
        </p:nvSpPr>
        <p:spPr>
          <a:xfrm>
            <a:off x="274320" y="777240"/>
            <a:ext cx="8595360" cy="457200"/>
          </a:xfrm>
          <a:prstGeom prst="rect">
            <a:avLst/>
          </a:prstGeom>
          <a:solidFill>
            <a:srgbClr val="FFF7ED"/>
          </a:solidFill>
          <a:ln w="12700">
            <a:solidFill>
              <a:srgbClr val="F59E0B"/>
            </a:solidFill>
            <a:prstDash val="solid"/>
          </a:ln>
        </p:spPr>
      </p:sp>
      <p:sp>
        <p:nvSpPr>
          <p:cNvPr id="5" name="Text 3"/>
          <p:cNvSpPr/>
          <p:nvPr/>
        </p:nvSpPr>
        <p:spPr>
          <a:xfrm>
            <a:off x="411480" y="795528"/>
            <a:ext cx="8321040" cy="402336"/>
          </a:xfrm>
          <a:prstGeom prst="rect">
            <a:avLst/>
          </a:prstGeom>
          <a:noFill/>
          <a:ln/>
        </p:spPr>
        <p:txBody>
          <a:bodyPr wrap="square" rtlCol="0" anchor="ctr"/>
          <a:lstStyle/>
          <a:p>
            <a:pPr indent="0" marL="0">
              <a:buNone/>
            </a:pPr>
            <a:r>
              <a:rPr lang="en-US" sz="1100" b="1" dirty="0">
                <a:solidFill>
                  <a:srgbClr val="F59E0B"/>
                </a:solidFill>
              </a:rPr>
              <a:t>⏱ Due: Next lesson   </a:t>
            </a:r>
            <a:pPr indent="0" marL="0">
              <a:buNone/>
            </a:pPr>
            <a:r>
              <a:rPr lang="en-US" sz="1100" b="1" dirty="0">
                <a:solidFill>
                  <a:srgbClr val="0D9488"/>
                </a:solidFill>
              </a:rPr>
              <a:t>|   🎯 Marks: 20   </a:t>
            </a:r>
            <a:pPr indent="0" marL="0">
              <a:buNone/>
            </a:pPr>
            <a:r>
              <a:rPr lang="en-US" sz="1100" b="1" dirty="0">
                <a:solidFill>
                  <a:srgbClr val="1A2744"/>
                </a:solidFill>
              </a:rPr>
              <a:t>|   📐 Tool: PlantUML (www.planttext.com)   </a:t>
            </a:r>
            <a:pPr indent="0" marL="0">
              <a:buNone/>
            </a:pPr>
            <a:r>
              <a:rPr lang="en-US" sz="1100" b="1" dirty="0">
                <a:solidFill>
                  <a:srgbClr val="DC2626"/>
                </a:solidFill>
              </a:rPr>
              <a:t>|   📁 Submit: PDF export of your diagram</a:t>
            </a:r>
            <a:endParaRPr lang="en-US" sz="1100" dirty="0"/>
          </a:p>
        </p:txBody>
      </p:sp>
      <p:sp>
        <p:nvSpPr>
          <p:cNvPr id="6" name="Shape 4"/>
          <p:cNvSpPr/>
          <p:nvPr/>
        </p:nvSpPr>
        <p:spPr>
          <a:xfrm>
            <a:off x="274320" y="1325880"/>
            <a:ext cx="8595360" cy="822960"/>
          </a:xfrm>
          <a:prstGeom prst="rect">
            <a:avLst/>
          </a:prstGeom>
          <a:solidFill>
            <a:srgbClr val="E0F2FE"/>
          </a:solidFill>
          <a:ln w="12700">
            <a:solidFill>
              <a:srgbClr val="0284C7"/>
            </a:solidFill>
            <a:prstDash val="solid"/>
          </a:ln>
        </p:spPr>
      </p:sp>
      <p:sp>
        <p:nvSpPr>
          <p:cNvPr id="7" name="Text 5"/>
          <p:cNvSpPr/>
          <p:nvPr/>
        </p:nvSpPr>
        <p:spPr>
          <a:xfrm>
            <a:off x="411480" y="1353312"/>
            <a:ext cx="8321040" cy="768096"/>
          </a:xfrm>
          <a:prstGeom prst="rect">
            <a:avLst/>
          </a:prstGeom>
          <a:noFill/>
          <a:ln/>
        </p:spPr>
        <p:txBody>
          <a:bodyPr wrap="square" rtlCol="0" anchor="ctr"/>
          <a:lstStyle/>
          <a:p>
            <a:pPr indent="0" marL="0">
              <a:buNone/>
            </a:pPr>
            <a:r>
              <a:rPr lang="en-US" sz="1200" b="1" dirty="0">
                <a:solidFill>
                  <a:srgbClr val="0284C7"/>
                </a:solidFill>
              </a:rPr>
              <a:t>Scenario — Music Streaming App:  </a:t>
            </a:r>
            <a:pPr indent="0" marL="0">
              <a:buNone/>
            </a:pPr>
            <a:r>
              <a:rPr lang="en-US" sz="1200" dirty="0">
                <a:solidFill>
                  <a:srgbClr val="1E293B"/>
                </a:solidFill>
              </a:rPr>
              <a:t>A music streaming service needs to manage Users, Songs, Artists, and Playlists. Users can create playlists and add songs to them. Each song is linked to one artist. Users can follow artists and receive notifications when new songs are released.</a:t>
            </a:r>
            <a:endParaRPr lang="en-US" sz="1200" dirty="0"/>
          </a:p>
        </p:txBody>
      </p:sp>
      <p:sp>
        <p:nvSpPr>
          <p:cNvPr id="8" name="Shape 6"/>
          <p:cNvSpPr/>
          <p:nvPr/>
        </p:nvSpPr>
        <p:spPr>
          <a:xfrm>
            <a:off x="274320" y="2240280"/>
            <a:ext cx="4206240" cy="1261872"/>
          </a:xfrm>
          <a:prstGeom prst="rect">
            <a:avLst/>
          </a:prstGeom>
          <a:solidFill>
            <a:srgbClr val="F0FDF9"/>
          </a:solidFill>
          <a:ln w="19050">
            <a:solidFill>
              <a:srgbClr val="0D9488"/>
            </a:solidFill>
            <a:prstDash val="solid"/>
          </a:ln>
          <a:effectLst>
            <a:outerShdw sx="100000" sy="100000" kx="0" ky="0" algn="bl" rotWithShape="0" blurRad="101600" dist="38100" dir="8100000">
              <a:srgbClr val="000000">
                <a:alpha val="12000"/>
              </a:srgbClr>
            </a:outerShdw>
          </a:effectLst>
        </p:spPr>
      </p:sp>
      <p:sp>
        <p:nvSpPr>
          <p:cNvPr id="9" name="Shape 7"/>
          <p:cNvSpPr/>
          <p:nvPr/>
        </p:nvSpPr>
        <p:spPr>
          <a:xfrm>
            <a:off x="274320" y="2240280"/>
            <a:ext cx="502920" cy="1261872"/>
          </a:xfrm>
          <a:prstGeom prst="rect">
            <a:avLst/>
          </a:prstGeom>
          <a:solidFill>
            <a:srgbClr val="0D9488"/>
          </a:solidFill>
          <a:ln w="12700">
            <a:solidFill>
              <a:srgbClr val="0D9488"/>
            </a:solidFill>
            <a:prstDash val="solid"/>
          </a:ln>
        </p:spPr>
      </p:sp>
      <p:sp>
        <p:nvSpPr>
          <p:cNvPr id="10" name="Text 8"/>
          <p:cNvSpPr/>
          <p:nvPr/>
        </p:nvSpPr>
        <p:spPr>
          <a:xfrm>
            <a:off x="274320" y="2240280"/>
            <a:ext cx="502920" cy="685800"/>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11" name="Text 9"/>
          <p:cNvSpPr/>
          <p:nvPr/>
        </p:nvSpPr>
        <p:spPr>
          <a:xfrm>
            <a:off x="274320" y="2953512"/>
            <a:ext cx="502920" cy="502920"/>
          </a:xfrm>
          <a:prstGeom prst="rect">
            <a:avLst/>
          </a:prstGeom>
          <a:noFill/>
          <a:ln/>
        </p:spPr>
        <p:txBody>
          <a:bodyPr wrap="square" lIns="0" tIns="0" rIns="0" bIns="0" rtlCol="0" anchor="t"/>
          <a:lstStyle/>
          <a:p>
            <a:pPr algn="ctr" indent="0" marL="0">
              <a:buNone/>
            </a:pPr>
            <a:r>
              <a:rPr lang="en-US" sz="1100" dirty="0">
                <a:solidFill>
                  <a:srgbClr val="FFFFFF"/>
                </a:solidFill>
              </a:rPr>
              <a:t>[4]</a:t>
            </a:r>
            <a:endParaRPr lang="en-US" sz="1100" dirty="0"/>
          </a:p>
        </p:txBody>
      </p:sp>
      <p:sp>
        <p:nvSpPr>
          <p:cNvPr id="12" name="Text 10"/>
          <p:cNvSpPr/>
          <p:nvPr/>
        </p:nvSpPr>
        <p:spPr>
          <a:xfrm>
            <a:off x="868680" y="2313432"/>
            <a:ext cx="3520440" cy="320040"/>
          </a:xfrm>
          <a:prstGeom prst="rect">
            <a:avLst/>
          </a:prstGeom>
          <a:noFill/>
          <a:ln/>
        </p:spPr>
        <p:txBody>
          <a:bodyPr wrap="square" lIns="0" tIns="0" rIns="0" bIns="0" rtlCol="0" anchor="ctr"/>
          <a:lstStyle/>
          <a:p>
            <a:pPr indent="0" marL="0">
              <a:buNone/>
            </a:pPr>
            <a:r>
              <a:rPr lang="en-US" sz="1200" b="1" dirty="0">
                <a:solidFill>
                  <a:srgbClr val="0D9488"/>
                </a:solidFill>
              </a:rPr>
              <a:t>Identify Classes [4 marks]</a:t>
            </a:r>
            <a:endParaRPr lang="en-US" sz="1200" dirty="0"/>
          </a:p>
        </p:txBody>
      </p:sp>
      <p:sp>
        <p:nvSpPr>
          <p:cNvPr id="13" name="Text 11"/>
          <p:cNvSpPr/>
          <p:nvPr/>
        </p:nvSpPr>
        <p:spPr>
          <a:xfrm>
            <a:off x="868680" y="2642616"/>
            <a:ext cx="3520440" cy="822960"/>
          </a:xfrm>
          <a:prstGeom prst="rect">
            <a:avLst/>
          </a:prstGeom>
          <a:noFill/>
          <a:ln/>
        </p:spPr>
        <p:txBody>
          <a:bodyPr wrap="square" lIns="0" tIns="0" rIns="0" bIns="0" rtlCol="0" anchor="ctr"/>
          <a:lstStyle/>
          <a:p>
            <a:pPr indent="0" marL="0">
              <a:buNone/>
            </a:pPr>
            <a:r>
              <a:rPr lang="en-US" sz="1050" dirty="0">
                <a:solidFill>
                  <a:srgbClr val="1E293B"/>
                </a:solidFill>
              </a:rPr>
              <a:t>List all classes you can identify from the scenario. For each one, write one sentence explaining its role in the system.</a:t>
            </a:r>
            <a:endParaRPr lang="en-US" sz="1050" dirty="0"/>
          </a:p>
        </p:txBody>
      </p:sp>
      <p:sp>
        <p:nvSpPr>
          <p:cNvPr id="14" name="Shape 12"/>
          <p:cNvSpPr/>
          <p:nvPr/>
        </p:nvSpPr>
        <p:spPr>
          <a:xfrm>
            <a:off x="4709160" y="2240280"/>
            <a:ext cx="4206240" cy="1261872"/>
          </a:xfrm>
          <a:prstGeom prst="rect">
            <a:avLst/>
          </a:prstGeom>
          <a:solidFill>
            <a:srgbClr val="EFF6FF"/>
          </a:solidFill>
          <a:ln w="19050">
            <a:solidFill>
              <a:srgbClr val="1A2744"/>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4709160" y="2240280"/>
            <a:ext cx="502920" cy="1261872"/>
          </a:xfrm>
          <a:prstGeom prst="rect">
            <a:avLst/>
          </a:prstGeom>
          <a:solidFill>
            <a:srgbClr val="1A2744"/>
          </a:solidFill>
          <a:ln w="12700">
            <a:solidFill>
              <a:srgbClr val="1A2744"/>
            </a:solidFill>
            <a:prstDash val="solid"/>
          </a:ln>
        </p:spPr>
      </p:sp>
      <p:sp>
        <p:nvSpPr>
          <p:cNvPr id="16" name="Text 14"/>
          <p:cNvSpPr/>
          <p:nvPr/>
        </p:nvSpPr>
        <p:spPr>
          <a:xfrm>
            <a:off x="4709160" y="2240280"/>
            <a:ext cx="502920" cy="685800"/>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17" name="Text 15"/>
          <p:cNvSpPr/>
          <p:nvPr/>
        </p:nvSpPr>
        <p:spPr>
          <a:xfrm>
            <a:off x="4709160" y="2953512"/>
            <a:ext cx="502920" cy="502920"/>
          </a:xfrm>
          <a:prstGeom prst="rect">
            <a:avLst/>
          </a:prstGeom>
          <a:noFill/>
          <a:ln/>
        </p:spPr>
        <p:txBody>
          <a:bodyPr wrap="square" lIns="0" tIns="0" rIns="0" bIns="0" rtlCol="0" anchor="t"/>
          <a:lstStyle/>
          <a:p>
            <a:pPr algn="ctr" indent="0" marL="0">
              <a:buNone/>
            </a:pPr>
            <a:r>
              <a:rPr lang="en-US" sz="1100" dirty="0">
                <a:solidFill>
                  <a:srgbClr val="FFFFFF"/>
                </a:solidFill>
              </a:rPr>
              <a:t>[6]</a:t>
            </a:r>
            <a:endParaRPr lang="en-US" sz="1100" dirty="0"/>
          </a:p>
        </p:txBody>
      </p:sp>
      <p:sp>
        <p:nvSpPr>
          <p:cNvPr id="18" name="Text 16"/>
          <p:cNvSpPr/>
          <p:nvPr/>
        </p:nvSpPr>
        <p:spPr>
          <a:xfrm>
            <a:off x="5303520" y="2313432"/>
            <a:ext cx="3520440" cy="320040"/>
          </a:xfrm>
          <a:prstGeom prst="rect">
            <a:avLst/>
          </a:prstGeom>
          <a:noFill/>
          <a:ln/>
        </p:spPr>
        <p:txBody>
          <a:bodyPr wrap="square" lIns="0" tIns="0" rIns="0" bIns="0" rtlCol="0" anchor="ctr"/>
          <a:lstStyle/>
          <a:p>
            <a:pPr indent="0" marL="0">
              <a:buNone/>
            </a:pPr>
            <a:r>
              <a:rPr lang="en-US" sz="1200" b="1" dirty="0">
                <a:solidFill>
                  <a:srgbClr val="1A2744"/>
                </a:solidFill>
              </a:rPr>
              <a:t>Design Two Classes [6 marks]</a:t>
            </a:r>
            <a:endParaRPr lang="en-US" sz="1200" dirty="0"/>
          </a:p>
        </p:txBody>
      </p:sp>
      <p:sp>
        <p:nvSpPr>
          <p:cNvPr id="19" name="Text 17"/>
          <p:cNvSpPr/>
          <p:nvPr/>
        </p:nvSpPr>
        <p:spPr>
          <a:xfrm>
            <a:off x="5303520" y="2642616"/>
            <a:ext cx="3520440" cy="822960"/>
          </a:xfrm>
          <a:prstGeom prst="rect">
            <a:avLst/>
          </a:prstGeom>
          <a:noFill/>
          <a:ln/>
        </p:spPr>
        <p:txBody>
          <a:bodyPr wrap="square" lIns="0" tIns="0" rIns="0" bIns="0" rtlCol="0" anchor="ctr"/>
          <a:lstStyle/>
          <a:p>
            <a:pPr indent="0" marL="0">
              <a:buNone/>
            </a:pPr>
            <a:r>
              <a:rPr lang="en-US" sz="1050" dirty="0">
                <a:solidFill>
                  <a:srgbClr val="1E293B"/>
                </a:solidFill>
              </a:rPr>
              <a:t>Choose any TWO classes. For each, write the full UML class diagram notation showing: class name, at least 3 attributes (with correct visibility), at least 3 methods (with return types).</a:t>
            </a:r>
            <a:endParaRPr lang="en-US" sz="1050" dirty="0"/>
          </a:p>
        </p:txBody>
      </p:sp>
      <p:sp>
        <p:nvSpPr>
          <p:cNvPr id="20" name="Shape 18"/>
          <p:cNvSpPr/>
          <p:nvPr/>
        </p:nvSpPr>
        <p:spPr>
          <a:xfrm>
            <a:off x="274320" y="3611880"/>
            <a:ext cx="4206240" cy="1261872"/>
          </a:xfrm>
          <a:prstGeom prst="rect">
            <a:avLst/>
          </a:prstGeom>
          <a:solidFill>
            <a:srgbClr val="FEE2E2"/>
          </a:solidFill>
          <a:ln w="19050">
            <a:solidFill>
              <a:srgbClr val="DC2626"/>
            </a:solidFill>
            <a:prstDash val="solid"/>
          </a:ln>
          <a:effectLst>
            <a:outerShdw sx="100000" sy="100000" kx="0" ky="0" algn="bl" rotWithShape="0" blurRad="101600" dist="38100" dir="8100000">
              <a:srgbClr val="000000">
                <a:alpha val="12000"/>
              </a:srgbClr>
            </a:outerShdw>
          </a:effectLst>
        </p:spPr>
      </p:sp>
      <p:sp>
        <p:nvSpPr>
          <p:cNvPr id="21" name="Shape 19"/>
          <p:cNvSpPr/>
          <p:nvPr/>
        </p:nvSpPr>
        <p:spPr>
          <a:xfrm>
            <a:off x="274320" y="3611880"/>
            <a:ext cx="502920" cy="1261872"/>
          </a:xfrm>
          <a:prstGeom prst="rect">
            <a:avLst/>
          </a:prstGeom>
          <a:solidFill>
            <a:srgbClr val="DC2626"/>
          </a:solidFill>
          <a:ln w="12700">
            <a:solidFill>
              <a:srgbClr val="DC2626"/>
            </a:solidFill>
            <a:prstDash val="solid"/>
          </a:ln>
        </p:spPr>
      </p:sp>
      <p:sp>
        <p:nvSpPr>
          <p:cNvPr id="22" name="Text 20"/>
          <p:cNvSpPr/>
          <p:nvPr/>
        </p:nvSpPr>
        <p:spPr>
          <a:xfrm>
            <a:off x="274320" y="3611880"/>
            <a:ext cx="502920" cy="685800"/>
          </a:xfrm>
          <a:prstGeom prst="rect">
            <a:avLst/>
          </a:prstGeom>
          <a:noFill/>
          <a:ln/>
        </p:spPr>
        <p:txBody>
          <a:bodyPr wrap="square" lIns="0" tIns="0" rIns="0" bIns="0" rtlCol="0" anchor="ctr"/>
          <a:lstStyle/>
          <a:p>
            <a:pPr algn="ctr" indent="0" marL="0">
              <a:buNone/>
            </a:pPr>
            <a:r>
              <a:rPr lang="en-US" sz="2000" b="1" dirty="0">
                <a:solidFill>
                  <a:srgbClr val="FFFFFF"/>
                </a:solidFill>
              </a:rPr>
              <a:t>3</a:t>
            </a:r>
            <a:endParaRPr lang="en-US" sz="2000" dirty="0"/>
          </a:p>
        </p:txBody>
      </p:sp>
      <p:sp>
        <p:nvSpPr>
          <p:cNvPr id="23" name="Text 21"/>
          <p:cNvSpPr/>
          <p:nvPr/>
        </p:nvSpPr>
        <p:spPr>
          <a:xfrm>
            <a:off x="274320" y="4325112"/>
            <a:ext cx="502920" cy="502920"/>
          </a:xfrm>
          <a:prstGeom prst="rect">
            <a:avLst/>
          </a:prstGeom>
          <a:noFill/>
          <a:ln/>
        </p:spPr>
        <p:txBody>
          <a:bodyPr wrap="square" lIns="0" tIns="0" rIns="0" bIns="0" rtlCol="0" anchor="t"/>
          <a:lstStyle/>
          <a:p>
            <a:pPr algn="ctr" indent="0" marL="0">
              <a:buNone/>
            </a:pPr>
            <a:r>
              <a:rPr lang="en-US" sz="1100" dirty="0">
                <a:solidFill>
                  <a:srgbClr val="FFFFFF"/>
                </a:solidFill>
              </a:rPr>
              <a:t>[6]</a:t>
            </a:r>
            <a:endParaRPr lang="en-US" sz="1100" dirty="0"/>
          </a:p>
        </p:txBody>
      </p:sp>
      <p:sp>
        <p:nvSpPr>
          <p:cNvPr id="24" name="Text 22"/>
          <p:cNvSpPr/>
          <p:nvPr/>
        </p:nvSpPr>
        <p:spPr>
          <a:xfrm>
            <a:off x="868680" y="3685032"/>
            <a:ext cx="3520440" cy="320040"/>
          </a:xfrm>
          <a:prstGeom prst="rect">
            <a:avLst/>
          </a:prstGeom>
          <a:noFill/>
          <a:ln/>
        </p:spPr>
        <p:txBody>
          <a:bodyPr wrap="square" lIns="0" tIns="0" rIns="0" bIns="0" rtlCol="0" anchor="ctr"/>
          <a:lstStyle/>
          <a:p>
            <a:pPr indent="0" marL="0">
              <a:buNone/>
            </a:pPr>
            <a:r>
              <a:rPr lang="en-US" sz="1200" b="1" dirty="0">
                <a:solidFill>
                  <a:srgbClr val="DC2626"/>
                </a:solidFill>
              </a:rPr>
              <a:t>Full UML Diagram [6 marks]</a:t>
            </a:r>
            <a:endParaRPr lang="en-US" sz="1200" dirty="0"/>
          </a:p>
        </p:txBody>
      </p:sp>
      <p:sp>
        <p:nvSpPr>
          <p:cNvPr id="25" name="Text 23"/>
          <p:cNvSpPr/>
          <p:nvPr/>
        </p:nvSpPr>
        <p:spPr>
          <a:xfrm>
            <a:off x="868680" y="4014216"/>
            <a:ext cx="3520440" cy="822960"/>
          </a:xfrm>
          <a:prstGeom prst="rect">
            <a:avLst/>
          </a:prstGeom>
          <a:noFill/>
          <a:ln/>
        </p:spPr>
        <p:txBody>
          <a:bodyPr wrap="square" lIns="0" tIns="0" rIns="0" bIns="0" rtlCol="0" anchor="ctr"/>
          <a:lstStyle/>
          <a:p>
            <a:pPr indent="0" marL="0">
              <a:buNone/>
            </a:pPr>
            <a:r>
              <a:rPr lang="en-US" sz="1050" dirty="0">
                <a:solidFill>
                  <a:srgbClr val="1E293B"/>
                </a:solidFill>
              </a:rPr>
              <a:t>Draw the complete UML class diagram for ALL classes in PlantUML. Include relationship lines between all classes using correct notation (association, aggregation, composition, inheritance).</a:t>
            </a:r>
            <a:endParaRPr lang="en-US" sz="1050" dirty="0"/>
          </a:p>
        </p:txBody>
      </p:sp>
      <p:sp>
        <p:nvSpPr>
          <p:cNvPr id="26" name="Shape 24"/>
          <p:cNvSpPr/>
          <p:nvPr/>
        </p:nvSpPr>
        <p:spPr>
          <a:xfrm>
            <a:off x="4709160" y="3611880"/>
            <a:ext cx="4206240" cy="1261872"/>
          </a:xfrm>
          <a:prstGeom prst="rect">
            <a:avLst/>
          </a:prstGeom>
          <a:solidFill>
            <a:srgbClr val="FFFBEB"/>
          </a:solidFill>
          <a:ln w="19050">
            <a:solidFill>
              <a:srgbClr val="F59E0B"/>
            </a:solidFill>
            <a:prstDash val="solid"/>
          </a:ln>
          <a:effectLst>
            <a:outerShdw sx="100000" sy="100000" kx="0" ky="0" algn="bl" rotWithShape="0" blurRad="101600" dist="38100" dir="8100000">
              <a:srgbClr val="000000">
                <a:alpha val="12000"/>
              </a:srgbClr>
            </a:outerShdw>
          </a:effectLst>
        </p:spPr>
      </p:sp>
      <p:sp>
        <p:nvSpPr>
          <p:cNvPr id="27" name="Shape 25"/>
          <p:cNvSpPr/>
          <p:nvPr/>
        </p:nvSpPr>
        <p:spPr>
          <a:xfrm>
            <a:off x="4709160" y="3611880"/>
            <a:ext cx="502920" cy="1261872"/>
          </a:xfrm>
          <a:prstGeom prst="rect">
            <a:avLst/>
          </a:prstGeom>
          <a:solidFill>
            <a:srgbClr val="F59E0B"/>
          </a:solidFill>
          <a:ln w="12700">
            <a:solidFill>
              <a:srgbClr val="F59E0B"/>
            </a:solidFill>
            <a:prstDash val="solid"/>
          </a:ln>
        </p:spPr>
      </p:sp>
      <p:sp>
        <p:nvSpPr>
          <p:cNvPr id="28" name="Text 26"/>
          <p:cNvSpPr/>
          <p:nvPr/>
        </p:nvSpPr>
        <p:spPr>
          <a:xfrm>
            <a:off x="4709160" y="3611880"/>
            <a:ext cx="502920" cy="685800"/>
          </a:xfrm>
          <a:prstGeom prst="rect">
            <a:avLst/>
          </a:prstGeom>
          <a:noFill/>
          <a:ln/>
        </p:spPr>
        <p:txBody>
          <a:bodyPr wrap="square" lIns="0" tIns="0" rIns="0" bIns="0" rtlCol="0" anchor="ctr"/>
          <a:lstStyle/>
          <a:p>
            <a:pPr algn="ctr" indent="0" marL="0">
              <a:buNone/>
            </a:pPr>
            <a:r>
              <a:rPr lang="en-US" sz="2000" b="1" dirty="0">
                <a:solidFill>
                  <a:srgbClr val="FFFFFF"/>
                </a:solidFill>
              </a:rPr>
              <a:t>4</a:t>
            </a:r>
            <a:endParaRPr lang="en-US" sz="2000" dirty="0"/>
          </a:p>
        </p:txBody>
      </p:sp>
      <p:sp>
        <p:nvSpPr>
          <p:cNvPr id="29" name="Text 27"/>
          <p:cNvSpPr/>
          <p:nvPr/>
        </p:nvSpPr>
        <p:spPr>
          <a:xfrm>
            <a:off x="4709160" y="4325112"/>
            <a:ext cx="502920" cy="502920"/>
          </a:xfrm>
          <a:prstGeom prst="rect">
            <a:avLst/>
          </a:prstGeom>
          <a:noFill/>
          <a:ln/>
        </p:spPr>
        <p:txBody>
          <a:bodyPr wrap="square" lIns="0" tIns="0" rIns="0" bIns="0" rtlCol="0" anchor="t"/>
          <a:lstStyle/>
          <a:p>
            <a:pPr algn="ctr" indent="0" marL="0">
              <a:buNone/>
            </a:pPr>
            <a:r>
              <a:rPr lang="en-US" sz="1100" dirty="0">
                <a:solidFill>
                  <a:srgbClr val="FFFFFF"/>
                </a:solidFill>
              </a:rPr>
              <a:t>[4]</a:t>
            </a:r>
            <a:endParaRPr lang="en-US" sz="1100" dirty="0"/>
          </a:p>
        </p:txBody>
      </p:sp>
      <p:sp>
        <p:nvSpPr>
          <p:cNvPr id="30" name="Text 28"/>
          <p:cNvSpPr/>
          <p:nvPr/>
        </p:nvSpPr>
        <p:spPr>
          <a:xfrm>
            <a:off x="5303520" y="3685032"/>
            <a:ext cx="3520440" cy="320040"/>
          </a:xfrm>
          <a:prstGeom prst="rect">
            <a:avLst/>
          </a:prstGeom>
          <a:noFill/>
          <a:ln/>
        </p:spPr>
        <p:txBody>
          <a:bodyPr wrap="square" lIns="0" tIns="0" rIns="0" bIns="0" rtlCol="0" anchor="ctr"/>
          <a:lstStyle/>
          <a:p>
            <a:pPr indent="0" marL="0">
              <a:buNone/>
            </a:pPr>
            <a:r>
              <a:rPr lang="en-US" sz="1200" b="1" dirty="0">
                <a:solidFill>
                  <a:srgbClr val="F59E0B"/>
                </a:solidFill>
              </a:rPr>
              <a:t>Justify Your Design [4 marks]</a:t>
            </a:r>
            <a:endParaRPr lang="en-US" sz="1200" dirty="0"/>
          </a:p>
        </p:txBody>
      </p:sp>
      <p:sp>
        <p:nvSpPr>
          <p:cNvPr id="31" name="Text 29"/>
          <p:cNvSpPr/>
          <p:nvPr/>
        </p:nvSpPr>
        <p:spPr>
          <a:xfrm>
            <a:off x="5303520" y="4014216"/>
            <a:ext cx="3520440" cy="822960"/>
          </a:xfrm>
          <a:prstGeom prst="rect">
            <a:avLst/>
          </a:prstGeom>
          <a:noFill/>
          <a:ln/>
        </p:spPr>
        <p:txBody>
          <a:bodyPr wrap="square" lIns="0" tIns="0" rIns="0" bIns="0" rtlCol="0" anchor="ctr"/>
          <a:lstStyle/>
          <a:p>
            <a:pPr indent="0" marL="0">
              <a:buNone/>
            </a:pPr>
            <a:r>
              <a:rPr lang="en-US" sz="1050" dirty="0">
                <a:solidFill>
                  <a:srgbClr val="1E293B"/>
                </a:solidFill>
              </a:rPr>
              <a:t>Write 3–4 sentences explaining: one visibility decision you made, one relationship type you chose, and why you chose composition OR aggregation for one relationship.</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6A34A"/>
          </a:solidFill>
          <a:ln w="12700">
            <a:solidFill>
              <a:srgbClr val="16A34A"/>
            </a:solidFill>
            <a:prstDash val="solid"/>
          </a:ln>
        </p:spPr>
      </p:sp>
      <p:sp>
        <p:nvSpPr>
          <p:cNvPr id="3" name="Text 1"/>
          <p:cNvSpPr/>
          <p:nvPr/>
        </p:nvSpPr>
        <p:spPr>
          <a:xfrm>
            <a:off x="365760" y="0"/>
            <a:ext cx="8412480" cy="685800"/>
          </a:xfrm>
          <a:prstGeom prst="rect">
            <a:avLst/>
          </a:prstGeom>
          <a:noFill/>
          <a:ln/>
        </p:spPr>
        <p:txBody>
          <a:bodyPr wrap="square" lIns="0" tIns="0" rIns="0" bIns="0" rtlCol="0" anchor="ctr"/>
          <a:lstStyle/>
          <a:p>
            <a:pPr indent="0" marL="0">
              <a:buNone/>
            </a:pPr>
            <a:r>
              <a:rPr lang="en-US" sz="2200" b="1" dirty="0">
                <a:solidFill>
                  <a:srgbClr val="FFFFFF"/>
                </a:solidFill>
              </a:rPr>
              <a:t>✅  Homework Model Answer — Music Streaming</a:t>
            </a:r>
            <a:endParaRPr lang="en-US" sz="2200" dirty="0"/>
          </a:p>
        </p:txBody>
      </p:sp>
      <p:sp>
        <p:nvSpPr>
          <p:cNvPr id="4" name="Text 2"/>
          <p:cNvSpPr/>
          <p:nvPr/>
        </p:nvSpPr>
        <p:spPr>
          <a:xfrm>
            <a:off x="365760" y="758952"/>
            <a:ext cx="8229600" cy="292608"/>
          </a:xfrm>
          <a:prstGeom prst="rect">
            <a:avLst/>
          </a:prstGeom>
          <a:noFill/>
          <a:ln/>
        </p:spPr>
        <p:txBody>
          <a:bodyPr wrap="square" lIns="0" tIns="0" rIns="0" bIns="0" rtlCol="0" anchor="ctr"/>
          <a:lstStyle/>
          <a:p>
            <a:pPr indent="0" marL="0">
              <a:buNone/>
            </a:pPr>
            <a:r>
              <a:rPr lang="en-US" sz="1200" i="1" dirty="0">
                <a:solidFill>
                  <a:srgbClr val="94A3B8"/>
                </a:solidFill>
              </a:rPr>
              <a:t>(Teacher use — reveal after marking)</a:t>
            </a:r>
            <a:endParaRPr lang="en-US" sz="1200" dirty="0"/>
          </a:p>
        </p:txBody>
      </p:sp>
      <p:sp>
        <p:nvSpPr>
          <p:cNvPr id="5" name="Shape 3"/>
          <p:cNvSpPr/>
          <p:nvPr/>
        </p:nvSpPr>
        <p:spPr>
          <a:xfrm>
            <a:off x="228600" y="1115568"/>
            <a:ext cx="2057400" cy="2450592"/>
          </a:xfrm>
          <a:prstGeom prst="rect">
            <a:avLst/>
          </a:prstGeom>
          <a:solidFill>
            <a:srgbClr val="FFFFFF"/>
          </a:solidFill>
          <a:ln w="19050">
            <a:solidFill>
              <a:srgbClr val="1A2744"/>
            </a:solidFill>
            <a:prstDash val="solid"/>
          </a:ln>
        </p:spPr>
      </p:sp>
      <p:sp>
        <p:nvSpPr>
          <p:cNvPr id="6" name="Shape 4"/>
          <p:cNvSpPr/>
          <p:nvPr/>
        </p:nvSpPr>
        <p:spPr>
          <a:xfrm>
            <a:off x="228600" y="1115568"/>
            <a:ext cx="2057400" cy="402336"/>
          </a:xfrm>
          <a:prstGeom prst="rect">
            <a:avLst/>
          </a:prstGeom>
          <a:solidFill>
            <a:srgbClr val="0D9488"/>
          </a:solidFill>
          <a:ln w="12700">
            <a:solidFill>
              <a:srgbClr val="0D9488"/>
            </a:solidFill>
            <a:prstDash val="solid"/>
          </a:ln>
        </p:spPr>
      </p:sp>
      <p:sp>
        <p:nvSpPr>
          <p:cNvPr id="7" name="Text 5"/>
          <p:cNvSpPr/>
          <p:nvPr/>
        </p:nvSpPr>
        <p:spPr>
          <a:xfrm>
            <a:off x="228600" y="1115568"/>
            <a:ext cx="2057400" cy="402336"/>
          </a:xfrm>
          <a:prstGeom prst="rect">
            <a:avLst/>
          </a:prstGeom>
          <a:noFill/>
          <a:ln/>
        </p:spPr>
        <p:txBody>
          <a:bodyPr wrap="square" lIns="0" tIns="0" rIns="0" bIns="0" rtlCol="0" anchor="ctr"/>
          <a:lstStyle/>
          <a:p>
            <a:pPr algn="ctr" indent="0" marL="0">
              <a:buNone/>
            </a:pPr>
            <a:r>
              <a:rPr lang="en-US" sz="1150" b="1" dirty="0">
                <a:solidFill>
                  <a:srgbClr val="FFFFFF"/>
                </a:solidFill>
              </a:rPr>
              <a:t>User</a:t>
            </a:r>
            <a:endParaRPr lang="en-US" sz="1150" dirty="0"/>
          </a:p>
        </p:txBody>
      </p:sp>
      <p:sp>
        <p:nvSpPr>
          <p:cNvPr id="8" name="Shape 6"/>
          <p:cNvSpPr/>
          <p:nvPr/>
        </p:nvSpPr>
        <p:spPr>
          <a:xfrm>
            <a:off x="228600" y="2542032"/>
            <a:ext cx="2057400" cy="0"/>
          </a:xfrm>
          <a:prstGeom prst="line">
            <a:avLst/>
          </a:prstGeom>
          <a:noFill/>
          <a:ln w="12700">
            <a:solidFill>
              <a:srgbClr val="1A2744"/>
            </a:solidFill>
            <a:prstDash val="solid"/>
          </a:ln>
        </p:spPr>
      </p:sp>
      <p:sp>
        <p:nvSpPr>
          <p:cNvPr id="9" name="Text 7"/>
          <p:cNvSpPr/>
          <p:nvPr/>
        </p:nvSpPr>
        <p:spPr>
          <a:xfrm>
            <a:off x="320040" y="1591056"/>
            <a:ext cx="1920240" cy="292608"/>
          </a:xfrm>
          <a:prstGeom prst="rect">
            <a:avLst/>
          </a:prstGeom>
          <a:noFill/>
          <a:ln/>
        </p:spPr>
        <p:txBody>
          <a:bodyPr wrap="square" lIns="0" tIns="0" rIns="0" bIns="0" rtlCol="0" anchor="ctr"/>
          <a:lstStyle/>
          <a:p>
            <a:pPr indent="0" marL="0">
              <a:buNone/>
            </a:pPr>
            <a:r>
              <a:rPr lang="en-US" sz="950" dirty="0">
                <a:solidFill>
                  <a:srgbClr val="0D9488"/>
                </a:solidFill>
                <a:latin typeface="Consolas" pitchFamily="34" charset="0"/>
                <a:ea typeface="Consolas" pitchFamily="34" charset="-122"/>
                <a:cs typeface="Consolas" pitchFamily="34" charset="-120"/>
              </a:rPr>
              <a:t>+ userID: String</a:t>
            </a:r>
            <a:endParaRPr lang="en-US" sz="950" dirty="0"/>
          </a:p>
        </p:txBody>
      </p:sp>
      <p:sp>
        <p:nvSpPr>
          <p:cNvPr id="10" name="Text 8"/>
          <p:cNvSpPr/>
          <p:nvPr/>
        </p:nvSpPr>
        <p:spPr>
          <a:xfrm>
            <a:off x="320040" y="1883664"/>
            <a:ext cx="1920240" cy="292608"/>
          </a:xfrm>
          <a:prstGeom prst="rect">
            <a:avLst/>
          </a:prstGeom>
          <a:noFill/>
          <a:ln/>
        </p:spPr>
        <p:txBody>
          <a:bodyPr wrap="square" lIns="0" tIns="0" rIns="0" bIns="0" rtlCol="0" anchor="ctr"/>
          <a:lstStyle/>
          <a:p>
            <a:pPr indent="0" marL="0">
              <a:buNone/>
            </a:pPr>
            <a:r>
              <a:rPr lang="en-US" sz="950" dirty="0">
                <a:solidFill>
                  <a:srgbClr val="0D9488"/>
                </a:solidFill>
                <a:latin typeface="Consolas" pitchFamily="34" charset="0"/>
                <a:ea typeface="Consolas" pitchFamily="34" charset="-122"/>
                <a:cs typeface="Consolas" pitchFamily="34" charset="-120"/>
              </a:rPr>
              <a:t>+ username: String</a:t>
            </a:r>
            <a:endParaRPr lang="en-US" sz="950" dirty="0"/>
          </a:p>
        </p:txBody>
      </p:sp>
      <p:sp>
        <p:nvSpPr>
          <p:cNvPr id="11" name="Text 9"/>
          <p:cNvSpPr/>
          <p:nvPr/>
        </p:nvSpPr>
        <p:spPr>
          <a:xfrm>
            <a:off x="320040" y="2176272"/>
            <a:ext cx="1920240" cy="292608"/>
          </a:xfrm>
          <a:prstGeom prst="rect">
            <a:avLst/>
          </a:prstGeom>
          <a:noFill/>
          <a:ln/>
        </p:spPr>
        <p:txBody>
          <a:bodyPr wrap="square" lIns="0" tIns="0" rIns="0" bIns="0" rtlCol="0" anchor="ctr"/>
          <a:lstStyle/>
          <a:p>
            <a:pPr indent="0" marL="0">
              <a:buNone/>
            </a:pPr>
            <a:r>
              <a:rPr lang="en-US" sz="950" dirty="0">
                <a:solidFill>
                  <a:srgbClr val="DC2626"/>
                </a:solidFill>
                <a:latin typeface="Consolas" pitchFamily="34" charset="0"/>
                <a:ea typeface="Consolas" pitchFamily="34" charset="-122"/>
                <a:cs typeface="Consolas" pitchFamily="34" charset="-120"/>
              </a:rPr>
              <a:t>– password: String</a:t>
            </a:r>
            <a:endParaRPr lang="en-US" sz="950" dirty="0"/>
          </a:p>
        </p:txBody>
      </p:sp>
      <p:sp>
        <p:nvSpPr>
          <p:cNvPr id="12" name="Text 10"/>
          <p:cNvSpPr/>
          <p:nvPr/>
        </p:nvSpPr>
        <p:spPr>
          <a:xfrm>
            <a:off x="320040" y="2615184"/>
            <a:ext cx="1920240" cy="292608"/>
          </a:xfrm>
          <a:prstGeom prst="rect">
            <a:avLst/>
          </a:prstGeom>
          <a:noFill/>
          <a:ln/>
        </p:spPr>
        <p:txBody>
          <a:bodyPr wrap="square" lIns="0" tIns="0" rIns="0" bIns="0" rtlCol="0" anchor="ctr"/>
          <a:lstStyle/>
          <a:p>
            <a:pPr indent="0" marL="0">
              <a:buNone/>
            </a:pPr>
            <a:r>
              <a:rPr lang="en-US" sz="950" dirty="0">
                <a:solidFill>
                  <a:srgbClr val="1A2744"/>
                </a:solidFill>
                <a:latin typeface="Consolas" pitchFamily="34" charset="0"/>
                <a:ea typeface="Consolas" pitchFamily="34" charset="-122"/>
                <a:cs typeface="Consolas" pitchFamily="34" charset="-120"/>
              </a:rPr>
              <a:t>+ createPlaylist(name): Playlist</a:t>
            </a:r>
            <a:endParaRPr lang="en-US" sz="950" dirty="0"/>
          </a:p>
        </p:txBody>
      </p:sp>
      <p:sp>
        <p:nvSpPr>
          <p:cNvPr id="13" name="Text 11"/>
          <p:cNvSpPr/>
          <p:nvPr/>
        </p:nvSpPr>
        <p:spPr>
          <a:xfrm>
            <a:off x="320040" y="2907792"/>
            <a:ext cx="1920240" cy="292608"/>
          </a:xfrm>
          <a:prstGeom prst="rect">
            <a:avLst/>
          </a:prstGeom>
          <a:noFill/>
          <a:ln/>
        </p:spPr>
        <p:txBody>
          <a:bodyPr wrap="square" lIns="0" tIns="0" rIns="0" bIns="0" rtlCol="0" anchor="ctr"/>
          <a:lstStyle/>
          <a:p>
            <a:pPr indent="0" marL="0">
              <a:buNone/>
            </a:pPr>
            <a:r>
              <a:rPr lang="en-US" sz="950" dirty="0">
                <a:solidFill>
                  <a:srgbClr val="1A2744"/>
                </a:solidFill>
                <a:latin typeface="Consolas" pitchFamily="34" charset="0"/>
                <a:ea typeface="Consolas" pitchFamily="34" charset="-122"/>
                <a:cs typeface="Consolas" pitchFamily="34" charset="-120"/>
              </a:rPr>
              <a:t>+ followArtist(a: Artist)</a:t>
            </a:r>
            <a:endParaRPr lang="en-US" sz="950" dirty="0"/>
          </a:p>
        </p:txBody>
      </p:sp>
      <p:sp>
        <p:nvSpPr>
          <p:cNvPr id="14" name="Text 12"/>
          <p:cNvSpPr/>
          <p:nvPr/>
        </p:nvSpPr>
        <p:spPr>
          <a:xfrm>
            <a:off x="320040" y="3200400"/>
            <a:ext cx="1920240" cy="292608"/>
          </a:xfrm>
          <a:prstGeom prst="rect">
            <a:avLst/>
          </a:prstGeom>
          <a:noFill/>
          <a:ln/>
        </p:spPr>
        <p:txBody>
          <a:bodyPr wrap="square" lIns="0" tIns="0" rIns="0" bIns="0" rtlCol="0" anchor="ctr"/>
          <a:lstStyle/>
          <a:p>
            <a:pPr indent="0" marL="0">
              <a:buNone/>
            </a:pPr>
            <a:r>
              <a:rPr lang="en-US" sz="950" dirty="0">
                <a:solidFill>
                  <a:srgbClr val="1A2744"/>
                </a:solidFill>
                <a:latin typeface="Consolas" pitchFamily="34" charset="0"/>
                <a:ea typeface="Consolas" pitchFamily="34" charset="-122"/>
                <a:cs typeface="Consolas" pitchFamily="34" charset="-120"/>
              </a:rPr>
              <a:t>+ searchSong(q: String): List</a:t>
            </a:r>
            <a:endParaRPr lang="en-US" sz="950" dirty="0"/>
          </a:p>
        </p:txBody>
      </p:sp>
      <p:sp>
        <p:nvSpPr>
          <p:cNvPr id="15" name="Shape 13"/>
          <p:cNvSpPr/>
          <p:nvPr/>
        </p:nvSpPr>
        <p:spPr>
          <a:xfrm>
            <a:off x="2423160" y="1115568"/>
            <a:ext cx="2057400" cy="2743200"/>
          </a:xfrm>
          <a:prstGeom prst="rect">
            <a:avLst/>
          </a:prstGeom>
          <a:solidFill>
            <a:srgbClr val="FFFFFF"/>
          </a:solidFill>
          <a:ln w="19050">
            <a:solidFill>
              <a:srgbClr val="1A2744"/>
            </a:solidFill>
            <a:prstDash val="solid"/>
          </a:ln>
        </p:spPr>
      </p:sp>
      <p:sp>
        <p:nvSpPr>
          <p:cNvPr id="16" name="Shape 14"/>
          <p:cNvSpPr/>
          <p:nvPr/>
        </p:nvSpPr>
        <p:spPr>
          <a:xfrm>
            <a:off x="2423160" y="1115568"/>
            <a:ext cx="2057400" cy="402336"/>
          </a:xfrm>
          <a:prstGeom prst="rect">
            <a:avLst/>
          </a:prstGeom>
          <a:solidFill>
            <a:srgbClr val="1A2744"/>
          </a:solidFill>
          <a:ln w="12700">
            <a:solidFill>
              <a:srgbClr val="1A2744"/>
            </a:solidFill>
            <a:prstDash val="solid"/>
          </a:ln>
        </p:spPr>
      </p:sp>
      <p:sp>
        <p:nvSpPr>
          <p:cNvPr id="17" name="Text 15"/>
          <p:cNvSpPr/>
          <p:nvPr/>
        </p:nvSpPr>
        <p:spPr>
          <a:xfrm>
            <a:off x="2423160" y="1115568"/>
            <a:ext cx="2057400" cy="402336"/>
          </a:xfrm>
          <a:prstGeom prst="rect">
            <a:avLst/>
          </a:prstGeom>
          <a:noFill/>
          <a:ln/>
        </p:spPr>
        <p:txBody>
          <a:bodyPr wrap="square" lIns="0" tIns="0" rIns="0" bIns="0" rtlCol="0" anchor="ctr"/>
          <a:lstStyle/>
          <a:p>
            <a:pPr algn="ctr" indent="0" marL="0">
              <a:buNone/>
            </a:pPr>
            <a:r>
              <a:rPr lang="en-US" sz="1150" b="1" dirty="0">
                <a:solidFill>
                  <a:srgbClr val="FFFFFF"/>
                </a:solidFill>
              </a:rPr>
              <a:t>Song</a:t>
            </a:r>
            <a:endParaRPr lang="en-US" sz="1150" dirty="0"/>
          </a:p>
        </p:txBody>
      </p:sp>
      <p:sp>
        <p:nvSpPr>
          <p:cNvPr id="18" name="Shape 16"/>
          <p:cNvSpPr/>
          <p:nvPr/>
        </p:nvSpPr>
        <p:spPr>
          <a:xfrm>
            <a:off x="2423160" y="2834640"/>
            <a:ext cx="2057400" cy="0"/>
          </a:xfrm>
          <a:prstGeom prst="line">
            <a:avLst/>
          </a:prstGeom>
          <a:noFill/>
          <a:ln w="12700">
            <a:solidFill>
              <a:srgbClr val="1A2744"/>
            </a:solidFill>
            <a:prstDash val="solid"/>
          </a:ln>
        </p:spPr>
      </p:sp>
      <p:sp>
        <p:nvSpPr>
          <p:cNvPr id="19" name="Text 17"/>
          <p:cNvSpPr/>
          <p:nvPr/>
        </p:nvSpPr>
        <p:spPr>
          <a:xfrm>
            <a:off x="2514600" y="1591056"/>
            <a:ext cx="1920240" cy="292608"/>
          </a:xfrm>
          <a:prstGeom prst="rect">
            <a:avLst/>
          </a:prstGeom>
          <a:noFill/>
          <a:ln/>
        </p:spPr>
        <p:txBody>
          <a:bodyPr wrap="square" lIns="0" tIns="0" rIns="0" bIns="0" rtlCol="0" anchor="ctr"/>
          <a:lstStyle/>
          <a:p>
            <a:pPr indent="0" marL="0">
              <a:buNone/>
            </a:pPr>
            <a:r>
              <a:rPr lang="en-US" sz="950" dirty="0">
                <a:solidFill>
                  <a:srgbClr val="0D9488"/>
                </a:solidFill>
                <a:latin typeface="Consolas" pitchFamily="34" charset="0"/>
                <a:ea typeface="Consolas" pitchFamily="34" charset="-122"/>
                <a:cs typeface="Consolas" pitchFamily="34" charset="-120"/>
              </a:rPr>
              <a:t>+ songID: String</a:t>
            </a:r>
            <a:endParaRPr lang="en-US" sz="950" dirty="0"/>
          </a:p>
        </p:txBody>
      </p:sp>
      <p:sp>
        <p:nvSpPr>
          <p:cNvPr id="20" name="Text 18"/>
          <p:cNvSpPr/>
          <p:nvPr/>
        </p:nvSpPr>
        <p:spPr>
          <a:xfrm>
            <a:off x="2514600" y="1883664"/>
            <a:ext cx="1920240" cy="292608"/>
          </a:xfrm>
          <a:prstGeom prst="rect">
            <a:avLst/>
          </a:prstGeom>
          <a:noFill/>
          <a:ln/>
        </p:spPr>
        <p:txBody>
          <a:bodyPr wrap="square" lIns="0" tIns="0" rIns="0" bIns="0" rtlCol="0" anchor="ctr"/>
          <a:lstStyle/>
          <a:p>
            <a:pPr indent="0" marL="0">
              <a:buNone/>
            </a:pPr>
            <a:r>
              <a:rPr lang="en-US" sz="950" dirty="0">
                <a:solidFill>
                  <a:srgbClr val="0D9488"/>
                </a:solidFill>
                <a:latin typeface="Consolas" pitchFamily="34" charset="0"/>
                <a:ea typeface="Consolas" pitchFamily="34" charset="-122"/>
                <a:cs typeface="Consolas" pitchFamily="34" charset="-120"/>
              </a:rPr>
              <a:t>+ title: String</a:t>
            </a:r>
            <a:endParaRPr lang="en-US" sz="950" dirty="0"/>
          </a:p>
        </p:txBody>
      </p:sp>
      <p:sp>
        <p:nvSpPr>
          <p:cNvPr id="21" name="Text 19"/>
          <p:cNvSpPr/>
          <p:nvPr/>
        </p:nvSpPr>
        <p:spPr>
          <a:xfrm>
            <a:off x="2514600" y="2176272"/>
            <a:ext cx="1920240" cy="292608"/>
          </a:xfrm>
          <a:prstGeom prst="rect">
            <a:avLst/>
          </a:prstGeom>
          <a:noFill/>
          <a:ln/>
        </p:spPr>
        <p:txBody>
          <a:bodyPr wrap="square" lIns="0" tIns="0" rIns="0" bIns="0" rtlCol="0" anchor="ctr"/>
          <a:lstStyle/>
          <a:p>
            <a:pPr indent="0" marL="0">
              <a:buNone/>
            </a:pPr>
            <a:r>
              <a:rPr lang="en-US" sz="950" dirty="0">
                <a:solidFill>
                  <a:srgbClr val="0D9488"/>
                </a:solidFill>
                <a:latin typeface="Consolas" pitchFamily="34" charset="0"/>
                <a:ea typeface="Consolas" pitchFamily="34" charset="-122"/>
                <a:cs typeface="Consolas" pitchFamily="34" charset="-120"/>
              </a:rPr>
              <a:t>+ duration: Int</a:t>
            </a:r>
            <a:endParaRPr lang="en-US" sz="950" dirty="0"/>
          </a:p>
        </p:txBody>
      </p:sp>
      <p:sp>
        <p:nvSpPr>
          <p:cNvPr id="22" name="Text 20"/>
          <p:cNvSpPr/>
          <p:nvPr/>
        </p:nvSpPr>
        <p:spPr>
          <a:xfrm>
            <a:off x="2514600" y="2468880"/>
            <a:ext cx="1920240" cy="292608"/>
          </a:xfrm>
          <a:prstGeom prst="rect">
            <a:avLst/>
          </a:prstGeom>
          <a:noFill/>
          <a:ln/>
        </p:spPr>
        <p:txBody>
          <a:bodyPr wrap="square" lIns="0" tIns="0" rIns="0" bIns="0" rtlCol="0" anchor="ctr"/>
          <a:lstStyle/>
          <a:p>
            <a:pPr indent="0" marL="0">
              <a:buNone/>
            </a:pPr>
            <a:r>
              <a:rPr lang="en-US" sz="950" dirty="0">
                <a:solidFill>
                  <a:srgbClr val="0D9488"/>
                </a:solidFill>
                <a:latin typeface="Consolas" pitchFamily="34" charset="0"/>
                <a:ea typeface="Consolas" pitchFamily="34" charset="-122"/>
                <a:cs typeface="Consolas" pitchFamily="34" charset="-120"/>
              </a:rPr>
              <a:t>+ genre: String</a:t>
            </a:r>
            <a:endParaRPr lang="en-US" sz="950" dirty="0"/>
          </a:p>
        </p:txBody>
      </p:sp>
      <p:sp>
        <p:nvSpPr>
          <p:cNvPr id="23" name="Text 21"/>
          <p:cNvSpPr/>
          <p:nvPr/>
        </p:nvSpPr>
        <p:spPr>
          <a:xfrm>
            <a:off x="2514600" y="2907792"/>
            <a:ext cx="1920240" cy="292608"/>
          </a:xfrm>
          <a:prstGeom prst="rect">
            <a:avLst/>
          </a:prstGeom>
          <a:noFill/>
          <a:ln/>
        </p:spPr>
        <p:txBody>
          <a:bodyPr wrap="square" lIns="0" tIns="0" rIns="0" bIns="0" rtlCol="0" anchor="ctr"/>
          <a:lstStyle/>
          <a:p>
            <a:pPr indent="0" marL="0">
              <a:buNone/>
            </a:pPr>
            <a:r>
              <a:rPr lang="en-US" sz="950" dirty="0">
                <a:solidFill>
                  <a:srgbClr val="1A2744"/>
                </a:solidFill>
                <a:latin typeface="Consolas" pitchFamily="34" charset="0"/>
                <a:ea typeface="Consolas" pitchFamily="34" charset="-122"/>
                <a:cs typeface="Consolas" pitchFamily="34" charset="-120"/>
              </a:rPr>
              <a:t>+ play(): void</a:t>
            </a:r>
            <a:endParaRPr lang="en-US" sz="950" dirty="0"/>
          </a:p>
        </p:txBody>
      </p:sp>
      <p:sp>
        <p:nvSpPr>
          <p:cNvPr id="24" name="Text 22"/>
          <p:cNvSpPr/>
          <p:nvPr/>
        </p:nvSpPr>
        <p:spPr>
          <a:xfrm>
            <a:off x="2514600" y="3200400"/>
            <a:ext cx="1920240" cy="292608"/>
          </a:xfrm>
          <a:prstGeom prst="rect">
            <a:avLst/>
          </a:prstGeom>
          <a:noFill/>
          <a:ln/>
        </p:spPr>
        <p:txBody>
          <a:bodyPr wrap="square" lIns="0" tIns="0" rIns="0" bIns="0" rtlCol="0" anchor="ctr"/>
          <a:lstStyle/>
          <a:p>
            <a:pPr indent="0" marL="0">
              <a:buNone/>
            </a:pPr>
            <a:r>
              <a:rPr lang="en-US" sz="950" dirty="0">
                <a:solidFill>
                  <a:srgbClr val="1A2744"/>
                </a:solidFill>
                <a:latin typeface="Consolas" pitchFamily="34" charset="0"/>
                <a:ea typeface="Consolas" pitchFamily="34" charset="-122"/>
                <a:cs typeface="Consolas" pitchFamily="34" charset="-120"/>
              </a:rPr>
              <a:t>+ getArtist(): Artist</a:t>
            </a:r>
            <a:endParaRPr lang="en-US" sz="950" dirty="0"/>
          </a:p>
        </p:txBody>
      </p:sp>
      <p:sp>
        <p:nvSpPr>
          <p:cNvPr id="25" name="Text 23"/>
          <p:cNvSpPr/>
          <p:nvPr/>
        </p:nvSpPr>
        <p:spPr>
          <a:xfrm>
            <a:off x="2514600" y="3493008"/>
            <a:ext cx="1920240" cy="292608"/>
          </a:xfrm>
          <a:prstGeom prst="rect">
            <a:avLst/>
          </a:prstGeom>
          <a:noFill/>
          <a:ln/>
        </p:spPr>
        <p:txBody>
          <a:bodyPr wrap="square" lIns="0" tIns="0" rIns="0" bIns="0" rtlCol="0" anchor="ctr"/>
          <a:lstStyle/>
          <a:p>
            <a:pPr indent="0" marL="0">
              <a:buNone/>
            </a:pPr>
            <a:r>
              <a:rPr lang="en-US" sz="950" dirty="0">
                <a:solidFill>
                  <a:srgbClr val="1A2744"/>
                </a:solidFill>
                <a:latin typeface="Consolas" pitchFamily="34" charset="0"/>
                <a:ea typeface="Consolas" pitchFamily="34" charset="-122"/>
                <a:cs typeface="Consolas" pitchFamily="34" charset="-120"/>
              </a:rPr>
              <a:t>+ getLyrics(): String</a:t>
            </a:r>
            <a:endParaRPr lang="en-US" sz="950" dirty="0"/>
          </a:p>
        </p:txBody>
      </p:sp>
      <p:sp>
        <p:nvSpPr>
          <p:cNvPr id="26" name="Shape 24"/>
          <p:cNvSpPr/>
          <p:nvPr/>
        </p:nvSpPr>
        <p:spPr>
          <a:xfrm>
            <a:off x="4617720" y="1115568"/>
            <a:ext cx="2057400" cy="2450592"/>
          </a:xfrm>
          <a:prstGeom prst="rect">
            <a:avLst/>
          </a:prstGeom>
          <a:solidFill>
            <a:srgbClr val="FFFFFF"/>
          </a:solidFill>
          <a:ln w="19050">
            <a:solidFill>
              <a:srgbClr val="1A2744"/>
            </a:solidFill>
            <a:prstDash val="solid"/>
          </a:ln>
        </p:spPr>
      </p:sp>
      <p:sp>
        <p:nvSpPr>
          <p:cNvPr id="27" name="Shape 25"/>
          <p:cNvSpPr/>
          <p:nvPr/>
        </p:nvSpPr>
        <p:spPr>
          <a:xfrm>
            <a:off x="4617720" y="1115568"/>
            <a:ext cx="2057400" cy="402336"/>
          </a:xfrm>
          <a:prstGeom prst="rect">
            <a:avLst/>
          </a:prstGeom>
          <a:solidFill>
            <a:srgbClr val="F59E0B"/>
          </a:solidFill>
          <a:ln w="12700">
            <a:solidFill>
              <a:srgbClr val="F59E0B"/>
            </a:solidFill>
            <a:prstDash val="solid"/>
          </a:ln>
        </p:spPr>
      </p:sp>
      <p:sp>
        <p:nvSpPr>
          <p:cNvPr id="28" name="Text 26"/>
          <p:cNvSpPr/>
          <p:nvPr/>
        </p:nvSpPr>
        <p:spPr>
          <a:xfrm>
            <a:off x="4617720" y="1115568"/>
            <a:ext cx="2057400" cy="402336"/>
          </a:xfrm>
          <a:prstGeom prst="rect">
            <a:avLst/>
          </a:prstGeom>
          <a:noFill/>
          <a:ln/>
        </p:spPr>
        <p:txBody>
          <a:bodyPr wrap="square" lIns="0" tIns="0" rIns="0" bIns="0" rtlCol="0" anchor="ctr"/>
          <a:lstStyle/>
          <a:p>
            <a:pPr algn="ctr" indent="0" marL="0">
              <a:buNone/>
            </a:pPr>
            <a:r>
              <a:rPr lang="en-US" sz="1150" b="1" dirty="0">
                <a:solidFill>
                  <a:srgbClr val="FFFFFF"/>
                </a:solidFill>
              </a:rPr>
              <a:t>Artist</a:t>
            </a:r>
            <a:endParaRPr lang="en-US" sz="1150" dirty="0"/>
          </a:p>
        </p:txBody>
      </p:sp>
      <p:sp>
        <p:nvSpPr>
          <p:cNvPr id="29" name="Shape 27"/>
          <p:cNvSpPr/>
          <p:nvPr/>
        </p:nvSpPr>
        <p:spPr>
          <a:xfrm>
            <a:off x="4617720" y="2542032"/>
            <a:ext cx="2057400" cy="0"/>
          </a:xfrm>
          <a:prstGeom prst="line">
            <a:avLst/>
          </a:prstGeom>
          <a:noFill/>
          <a:ln w="12700">
            <a:solidFill>
              <a:srgbClr val="1A2744"/>
            </a:solidFill>
            <a:prstDash val="solid"/>
          </a:ln>
        </p:spPr>
      </p:sp>
      <p:sp>
        <p:nvSpPr>
          <p:cNvPr id="30" name="Text 28"/>
          <p:cNvSpPr/>
          <p:nvPr/>
        </p:nvSpPr>
        <p:spPr>
          <a:xfrm>
            <a:off x="4709160" y="1591056"/>
            <a:ext cx="1920240" cy="292608"/>
          </a:xfrm>
          <a:prstGeom prst="rect">
            <a:avLst/>
          </a:prstGeom>
          <a:noFill/>
          <a:ln/>
        </p:spPr>
        <p:txBody>
          <a:bodyPr wrap="square" lIns="0" tIns="0" rIns="0" bIns="0" rtlCol="0" anchor="ctr"/>
          <a:lstStyle/>
          <a:p>
            <a:pPr indent="0" marL="0">
              <a:buNone/>
            </a:pPr>
            <a:r>
              <a:rPr lang="en-US" sz="950" dirty="0">
                <a:solidFill>
                  <a:srgbClr val="0D9488"/>
                </a:solidFill>
                <a:latin typeface="Consolas" pitchFamily="34" charset="0"/>
                <a:ea typeface="Consolas" pitchFamily="34" charset="-122"/>
                <a:cs typeface="Consolas" pitchFamily="34" charset="-120"/>
              </a:rPr>
              <a:t>+ artistID: String</a:t>
            </a:r>
            <a:endParaRPr lang="en-US" sz="950" dirty="0"/>
          </a:p>
        </p:txBody>
      </p:sp>
      <p:sp>
        <p:nvSpPr>
          <p:cNvPr id="31" name="Text 29"/>
          <p:cNvSpPr/>
          <p:nvPr/>
        </p:nvSpPr>
        <p:spPr>
          <a:xfrm>
            <a:off x="4709160" y="1883664"/>
            <a:ext cx="1920240" cy="292608"/>
          </a:xfrm>
          <a:prstGeom prst="rect">
            <a:avLst/>
          </a:prstGeom>
          <a:noFill/>
          <a:ln/>
        </p:spPr>
        <p:txBody>
          <a:bodyPr wrap="square" lIns="0" tIns="0" rIns="0" bIns="0" rtlCol="0" anchor="ctr"/>
          <a:lstStyle/>
          <a:p>
            <a:pPr indent="0" marL="0">
              <a:buNone/>
            </a:pPr>
            <a:r>
              <a:rPr lang="en-US" sz="950" dirty="0">
                <a:solidFill>
                  <a:srgbClr val="0D9488"/>
                </a:solidFill>
                <a:latin typeface="Consolas" pitchFamily="34" charset="0"/>
                <a:ea typeface="Consolas" pitchFamily="34" charset="-122"/>
                <a:cs typeface="Consolas" pitchFamily="34" charset="-120"/>
              </a:rPr>
              <a:t>+ stageName: String</a:t>
            </a:r>
            <a:endParaRPr lang="en-US" sz="950" dirty="0"/>
          </a:p>
        </p:txBody>
      </p:sp>
      <p:sp>
        <p:nvSpPr>
          <p:cNvPr id="32" name="Text 30"/>
          <p:cNvSpPr/>
          <p:nvPr/>
        </p:nvSpPr>
        <p:spPr>
          <a:xfrm>
            <a:off x="4709160" y="2176272"/>
            <a:ext cx="1920240" cy="292608"/>
          </a:xfrm>
          <a:prstGeom prst="rect">
            <a:avLst/>
          </a:prstGeom>
          <a:noFill/>
          <a:ln/>
        </p:spPr>
        <p:txBody>
          <a:bodyPr wrap="square" lIns="0" tIns="0" rIns="0" bIns="0" rtlCol="0" anchor="ctr"/>
          <a:lstStyle/>
          <a:p>
            <a:pPr indent="0" marL="0">
              <a:buNone/>
            </a:pPr>
            <a:r>
              <a:rPr lang="en-US" sz="950" dirty="0">
                <a:solidFill>
                  <a:srgbClr val="0D9488"/>
                </a:solidFill>
                <a:latin typeface="Consolas" pitchFamily="34" charset="0"/>
                <a:ea typeface="Consolas" pitchFamily="34" charset="-122"/>
                <a:cs typeface="Consolas" pitchFamily="34" charset="-120"/>
              </a:rPr>
              <a:t>+ followers: Int</a:t>
            </a:r>
            <a:endParaRPr lang="en-US" sz="950" dirty="0"/>
          </a:p>
        </p:txBody>
      </p:sp>
      <p:sp>
        <p:nvSpPr>
          <p:cNvPr id="33" name="Text 31"/>
          <p:cNvSpPr/>
          <p:nvPr/>
        </p:nvSpPr>
        <p:spPr>
          <a:xfrm>
            <a:off x="4709160" y="2615184"/>
            <a:ext cx="1920240" cy="292608"/>
          </a:xfrm>
          <a:prstGeom prst="rect">
            <a:avLst/>
          </a:prstGeom>
          <a:noFill/>
          <a:ln/>
        </p:spPr>
        <p:txBody>
          <a:bodyPr wrap="square" lIns="0" tIns="0" rIns="0" bIns="0" rtlCol="0" anchor="ctr"/>
          <a:lstStyle/>
          <a:p>
            <a:pPr indent="0" marL="0">
              <a:buNone/>
            </a:pPr>
            <a:r>
              <a:rPr lang="en-US" sz="950" dirty="0">
                <a:solidFill>
                  <a:srgbClr val="1A2744"/>
                </a:solidFill>
                <a:latin typeface="Consolas" pitchFamily="34" charset="0"/>
                <a:ea typeface="Consolas" pitchFamily="34" charset="-122"/>
                <a:cs typeface="Consolas" pitchFamily="34" charset="-120"/>
              </a:rPr>
              <a:t>+ releaseSong(s: Song)</a:t>
            </a:r>
            <a:endParaRPr lang="en-US" sz="950" dirty="0"/>
          </a:p>
        </p:txBody>
      </p:sp>
      <p:sp>
        <p:nvSpPr>
          <p:cNvPr id="34" name="Text 32"/>
          <p:cNvSpPr/>
          <p:nvPr/>
        </p:nvSpPr>
        <p:spPr>
          <a:xfrm>
            <a:off x="4709160" y="2907792"/>
            <a:ext cx="1920240" cy="292608"/>
          </a:xfrm>
          <a:prstGeom prst="rect">
            <a:avLst/>
          </a:prstGeom>
          <a:noFill/>
          <a:ln/>
        </p:spPr>
        <p:txBody>
          <a:bodyPr wrap="square" lIns="0" tIns="0" rIns="0" bIns="0" rtlCol="0" anchor="ctr"/>
          <a:lstStyle/>
          <a:p>
            <a:pPr indent="0" marL="0">
              <a:buNone/>
            </a:pPr>
            <a:r>
              <a:rPr lang="en-US" sz="950" dirty="0">
                <a:solidFill>
                  <a:srgbClr val="1A2744"/>
                </a:solidFill>
                <a:latin typeface="Consolas" pitchFamily="34" charset="0"/>
                <a:ea typeface="Consolas" pitchFamily="34" charset="-122"/>
                <a:cs typeface="Consolas" pitchFamily="34" charset="-120"/>
              </a:rPr>
              <a:t>+ getDiscography(): List</a:t>
            </a:r>
            <a:endParaRPr lang="en-US" sz="950" dirty="0"/>
          </a:p>
        </p:txBody>
      </p:sp>
      <p:sp>
        <p:nvSpPr>
          <p:cNvPr id="35" name="Text 33"/>
          <p:cNvSpPr/>
          <p:nvPr/>
        </p:nvSpPr>
        <p:spPr>
          <a:xfrm>
            <a:off x="4709160" y="3200400"/>
            <a:ext cx="1920240" cy="292608"/>
          </a:xfrm>
          <a:prstGeom prst="rect">
            <a:avLst/>
          </a:prstGeom>
          <a:noFill/>
          <a:ln/>
        </p:spPr>
        <p:txBody>
          <a:bodyPr wrap="square" lIns="0" tIns="0" rIns="0" bIns="0" rtlCol="0" anchor="ctr"/>
          <a:lstStyle/>
          <a:p>
            <a:pPr indent="0" marL="0">
              <a:buNone/>
            </a:pPr>
            <a:r>
              <a:rPr lang="en-US" sz="950" dirty="0">
                <a:solidFill>
                  <a:srgbClr val="1A2744"/>
                </a:solidFill>
                <a:latin typeface="Consolas" pitchFamily="34" charset="0"/>
                <a:ea typeface="Consolas" pitchFamily="34" charset="-122"/>
                <a:cs typeface="Consolas" pitchFamily="34" charset="-120"/>
              </a:rPr>
              <a:t>+ notifyFollowers(): void</a:t>
            </a:r>
            <a:endParaRPr lang="en-US" sz="950" dirty="0"/>
          </a:p>
        </p:txBody>
      </p:sp>
      <p:sp>
        <p:nvSpPr>
          <p:cNvPr id="36" name="Shape 34"/>
          <p:cNvSpPr/>
          <p:nvPr/>
        </p:nvSpPr>
        <p:spPr>
          <a:xfrm>
            <a:off x="6812280" y="1115568"/>
            <a:ext cx="2057400" cy="2743200"/>
          </a:xfrm>
          <a:prstGeom prst="rect">
            <a:avLst/>
          </a:prstGeom>
          <a:solidFill>
            <a:srgbClr val="FFFFFF"/>
          </a:solidFill>
          <a:ln w="19050">
            <a:solidFill>
              <a:srgbClr val="1A2744"/>
            </a:solidFill>
            <a:prstDash val="solid"/>
          </a:ln>
        </p:spPr>
      </p:sp>
      <p:sp>
        <p:nvSpPr>
          <p:cNvPr id="37" name="Shape 35"/>
          <p:cNvSpPr/>
          <p:nvPr/>
        </p:nvSpPr>
        <p:spPr>
          <a:xfrm>
            <a:off x="6812280" y="1115568"/>
            <a:ext cx="2057400" cy="402336"/>
          </a:xfrm>
          <a:prstGeom prst="rect">
            <a:avLst/>
          </a:prstGeom>
          <a:solidFill>
            <a:srgbClr val="DC2626"/>
          </a:solidFill>
          <a:ln w="12700">
            <a:solidFill>
              <a:srgbClr val="DC2626"/>
            </a:solidFill>
            <a:prstDash val="solid"/>
          </a:ln>
        </p:spPr>
      </p:sp>
      <p:sp>
        <p:nvSpPr>
          <p:cNvPr id="38" name="Text 36"/>
          <p:cNvSpPr/>
          <p:nvPr/>
        </p:nvSpPr>
        <p:spPr>
          <a:xfrm>
            <a:off x="6812280" y="1115568"/>
            <a:ext cx="2057400" cy="402336"/>
          </a:xfrm>
          <a:prstGeom prst="rect">
            <a:avLst/>
          </a:prstGeom>
          <a:noFill/>
          <a:ln/>
        </p:spPr>
        <p:txBody>
          <a:bodyPr wrap="square" lIns="0" tIns="0" rIns="0" bIns="0" rtlCol="0" anchor="ctr"/>
          <a:lstStyle/>
          <a:p>
            <a:pPr algn="ctr" indent="0" marL="0">
              <a:buNone/>
            </a:pPr>
            <a:r>
              <a:rPr lang="en-US" sz="1150" b="1" dirty="0">
                <a:solidFill>
                  <a:srgbClr val="FFFFFF"/>
                </a:solidFill>
              </a:rPr>
              <a:t>Playlist</a:t>
            </a:r>
            <a:endParaRPr lang="en-US" sz="1150" dirty="0"/>
          </a:p>
        </p:txBody>
      </p:sp>
      <p:sp>
        <p:nvSpPr>
          <p:cNvPr id="39" name="Shape 37"/>
          <p:cNvSpPr/>
          <p:nvPr/>
        </p:nvSpPr>
        <p:spPr>
          <a:xfrm>
            <a:off x="6812280" y="2542032"/>
            <a:ext cx="2057400" cy="0"/>
          </a:xfrm>
          <a:prstGeom prst="line">
            <a:avLst/>
          </a:prstGeom>
          <a:noFill/>
          <a:ln w="12700">
            <a:solidFill>
              <a:srgbClr val="1A2744"/>
            </a:solidFill>
            <a:prstDash val="solid"/>
          </a:ln>
        </p:spPr>
      </p:sp>
      <p:sp>
        <p:nvSpPr>
          <p:cNvPr id="40" name="Text 38"/>
          <p:cNvSpPr/>
          <p:nvPr/>
        </p:nvSpPr>
        <p:spPr>
          <a:xfrm>
            <a:off x="6903720" y="1591056"/>
            <a:ext cx="1920240" cy="292608"/>
          </a:xfrm>
          <a:prstGeom prst="rect">
            <a:avLst/>
          </a:prstGeom>
          <a:noFill/>
          <a:ln/>
        </p:spPr>
        <p:txBody>
          <a:bodyPr wrap="square" lIns="0" tIns="0" rIns="0" bIns="0" rtlCol="0" anchor="ctr"/>
          <a:lstStyle/>
          <a:p>
            <a:pPr indent="0" marL="0">
              <a:buNone/>
            </a:pPr>
            <a:r>
              <a:rPr lang="en-US" sz="950" dirty="0">
                <a:solidFill>
                  <a:srgbClr val="0D9488"/>
                </a:solidFill>
                <a:latin typeface="Consolas" pitchFamily="34" charset="0"/>
                <a:ea typeface="Consolas" pitchFamily="34" charset="-122"/>
                <a:cs typeface="Consolas" pitchFamily="34" charset="-120"/>
              </a:rPr>
              <a:t>+ playlistID: String</a:t>
            </a:r>
            <a:endParaRPr lang="en-US" sz="950" dirty="0"/>
          </a:p>
        </p:txBody>
      </p:sp>
      <p:sp>
        <p:nvSpPr>
          <p:cNvPr id="41" name="Text 39"/>
          <p:cNvSpPr/>
          <p:nvPr/>
        </p:nvSpPr>
        <p:spPr>
          <a:xfrm>
            <a:off x="6903720" y="1883664"/>
            <a:ext cx="1920240" cy="292608"/>
          </a:xfrm>
          <a:prstGeom prst="rect">
            <a:avLst/>
          </a:prstGeom>
          <a:noFill/>
          <a:ln/>
        </p:spPr>
        <p:txBody>
          <a:bodyPr wrap="square" lIns="0" tIns="0" rIns="0" bIns="0" rtlCol="0" anchor="ctr"/>
          <a:lstStyle/>
          <a:p>
            <a:pPr indent="0" marL="0">
              <a:buNone/>
            </a:pPr>
            <a:r>
              <a:rPr lang="en-US" sz="950" dirty="0">
                <a:solidFill>
                  <a:srgbClr val="0D9488"/>
                </a:solidFill>
                <a:latin typeface="Consolas" pitchFamily="34" charset="0"/>
                <a:ea typeface="Consolas" pitchFamily="34" charset="-122"/>
                <a:cs typeface="Consolas" pitchFamily="34" charset="-120"/>
              </a:rPr>
              <a:t>+ name: String</a:t>
            </a:r>
            <a:endParaRPr lang="en-US" sz="950" dirty="0"/>
          </a:p>
        </p:txBody>
      </p:sp>
      <p:sp>
        <p:nvSpPr>
          <p:cNvPr id="42" name="Text 40"/>
          <p:cNvSpPr/>
          <p:nvPr/>
        </p:nvSpPr>
        <p:spPr>
          <a:xfrm>
            <a:off x="6903720" y="2176272"/>
            <a:ext cx="1920240" cy="292608"/>
          </a:xfrm>
          <a:prstGeom prst="rect">
            <a:avLst/>
          </a:prstGeom>
          <a:noFill/>
          <a:ln/>
        </p:spPr>
        <p:txBody>
          <a:bodyPr wrap="square" lIns="0" tIns="0" rIns="0" bIns="0" rtlCol="0" anchor="ctr"/>
          <a:lstStyle/>
          <a:p>
            <a:pPr indent="0" marL="0">
              <a:buNone/>
            </a:pPr>
            <a:r>
              <a:rPr lang="en-US" sz="950" dirty="0">
                <a:solidFill>
                  <a:srgbClr val="DC2626"/>
                </a:solidFill>
                <a:latin typeface="Consolas" pitchFamily="34" charset="0"/>
                <a:ea typeface="Consolas" pitchFamily="34" charset="-122"/>
                <a:cs typeface="Consolas" pitchFamily="34" charset="-120"/>
              </a:rPr>
              <a:t>– songs: List</a:t>
            </a:r>
            <a:endParaRPr lang="en-US" sz="950" dirty="0"/>
          </a:p>
        </p:txBody>
      </p:sp>
      <p:sp>
        <p:nvSpPr>
          <p:cNvPr id="43" name="Text 41"/>
          <p:cNvSpPr/>
          <p:nvPr/>
        </p:nvSpPr>
        <p:spPr>
          <a:xfrm>
            <a:off x="6903720" y="2615184"/>
            <a:ext cx="1920240" cy="292608"/>
          </a:xfrm>
          <a:prstGeom prst="rect">
            <a:avLst/>
          </a:prstGeom>
          <a:noFill/>
          <a:ln/>
        </p:spPr>
        <p:txBody>
          <a:bodyPr wrap="square" lIns="0" tIns="0" rIns="0" bIns="0" rtlCol="0" anchor="ctr"/>
          <a:lstStyle/>
          <a:p>
            <a:pPr indent="0" marL="0">
              <a:buNone/>
            </a:pPr>
            <a:r>
              <a:rPr lang="en-US" sz="950" dirty="0">
                <a:solidFill>
                  <a:srgbClr val="1A2744"/>
                </a:solidFill>
                <a:latin typeface="Consolas" pitchFamily="34" charset="0"/>
                <a:ea typeface="Consolas" pitchFamily="34" charset="-122"/>
                <a:cs typeface="Consolas" pitchFamily="34" charset="-120"/>
              </a:rPr>
              <a:t>+ addSong(s: Song)</a:t>
            </a:r>
            <a:endParaRPr lang="en-US" sz="950" dirty="0"/>
          </a:p>
        </p:txBody>
      </p:sp>
      <p:sp>
        <p:nvSpPr>
          <p:cNvPr id="44" name="Text 42"/>
          <p:cNvSpPr/>
          <p:nvPr/>
        </p:nvSpPr>
        <p:spPr>
          <a:xfrm>
            <a:off x="6903720" y="2907792"/>
            <a:ext cx="1920240" cy="292608"/>
          </a:xfrm>
          <a:prstGeom prst="rect">
            <a:avLst/>
          </a:prstGeom>
          <a:noFill/>
          <a:ln/>
        </p:spPr>
        <p:txBody>
          <a:bodyPr wrap="square" lIns="0" tIns="0" rIns="0" bIns="0" rtlCol="0" anchor="ctr"/>
          <a:lstStyle/>
          <a:p>
            <a:pPr indent="0" marL="0">
              <a:buNone/>
            </a:pPr>
            <a:r>
              <a:rPr lang="en-US" sz="950" dirty="0">
                <a:solidFill>
                  <a:srgbClr val="1A2744"/>
                </a:solidFill>
                <a:latin typeface="Consolas" pitchFamily="34" charset="0"/>
                <a:ea typeface="Consolas" pitchFamily="34" charset="-122"/>
                <a:cs typeface="Consolas" pitchFamily="34" charset="-120"/>
              </a:rPr>
              <a:t>+ removeSong(s: Song)</a:t>
            </a:r>
            <a:endParaRPr lang="en-US" sz="950" dirty="0"/>
          </a:p>
        </p:txBody>
      </p:sp>
      <p:sp>
        <p:nvSpPr>
          <p:cNvPr id="45" name="Text 43"/>
          <p:cNvSpPr/>
          <p:nvPr/>
        </p:nvSpPr>
        <p:spPr>
          <a:xfrm>
            <a:off x="6903720" y="3200400"/>
            <a:ext cx="1920240" cy="292608"/>
          </a:xfrm>
          <a:prstGeom prst="rect">
            <a:avLst/>
          </a:prstGeom>
          <a:noFill/>
          <a:ln/>
        </p:spPr>
        <p:txBody>
          <a:bodyPr wrap="square" lIns="0" tIns="0" rIns="0" bIns="0" rtlCol="0" anchor="ctr"/>
          <a:lstStyle/>
          <a:p>
            <a:pPr indent="0" marL="0">
              <a:buNone/>
            </a:pPr>
            <a:r>
              <a:rPr lang="en-US" sz="950" dirty="0">
                <a:solidFill>
                  <a:srgbClr val="1A2744"/>
                </a:solidFill>
                <a:latin typeface="Consolas" pitchFamily="34" charset="0"/>
                <a:ea typeface="Consolas" pitchFamily="34" charset="-122"/>
                <a:cs typeface="Consolas" pitchFamily="34" charset="-120"/>
              </a:rPr>
              <a:t>+ shuffle(): void</a:t>
            </a:r>
            <a:endParaRPr lang="en-US" sz="950" dirty="0"/>
          </a:p>
        </p:txBody>
      </p:sp>
      <p:sp>
        <p:nvSpPr>
          <p:cNvPr id="46" name="Text 44"/>
          <p:cNvSpPr/>
          <p:nvPr/>
        </p:nvSpPr>
        <p:spPr>
          <a:xfrm>
            <a:off x="6903720" y="3493008"/>
            <a:ext cx="1920240" cy="292608"/>
          </a:xfrm>
          <a:prstGeom prst="rect">
            <a:avLst/>
          </a:prstGeom>
          <a:noFill/>
          <a:ln/>
        </p:spPr>
        <p:txBody>
          <a:bodyPr wrap="square" lIns="0" tIns="0" rIns="0" bIns="0" rtlCol="0" anchor="ctr"/>
          <a:lstStyle/>
          <a:p>
            <a:pPr indent="0" marL="0">
              <a:buNone/>
            </a:pPr>
            <a:r>
              <a:rPr lang="en-US" sz="950" dirty="0">
                <a:solidFill>
                  <a:srgbClr val="1A2744"/>
                </a:solidFill>
                <a:latin typeface="Consolas" pitchFamily="34" charset="0"/>
                <a:ea typeface="Consolas" pitchFamily="34" charset="-122"/>
                <a:cs typeface="Consolas" pitchFamily="34" charset="-120"/>
              </a:rPr>
              <a:t>+ getTotalDuration(): Int</a:t>
            </a:r>
            <a:endParaRPr lang="en-US" sz="950" dirty="0"/>
          </a:p>
        </p:txBody>
      </p:sp>
      <p:sp>
        <p:nvSpPr>
          <p:cNvPr id="47" name="Shape 45"/>
          <p:cNvSpPr/>
          <p:nvPr/>
        </p:nvSpPr>
        <p:spPr>
          <a:xfrm>
            <a:off x="274320" y="3822192"/>
            <a:ext cx="8595360" cy="1143000"/>
          </a:xfrm>
          <a:prstGeom prst="rect">
            <a:avLst/>
          </a:prstGeom>
          <a:solidFill>
            <a:srgbClr val="FFFFFF"/>
          </a:solidFill>
          <a:ln w="12700">
            <a:solidFill>
              <a:srgbClr val="E2E8F0"/>
            </a:solidFill>
            <a:prstDash val="solid"/>
          </a:ln>
          <a:effectLst>
            <a:outerShdw sx="100000" sy="100000" kx="0" ky="0" algn="bl" rotWithShape="0" blurRad="101600" dist="38100" dir="8100000">
              <a:srgbClr val="000000">
                <a:alpha val="12000"/>
              </a:srgbClr>
            </a:outerShdw>
          </a:effectLst>
        </p:spPr>
      </p:sp>
      <p:sp>
        <p:nvSpPr>
          <p:cNvPr id="48" name="Shape 46"/>
          <p:cNvSpPr/>
          <p:nvPr/>
        </p:nvSpPr>
        <p:spPr>
          <a:xfrm>
            <a:off x="274320" y="3822192"/>
            <a:ext cx="8595360" cy="320040"/>
          </a:xfrm>
          <a:prstGeom prst="rect">
            <a:avLst/>
          </a:prstGeom>
          <a:solidFill>
            <a:srgbClr val="16A34A"/>
          </a:solidFill>
          <a:ln w="12700">
            <a:solidFill>
              <a:srgbClr val="16A34A"/>
            </a:solidFill>
            <a:prstDash val="solid"/>
          </a:ln>
        </p:spPr>
      </p:sp>
      <p:sp>
        <p:nvSpPr>
          <p:cNvPr id="49" name="Text 47"/>
          <p:cNvSpPr/>
          <p:nvPr/>
        </p:nvSpPr>
        <p:spPr>
          <a:xfrm>
            <a:off x="365760" y="3822192"/>
            <a:ext cx="8412480" cy="320040"/>
          </a:xfrm>
          <a:prstGeom prst="rect">
            <a:avLst/>
          </a:prstGeom>
          <a:noFill/>
          <a:ln/>
        </p:spPr>
        <p:txBody>
          <a:bodyPr wrap="square" lIns="0" tIns="0" rIns="0" bIns="0" rtlCol="0" anchor="ctr"/>
          <a:lstStyle/>
          <a:p>
            <a:pPr indent="0" marL="0">
              <a:buNone/>
            </a:pPr>
            <a:r>
              <a:rPr lang="en-US" sz="1200" b="1" dirty="0">
                <a:solidFill>
                  <a:srgbClr val="FFFFFF"/>
                </a:solidFill>
              </a:rPr>
              <a:t>Relationship Key</a:t>
            </a:r>
            <a:endParaRPr lang="en-US" sz="1200" dirty="0"/>
          </a:p>
        </p:txBody>
      </p:sp>
      <p:sp>
        <p:nvSpPr>
          <p:cNvPr id="50" name="Text 48"/>
          <p:cNvSpPr/>
          <p:nvPr/>
        </p:nvSpPr>
        <p:spPr>
          <a:xfrm>
            <a:off x="411480" y="4206240"/>
            <a:ext cx="4206240" cy="310896"/>
          </a:xfrm>
          <a:prstGeom prst="rect">
            <a:avLst/>
          </a:prstGeom>
          <a:noFill/>
          <a:ln/>
        </p:spPr>
        <p:txBody>
          <a:bodyPr wrap="square" lIns="0" tIns="0" rIns="0" bIns="0" rtlCol="0" anchor="ctr"/>
          <a:lstStyle/>
          <a:p>
            <a:pPr indent="0" marL="0">
              <a:buNone/>
            </a:pPr>
            <a:r>
              <a:rPr lang="en-US" sz="1100" b="1" dirty="0">
                <a:solidFill>
                  <a:srgbClr val="1E293B"/>
                </a:solidFill>
              </a:rPr>
              <a:t>User → Playlist  </a:t>
            </a:r>
            <a:pPr indent="0" marL="0">
              <a:buNone/>
            </a:pPr>
            <a:r>
              <a:rPr lang="en-US" sz="1100" dirty="0">
                <a:solidFill>
                  <a:srgbClr val="16A34A"/>
                </a:solidFill>
                <a:latin typeface="Consolas" pitchFamily="34" charset="0"/>
                <a:ea typeface="Consolas" pitchFamily="34" charset="-122"/>
                <a:cs typeface="Consolas" pitchFamily="34" charset="-120"/>
              </a:rPr>
              <a:t>Composition  (◆──)  </a:t>
            </a:r>
            <a:pPr indent="0" marL="0">
              <a:buNone/>
            </a:pPr>
            <a:r>
              <a:rPr lang="en-US" sz="1100" i="1" dirty="0">
                <a:solidFill>
                  <a:srgbClr val="94A3B8"/>
                </a:solidFill>
              </a:rPr>
              <a:t>Playlist cannot exist without a User</a:t>
            </a:r>
            <a:endParaRPr lang="en-US" sz="1100" dirty="0"/>
          </a:p>
        </p:txBody>
      </p:sp>
      <p:sp>
        <p:nvSpPr>
          <p:cNvPr id="51" name="Text 49"/>
          <p:cNvSpPr/>
          <p:nvPr/>
        </p:nvSpPr>
        <p:spPr>
          <a:xfrm>
            <a:off x="4754880" y="4206240"/>
            <a:ext cx="4206240" cy="310896"/>
          </a:xfrm>
          <a:prstGeom prst="rect">
            <a:avLst/>
          </a:prstGeom>
          <a:noFill/>
          <a:ln/>
        </p:spPr>
        <p:txBody>
          <a:bodyPr wrap="square" lIns="0" tIns="0" rIns="0" bIns="0" rtlCol="0" anchor="ctr"/>
          <a:lstStyle/>
          <a:p>
            <a:pPr indent="0" marL="0">
              <a:buNone/>
            </a:pPr>
            <a:r>
              <a:rPr lang="en-US" sz="1100" b="1" dirty="0">
                <a:solidFill>
                  <a:srgbClr val="1E293B"/>
                </a:solidFill>
              </a:rPr>
              <a:t>Playlist → Song  </a:t>
            </a:r>
            <a:pPr indent="0" marL="0">
              <a:buNone/>
            </a:pPr>
            <a:r>
              <a:rPr lang="en-US" sz="1100" dirty="0">
                <a:solidFill>
                  <a:srgbClr val="16A34A"/>
                </a:solidFill>
                <a:latin typeface="Consolas" pitchFamily="34" charset="0"/>
                <a:ea typeface="Consolas" pitchFamily="34" charset="-122"/>
                <a:cs typeface="Consolas" pitchFamily="34" charset="-120"/>
              </a:rPr>
              <a:t>Association  (────)  </a:t>
            </a:r>
            <a:pPr indent="0" marL="0">
              <a:buNone/>
            </a:pPr>
            <a:r>
              <a:rPr lang="en-US" sz="1100" i="1" dirty="0">
                <a:solidFill>
                  <a:srgbClr val="94A3B8"/>
                </a:solidFill>
              </a:rPr>
              <a:t>Song can exist in multiple playlists</a:t>
            </a:r>
            <a:endParaRPr lang="en-US" sz="1100" dirty="0"/>
          </a:p>
        </p:txBody>
      </p:sp>
      <p:sp>
        <p:nvSpPr>
          <p:cNvPr id="52" name="Text 50"/>
          <p:cNvSpPr/>
          <p:nvPr/>
        </p:nvSpPr>
        <p:spPr>
          <a:xfrm>
            <a:off x="411480" y="4553712"/>
            <a:ext cx="4206240" cy="310896"/>
          </a:xfrm>
          <a:prstGeom prst="rect">
            <a:avLst/>
          </a:prstGeom>
          <a:noFill/>
          <a:ln/>
        </p:spPr>
        <p:txBody>
          <a:bodyPr wrap="square" lIns="0" tIns="0" rIns="0" bIns="0" rtlCol="0" anchor="ctr"/>
          <a:lstStyle/>
          <a:p>
            <a:pPr indent="0" marL="0">
              <a:buNone/>
            </a:pPr>
            <a:r>
              <a:rPr lang="en-US" sz="1100" b="1" dirty="0">
                <a:solidFill>
                  <a:srgbClr val="1E293B"/>
                </a:solidFill>
              </a:rPr>
              <a:t>Song → Artist  </a:t>
            </a:r>
            <a:pPr indent="0" marL="0">
              <a:buNone/>
            </a:pPr>
            <a:r>
              <a:rPr lang="en-US" sz="1100" dirty="0">
                <a:solidFill>
                  <a:srgbClr val="16A34A"/>
                </a:solidFill>
                <a:latin typeface="Consolas" pitchFamily="34" charset="0"/>
                <a:ea typeface="Consolas" pitchFamily="34" charset="-122"/>
                <a:cs typeface="Consolas" pitchFamily="34" charset="-120"/>
              </a:rPr>
              <a:t>Association  (────)  </a:t>
            </a:r>
            <a:pPr indent="0" marL="0">
              <a:buNone/>
            </a:pPr>
            <a:r>
              <a:rPr lang="en-US" sz="1100" i="1" dirty="0">
                <a:solidFill>
                  <a:srgbClr val="94A3B8"/>
                </a:solidFill>
              </a:rPr>
              <a:t>Each song belongs to one artist</a:t>
            </a:r>
            <a:endParaRPr lang="en-US" sz="1100" dirty="0"/>
          </a:p>
        </p:txBody>
      </p:sp>
      <p:sp>
        <p:nvSpPr>
          <p:cNvPr id="53" name="Text 51"/>
          <p:cNvSpPr/>
          <p:nvPr/>
        </p:nvSpPr>
        <p:spPr>
          <a:xfrm>
            <a:off x="4754880" y="4553712"/>
            <a:ext cx="4206240" cy="310896"/>
          </a:xfrm>
          <a:prstGeom prst="rect">
            <a:avLst/>
          </a:prstGeom>
          <a:noFill/>
          <a:ln/>
        </p:spPr>
        <p:txBody>
          <a:bodyPr wrap="square" lIns="0" tIns="0" rIns="0" bIns="0" rtlCol="0" anchor="ctr"/>
          <a:lstStyle/>
          <a:p>
            <a:pPr indent="0" marL="0">
              <a:buNone/>
            </a:pPr>
            <a:r>
              <a:rPr lang="en-US" sz="1100" b="1" dirty="0">
                <a:solidFill>
                  <a:srgbClr val="1E293B"/>
                </a:solidFill>
              </a:rPr>
              <a:t>User → Artist  </a:t>
            </a:r>
            <a:pPr indent="0" marL="0">
              <a:buNone/>
            </a:pPr>
            <a:r>
              <a:rPr lang="en-US" sz="1100" dirty="0">
                <a:solidFill>
                  <a:srgbClr val="16A34A"/>
                </a:solidFill>
                <a:latin typeface="Consolas" pitchFamily="34" charset="0"/>
                <a:ea typeface="Consolas" pitchFamily="34" charset="-122"/>
                <a:cs typeface="Consolas" pitchFamily="34" charset="-120"/>
              </a:rPr>
              <a:t>Association  (────)  </a:t>
            </a:r>
            <a:pPr indent="0" marL="0">
              <a:buNone/>
            </a:pPr>
            <a:r>
              <a:rPr lang="en-US" sz="1100" i="1" dirty="0">
                <a:solidFill>
                  <a:srgbClr val="94A3B8"/>
                </a:solidFill>
              </a:rPr>
              <a:t>User follows an Artist (many-to-many)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B3.1.2 Designing Classes – Extended</dc:title>
  <dc:subject>PptxGenJS Presentation</dc:subject>
  <dc:creator>PptxGenJS</dc:creator>
  <cp:lastModifiedBy>PptxGenJS</cp:lastModifiedBy>
  <cp:revision>1</cp:revision>
  <dcterms:created xsi:type="dcterms:W3CDTF">2026-04-12T11:00:54Z</dcterms:created>
  <dcterms:modified xsi:type="dcterms:W3CDTF">2026-04-12T11:00:54Z</dcterms:modified>
</cp:coreProperties>
</file>