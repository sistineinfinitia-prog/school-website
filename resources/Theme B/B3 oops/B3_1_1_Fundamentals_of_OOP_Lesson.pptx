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3.1.1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70-Minute Lesson  •  HL &amp; SL Differentiated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1508760" cy="274320"/>
          </a:xfrm>
          <a:prstGeom prst="rect">
            <a:avLst/>
          </a:prstGeom>
          <a:solidFill>
            <a:srgbClr val="2D3A8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4251960"/>
            <a:ext cx="1508760" cy="274320"/>
          </a:xfrm>
          <a:prstGeom prst="rect">
            <a:avLst/>
          </a:prstGeom>
          <a:solidFill>
            <a:srgbClr val="2D3A8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59936" y="4251960"/>
            <a:ext cx="1508760" cy="274320"/>
          </a:xfrm>
          <a:prstGeom prst="rect">
            <a:avLst/>
          </a:prstGeom>
          <a:solidFill>
            <a:srgbClr val="2D3A8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9936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24144" y="4251960"/>
            <a:ext cx="1508760" cy="274320"/>
          </a:xfrm>
          <a:prstGeom prst="rect">
            <a:avLst/>
          </a:prstGeom>
          <a:solidFill>
            <a:srgbClr val="2D3A8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88352" y="4251960"/>
            <a:ext cx="1508760" cy="274320"/>
          </a:xfrm>
          <a:prstGeom prst="rect">
            <a:avLst/>
          </a:prstGeom>
          <a:solidFill>
            <a:srgbClr val="2D3A8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minutes — what we'll cover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508760" cy="21945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1508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74520" y="2148840"/>
            <a:ext cx="173736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48256" y="1143000"/>
            <a:ext cx="1508760" cy="21945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48256" y="1280160"/>
            <a:ext cx="1508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8256" y="2743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10–35 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57016" y="2148840"/>
            <a:ext cx="173736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1143000"/>
            <a:ext cx="1508760" cy="2194560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0752" y="1280160"/>
            <a:ext cx="1508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2743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 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39512" y="2148840"/>
            <a:ext cx="173736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143000"/>
            <a:ext cx="1508760" cy="2194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13248" y="1280160"/>
            <a:ext cx="1508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Drawbacks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13248" y="2743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22008" y="2148840"/>
            <a:ext cx="173736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5744" y="1143000"/>
            <a:ext cx="150876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95744" y="1280160"/>
            <a:ext cx="15087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95744" y="2743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65–70 min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66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8587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 and distinguish Classes, Objects, Inheritance, Encapsulation and Polymorphism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the advantages and disadvantages of OOP in different programming contexts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Activity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— choose your path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3840480" cy="3520440"/>
          </a:xfrm>
          <a:prstGeom prst="rect">
            <a:avLst/>
          </a:prstGeom>
          <a:solidFill>
            <a:srgbClr val="E0FDF4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430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3566160" cy="2880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list of items below.
Group them into: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Blueprint / Template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Specific Instance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Dog breed (Labrador), a specific dog called 'Buddy', Recipe for chocolate cake, a cake baked on Monday, Car model Ford Focus, your friend's red car, Employee contract template, 'John Smith' (employee #1042)
</a:t>
            </a:r>
            <a:pPr indent="0" marL="0">
              <a:buNone/>
            </a:pPr>
            <a:r>
              <a:rPr lang="en-US" sz="10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Discussion: What do these two categories remind you of in programming?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206240" cy="3520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4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430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Analogy Challenge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393192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School Management System.
Draw a mini-diagram showing: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classes with their attributes &amp; methods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inheritance relationship (use arrows)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of encapsulation — which data is private?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where polymorphism could apply
</a:t>
            </a:r>
            <a:pPr indent="0" marL="0">
              <a:buNone/>
            </a:pPr>
            <a:r>
              <a:rPr lang="en-US" sz="10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Be ready to explain your diagram to the class.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— The Blueprints of Reality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13816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 is a blueprint or template that defines the characteristics (data) and behaviours (methods) that objects will possess."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690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54864" cy="2880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(Data)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stored inside the class that describe the object.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example: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colour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make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number_of_wheels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920240"/>
            <a:ext cx="40690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920240"/>
            <a:ext cx="54864" cy="2880360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011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(Behaviours)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04288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defined inside the class that describe what an object can do.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example: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start_engine()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accelerate()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brake()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turn()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800600"/>
            <a:ext cx="8412480" cy="210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 class provides an abstract definition — it specifies what will be stored and what can be done, without creating any specific instance yet.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— Bringing Classes to Life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solidFill>
            <a:srgbClr val="E0FDF4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 specific instance of a class — memory is allocated and concrete values are assigned to the attributes.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3017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3017520" cy="38404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Car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274320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colour, make, model
  number_of_wheels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start_engine()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accelerate()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brake(), turn()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3154680"/>
            <a:ext cx="45720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 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783080"/>
            <a:ext cx="4297680" cy="2926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783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OBJECT: car1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2103120"/>
            <a:ext cx="402336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 = "Red"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= "Ford"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"Focus"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wheels =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315468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3154680"/>
            <a:ext cx="4297680" cy="2926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OBJECT: car2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3474720"/>
            <a:ext cx="402336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 = "Blue"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= "Toyota"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"Yaris"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wheels =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8412480" cy="210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Objects interact by calling each other's methods — this forms the basis of how OOP programs function.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— Building on Existing Foundations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8138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inherits attributes &amp; methods from a superclass. This creates "is-a" relationships and promotes code reusability.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73736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71800" y="1737360"/>
            <a:ext cx="320040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Superclass: Vehicle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084832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speed, engine_type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44568" y="2788920"/>
            <a:ext cx="54864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136392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36392"/>
            <a:ext cx="2651760" cy="2926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363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Subclass: Car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Inherits: speed, engine_type, move()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+number_of_doors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+radio()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3136392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3136392"/>
            <a:ext cx="2651760" cy="2926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1363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Subclass: Bicycle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456432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Inherits: speed, engine_type, move()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+number_of_gears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+ring_bell()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136392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4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136392"/>
            <a:ext cx="2651760" cy="292608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1363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Subclass: Motorcycle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456432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Inherits: speed, engine_type, move()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+sidecar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+rev_engine()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800600"/>
            <a:ext cx="8412480" cy="210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HL Extension: Study B 3.2.1 for deep dives into method overriding and abstract classes in Java &amp; Python.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— Protecting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8138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bundles data and methods into one unit and restricts direct access to internal data — also known as information hiding.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737360"/>
            <a:ext cx="6400800" cy="2907792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Object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2148840"/>
            <a:ext cx="2560320" cy="22860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1500.00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owner_id = 42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pin_hash = "a3f..."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148840"/>
            <a:ext cx="2560320" cy="22860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PUBLIC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deposit(amount)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withdraw(amount)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get_balance()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3063240"/>
            <a:ext cx="54864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8163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4800600"/>
            <a:ext cx="8412480" cy="210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Direct access to balance is blocked. All changes MUST go through deposit() or withdraw() — ensuring data integrity.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— Many Forms, One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solidFill>
            <a:srgbClr val="FFF0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8138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allows objects of different classes to respond to the same method call in their own specific way. Achieved via method overriding.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377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vehicle.move()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44568" y="2304288"/>
            <a:ext cx="54864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24328"/>
            <a:ext cx="585216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79192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79192"/>
            <a:ext cx="2697480" cy="3200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9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Car.move()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5146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Ignites engine,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gears,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wheels via drivetrain.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91640" y="2624328"/>
            <a:ext cx="54864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679192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679192"/>
            <a:ext cx="2697480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79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  Bicycle.move()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017520"/>
            <a:ext cx="25146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pedalling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via chain 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wheel.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624328"/>
            <a:ext cx="54864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679192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679192"/>
            <a:ext cx="2697480" cy="320040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679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Motorcycle.move()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017520"/>
            <a:ext cx="25146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engine,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clutch,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throttle.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2624328"/>
            <a:ext cx="54864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800600"/>
            <a:ext cx="8412480" cy="210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Same method call, different execution. Write once, works for all — reducing conditional logic and increasing adaptability.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Task — Design a Class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Practice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8412480" cy="3246120"/>
          </a:xfrm>
          <a:prstGeom prst="rect">
            <a:avLst/>
          </a:prstGeom>
          <a:solidFill>
            <a:srgbClr val="F0FDF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Library System — Design a Book Class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795528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 least 4 attributes for a Book class (e.g. title, author…)
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 methods the Book class should have
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Book objects with specific attribute values
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simple class diagram showing your design
</a:t>
            </a:r>
            <a:pPr indent="0" marL="0">
              <a:buNone/>
            </a:pPr>
            <a:r>
              <a:rPr lang="en-US" sz="12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Car/BankAccount examples from the slides as models.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E5E9F2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Stretch: Add an EBook subclass that inherits from Book and adds its own attributes/methods. What does it inherit?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Task — Evaluate OOP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Challenge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4160520" cy="3246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4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71600"/>
            <a:ext cx="4160520" cy="347472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Design &amp; Polymorphism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384048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Transport Management System: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Vehicle superclass with speed, fuelType, and a move() method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Car, ElectricCar, and Bicycle subclasses — each overrides move() differently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Show how polymorphism works: write pseudocode that loops through a list of Vehicle objects and calls move() on each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Identify which data should be private and justify your choice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416052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371600"/>
            <a:ext cx="416052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371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Critical Evaluation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3840480" cy="2697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this scenario:
</a:t>
            </a:r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is building a simple Python script to rename 200 files in a folder. One developer wants to use OOP (create File, Renamer, and Logger classes). Another says a 20-line procedural script is enough.
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structured response (aim for 150–200 words) that: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Argues for both sides using OOP concepts from the lesson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Gives a justified recommendation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correct terminology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E5E9F2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Bonus: Compare OOP vs functional programming for a data-processing pipeline scenario.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 of 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Paradigm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6052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35608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435608"/>
            <a:ext cx="27249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problems into self-contained objects — aligns with decomposition.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56816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956816"/>
            <a:ext cx="27249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us build on tested, established code, reducing duplication.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59736"/>
            <a:ext cx="416052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78024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478024"/>
            <a:ext cx="27249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limits the impact of changes to one part of the system.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2999232"/>
            <a:ext cx="27249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enables generic code that adapts to new types easily.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02152"/>
            <a:ext cx="416052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Modelling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3520440"/>
            <a:ext cx="27249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mapping to entities makes design and communication clearer.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41648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4041648"/>
            <a:ext cx="27249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complexity; users of a class only need to know its public interface.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1051560"/>
            <a:ext cx="41605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051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Disadvantages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1417320"/>
            <a:ext cx="416052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435608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Overhead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1435608"/>
            <a:ext cx="267919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small/simple problems — procedural is often cleaner.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1938528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956816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1956816"/>
            <a:ext cx="267919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 take time to master.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459736"/>
            <a:ext cx="416052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478024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Codebase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9320" y="2478024"/>
            <a:ext cx="267919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class hierarchies can increase code volume.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980944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999232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2999232"/>
            <a:ext cx="267919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Method-passing at runtime adds slight overhead vs direct calls.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3502152"/>
            <a:ext cx="416052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520440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Best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89320" y="3520440"/>
            <a:ext cx="267919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paradigm may be more elegant for data pipelines.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823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The best approach depends on the project. OOP shines for large, complex systems; procedural or functional may suit simpler tasks better.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Quick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82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7955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411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7899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152144"/>
            <a:ext cx="6858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class and an object?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3441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344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796528" y="13441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1344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93392"/>
            <a:ext cx="7955280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93392"/>
            <a:ext cx="411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9339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066544"/>
            <a:ext cx="6858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real-world example of inheritance and name the superclass and subclass.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22585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258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796528" y="22585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96528" y="2258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07792"/>
            <a:ext cx="7955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07792"/>
            <a:ext cx="411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0779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2980944"/>
            <a:ext cx="6858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BankAccount class, which attribute would be private and why?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0" y="31729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3172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96528" y="31729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6528" y="3172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7955280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822192"/>
            <a:ext cx="411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2219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" y="3895344"/>
            <a:ext cx="6858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scenario where OOP would NOT be the best choice. Justify your answer.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55280" y="4087368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4087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823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Write your answers on paper or post-its — hand them in as you leave. No names needed!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444752" cy="1005840"/>
          </a:xfrm>
          <a:prstGeom prst="rect">
            <a:avLst/>
          </a:prstGeom>
          <a:solidFill>
            <a:srgbClr val="1E2E5C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144475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for objects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04288" y="1005840"/>
            <a:ext cx="1444752" cy="1005840"/>
          </a:xfrm>
          <a:prstGeom prst="rect">
            <a:avLst/>
          </a:prstGeom>
          <a:solidFill>
            <a:srgbClr val="1E2E5C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04288" y="1051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04288" y="1490472"/>
            <a:ext cx="144475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with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77056" y="1005840"/>
            <a:ext cx="1444752" cy="1005840"/>
          </a:xfrm>
          <a:prstGeom prst="rect">
            <a:avLst/>
          </a:prstGeom>
          <a:solidFill>
            <a:srgbClr val="1E2E5C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77056" y="1051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77056" y="1490472"/>
            <a:ext cx="144475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&amp; extending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9824" y="1005840"/>
            <a:ext cx="1444752" cy="1005840"/>
          </a:xfrm>
          <a:prstGeom prst="rect">
            <a:avLst/>
          </a:prstGeom>
          <a:solidFill>
            <a:srgbClr val="1E2E5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9824" y="1051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9824" y="1490472"/>
            <a:ext cx="144475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22592" y="1005840"/>
            <a:ext cx="1444752" cy="1005840"/>
          </a:xfrm>
          <a:prstGeom prst="rect">
            <a:avLst/>
          </a:prstGeom>
          <a:solidFill>
            <a:srgbClr val="1E2E5C"/>
          </a:solidFill>
          <a:ln w="12700">
            <a:solidFill>
              <a:srgbClr val="F4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22592" y="1051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2592" y="1490472"/>
            <a:ext cx="144475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call, many forms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194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2578608"/>
            <a:ext cx="3657600" cy="1828800"/>
          </a:xfrm>
          <a:prstGeom prst="rect">
            <a:avLst/>
          </a:prstGeom>
          <a:solidFill>
            <a:srgbClr val="1A3A4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578608"/>
            <a:ext cx="3657600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— Next Lesson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944368"/>
            <a:ext cx="3383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 3.1.4 — Classes &amp; Instantiation (Python or Java)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3383280"/>
            <a:ext cx="3383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 3.1.5 — Encapsulation in depth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3822192"/>
            <a:ext cx="3383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Practice: Build the Book/Library system in code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578608"/>
            <a:ext cx="4023360" cy="1828800"/>
          </a:xfrm>
          <a:prstGeom prst="rect">
            <a:avLst/>
          </a:prstGeom>
          <a:solidFill>
            <a:srgbClr val="2A1F00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578608"/>
            <a:ext cx="4023360" cy="320040"/>
          </a:xfrm>
          <a:prstGeom prst="rect">
            <a:avLst/>
          </a:prstGeom>
          <a:solidFill>
            <a:srgbClr val="F4732A"/>
          </a:solidFill>
          <a:ln w="12700">
            <a:solidFill>
              <a:srgbClr val="F47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78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— Next Lesson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 3.2.1 — Inheritance (HL Only)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383280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 3.2.2 — Polymorphism (HL Only)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822192"/>
            <a:ext cx="3749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Complete the evaluation essay from today's task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3.1.1 Fundamentals of OOP</dc:title>
  <dc:subject>PptxGenJS Presentation</dc:subject>
  <dc:creator>PptxGenJS</dc:creator>
  <cp:lastModifiedBy>PptxGenJS</cp:lastModifiedBy>
  <cp:revision>1</cp:revision>
  <dcterms:created xsi:type="dcterms:W3CDTF">2026-04-08T14:51:35Z</dcterms:created>
  <dcterms:modified xsi:type="dcterms:W3CDTF">2026-04-08T14:51:35Z</dcterms:modified>
</cp:coreProperties>
</file>