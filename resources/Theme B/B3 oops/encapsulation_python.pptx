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7432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B3.1.5  ·  Python OOP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6217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Encapsulation &amp;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Information Hiding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11480" y="2267712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i="1" dirty="0">
                <a:solidFill>
                  <a:srgbClr val="9B72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Python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2852928"/>
            <a:ext cx="2194560" cy="457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0175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and apply encapsulation and information hiding concepts in OOP.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49440" y="914400"/>
            <a:ext cx="1920240" cy="1463040"/>
          </a:xfrm>
          <a:prstGeom prst="rect">
            <a:avLst>
              <a:gd name="adj" fmla="val 6250"/>
            </a:avLst>
          </a:prstGeom>
          <a:solidFill>
            <a:srgbClr val="16213E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06640" y="502920"/>
            <a:ext cx="1005840" cy="685800"/>
          </a:xfrm>
          <a:prstGeom prst="ellipse">
            <a:avLst/>
          </a:prstGeom>
          <a:solidFill>
            <a:srgbClr val="000000">
              <a:alpha val="0"/>
            </a:srgbClr>
          </a:solidFill>
          <a:ln w="50800">
            <a:solidFill>
              <a:srgbClr val="7B2F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18120" y="795528"/>
            <a:ext cx="137160" cy="2743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10058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🔒</a:t>
            </a:r>
            <a:endParaRPr lang="en-US" sz="5600" dirty="0"/>
          </a:p>
        </p:txBody>
      </p:sp>
      <p:sp>
        <p:nvSpPr>
          <p:cNvPr id="12" name="Shape 10"/>
          <p:cNvSpPr/>
          <p:nvPr/>
        </p:nvSpPr>
        <p:spPr>
          <a:xfrm>
            <a:off x="411480" y="4160520"/>
            <a:ext cx="2743200" cy="34747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1605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37560" y="4160520"/>
            <a:ext cx="274320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41605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Hiding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4160520"/>
            <a:ext cx="274320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41605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Modifiers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🚀  Starter Activity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4241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 Think: What does the 'Lock' icon on your phone do? What is hidden from you, and what can you still control?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64208"/>
            <a:ext cx="2651760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55648"/>
            <a:ext cx="347472" cy="347472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55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6968" y="177393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Analogy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" y="2176272"/>
            <a:ext cx="245059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TV remote has buttons (public).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circuit board is hidden inside (private).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Name TWO other real-world examples where you use something without seeing its internals.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would go wrong if the internals were fully exposed?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1664208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664208"/>
            <a:ext cx="2651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755648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755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21608" y="177393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Spot the Prefix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10128" y="2176272"/>
            <a:ext cx="245059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_ before a name suggest in Python?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__ before a name trigger (name mangling)?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 example attribute name for each: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Public:    ___________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Protected: ___________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Private:   ___________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35040" y="1664208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664208"/>
            <a:ext cx="265176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755648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755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56248" y="177393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True or False?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44768" y="2176272"/>
            <a:ext cx="245059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All Python attributes are public by default.  T / F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Using __ makes an attribute truly inaccessible.  T / F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Getter methods allow controlled read access.  T / F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You can directly call __color on a Car object.  T / F</a:t>
            </a:r>
            <a:endParaRPr lang="en-US" sz="1050" dirty="0"/>
          </a:p>
          <a:p>
            <a:pPr algn="l"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E) Encapsulation only matters for large programs.  T / F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5 minutes  ·  Work independently, then discuss with a partner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Concepts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60520" cy="1874520"/>
          </a:xfrm>
          <a:prstGeom prst="rect">
            <a:avLst/>
          </a:prstGeom>
          <a:solidFill>
            <a:srgbClr val="F0EEFF"/>
          </a:solidFill>
          <a:ln w="12700">
            <a:solidFill>
              <a:srgbClr val="9B72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64008" cy="18745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698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B2F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📦  Encapsulation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426464"/>
            <a:ext cx="39319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Bundling data (attributes) and methods together inside a single unit — the class.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wrapping a gift: the contents and behaviour are contained inside the packaging.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160520" cy="1874520"/>
          </a:xfrm>
          <a:prstGeom prst="rect">
            <a:avLst/>
          </a:prstGeom>
          <a:solidFill>
            <a:srgbClr val="F0EEFF"/>
          </a:solidFill>
          <a:ln w="12700">
            <a:solidFill>
              <a:srgbClr val="9B72C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05840"/>
            <a:ext cx="64008" cy="1874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0698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🔒  Information Hiding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00600" y="1426464"/>
            <a:ext cx="393192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Restricting access to internal details, exposing only what's needed.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TV remote: you press buttons (public interface) without accessing the circuit board (private implementation).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0040" y="301752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Levels in Python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20040" y="3383280"/>
            <a:ext cx="1371600" cy="429768"/>
          </a:xfrm>
          <a:prstGeom prst="rect">
            <a:avLst/>
          </a:prstGeom>
          <a:solidFill>
            <a:srgbClr val="1A1A2E"/>
          </a:solidFill>
          <a:ln w="6350">
            <a:solidFill>
              <a:srgbClr val="E0D8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3383280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91640" y="3383280"/>
            <a:ext cx="1645920" cy="429768"/>
          </a:xfrm>
          <a:prstGeom prst="rect">
            <a:avLst/>
          </a:prstGeom>
          <a:solidFill>
            <a:srgbClr val="1A1A2E"/>
          </a:solidFill>
          <a:ln w="6350">
            <a:solidFill>
              <a:srgbClr val="E0D8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64792" y="3383280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Convention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337560" y="3383280"/>
            <a:ext cx="1645920" cy="429768"/>
          </a:xfrm>
          <a:prstGeom prst="rect">
            <a:avLst/>
          </a:prstGeom>
          <a:solidFill>
            <a:srgbClr val="1A1A2E"/>
          </a:solidFill>
          <a:ln w="6350">
            <a:solidFill>
              <a:srgbClr val="E0D8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0712" y="3383280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83480" y="3383280"/>
            <a:ext cx="3566160" cy="429768"/>
          </a:xfrm>
          <a:prstGeom prst="rect">
            <a:avLst/>
          </a:prstGeom>
          <a:solidFill>
            <a:srgbClr val="1A1A2E"/>
          </a:solidFill>
          <a:ln w="6350">
            <a:solidFill>
              <a:srgbClr val="E0D8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56632" y="3383280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Accessible from...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3813048"/>
            <a:ext cx="1371600" cy="429768"/>
          </a:xfrm>
          <a:prstGeom prst="rect">
            <a:avLst/>
          </a:prstGeom>
          <a:solidFill>
            <a:srgbClr val="7B2FBE"/>
          </a:solidFill>
          <a:ln w="6350">
            <a:solidFill>
              <a:srgbClr val="E0D8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3813048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691640" y="3813048"/>
            <a:ext cx="1645920" cy="429768"/>
          </a:xfrm>
          <a:prstGeom prst="rect">
            <a:avLst/>
          </a:prstGeom>
          <a:solidFill>
            <a:srgbClr val="F8F5FF"/>
          </a:solidFill>
          <a:ln w="6350">
            <a:solidFill>
              <a:srgbClr val="E0D8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64792" y="3813048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prefix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337560" y="3813048"/>
            <a:ext cx="1645920" cy="429768"/>
          </a:xfrm>
          <a:prstGeom prst="rect">
            <a:avLst/>
          </a:prstGeom>
          <a:solidFill>
            <a:srgbClr val="F8F5FF"/>
          </a:solidFill>
          <a:ln w="6350">
            <a:solidFill>
              <a:srgbClr val="E0D8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0712" y="3813048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983480" y="3813048"/>
            <a:ext cx="3566160" cy="429768"/>
          </a:xfrm>
          <a:prstGeom prst="rect">
            <a:avLst/>
          </a:prstGeom>
          <a:solidFill>
            <a:srgbClr val="F8F5FF"/>
          </a:solidFill>
          <a:ln w="6350">
            <a:solidFill>
              <a:srgbClr val="E0D8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56632" y="3813048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20040" y="4242816"/>
            <a:ext cx="1371600" cy="429768"/>
          </a:xfrm>
          <a:prstGeom prst="rect">
            <a:avLst/>
          </a:prstGeom>
          <a:solidFill>
            <a:srgbClr val="2563EB"/>
          </a:solidFill>
          <a:ln w="6350">
            <a:solidFill>
              <a:srgbClr val="E0D8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" y="4242816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691640" y="4242816"/>
            <a:ext cx="1645920" cy="429768"/>
          </a:xfrm>
          <a:prstGeom prst="rect">
            <a:avLst/>
          </a:prstGeom>
          <a:solidFill>
            <a:srgbClr val="F0EEFF"/>
          </a:solidFill>
          <a:ln w="6350">
            <a:solidFill>
              <a:srgbClr val="E0D8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64792" y="4242816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underscore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337560" y="4242816"/>
            <a:ext cx="1645920" cy="429768"/>
          </a:xfrm>
          <a:prstGeom prst="rect">
            <a:avLst/>
          </a:prstGeom>
          <a:solidFill>
            <a:srgbClr val="F0EEFF"/>
          </a:solidFill>
          <a:ln w="6350">
            <a:solidFill>
              <a:srgbClr val="E0D8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10712" y="4242816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_speed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983480" y="4242816"/>
            <a:ext cx="3566160" cy="429768"/>
          </a:xfrm>
          <a:prstGeom prst="rect">
            <a:avLst/>
          </a:prstGeom>
          <a:solidFill>
            <a:srgbClr val="F0EEFF"/>
          </a:solidFill>
          <a:ln w="6350">
            <a:solidFill>
              <a:srgbClr val="E0D8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56632" y="4242816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+ subclasses (by convention)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320040" y="4672584"/>
            <a:ext cx="1371600" cy="429768"/>
          </a:xfrm>
          <a:prstGeom prst="rect">
            <a:avLst/>
          </a:prstGeom>
          <a:solidFill>
            <a:srgbClr val="059669"/>
          </a:solidFill>
          <a:ln w="6350">
            <a:solidFill>
              <a:srgbClr val="E0D8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3192" y="4672584"/>
            <a:ext cx="1280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1691640" y="4672584"/>
            <a:ext cx="1645920" cy="429768"/>
          </a:xfrm>
          <a:prstGeom prst="rect">
            <a:avLst/>
          </a:prstGeom>
          <a:solidFill>
            <a:srgbClr val="F8F5FF"/>
          </a:solidFill>
          <a:ln w="6350">
            <a:solidFill>
              <a:srgbClr val="E0D8F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64792" y="4672584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underscore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3337560" y="4672584"/>
            <a:ext cx="1645920" cy="429768"/>
          </a:xfrm>
          <a:prstGeom prst="rect">
            <a:avLst/>
          </a:prstGeom>
          <a:solidFill>
            <a:srgbClr val="F8F5FF"/>
          </a:solidFill>
          <a:ln w="6350">
            <a:solidFill>
              <a:srgbClr val="E0D8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10712" y="4672584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__color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983480" y="4672584"/>
            <a:ext cx="3566160" cy="429768"/>
          </a:xfrm>
          <a:prstGeom prst="rect">
            <a:avLst/>
          </a:prstGeom>
          <a:solidFill>
            <a:srgbClr val="F8F5FF"/>
          </a:solidFill>
          <a:ln w="6350">
            <a:solidFill>
              <a:srgbClr val="E0D8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56632" y="4672584"/>
            <a:ext cx="3474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only (name mangling applied)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Applying Encapsulation: The Car Class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4663440" cy="3977640"/>
          </a:xfrm>
          <a:prstGeom prst="rect">
            <a:avLst/>
          </a:prstGeom>
          <a:solidFill>
            <a:srgbClr val="0D1117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87552"/>
            <a:ext cx="1097280" cy="24688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87552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car.py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80160"/>
            <a:ext cx="44805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algn="l" indent="0" marL="0">
              <a:buNone/>
            </a:pPr>
            <a:r>
              <a:rPr lang="en-US" sz="9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</a:t>
            </a:r>
            <a:pPr algn="l"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model, color):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</a:t>
            </a:r>
            <a:pPr algn="l"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_model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model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</a:t>
            </a:r>
            <a:pPr algn="l" indent="0" marL="0">
              <a:buNone/>
            </a:pPr>
            <a:r>
              <a:rPr lang="en-US" sz="950" dirty="0">
                <a:solidFill>
                  <a:srgbClr val="F48F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__color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color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</a:t>
            </a:r>
            <a:pPr algn="l"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_speed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algn="l" indent="0" marL="0"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</a:t>
            </a:r>
            <a:pPr algn="l"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get_color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self.</a:t>
            </a:r>
            <a:pPr algn="l" indent="0" marL="0">
              <a:buNone/>
            </a:pPr>
            <a:r>
              <a:rPr lang="en-US" sz="950" dirty="0">
                <a:solidFill>
                  <a:srgbClr val="F48F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__color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</a:t>
            </a:r>
            <a:pPr algn="l"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set_color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new_color):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new_color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.strip():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self.</a:t>
            </a:r>
            <a:pPr algn="l" indent="0" marL="0">
              <a:buNone/>
            </a:pPr>
            <a:r>
              <a:rPr lang="en-US" sz="950" dirty="0">
                <a:solidFill>
                  <a:srgbClr val="F48F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__color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new_color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print(</a:t>
            </a:r>
            <a:pPr algn="l" indent="0" marL="0">
              <a:buNone/>
            </a:pPr>
            <a:r>
              <a:rPr lang="en-US" sz="9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"Invalid color"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</a:t>
            </a:r>
            <a:pPr algn="l" indent="0" marL="0">
              <a:buNone/>
            </a:pPr>
            <a:r>
              <a:rPr lang="en-US" sz="9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accelerate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inc):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 &gt; </a:t>
            </a:r>
            <a:pPr algn="l" indent="0" marL="0">
              <a:buNone/>
            </a:pPr>
            <a:r>
              <a:rPr lang="en-US" sz="95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self.</a:t>
            </a:r>
            <a:pPr algn="l"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_speed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+= inc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120640" y="1600200"/>
            <a:ext cx="54864" cy="594360"/>
          </a:xfrm>
          <a:prstGeom prst="rect">
            <a:avLst/>
          </a:prstGeom>
          <a:solidFill>
            <a:srgbClr val="9CDCFE"/>
          </a:solidFill>
          <a:ln w="12700">
            <a:solidFill>
              <a:srgbClr val="9CDC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57800" y="1600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DCF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_model  →  Protected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57800" y="18745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underscore: for use inside class and subclasses. Accessible but discouraged from outside.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120640" y="2176272"/>
            <a:ext cx="54864" cy="594360"/>
          </a:xfrm>
          <a:prstGeom prst="rect">
            <a:avLst/>
          </a:prstGeom>
          <a:solidFill>
            <a:srgbClr val="F48FB1"/>
          </a:solidFill>
          <a:ln w="12700">
            <a:solidFill>
              <a:srgbClr val="F48F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57800" y="2176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8FB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__color  →  Private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57800" y="24505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underscore: Python applies name mangling (becomes _Car__color). Strongly signals internal-only.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20640" y="2697480"/>
            <a:ext cx="54864" cy="594360"/>
          </a:xfrm>
          <a:prstGeom prst="rect">
            <a:avLst/>
          </a:prstGeom>
          <a:solidFill>
            <a:srgbClr val="DCDCAA"/>
          </a:solidFill>
          <a:ln w="12700">
            <a:solidFill>
              <a:srgbClr val="DCDC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2697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CDC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Getter Method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57800" y="29718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get_color() returns __color safely — the only approved way to read a private attribute.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120640" y="3310128"/>
            <a:ext cx="54864" cy="5943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7800" y="33101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Setter with Validation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57800" y="35844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set_color() checks the value before assigning — prevents invalid state (empty string rejected).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120640" y="3931920"/>
            <a:ext cx="54864" cy="5943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3931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 Behaviour Method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42062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accelerate() modifies _speed through controlled logic — includes a guard clause (inc &gt; 0).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Limit Access? The Benefits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416052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124712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🛡️  Data Integrity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9768" y="146304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Setter methods include validation logic, ensuring attributes can never be set to invalid values. The set_color() method rejects empty strings — you can't corrupt the object's state.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605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05840"/>
            <a:ext cx="416052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8888" y="1124712"/>
            <a:ext cx="3977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 Reduced Complexity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18888" y="146304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of the Car class only need to know: accelerate(), brake(), get_color(). They don't need to understand how speed is stored internally. Less to think about = fewer bugs.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578608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578608"/>
            <a:ext cx="2697480" cy="640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2697480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B2F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🔧  Flexibility &amp; Maintainability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9768" y="3035808"/>
            <a:ext cx="2514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completely change how _current_speed is calculated inside the class — as long as the public methods (interface) stay the same, no outside code breaks.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2578608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2578608"/>
            <a:ext cx="269748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2697480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🔐  Intended Privacy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55848" y="3035808"/>
            <a:ext cx="2514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__ convention signals to other developers: 'don't touch this directly'. While not enforced strictly in Python, it is a strong professional convention respected in all teams.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2578608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2578608"/>
            <a:ext cx="2697480" cy="640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81928" y="2697480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🏗️  Abstraction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81928" y="3035808"/>
            <a:ext cx="2514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 supports abstraction: focus on what an object does (public methods), not how it does it (private implementation). Higher-level, cleaner program design.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⭐  Task 1  ·  Bank Account — Getters &amp; Setters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132320" y="155448"/>
            <a:ext cx="1737360" cy="301752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155448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 ⭐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8503920" cy="475488"/>
          </a:xfrm>
          <a:prstGeom prst="rect">
            <a:avLst/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42416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Scenario: Model a bank account using encapsulation to protect the balance.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60934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Requirements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1956816"/>
            <a:ext cx="4160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Class: BankAccount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Constructor: owner (public), __balance (private, default = 0)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get_balance() → returns the private balance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deposit(amount) → adds to balance (reject if amount ≤ 0)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withdraw(amount) → deducts balance (reject if insufficient funds)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display() → prints: 'Owner: Alice | Balance: £150'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160934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Scaffold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63440" y="1956816"/>
            <a:ext cx="4206240" cy="2423160"/>
          </a:xfrm>
          <a:prstGeom prst="rect">
            <a:avLst/>
          </a:prstGeom>
          <a:solidFill>
            <a:srgbClr val="0D111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048256"/>
            <a:ext cx="40233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algn="l" indent="0" marL="0">
              <a:buNone/>
            </a:pPr>
            <a:r>
              <a:rPr lang="en-US" sz="10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BankAccount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</a:t>
            </a:r>
            <a:pPr algn="l"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owner):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self.owner = owner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</a:t>
            </a:r>
            <a:pPr algn="l" indent="0" marL="0">
              <a:buNone/>
            </a:pPr>
            <a:r>
              <a:rPr lang="en-US" sz="1000" dirty="0">
                <a:solidFill>
                  <a:srgbClr val="F48F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________</a:t>
            </a:r>
            <a:pPr algn="l"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0  # private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</a:t>
            </a:r>
            <a:pPr algn="l"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get_balance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return private balance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</a:t>
            </a:r>
            <a:pPr algn="l"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deposit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amount):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validate then add to balance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</a:t>
            </a:r>
            <a:pPr algn="l" indent="0" marL="0">
              <a:buNone/>
            </a:pPr>
            <a:r>
              <a:rPr lang="en-US" sz="10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withdraw</a:t>
            </a:r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amount):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validate then deduct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4453128"/>
            <a:ext cx="8503920" cy="54864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489704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Test it: Create 2 accounts. Deposit and withdraw. Try calling __balance directly — what happens? Use get_balance() instead.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⭐⭐  Task 2  ·  Student Records System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675120" y="155448"/>
            <a:ext cx="2194560" cy="301752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0" y="155448"/>
            <a:ext cx="2194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Challenging  ⭐⭐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8503920" cy="475488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42416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Scenario: A school stores student grades. The average and grades must be protected from direct manipulation.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59105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B2F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Class: Student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" y="1938528"/>
            <a:ext cx="41605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— public attribute</a:t>
            </a:r>
            <a:endParaRPr lang="en-US" sz="1150" dirty="0"/>
          </a:p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__grades — private list of integer grades (start empty)</a:t>
            </a:r>
            <a:endParaRPr lang="en-US" sz="1150" dirty="0"/>
          </a:p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add_grade(grade) — appends grade IF 0 ≤ grade ≤ 100</a:t>
            </a:r>
            <a:endParaRPr lang="en-US" sz="1150" dirty="0"/>
          </a:p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get_grades() — returns a copy of the grades list</a:t>
            </a:r>
            <a:endParaRPr lang="en-US" sz="1150" dirty="0"/>
          </a:p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get_average() — returns mean grade (0 if no grades)</a:t>
            </a:r>
            <a:endParaRPr lang="en-US" sz="1150" dirty="0"/>
          </a:p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display_report() — prints name, all grades, and average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591056"/>
            <a:ext cx="4206240" cy="278892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591056"/>
            <a:ext cx="420624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6642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3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🏆  Extension Challenges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1993392"/>
            <a:ext cx="3977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set_name(new_name) setter that rejects an empty name string — what exception or print message should you use?</a:t>
            </a:r>
            <a:endParaRPr lang="en-US" sz="110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remove_grade(index) method that removes a grade by index, with bounds checking to avoid an IndexError.</a:t>
            </a:r>
            <a:endParaRPr lang="en-US" sz="110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get_highest() and get_lowest() method. What should they return if the grades list is empty?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4453128"/>
            <a:ext cx="8503920" cy="548640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489704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Test it: Create 3 students with different grades. Try adding an invalid grade (e.g. 150) — does your validation stop it? Call display_report() on each.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229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⭐⭐⭐  Task 3  ·  Hospital Patient Records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92240" y="155448"/>
            <a:ext cx="2377440" cy="301752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0" y="155448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 ⭐⭐⭐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8503920" cy="475488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42416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Scenario: A hospital system stores patient data. Medical info must be strictly private; only authorised methods can modify it.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591056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Class: Patient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" y="1920240"/>
            <a:ext cx="4160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patient_id — public</a:t>
            </a:r>
            <a:endParaRPr lang="en-US" sz="1150" dirty="0"/>
          </a:p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__medical_history — private list (start empty)</a:t>
            </a:r>
            <a:endParaRPr lang="en-US" sz="1150" dirty="0"/>
          </a:p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__blood_type — private (set in constructor, no setter)</a:t>
            </a:r>
            <a:endParaRPr lang="en-US" sz="1150" dirty="0"/>
          </a:p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add_record(note) — appends string note to history</a:t>
            </a:r>
            <a:endParaRPr lang="en-US" sz="1150" dirty="0"/>
          </a:p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get_history() — returns copy of history (not direct reference)</a:t>
            </a:r>
            <a:endParaRPr lang="en-US" sz="1150" dirty="0"/>
          </a:p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get_blood_type() — read-only getter</a:t>
            </a:r>
            <a:endParaRPr lang="en-US" sz="1150" dirty="0"/>
          </a:p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display_summary() — prints formatted patient summary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591056"/>
            <a:ext cx="4206240" cy="1508760"/>
          </a:xfrm>
          <a:prstGeom prst="rect">
            <a:avLst/>
          </a:prstGeom>
          <a:solidFill>
            <a:srgbClr val="0D1117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1627632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 Output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192024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p = Patient('Aisha', 'P001', 'O+')
</a:t>
            </a:r>
            <a:pPr algn="l"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p.add_record('Diagnosed: flu')
</a:t>
            </a:r>
            <a:pPr algn="l" indent="0" marL="0">
              <a:buNone/>
            </a:pPr>
            <a:r>
              <a:rPr lang="en-US" sz="9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p.display_summary()
</a:t>
            </a:r>
            <a:pPr algn="l"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Patient: Aisha (P001) ---
</a:t>
            </a:r>
            <a:pPr algn="l"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Blood Type: O+
</a:t>
            </a:r>
            <a:pPr algn="l" indent="0" marL="0">
              <a:buNone/>
            </a:pPr>
            <a:r>
              <a:rPr lang="en-US" sz="9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History: ['Diagnosed: flu']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3172968"/>
            <a:ext cx="4206240" cy="166420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2278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3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🏆  Design Challenges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3538728"/>
            <a:ext cx="3977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should get_history() return a copy and not self.__medical_history directly? What could go wrong?</a:t>
            </a:r>
            <a:endParaRPr lang="en-US" sz="105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set_blood_type() method — but make it only work ONCE (if blood type is already set, print an error). How would you implement this?</a:t>
            </a:r>
            <a:endParaRPr lang="en-US" sz="1050" dirty="0"/>
          </a:p>
          <a:p>
            <a:pPr algn="l" marL="342900" indent="-342900"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Hospital class that holds a list of Patient objects and can search for a patient by ID.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80060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Bonus: Explore what happens when you try p.__medical_history directly. Then use p._Patient__medical_history. Why does this work and why should you avoid it?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Encapsulation bundles attributes and methods into a class.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325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Information Hiding restricts access to internal implementation details.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828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Single underscore (_) = protected. Double underscore (__) = name-mangled (private).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3317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Getter and setter methods control read/write access to private attributes.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834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Validation in setters ensures data is always in a valid, consistent state.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77840" y="685800"/>
            <a:ext cx="3337560" cy="4315968"/>
          </a:xfrm>
          <a:prstGeom prst="rect">
            <a:avLst/>
          </a:prstGeom>
          <a:solidFill>
            <a:srgbClr val="16213E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77840" y="685800"/>
            <a:ext cx="3337560" cy="640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768096"/>
            <a:ext cx="3154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B72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🎟️  Exit Ticket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0" y="1188720"/>
            <a:ext cx="292608" cy="292608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35040" y="116128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Python attribute name for a private variable storing a password.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0" y="1828800"/>
            <a:ext cx="3200400" cy="18288"/>
          </a:xfrm>
          <a:prstGeom prst="rect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0" y="2121408"/>
            <a:ext cx="3200400" cy="18288"/>
          </a:xfrm>
          <a:prstGeom prst="rect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0" y="2286000"/>
            <a:ext cx="292608" cy="292608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225856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encapsulation and information hiding? (one sentence each)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0" y="2926080"/>
            <a:ext cx="3200400" cy="18288"/>
          </a:xfrm>
          <a:prstGeom prst="rect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0" y="3218688"/>
            <a:ext cx="3200400" cy="18288"/>
          </a:xfrm>
          <a:prstGeom prst="rect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0" y="3383280"/>
            <a:ext cx="292608" cy="292608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0" y="3383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5040" y="335584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ONE reason why you should use a setter method instead of setting an attribute directly.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0" y="4023360"/>
            <a:ext cx="3200400" cy="18288"/>
          </a:xfrm>
          <a:prstGeom prst="rect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0" y="4315968"/>
            <a:ext cx="3200400" cy="18288"/>
          </a:xfrm>
          <a:prstGeom prst="rect">
            <a:avLst/>
          </a:prstGeom>
          <a:solidFill>
            <a:srgbClr val="533483"/>
          </a:solidFill>
          <a:ln w="12700">
            <a:solidFill>
              <a:srgbClr val="53348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86460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B7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B3.1.5  ·  Encapsulation in Python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B3.1.5 Encapsulation Python</dc:title>
  <dc:subject>PptxGenJS Presentation</dc:subject>
  <dc:creator>PptxGenJS</dc:creator>
  <cp:lastModifiedBy>PptxGenJS</cp:lastModifiedBy>
  <cp:revision>1</cp:revision>
  <dcterms:created xsi:type="dcterms:W3CDTF">2026-04-22T07:35:56Z</dcterms:created>
  <dcterms:modified xsi:type="dcterms:W3CDTF">2026-04-22T07:35:56Z</dcterms:modified>
</cp:coreProperties>
</file>